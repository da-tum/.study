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1011" r:id="rId2"/>
    <p:sldId id="993" r:id="rId3"/>
    <p:sldId id="1012" r:id="rId4"/>
    <p:sldId id="691" r:id="rId5"/>
    <p:sldId id="1027" r:id="rId6"/>
    <p:sldId id="930" r:id="rId7"/>
    <p:sldId id="1013" r:id="rId8"/>
    <p:sldId id="259" r:id="rId9"/>
    <p:sldId id="260" r:id="rId10"/>
    <p:sldId id="1069" r:id="rId11"/>
    <p:sldId id="262" r:id="rId12"/>
    <p:sldId id="290" r:id="rId13"/>
    <p:sldId id="263" r:id="rId14"/>
    <p:sldId id="286" r:id="rId15"/>
    <p:sldId id="287" r:id="rId16"/>
    <p:sldId id="318" r:id="rId17"/>
    <p:sldId id="1073" r:id="rId18"/>
    <p:sldId id="284" r:id="rId19"/>
    <p:sldId id="1075" r:id="rId20"/>
    <p:sldId id="285" r:id="rId21"/>
    <p:sldId id="293" r:id="rId22"/>
    <p:sldId id="321" r:id="rId23"/>
    <p:sldId id="297" r:id="rId24"/>
    <p:sldId id="283" r:id="rId25"/>
    <p:sldId id="311" r:id="rId26"/>
    <p:sldId id="264" r:id="rId27"/>
    <p:sldId id="265" r:id="rId28"/>
    <p:sldId id="301" r:id="rId29"/>
    <p:sldId id="304" r:id="rId30"/>
    <p:sldId id="306" r:id="rId31"/>
    <p:sldId id="300" r:id="rId32"/>
    <p:sldId id="308" r:id="rId33"/>
    <p:sldId id="266" r:id="rId34"/>
    <p:sldId id="1033" r:id="rId35"/>
    <p:sldId id="1035" r:id="rId36"/>
    <p:sldId id="1036" r:id="rId37"/>
    <p:sldId id="1037" r:id="rId38"/>
    <p:sldId id="1038" r:id="rId39"/>
    <p:sldId id="1046" r:id="rId40"/>
    <p:sldId id="1048" r:id="rId41"/>
    <p:sldId id="1066" r:id="rId42"/>
    <p:sldId id="1014" r:id="rId43"/>
    <p:sldId id="269" r:id="rId4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10-02-2026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2276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D918-99CE-8F32-CFC7-BBC87AC8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139C-BD2B-7CC1-6340-D7678824F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ADE21-0182-2CED-AAA9-49D1D61D8A6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0A642A3-A182-DB79-116C-58A273D38140}"/>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a:extLst>
              <a:ext uri="{FF2B5EF4-FFF2-40B4-BE49-F238E27FC236}">
                <a16:creationId xmlns:a16="http://schemas.microsoft.com/office/drawing/2014/main" id="{72AC7082-0F8B-BCEF-9747-43BE038DE55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9252D4C-031A-990E-9910-CF7CA21FA9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474723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F924-E466-15C6-C342-7A1C1AA5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2A88-A828-8188-B777-3339A89FB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16E28-6C8C-9642-47F0-8400D85A952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257378C-9DF2-00D9-10FF-C3408218A3C1}"/>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a:extLst>
              <a:ext uri="{FF2B5EF4-FFF2-40B4-BE49-F238E27FC236}">
                <a16:creationId xmlns:a16="http://schemas.microsoft.com/office/drawing/2014/main" id="{E7A363B9-2A25-EA5F-20B3-5BAC135C366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2033D69-BB25-96FA-0FE5-E4051746D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38847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D3A-E1C7-6944-E053-1A2CF74B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00EC0-1EC6-06FE-436B-1B5E391AD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DEA32-1704-556E-8DAF-87FAB304682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F3CC4F-8AE8-3C2B-BCB0-AE88864ED430}"/>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a:extLst>
              <a:ext uri="{FF2B5EF4-FFF2-40B4-BE49-F238E27FC236}">
                <a16:creationId xmlns:a16="http://schemas.microsoft.com/office/drawing/2014/main" id="{013D7661-3F90-999C-95CC-655B089DFB0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F450D63-5F72-188C-D1CA-E2DB768493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56916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42</a:t>
            </a:fld>
            <a:endParaRPr lang="en-IN"/>
          </a:p>
        </p:txBody>
      </p:sp>
    </p:spTree>
    <p:extLst>
      <p:ext uri="{BB962C8B-B14F-4D97-AF65-F5344CB8AC3E}">
        <p14:creationId xmlns:p14="http://schemas.microsoft.com/office/powerpoint/2010/main" val="3524539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10-02-2026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10-02-2026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10-02-2026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infix-to-postfix-conversion-using-stack/"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9.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13.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microsoft.com/office/2007/relationships/hdphoto" Target="../media/hdphoto10.wdp"/><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hyperlink" Target="https://www.prepbytes.com/blog/stacks/postfix-to-prefix-convers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microsoft.com/office/2007/relationships/hdphoto" Target="../media/hdphoto12.wdp"/><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8.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0.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microsoft.com/office/2007/relationships/hdphoto" Target="../media/hdphoto16.wdp"/><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hyperlink" Target="https://www.prepbytes.com/blog/stacks/conversion-of-prefix-expression-to-infix-expression/"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microsoft.com/office/2007/relationships/hdphoto" Target="../media/hdphoto17.wdp"/><Relationship Id="rId5" Type="http://schemas.openxmlformats.org/officeDocument/2006/relationships/image" Target="../media/image2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hyperlink" Target="https://www.geeksforgeeks.org/c-program-for-tower-of-hanoi/" TargetMode="Externa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onlinegdb.com/V5UvyfPlh" TargetMode="Externa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8" Type="http://schemas.openxmlformats.org/officeDocument/2006/relationships/hyperlink" Target="https://www.fullstack.cafe/interview-questions/stacks" TargetMode="External"/><Relationship Id="rId3" Type="http://schemas.openxmlformats.org/officeDocument/2006/relationships/image" Target="../media/image1.png"/><Relationship Id="rId7" Type="http://schemas.openxmlformats.org/officeDocument/2006/relationships/hyperlink" Target="https://www.javatpoint.com/data-structure-stack" TargetMode="External"/><Relationship Id="rId12" Type="http://schemas.openxmlformats.org/officeDocument/2006/relationships/hyperlink" Target="https://www.udemy.com/topic/data-structures/"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hyperlink" Target="https://www.geeksforgeeks.org/introduction-to-stack-data-structure-and-algorithm-tutorials/?ref=lbp" TargetMode="External"/><Relationship Id="rId11" Type="http://schemas.openxmlformats.org/officeDocument/2006/relationships/hyperlink" Target="https://www.youtube.com/watch?v=Ci9jZSRn3os" TargetMode="External"/><Relationship Id="rId5" Type="http://schemas.openxmlformats.org/officeDocument/2006/relationships/hyperlink" Target="https://practicepaper.in/gate-cse/stack" TargetMode="External"/><Relationship Id="rId10" Type="http://schemas.openxmlformats.org/officeDocument/2006/relationships/hyperlink" Target="https://www.youtube.com/watch?v=HRDHgKrYHgU" TargetMode="External"/><Relationship Id="rId4" Type="http://schemas.openxmlformats.org/officeDocument/2006/relationships/image" Target="../media/image3.png"/><Relationship Id="rId9" Type="http://schemas.openxmlformats.org/officeDocument/2006/relationships/hyperlink" Target="https://www.interviewkickstart.com/learn/stack-data-structure"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892280" y="1320786"/>
            <a:ext cx="6588732" cy="5016758"/>
          </a:xfrm>
          <a:prstGeom prst="rect">
            <a:avLst/>
          </a:prstGeom>
          <a:noFill/>
        </p:spPr>
        <p:txBody>
          <a:bodyPr wrap="square">
            <a:spAutoFit/>
          </a:bodyPr>
          <a:lstStyle/>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Introduction to Stack Applications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Why Stack is Suitable for Problem Solving (LIFO)</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Applications of Stack – Overview</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Evaluation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Conversion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Algorithms for Expression Conversion</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Evaluation of Prefix &amp; Postfix Expressions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Reversing Data Using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Function Calls &amp; Call Stack</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Backtracking – Tower of Hanoi</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ts val="60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References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imes New Roman" panose="02020603050405020304" pitchFamily="18" charset="0"/>
                <a:cs typeface="Times New Roman" panose="02020603050405020304" pitchFamily="18" charset="0"/>
              </a:rPr>
              <a:t>Session 16</a:t>
            </a:r>
            <a:endParaRPr lang="en-US"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Stack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Stack ADT and Operations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06896" y="1509316"/>
            <a:ext cx="8580969" cy="3811621"/>
          </a:xfrm>
          <a:prstGeom prst="rect">
            <a:avLst/>
          </a:prstGeom>
          <a:noFill/>
        </p:spPr>
        <p:txBody>
          <a:bodyPr wrap="square" rtlCol="0">
            <a:spAutoFit/>
          </a:bodyPr>
          <a:lstStyle/>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 stack is a linear data structure that follows the LIFO (Last In, First Out) principle.</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All insertions and deletions occur only at one end called the TOP.</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Basic stack operations are: push, pop, peek/top, </a:t>
            </a:r>
            <a:r>
              <a:rPr lang="en-US" altLang="en-US" sz="2400" dirty="0" err="1">
                <a:latin typeface="Times New Roman" panose="02020603050405020304" pitchFamily="18" charset="0"/>
                <a:cs typeface="Times New Roman" panose="02020603050405020304" pitchFamily="18" charset="0"/>
              </a:rPr>
              <a:t>isEmpty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isFull</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lnSpc>
                <a:spcPct val="150000"/>
              </a:lnSpc>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Implemented using arrays (fixed size) or linked lists (dynamic size).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70077" y="1202006"/>
            <a:ext cx="8415829" cy="5011949"/>
          </a:xfrm>
          <a:prstGeom prst="rect">
            <a:avLst/>
          </a:prstGeom>
          <a:noFill/>
        </p:spPr>
        <p:txBody>
          <a:bodyPr wrap="square" rtlCol="0">
            <a:spAutoFit/>
          </a:bodyPr>
          <a:lstStyle/>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follows the __________ principle.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end of the stack where insertion and deletion occur is called the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into a stack is called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underflow occurs when we try to __________ from an empty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Name the operation that removes the top element of the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data structure is used to implement a dynamic stack?</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271064" y="1235628"/>
            <a:ext cx="8640958" cy="4411785"/>
          </a:xfrm>
          <a:prstGeom prst="rect">
            <a:avLst/>
          </a:prstGeom>
          <a:noFill/>
        </p:spPr>
        <p:txBody>
          <a:bodyPr wrap="square" rtlCol="0">
            <a:spAutoFit/>
          </a:bodyPr>
          <a:lstStyle/>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LIFO</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Push</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200000"/>
              </a:lnSpc>
              <a:buFont typeface="+mj-lt"/>
              <a:buAutoNum type="arabicPeriod"/>
            </a:pPr>
            <a:r>
              <a:rPr lang="en-US" sz="2400" dirty="0">
                <a:latin typeface="Times New Roman" panose="02020603050405020304" pitchFamily="18" charset="0"/>
                <a:cs typeface="Times New Roman" panose="02020603050405020304" pitchFamily="18" charset="0"/>
              </a:rPr>
              <a:t>Linked list</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127797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310888"/>
            <a:ext cx="8496942" cy="3734677"/>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 major applications of stack in data structures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Explain how LIFO helps in solving computational problems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Differentiate between infix, prefix, and postfix expressions</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Convert expressions between different notations using stack</a:t>
            </a:r>
          </a:p>
          <a:p>
            <a:pPr marL="342900" indent="-342900"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Evaluate prefix and postfix expressions using stack algorithms</a:t>
            </a:r>
          </a:p>
        </p:txBody>
      </p:sp>
    </p:spTree>
    <p:extLst>
      <p:ext uri="{BB962C8B-B14F-4D97-AF65-F5344CB8AC3E}">
        <p14:creationId xmlns:p14="http://schemas.microsoft.com/office/powerpoint/2010/main" val="327407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298973"/>
            <a:ext cx="792088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Application of Stack in Data Structure are :</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8" name="Rectangle 7"/>
          <p:cNvSpPr/>
          <p:nvPr/>
        </p:nvSpPr>
        <p:spPr>
          <a:xfrm>
            <a:off x="539552" y="1443841"/>
            <a:ext cx="8223448" cy="3139321"/>
          </a:xfrm>
          <a:prstGeom prst="rect">
            <a:avLst/>
          </a:prstGeom>
        </p:spPr>
        <p:txBody>
          <a:bodyPr wrap="square">
            <a:spAutoFit/>
          </a:bodyPr>
          <a:lstStyle/>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Evaluation of Arithmetic Expressions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Reverse a Data</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Processing Function Calls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Backtracking (Tower of Hanoi Problem)</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Delimiter Checking</a:t>
            </a:r>
          </a:p>
          <a:p>
            <a:pPr algn="just"/>
            <a:endParaRPr lang="en-US"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636068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0537" y="322240"/>
            <a:ext cx="8219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8280" y="1348141"/>
            <a:ext cx="8723951" cy="4365619"/>
          </a:xfrm>
          <a:prstGeom prst="rect">
            <a:avLst/>
          </a:prstGeom>
          <a:noFill/>
        </p:spPr>
        <p:txBody>
          <a:bodyPr wrap="square" rtlCol="0">
            <a:spAutoFit/>
          </a:bodyPr>
          <a:lstStyle/>
          <a:p>
            <a:pPr algn="just">
              <a:lnSpc>
                <a:spcPct val="150000"/>
              </a:lnSpc>
              <a:spcBef>
                <a:spcPts val="600"/>
              </a:spcBef>
              <a:buNone/>
            </a:pPr>
            <a:r>
              <a:rPr lang="en-US" sz="2400" dirty="0">
                <a:latin typeface="Times New Roman" panose="02020603050405020304" pitchFamily="18" charset="0"/>
                <a:cs typeface="Times New Roman" panose="02020603050405020304" pitchFamily="18" charset="0"/>
              </a:rPr>
              <a:t>An arithmetic expression can be represented as a </a:t>
            </a:r>
            <a:r>
              <a:rPr lang="en-US" sz="2400" b="1" dirty="0">
                <a:latin typeface="Times New Roman" panose="02020603050405020304" pitchFamily="18" charset="0"/>
                <a:cs typeface="Times New Roman" panose="02020603050405020304" pitchFamily="18" charset="0"/>
              </a:rPr>
              <a:t>string</a:t>
            </a:r>
            <a:r>
              <a:rPr lang="en-US" sz="2400" dirty="0">
                <a:latin typeface="Times New Roman" panose="02020603050405020304" pitchFamily="18" charset="0"/>
                <a:cs typeface="Times New Roman" panose="02020603050405020304" pitchFamily="18" charset="0"/>
              </a:rPr>
              <a:t> consisting of:</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Operands (numbers or variables)</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Operators (+ , − , * , /)</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Parentheses ( )</a:t>
            </a:r>
          </a:p>
          <a:p>
            <a:pPr algn="just">
              <a:lnSpc>
                <a:spcPct val="150000"/>
              </a:lnSpc>
              <a:spcBef>
                <a:spcPts val="600"/>
              </a:spcBef>
              <a:buNone/>
            </a:pPr>
            <a:r>
              <a:rPr lang="en-US" sz="2400" dirty="0">
                <a:latin typeface="Times New Roman" panose="02020603050405020304" pitchFamily="18" charset="0"/>
                <a:cs typeface="Times New Roman" panose="02020603050405020304" pitchFamily="18" charset="0"/>
              </a:rPr>
              <a:t>You may assume that:</a:t>
            </a: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parentheses are </a:t>
            </a:r>
            <a:r>
              <a:rPr lang="en-US" sz="2400" b="1" dirty="0">
                <a:latin typeface="Times New Roman" panose="02020603050405020304" pitchFamily="18" charset="0"/>
                <a:cs typeface="Times New Roman" panose="02020603050405020304" pitchFamily="18" charset="0"/>
              </a:rPr>
              <a:t>well-matched</a:t>
            </a:r>
            <a:endParaRPr lang="en-US" sz="2400" dirty="0">
              <a:latin typeface="Times New Roman" panose="02020603050405020304" pitchFamily="18" charset="0"/>
              <a:cs typeface="Times New Roman" panose="02020603050405020304" pitchFamily="18" charset="0"/>
            </a:endParaRPr>
          </a:p>
          <a:p>
            <a:pPr marL="268288" indent="-268288" algn="just">
              <a:lnSpc>
                <a:spcPct val="150000"/>
              </a:lnSpc>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a:t>
            </a:r>
            <a:r>
              <a:rPr lang="en-US" sz="2400" b="1" dirty="0">
                <a:latin typeface="Times New Roman" panose="02020603050405020304" pitchFamily="18" charset="0"/>
                <a:cs typeface="Times New Roman" panose="02020603050405020304" pitchFamily="18" charset="0"/>
              </a:rPr>
              <a:t>binary operators</a:t>
            </a:r>
            <a:r>
              <a:rPr lang="en-US" sz="2400" dirty="0">
                <a:latin typeface="Times New Roman" panose="02020603050405020304" pitchFamily="18" charset="0"/>
                <a:cs typeface="Times New Roman" panose="02020603050405020304" pitchFamily="18" charset="0"/>
              </a:rPr>
              <a:t> (+ , − , * , /) are used</a:t>
            </a:r>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546050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A550-898D-6F9D-C017-F217B2B750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55A6B-33B3-335E-D92F-38AE76E27DF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DDB18FF-D018-9DB8-6DC1-0AC68D186833}"/>
              </a:ext>
            </a:extLst>
          </p:cNvPr>
          <p:cNvSpPr>
            <a:spLocks noChangeArrowheads="1"/>
          </p:cNvSpPr>
          <p:nvPr/>
        </p:nvSpPr>
        <p:spPr bwMode="auto">
          <a:xfrm>
            <a:off x="365843" y="334971"/>
            <a:ext cx="8064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7DD8361B-55D3-504A-85C1-D87AF5DA91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E91C73E-A165-9926-236E-76F4AAFE8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A57C6FD-ECA8-8D35-C7BF-E0277105E8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18A870C-AE6D-B0F1-02C8-613432A773D3}"/>
              </a:ext>
            </a:extLst>
          </p:cNvPr>
          <p:cNvSpPr txBox="1"/>
          <p:nvPr/>
        </p:nvSpPr>
        <p:spPr>
          <a:xfrm>
            <a:off x="377788" y="1311115"/>
            <a:ext cx="8424936" cy="5080686"/>
          </a:xfrm>
          <a:prstGeom prst="rect">
            <a:avLst/>
          </a:prstGeom>
          <a:noFill/>
        </p:spPr>
        <p:txBody>
          <a:bodyPr wrap="square" rtlCol="0">
            <a:spAutoFit/>
          </a:bodyPr>
          <a:lstStyle/>
          <a:p>
            <a:pPr marL="360363" indent="-360363" algn="just">
              <a:lnSpc>
                <a:spcPct val="150000"/>
              </a:lnSpc>
              <a:spcBef>
                <a:spcPts val="600"/>
              </a:spcBef>
              <a:spcAft>
                <a:spcPts val="600"/>
              </a:spcAft>
              <a:buNone/>
            </a:pPr>
            <a:r>
              <a:rPr lang="en-US" sz="2400" dirty="0">
                <a:latin typeface="Times New Roman" panose="02020603050405020304" pitchFamily="18" charset="0"/>
                <a:cs typeface="Times New Roman" panose="02020603050405020304" pitchFamily="18" charset="0"/>
              </a:rPr>
              <a:t>Arithmetic expressions can be written in different notations:</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Infix Notation</a:t>
            </a:r>
            <a:r>
              <a:rPr lang="en-US" sz="2400" dirty="0">
                <a:latin typeface="Times New Roman" panose="02020603050405020304" pitchFamily="18" charset="0"/>
                <a:cs typeface="Times New Roman" panose="02020603050405020304" pitchFamily="18" charset="0"/>
              </a:rPr>
              <a:t> – Operator is placed between operands: A + B</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Prefix Notation (Polish Notation)</a:t>
            </a:r>
            <a:r>
              <a:rPr lang="en-US" sz="2400" dirty="0">
                <a:latin typeface="Times New Roman" panose="02020603050405020304" pitchFamily="18" charset="0"/>
                <a:cs typeface="Times New Roman" panose="02020603050405020304" pitchFamily="18" charset="0"/>
              </a:rPr>
              <a:t> – Operator is placed before operands: + A B</a:t>
            </a:r>
          </a:p>
          <a:p>
            <a:pPr marL="360363" indent="-360363" algn="just">
              <a:lnSpc>
                <a:spcPct val="150000"/>
              </a:lnSpc>
              <a:spcBef>
                <a:spcPts val="600"/>
              </a:spcBef>
              <a:spcAft>
                <a:spcPts val="600"/>
              </a:spcAft>
              <a:buFont typeface="+mj-lt"/>
              <a:buAutoNum type="arabicPeriod"/>
            </a:pPr>
            <a:r>
              <a:rPr lang="en-US" sz="2400" b="1" dirty="0">
                <a:latin typeface="Times New Roman" panose="02020603050405020304" pitchFamily="18" charset="0"/>
                <a:cs typeface="Times New Roman" panose="02020603050405020304" pitchFamily="18" charset="0"/>
              </a:rPr>
              <a:t>Postfix Notation (Reverse Polish Notation)</a:t>
            </a:r>
            <a:r>
              <a:rPr lang="en-US" sz="2400" dirty="0">
                <a:latin typeface="Times New Roman" panose="02020603050405020304" pitchFamily="18" charset="0"/>
                <a:cs typeface="Times New Roman" panose="02020603050405020304" pitchFamily="18" charset="0"/>
              </a:rPr>
              <a:t> – Operator is placed after operands: A B +</a:t>
            </a:r>
          </a:p>
          <a:p>
            <a:pPr algn="just">
              <a:lnSpc>
                <a:spcPct val="150000"/>
              </a:lnSpc>
              <a:spcBef>
                <a:spcPts val="600"/>
              </a:spcBef>
              <a:spcAft>
                <a:spcPts val="600"/>
              </a:spcAft>
            </a:pPr>
            <a:r>
              <a:rPr lang="en-US" sz="2400" dirty="0">
                <a:latin typeface="Times New Roman" panose="02020603050405020304" pitchFamily="18" charset="0"/>
                <a:cs typeface="Times New Roman" panose="02020603050405020304" pitchFamily="18" charset="0"/>
              </a:rPr>
              <a:t>Stacks are commonly used to convert between these notations and to evaluate prefix and postfix expressions efficiently.</a:t>
            </a:r>
            <a:endParaRPr lang="en-IN" sz="2400" dirty="0"/>
          </a:p>
        </p:txBody>
      </p:sp>
      <p:sp>
        <p:nvSpPr>
          <p:cNvPr id="3" name="AutoShape 2" descr="Notations For Arithmetic Expressions. - Sarthaks eConnect | Largest Online  Education Community">
            <a:extLst>
              <a:ext uri="{FF2B5EF4-FFF2-40B4-BE49-F238E27FC236}">
                <a16:creationId xmlns:a16="http://schemas.microsoft.com/office/drawing/2014/main" id="{E7E8BE0B-DCC6-50D0-13B6-76927DA9A3D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a:extLst>
              <a:ext uri="{FF2B5EF4-FFF2-40B4-BE49-F238E27FC236}">
                <a16:creationId xmlns:a16="http://schemas.microsoft.com/office/drawing/2014/main" id="{C6A9E2C8-B60B-F3F4-7A0C-C911C7325148}"/>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218238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The standard precedence rules for arithmetic expression</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8" name="Table 7"/>
          <p:cNvGraphicFramePr>
            <a:graphicFrameLocks noGrp="1"/>
          </p:cNvGraphicFramePr>
          <p:nvPr>
            <p:extLst>
              <p:ext uri="{D42A27DB-BD31-4B8C-83A1-F6EECF244321}">
                <p14:modId xmlns:p14="http://schemas.microsoft.com/office/powerpoint/2010/main" val="2448681019"/>
              </p:ext>
            </p:extLst>
          </p:nvPr>
        </p:nvGraphicFramePr>
        <p:xfrm>
          <a:off x="381000" y="1638341"/>
          <a:ext cx="8229600" cy="3778550"/>
        </p:xfrm>
        <a:graphic>
          <a:graphicData uri="http://schemas.openxmlformats.org/drawingml/2006/table">
            <a:tbl>
              <a:tblPr>
                <a:tableStyleId>{616DA210-FB5B-4158-B5E0-FEB733F419BA}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24934">
                <a:tc>
                  <a:txBody>
                    <a:bodyPr/>
                    <a:lstStyle/>
                    <a:p>
                      <a:pPr algn="l" fontAlgn="t"/>
                      <a:r>
                        <a:rPr lang="en-IN" sz="2200" b="1" dirty="0">
                          <a:effectLst/>
                          <a:latin typeface="Times New Roman" panose="02020603050405020304" pitchFamily="18" charset="0"/>
                          <a:cs typeface="Times New Roman" panose="02020603050405020304" pitchFamily="18" charset="0"/>
                        </a:rPr>
                        <a:t>Operators</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200" b="1" dirty="0">
                          <a:effectLst/>
                          <a:latin typeface="Times New Roman" panose="02020603050405020304" pitchFamily="18" charset="0"/>
                          <a:cs typeface="Times New Roman" panose="02020603050405020304" pitchFamily="18" charset="0"/>
                        </a:rPr>
                        <a:t>Associativity</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200" b="1" dirty="0">
                          <a:effectLst/>
                          <a:latin typeface="Times New Roman" panose="02020603050405020304" pitchFamily="18" charset="0"/>
                          <a:cs typeface="Times New Roman" panose="02020603050405020304" pitchFamily="18" charset="0"/>
                        </a:rPr>
                        <a:t>Precedence</a:t>
                      </a:r>
                      <a:endParaRPr lang="en-IN" sz="22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extLst>
                  <a:ext uri="{0D108BD9-81ED-4DB2-BD59-A6C34878D82A}">
                    <a16:rowId xmlns:a16="http://schemas.microsoft.com/office/drawing/2014/main" val="10000"/>
                  </a:ext>
                </a:extLst>
              </a:tr>
              <a:tr h="1016637">
                <a:tc>
                  <a:txBody>
                    <a:bodyPr/>
                    <a:lstStyle/>
                    <a:p>
                      <a:pPr algn="just" fontAlgn="t"/>
                      <a:r>
                        <a:rPr lang="en-IN" sz="2200" dirty="0">
                          <a:effectLst/>
                          <a:latin typeface="Times New Roman" panose="02020603050405020304" pitchFamily="18" charset="0"/>
                          <a:cs typeface="Times New Roman" panose="02020603050405020304" pitchFamily="18" charset="0"/>
                        </a:rPr>
                        <a:t>^ exponentiation</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Right to left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200">
                          <a:effectLst/>
                          <a:latin typeface="Times New Roman" panose="02020603050405020304" pitchFamily="18" charset="0"/>
                          <a:cs typeface="Times New Roman" panose="02020603050405020304" pitchFamily="18" charset="0"/>
                        </a:rPr>
                        <a:t>Highest followed by *Multiplication and /division</a:t>
                      </a:r>
                      <a:endParaRPr lang="en-US"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1"/>
                  </a:ext>
                </a:extLst>
              </a:tr>
              <a:tr h="1016637">
                <a:tc>
                  <a:txBody>
                    <a:bodyPr/>
                    <a:lstStyle/>
                    <a:p>
                      <a:pPr algn="just" fontAlgn="t"/>
                      <a:r>
                        <a:rPr lang="en-IN" sz="2200">
                          <a:effectLst/>
                          <a:latin typeface="Times New Roman" panose="02020603050405020304" pitchFamily="18" charset="0"/>
                          <a:cs typeface="Times New Roman" panose="02020603050405020304" pitchFamily="18" charset="0"/>
                        </a:rPr>
                        <a:t>*Multiplication, /division</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Left to right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200" dirty="0">
                          <a:effectLst/>
                          <a:latin typeface="Times New Roman" panose="02020603050405020304" pitchFamily="18" charset="0"/>
                          <a:cs typeface="Times New Roman" panose="02020603050405020304" pitchFamily="18" charset="0"/>
                        </a:rPr>
                        <a:t>Highest followed by + addition and - subtraction</a:t>
                      </a:r>
                      <a:endParaRPr lang="en-US"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2"/>
                  </a:ext>
                </a:extLst>
              </a:tr>
              <a:tr h="616626">
                <a:tc>
                  <a:txBody>
                    <a:bodyPr/>
                    <a:lstStyle/>
                    <a:p>
                      <a:pPr algn="just" fontAlgn="t"/>
                      <a:r>
                        <a:rPr lang="en-IN" sz="2200">
                          <a:effectLst/>
                          <a:latin typeface="Times New Roman" panose="02020603050405020304" pitchFamily="18" charset="0"/>
                          <a:cs typeface="Times New Roman" panose="02020603050405020304" pitchFamily="18" charset="0"/>
                        </a:rPr>
                        <a:t>+ addition, - subtraction</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a:effectLst/>
                          <a:latin typeface="Times New Roman" panose="02020603050405020304" pitchFamily="18" charset="0"/>
                          <a:cs typeface="Times New Roman" panose="02020603050405020304" pitchFamily="18" charset="0"/>
                        </a:rPr>
                        <a:t>Left to right</a:t>
                      </a:r>
                      <a:endParaRPr lang="en-IN" sz="22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200" dirty="0">
                          <a:effectLst/>
                          <a:latin typeface="Times New Roman" panose="02020603050405020304" pitchFamily="18" charset="0"/>
                          <a:cs typeface="Times New Roman" panose="02020603050405020304" pitchFamily="18" charset="0"/>
                        </a:rPr>
                        <a:t>lowest</a:t>
                      </a:r>
                      <a:endParaRPr lang="en-IN" sz="22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268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Conversion</a:t>
            </a:r>
            <a:br>
              <a:rPr lang="en-US" sz="3200" b="1" dirty="0">
                <a:solidFill>
                  <a:srgbClr val="E31E24"/>
                </a:solidFill>
                <a:cs typeface="Times New Roman" panose="02020603050405020304" pitchFamily="18" charset="0"/>
                <a:sym typeface="Arial"/>
              </a:rPr>
            </a:b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Infix to </a:t>
            </a:r>
            <a:r>
              <a:rPr lang="en-US" sz="2400" noProof="0" dirty="0">
                <a:latin typeface="Times New Roman" pitchFamily="18" charset="0"/>
                <a:cs typeface="Times New Roman" pitchFamily="18" charset="0"/>
              </a:rPr>
              <a:t>P</a:t>
            </a: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ostfix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Infix to Prefix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u="none" strike="noStrike" kern="1200" cap="none" spc="0" normalizeH="0" baseline="0" noProof="0" dirty="0">
                <a:ln>
                  <a:noFill/>
                </a:ln>
                <a:solidFill>
                  <a:schemeClr val="tx1"/>
                </a:solidFill>
                <a:effectLst/>
                <a:uLnTx/>
                <a:uFillTx/>
                <a:latin typeface="Times New Roman" pitchFamily="18" charset="0"/>
                <a:cs typeface="Times New Roman" pitchFamily="18" charset="0"/>
              </a:rPr>
              <a:t>Postfix to Prefix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Postfix to In 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Infix</a:t>
            </a: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postfix</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12" name="Picture 2"/>
          <p:cNvPicPr>
            <a:picLocks noChangeAspect="1" noChangeArrowheads="1"/>
          </p:cNvPicPr>
          <p:nvPr/>
        </p:nvPicPr>
        <p:blipFill>
          <a:blip r:embed="rId5"/>
          <a:srcRect l="33968" t="23958" r="33821" b="56250"/>
          <a:stretch>
            <a:fillRect/>
          </a:stretch>
        </p:blipFill>
        <p:spPr bwMode="auto">
          <a:xfrm>
            <a:off x="3872408" y="1999891"/>
            <a:ext cx="4876056" cy="198120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856232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96944" cy="5016758"/>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Initialize an empty stack and an empty postfix string.</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the infix expression from left to right.</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symbol is an operand, append it to postfix.</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 push it onto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 pop and append operators until ( is removed.</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an operator, pop higher or equal precedence operators from stack and append, then push it.</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After scanning, pop and append all remaining stack operators.</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Output the postfix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12062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4307"/>
          <a:stretch>
            <a:fillRect/>
          </a:stretch>
        </p:blipFill>
        <p:spPr bwMode="auto">
          <a:xfrm>
            <a:off x="207879" y="1258663"/>
            <a:ext cx="4551777" cy="2247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6879" b="31099"/>
          <a:stretch>
            <a:fillRect/>
          </a:stretch>
        </p:blipFill>
        <p:spPr bwMode="auto">
          <a:xfrm>
            <a:off x="233270" y="3743579"/>
            <a:ext cx="4376153" cy="196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465" t="70538"/>
          <a:stretch>
            <a:fillRect/>
          </a:stretch>
        </p:blipFill>
        <p:spPr bwMode="auto">
          <a:xfrm>
            <a:off x="4434086" y="1457697"/>
            <a:ext cx="4532162" cy="2110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b="66702"/>
          <a:stretch>
            <a:fillRect/>
          </a:stretch>
        </p:blipFill>
        <p:spPr bwMode="auto">
          <a:xfrm>
            <a:off x="4372310" y="3743579"/>
            <a:ext cx="4376154" cy="2114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503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4566" t="29868" r="2582" b="30679"/>
          <a:stretch>
            <a:fillRect/>
          </a:stretch>
        </p:blipFill>
        <p:spPr bwMode="auto">
          <a:xfrm>
            <a:off x="268003" y="1366491"/>
            <a:ext cx="4019650" cy="2153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977" t="67605"/>
          <a:stretch>
            <a:fillRect/>
          </a:stretch>
        </p:blipFill>
        <p:spPr bwMode="auto">
          <a:xfrm>
            <a:off x="4688200" y="1315641"/>
            <a:ext cx="4019650" cy="2115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3797" r="7330" b="33374"/>
          <a:stretch>
            <a:fillRect/>
          </a:stretch>
        </p:blipFill>
        <p:spPr bwMode="auto">
          <a:xfrm>
            <a:off x="407530" y="3637891"/>
            <a:ext cx="3740595" cy="240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3261" t="69506" r="9783" b="2194"/>
          <a:stretch>
            <a:fillRect/>
          </a:stretch>
        </p:blipFill>
        <p:spPr bwMode="auto">
          <a:xfrm>
            <a:off x="4772903" y="3755837"/>
            <a:ext cx="4019650" cy="2056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125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47526"/>
          <a:stretch>
            <a:fillRect/>
          </a:stretch>
        </p:blipFill>
        <p:spPr bwMode="auto">
          <a:xfrm>
            <a:off x="179512" y="1397337"/>
            <a:ext cx="5019605" cy="2445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47564" y="4146936"/>
            <a:ext cx="7848872" cy="369332"/>
          </a:xfrm>
          <a:prstGeom prst="rect">
            <a:avLst/>
          </a:prstGeom>
        </p:spPr>
        <p:txBody>
          <a:bodyPr wrap="square">
            <a:spAutoFit/>
          </a:bodyPr>
          <a:lstStyle/>
          <a:p>
            <a:r>
              <a:rPr lang="en-IN" dirty="0">
                <a:hlinkClick r:id="rId7"/>
              </a:rPr>
              <a:t>https://www.prepbytes.com/blog/stacks/infix-to-postfix-conversion-using-stack/</a:t>
            </a:r>
            <a:endParaRPr lang="en-IN" dirty="0"/>
          </a:p>
        </p:txBody>
      </p:sp>
      <p:pic>
        <p:nvPicPr>
          <p:cNvPr id="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56069"/>
          <a:stretch>
            <a:fillRect/>
          </a:stretch>
        </p:blipFill>
        <p:spPr bwMode="auto">
          <a:xfrm>
            <a:off x="4788024" y="1456179"/>
            <a:ext cx="3744416" cy="1989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2294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DF1A-B39D-C4A9-B497-E2E5B1D5AC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B9F6B7-EC32-3991-9422-A2B5A087C25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D5C9379-E105-16BD-3717-66B4B9FD01EA}"/>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083CD9B-4CC6-9A8E-BFFE-7292B178EFC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D74EEB7-8A94-CD3D-9754-2EB751E4FE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FFB60AC-6669-3193-7E24-67EABDEE48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DD8B20-5FE4-B89A-F249-9AB84999D4BC}"/>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C8C774A1-DE4B-DA62-2A0D-5E11035E89E6}"/>
              </a:ext>
            </a:extLst>
          </p:cNvPr>
          <p:cNvSpPr txBox="1"/>
          <p:nvPr/>
        </p:nvSpPr>
        <p:spPr>
          <a:xfrm>
            <a:off x="395536" y="1061448"/>
            <a:ext cx="8429026" cy="5011949"/>
          </a:xfrm>
          <a:prstGeom prst="rect">
            <a:avLst/>
          </a:prstGeom>
          <a:noFill/>
        </p:spPr>
        <p:txBody>
          <a:bodyPr wrap="square">
            <a:spAutoFit/>
          </a:bodyPr>
          <a:lstStyle/>
          <a:p>
            <a:pPr algn="just">
              <a:lnSpc>
                <a:spcPct val="150000"/>
              </a:lnSpc>
            </a:pPr>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pPr>
              <a:lnSpc>
                <a:spcPct val="150000"/>
              </a:lnSpc>
            </a:pPr>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d) 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785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415478" y="1055869"/>
            <a:ext cx="8136903" cy="3257623"/>
          </a:xfrm>
          <a:prstGeom prst="rect">
            <a:avLst/>
          </a:prstGeom>
          <a:noFill/>
        </p:spPr>
        <p:txBody>
          <a:bodyPr wrap="square" rtlCol="0">
            <a:spAutoFit/>
          </a:bodyPr>
          <a:lstStyle/>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Converting Infix Expression to Prefix Expression:</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Reverse the infix expression and interchange </a:t>
            </a: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with </a:t>
            </a: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Convert the reversed expression to postfix, popping only higher-precedence operators.</a:t>
            </a:r>
          </a:p>
          <a:p>
            <a:pPr marL="342900" indent="-342900" algn="just">
              <a:lnSpc>
                <a:spcPct val="150000"/>
              </a:lnSpc>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Reverse the obtained postfix expression to get the prefix form.</a:t>
            </a:r>
            <a:endParaRPr lang="en-US" sz="2400" b="0" i="0" dirty="0">
              <a:effectLst/>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8120" y="4300371"/>
            <a:ext cx="4390854" cy="238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1503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6296-804B-5C4D-2817-682DBDA2031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F1D983-7989-0DF7-E18A-917AE6C1E74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8F3E3BC9-7D73-AD26-15CD-8643B9F62158}"/>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A888CD3-B002-D96B-3E67-97CD6D5AACC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4DAC71F-E624-EB22-7A4E-BE1CBB6C06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DF8261-1717-4221-D235-34902B9E487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5F0ED799-5440-09FD-61BD-FDF0B46A01A6}"/>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6F3264DF-796C-7D7B-FA17-B48ECEFE4431}"/>
              </a:ext>
            </a:extLst>
          </p:cNvPr>
          <p:cNvSpPr txBox="1"/>
          <p:nvPr/>
        </p:nvSpPr>
        <p:spPr>
          <a:xfrm>
            <a:off x="367470" y="1129138"/>
            <a:ext cx="8208912" cy="5257850"/>
          </a:xfrm>
          <a:prstGeom prst="rect">
            <a:avLst/>
          </a:prstGeom>
          <a:noFill/>
        </p:spPr>
        <p:txBody>
          <a:bodyPr wrap="square">
            <a:spAutoFit/>
          </a:bodyPr>
          <a:lstStyle/>
          <a:p>
            <a:pPr algn="just">
              <a:spcBef>
                <a:spcPts val="300"/>
              </a:spcBef>
              <a:spcAft>
                <a:spcPts val="600"/>
              </a:spcAft>
              <a:buNone/>
            </a:pPr>
            <a:r>
              <a:rPr lang="en-US" sz="2400" b="1" dirty="0">
                <a:solidFill>
                  <a:srgbClr val="3A3A3A"/>
                </a:solidFill>
                <a:latin typeface="Times New Roman" panose="02020603050405020304" pitchFamily="18" charset="0"/>
                <a:cs typeface="Times New Roman" panose="02020603050405020304" pitchFamily="18" charset="0"/>
              </a:rPr>
              <a:t>1. </a:t>
            </a:r>
            <a:r>
              <a:rPr lang="en-US" sz="2400" b="1" i="0" dirty="0">
                <a:solidFill>
                  <a:srgbClr val="3A3A3A"/>
                </a:solidFill>
                <a:effectLst/>
                <a:latin typeface="Times New Roman" panose="02020603050405020304" pitchFamily="18" charset="0"/>
                <a:cs typeface="Times New Roman" panose="02020603050405020304" pitchFamily="18" charset="0"/>
              </a:rPr>
              <a:t>What would be the Prefix notation for the given equation?</a:t>
            </a:r>
          </a:p>
          <a:p>
            <a:pPr algn="ctr">
              <a:lnSpc>
                <a:spcPts val="1500"/>
              </a:lnSpc>
              <a:spcBef>
                <a:spcPts val="300"/>
              </a:spcBef>
              <a:spcAft>
                <a:spcPts val="600"/>
              </a:spcAft>
              <a:buNone/>
            </a:pPr>
            <a:r>
              <a:rPr lang="en-US" sz="2400" b="0" i="0" dirty="0">
                <a:solidFill>
                  <a:srgbClr val="3A3A3A"/>
                </a:solidFill>
                <a:effectLst/>
                <a:latin typeface="Times New Roman" panose="02020603050405020304" pitchFamily="18" charset="0"/>
                <a:cs typeface="Times New Roman" panose="02020603050405020304" pitchFamily="18" charset="0"/>
              </a:rPr>
              <a:t>A</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B</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C</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spcBef>
                <a:spcPts val="300"/>
              </a:spcBef>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spcBef>
                <a:spcPts val="300"/>
              </a:spcBef>
              <a:spcAft>
                <a:spcPts val="600"/>
              </a:spcAft>
            </a:pPr>
            <a:r>
              <a:rPr lang="en-US" sz="2400" b="1" dirty="0">
                <a:solidFill>
                  <a:srgbClr val="3A3A3A"/>
                </a:solidFill>
                <a:latin typeface="Times New Roman" panose="02020603050405020304" pitchFamily="18" charset="0"/>
                <a:cs typeface="Times New Roman" panose="02020603050405020304" pitchFamily="18" charset="0"/>
              </a:rPr>
              <a:t>2. What would be the Prefix notation for the given equation?</a:t>
            </a:r>
          </a:p>
          <a:p>
            <a:pPr algn="ctr">
              <a:lnSpc>
                <a:spcPts val="1500"/>
              </a:lnSpc>
              <a:spcBef>
                <a:spcPts val="300"/>
              </a:spcBef>
              <a:spcAft>
                <a:spcPts val="600"/>
              </a:spcAft>
            </a:pPr>
            <a:r>
              <a:rPr lang="en-US" sz="2400" dirty="0" err="1">
                <a:solidFill>
                  <a:srgbClr val="3A3A3A"/>
                </a:solidFill>
                <a:latin typeface="Times New Roman" panose="02020603050405020304" pitchFamily="18" charset="0"/>
                <a:cs typeface="Times New Roman" panose="02020603050405020304" pitchFamily="18" charset="0"/>
              </a:rPr>
              <a:t>a</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b</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c</a:t>
            </a:r>
            <a:r>
              <a:rPr lang="en-US" sz="2400" dirty="0">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d</a:t>
            </a:r>
            <a:r>
              <a:rPr lang="en-US" sz="2400" dirty="0" err="1">
                <a:solidFill>
                  <a:srgbClr val="339933"/>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e</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spcBef>
                <a:spcPts val="300"/>
              </a:spcBef>
              <a:buAutoNum type="alphaLcParenR"/>
            </a:pPr>
            <a:r>
              <a:rPr lang="en-US" sz="2400" dirty="0">
                <a:solidFill>
                  <a:srgbClr val="3A3A3A"/>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abcdef</a:t>
            </a:r>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087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1" y="1316201"/>
            <a:ext cx="8568953" cy="4904228"/>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Conversion of Postfix to Prefix expression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postfix expression from left to right.</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from the stack and form a new expression as </a:t>
            </a:r>
            <a:r>
              <a:rPr lang="en-US" sz="2400" b="1" dirty="0">
                <a:latin typeface="Times New Roman" panose="02020603050405020304" pitchFamily="18" charset="0"/>
                <a:cs typeface="Times New Roman" panose="02020603050405020304" pitchFamily="18" charset="0"/>
              </a:rPr>
              <a:t>operator + operand2 + operand1</a:t>
            </a:r>
            <a:r>
              <a:rPr lang="en-US" sz="2400" dirty="0">
                <a:latin typeface="Times New Roman" panose="02020603050405020304" pitchFamily="18" charset="0"/>
                <a:cs typeface="Times New Roman" panose="02020603050405020304" pitchFamily="18" charset="0"/>
              </a:rPr>
              <a:t>, then push it back onto the stack.</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Repeat until all symbols are processed.</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element at the top of the stack is the required prefix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68291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5962"/>
          <a:stretch>
            <a:fillRect/>
          </a:stretch>
        </p:blipFill>
        <p:spPr bwMode="auto">
          <a:xfrm>
            <a:off x="189121" y="1280902"/>
            <a:ext cx="4248472" cy="221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B85D369-8EA0-C81A-DE3C-ED12725AB82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1082" b="33439"/>
          <a:stretch>
            <a:fillRect/>
          </a:stretch>
        </p:blipFill>
        <p:spPr bwMode="auto">
          <a:xfrm>
            <a:off x="4400539" y="1293834"/>
            <a:ext cx="3816424" cy="215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3604"/>
          <a:stretch>
            <a:fillRect/>
          </a:stretch>
        </p:blipFill>
        <p:spPr bwMode="auto">
          <a:xfrm>
            <a:off x="341014" y="3426868"/>
            <a:ext cx="4397583" cy="236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499992" y="3426868"/>
            <a:ext cx="4248472" cy="292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2187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34061"/>
          <a:stretch>
            <a:fillRect/>
          </a:stretch>
        </p:blipFill>
        <p:spPr bwMode="auto">
          <a:xfrm>
            <a:off x="179512" y="1407557"/>
            <a:ext cx="4726060" cy="260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D8EDCDE-5009-A880-E88D-C81F3866267B}"/>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4256" r="21413"/>
          <a:stretch>
            <a:fillRect/>
          </a:stretch>
        </p:blipFill>
        <p:spPr bwMode="auto">
          <a:xfrm>
            <a:off x="4905572" y="1080169"/>
            <a:ext cx="3652028" cy="219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t="876" b="74914"/>
          <a:stretch>
            <a:fillRect/>
          </a:stretch>
        </p:blipFill>
        <p:spPr bwMode="auto">
          <a:xfrm>
            <a:off x="179512" y="4301534"/>
            <a:ext cx="3578716" cy="2007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6618" t="23616" r="15061"/>
          <a:stretch>
            <a:fillRect/>
          </a:stretch>
        </p:blipFill>
        <p:spPr bwMode="auto">
          <a:xfrm>
            <a:off x="5220072" y="3488303"/>
            <a:ext cx="3472517" cy="282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7644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068" r="27377" b="70189"/>
          <a:stretch>
            <a:fillRect/>
          </a:stretch>
        </p:blipFill>
        <p:spPr bwMode="auto">
          <a:xfrm>
            <a:off x="307486" y="1151271"/>
            <a:ext cx="3528392" cy="2083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5EDE605D-F067-B1ED-F7AE-764389522654}"/>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pic>
        <p:nvPicPr>
          <p:cNvPr id="5"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448" t="39213" r="15517" b="7384"/>
          <a:stretch>
            <a:fillRect/>
          </a:stretch>
        </p:blipFill>
        <p:spPr bwMode="auto">
          <a:xfrm>
            <a:off x="4355976" y="1126406"/>
            <a:ext cx="4024724" cy="2167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4770" t="2684" r="13250"/>
          <a:stretch>
            <a:fillRect/>
          </a:stretch>
        </p:blipFill>
        <p:spPr bwMode="auto">
          <a:xfrm>
            <a:off x="1835696" y="3360623"/>
            <a:ext cx="4760169" cy="268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7544" y="6047710"/>
            <a:ext cx="8496944" cy="523220"/>
          </a:xfrm>
          <a:prstGeom prst="rect">
            <a:avLst/>
          </a:prstGeom>
        </p:spPr>
        <p:txBody>
          <a:bodyPr wrap="square">
            <a:spAutoFit/>
          </a:bodyPr>
          <a:lstStyle/>
          <a:p>
            <a:r>
              <a:rPr lang="en-IN" sz="1400" dirty="0">
                <a:hlinkClick r:id="rId9"/>
              </a:rPr>
              <a:t>https://www.prepbytes.com/blog/stacks/postfix-to-prefix conversion/#:~:text=For%20converting%20Postfix%20to%20Prefix,will%20be%20our%20prefix%20expression%20</a:t>
            </a:r>
            <a:r>
              <a:rPr lang="en-IN" sz="1400" dirty="0"/>
              <a:t>.</a:t>
            </a:r>
            <a:endParaRPr lang="en-IN" dirty="0"/>
          </a:p>
        </p:txBody>
      </p:sp>
    </p:spTree>
    <p:extLst>
      <p:ext uri="{BB962C8B-B14F-4D97-AF65-F5344CB8AC3E}">
        <p14:creationId xmlns:p14="http://schemas.microsoft.com/office/powerpoint/2010/main" val="2885123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61930" y="399403"/>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228600" y="1371600"/>
            <a:ext cx="8255159" cy="3811621"/>
          </a:xfrm>
          <a:prstGeom prst="rect">
            <a:avLst/>
          </a:prstGeom>
        </p:spPr>
        <p:txBody>
          <a:bodyPr wrap="square">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postfix expression from left to right.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(operand2 operator operand1)</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processing all symbols, the stack top contains the required infix expression.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3783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4" y="360480"/>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8564" t="13113" b="4936"/>
          <a:stretch>
            <a:fillRect/>
          </a:stretch>
        </p:blipFill>
        <p:spPr bwMode="auto">
          <a:xfrm>
            <a:off x="1295634" y="2085410"/>
            <a:ext cx="6552729" cy="2999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881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3437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141463" y="1334376"/>
            <a:ext cx="8568952" cy="3811621"/>
          </a:xfrm>
          <a:prstGeom prst="rect">
            <a:avLst/>
          </a:prstGeom>
        </p:spPr>
        <p:txBody>
          <a:bodyPr wrap="square">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prefix expression from right to left.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(operand1 operator operand2)</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scanning all symbols, the stack top gives the required infix expression.</a:t>
            </a:r>
            <a:endParaRPr lang="en-IN" sz="2400" b="0" i="0" dirty="0">
              <a:solidFill>
                <a:srgbClr val="14141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143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72008" y="3770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8806"/>
          <a:stretch>
            <a:fillRect/>
          </a:stretch>
        </p:blipFill>
        <p:spPr bwMode="auto">
          <a:xfrm>
            <a:off x="169814" y="1230332"/>
            <a:ext cx="4222328" cy="2455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7512" t="34862" r="15803" b="35304"/>
          <a:stretch>
            <a:fillRect/>
          </a:stretch>
        </p:blipFill>
        <p:spPr bwMode="auto">
          <a:xfrm>
            <a:off x="4415199" y="1308612"/>
            <a:ext cx="3888432" cy="231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7273" t="69449" r="16878" b="1264"/>
          <a:stretch>
            <a:fillRect/>
          </a:stretch>
        </p:blipFill>
        <p:spPr bwMode="auto">
          <a:xfrm>
            <a:off x="467544" y="4013305"/>
            <a:ext cx="3497237" cy="2066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4604" r="20316" b="2086"/>
          <a:stretch>
            <a:fillRect/>
          </a:stretch>
        </p:blipFill>
        <p:spPr bwMode="auto">
          <a:xfrm>
            <a:off x="4561384" y="3759742"/>
            <a:ext cx="3596061" cy="2903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851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125" r="15523" b="35937"/>
          <a:stretch>
            <a:fillRect/>
          </a:stretch>
        </p:blipFill>
        <p:spPr bwMode="auto">
          <a:xfrm>
            <a:off x="249474" y="1265838"/>
            <a:ext cx="3890477" cy="259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4B5A22FE-5226-B6F1-70F1-4B1DEDFE7C70}"/>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pic>
        <p:nvPicPr>
          <p:cNvPr id="5"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398" t="70464" r="30479" b="1705"/>
          <a:stretch>
            <a:fillRect/>
          </a:stretch>
        </p:blipFill>
        <p:spPr bwMode="auto">
          <a:xfrm>
            <a:off x="4572000" y="1222248"/>
            <a:ext cx="3890477" cy="252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0"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6604" t="3799" r="30189" b="67031"/>
          <a:stretch>
            <a:fillRect/>
          </a:stretch>
        </p:blipFill>
        <p:spPr bwMode="auto">
          <a:xfrm>
            <a:off x="404664" y="4110020"/>
            <a:ext cx="3663280" cy="218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6773" t="40572" r="18134" b="5362"/>
          <a:stretch>
            <a:fillRect/>
          </a:stretch>
        </p:blipFill>
        <p:spPr bwMode="auto">
          <a:xfrm>
            <a:off x="4535996" y="3907503"/>
            <a:ext cx="4176464" cy="25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3356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2913" r="24272" b="63735"/>
          <a:stretch>
            <a:fillRect/>
          </a:stretch>
        </p:blipFill>
        <p:spPr bwMode="auto">
          <a:xfrm>
            <a:off x="395536" y="1294795"/>
            <a:ext cx="3882469" cy="244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91E01B09-4469-45B8-40C6-109F18DDBB39}"/>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pic>
        <p:nvPicPr>
          <p:cNvPr id="5"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1585" t="38719" r="31465"/>
          <a:stretch>
            <a:fillRect/>
          </a:stretch>
        </p:blipFill>
        <p:spPr bwMode="auto">
          <a:xfrm>
            <a:off x="4746086" y="1293834"/>
            <a:ext cx="3770931" cy="301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8" name="Picture 2"/>
          <p:cNvPicPr>
            <a:picLocks noChangeAspect="1" noChangeArrowheads="1"/>
          </p:cNvPicPr>
          <p:nvPr/>
        </p:nvPicPr>
        <p:blipFill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l="5344" t="1187" r="18108" b="4750"/>
          <a:stretch>
            <a:fillRect/>
          </a:stretch>
        </p:blipFill>
        <p:spPr bwMode="auto">
          <a:xfrm>
            <a:off x="492578" y="3796247"/>
            <a:ext cx="3806037" cy="2445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79167" y="6297699"/>
            <a:ext cx="8664833" cy="338554"/>
          </a:xfrm>
          <a:prstGeom prst="rect">
            <a:avLst/>
          </a:prstGeom>
        </p:spPr>
        <p:txBody>
          <a:bodyPr wrap="square">
            <a:spAutoFit/>
          </a:bodyPr>
          <a:lstStyle/>
          <a:p>
            <a:r>
              <a:rPr lang="en-IN" sz="1600" dirty="0">
                <a:hlinkClick r:id="rId9"/>
              </a:rPr>
              <a:t>https://www.prepbytes.com/blog/stacks/conversion-of-prefix-expression-to-infix-expression/</a:t>
            </a:r>
            <a:endParaRPr lang="en-IN" sz="1600" dirty="0"/>
          </a:p>
        </p:txBody>
      </p:sp>
    </p:spTree>
    <p:extLst>
      <p:ext uri="{BB962C8B-B14F-4D97-AF65-F5344CB8AC3E}">
        <p14:creationId xmlns:p14="http://schemas.microsoft.com/office/powerpoint/2010/main" val="691314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31219" y="368865"/>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Postfix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TextBox 9"/>
          <p:cNvSpPr txBox="1"/>
          <p:nvPr/>
        </p:nvSpPr>
        <p:spPr>
          <a:xfrm>
            <a:off x="179512" y="1340768"/>
            <a:ext cx="8568952" cy="3811621"/>
          </a:xfrm>
          <a:prstGeom prst="rect">
            <a:avLst/>
          </a:prstGeom>
          <a:noFill/>
        </p:spPr>
        <p:txBody>
          <a:bodyPr wrap="square" rtlCol="0">
            <a:spAutoFit/>
          </a:bodyPr>
          <a:lstStyle/>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Scan the prefix expression from right to left.</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operand, push it onto the stack.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symbol is an operator, pop two operands, form </a:t>
            </a:r>
            <a:r>
              <a:rPr lang="en-US" sz="2400" b="1" dirty="0">
                <a:latin typeface="Times New Roman" panose="02020603050405020304" pitchFamily="18" charset="0"/>
                <a:cs typeface="Times New Roman" panose="02020603050405020304" pitchFamily="18" charset="0"/>
              </a:rPr>
              <a:t>operand1 + operand2 + operator</a:t>
            </a:r>
            <a:r>
              <a:rPr lang="en-US" sz="2400" dirty="0">
                <a:latin typeface="Times New Roman" panose="02020603050405020304" pitchFamily="18" charset="0"/>
                <a:cs typeface="Times New Roman" panose="02020603050405020304" pitchFamily="18" charset="0"/>
              </a:rPr>
              <a:t>, and push it back.</a:t>
            </a:r>
          </a:p>
          <a:p>
            <a:pPr marL="342900" indent="-342900" algn="just">
              <a:lnSpc>
                <a:spcPct val="150000"/>
              </a:lnSpc>
              <a:spcBef>
                <a:spcPts val="600"/>
              </a:spcBef>
              <a:spcAft>
                <a:spcPts val="60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processing all symbols, the stack top contains the required postfix expression.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07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8879" y="381198"/>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Postfix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0376" y="1295400"/>
            <a:ext cx="8074024"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8774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4"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92235" y="34199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Prefix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335427"/>
            <a:ext cx="7759119" cy="4587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355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0116" y="307875"/>
            <a:ext cx="89058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Infix Expression to  Postfix Expression</a:t>
            </a:r>
            <a:br>
              <a:rPr lang="en-US" sz="2400" b="1" dirty="0">
                <a:solidFill>
                  <a:srgbClr val="E31E24"/>
                </a:solidFill>
                <a:cs typeface="Times New Roman" panose="02020603050405020304" pitchFamily="18" charset="0"/>
                <a:sym typeface="Arial"/>
              </a:rPr>
            </a:br>
            <a:endParaRPr lang="en-IN" sz="24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2331"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10116" y="1263110"/>
            <a:ext cx="814808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Question:</a:t>
            </a:r>
            <a:r>
              <a:rPr lang="en-IN" dirty="0">
                <a:latin typeface="Times New Roman" panose="02020603050405020304" pitchFamily="18" charset="0"/>
                <a:cs typeface="Times New Roman" panose="02020603050405020304" pitchFamily="18" charset="0"/>
              </a:rPr>
              <a:t> Validate the given expression: 69 ^ 87 - 67 / 29 + 77 * 44</a:t>
            </a:r>
          </a:p>
        </p:txBody>
      </p:sp>
      <p:sp>
        <p:nvSpPr>
          <p:cNvPr id="12" name="TextBox 11"/>
          <p:cNvSpPr txBox="1"/>
          <p:nvPr/>
        </p:nvSpPr>
        <p:spPr>
          <a:xfrm>
            <a:off x="381000" y="1799167"/>
            <a:ext cx="8382000" cy="4170372"/>
          </a:xfrm>
          <a:prstGeom prst="rect">
            <a:avLst/>
          </a:prstGeom>
          <a:no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69 ^ 87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- 67 / 29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Note: Since ^ has highest priority it is parenthesized first.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( 69 ^ 87 )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67 / 29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first because they follow left associativity.</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( 69 ^ 87 ) - ( 67 / 29 )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77 * 44 </a:t>
            </a:r>
            <a:r>
              <a:rPr lang="en-IN" sz="2000" b="1"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second because they follow left associativity.</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4: ( ( 69 ^ 87 ) - ( 67 / 29 ) ) + ( 77 * 44 )</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5: ( ( ( 69 ^ 87 ) - ( 67 / 29 ) ) + ( 77 * 44 ) )</a:t>
            </a:r>
          </a:p>
          <a:p>
            <a:endParaRPr lang="en-IN" sz="2000" b="1" dirty="0">
              <a:solidFill>
                <a:srgbClr val="FF0000"/>
              </a:solidFill>
            </a:endParaRPr>
          </a:p>
        </p:txBody>
      </p:sp>
    </p:spTree>
    <p:extLst>
      <p:ext uri="{BB962C8B-B14F-4D97-AF65-F5344CB8AC3E}">
        <p14:creationId xmlns:p14="http://schemas.microsoft.com/office/powerpoint/2010/main" val="1920348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413266"/>
            <a:ext cx="8604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3" name="AutoShape 2" descr="UNIT-1 UNIT – I Introduction to data structures: Abstract data type (ADT),  Stacks and Queues circular queues and their implementation with arrays.  Stack. - ppt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5221" t="18866" r="937" b="5474"/>
          <a:stretch/>
        </p:blipFill>
        <p:spPr bwMode="auto">
          <a:xfrm>
            <a:off x="214938" y="1120489"/>
            <a:ext cx="8023860" cy="518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000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262" y="3482729"/>
            <a:ext cx="7229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85478" y="1295756"/>
            <a:ext cx="8679010" cy="168796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stack is used to manage function calls in a program.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function A calls B and B calls C, each function’s information is pushed onto the stack and popped after execution in reverse order.</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474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5828" y="3497241"/>
            <a:ext cx="706755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5536" y="1367549"/>
            <a:ext cx="8291263" cy="1695144"/>
          </a:xfrm>
          <a:prstGeom prst="rect">
            <a:avLst/>
          </a:prstGeom>
          <a:noFill/>
        </p:spPr>
        <p:txBody>
          <a:bodyPr wrap="square" rtlCol="0">
            <a:spAutoFit/>
          </a:bodyPr>
          <a:lstStyle/>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Consider </a:t>
            </a:r>
            <a:r>
              <a:rPr lang="en-IN" sz="2400" dirty="0" err="1">
                <a:latin typeface="Times New Roman" panose="02020603050405020304" pitchFamily="18" charset="0"/>
                <a:cs typeface="Times New Roman" panose="02020603050405020304" pitchFamily="18" charset="0"/>
              </a:rPr>
              <a:t>addrA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addrB</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addrC</a:t>
            </a:r>
            <a:r>
              <a:rPr lang="en-IN" sz="2400" dirty="0">
                <a:latin typeface="Times New Roman" panose="02020603050405020304" pitchFamily="18" charset="0"/>
                <a:cs typeface="Times New Roman" panose="02020603050405020304" pitchFamily="18" charset="0"/>
              </a:rPr>
              <a:t> be the addresses of the statements to which control is returned after completing the function A, B, and C, respectively.</a:t>
            </a:r>
            <a:endParaRPr lang="en-IN" sz="2400" b="1" dirty="0"/>
          </a:p>
        </p:txBody>
      </p:sp>
    </p:spTree>
    <p:extLst>
      <p:ext uri="{BB962C8B-B14F-4D97-AF65-F5344CB8AC3E}">
        <p14:creationId xmlns:p14="http://schemas.microsoft.com/office/powerpoint/2010/main" val="2633593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413266"/>
            <a:ext cx="87484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Rectangle 2"/>
          <p:cNvSpPr/>
          <p:nvPr/>
        </p:nvSpPr>
        <p:spPr>
          <a:xfrm>
            <a:off x="609600" y="5758160"/>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https://www.geeksforgeeks.org/c-program-for-tower-of-hanoi//</a:t>
            </a:r>
            <a:endParaRPr lang="en-IN"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79" y="1230428"/>
            <a:ext cx="8401323" cy="456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104755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476BE0E1-B039-A403-C771-F1F21ACBFD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1" name="TextBox 10"/>
          <p:cNvSpPr txBox="1"/>
          <p:nvPr/>
        </p:nvSpPr>
        <p:spPr>
          <a:xfrm>
            <a:off x="308343" y="1372700"/>
            <a:ext cx="8550179" cy="4847481"/>
          </a:xfrm>
          <a:prstGeom prst="rect">
            <a:avLst/>
          </a:prstGeom>
          <a:noFill/>
        </p:spPr>
        <p:txBody>
          <a:bodyPr wrap="square" lIns="91440" tIns="45720" rIns="91440" bIns="45720" rtlCol="0" anchor="t">
            <a:spAutoFit/>
          </a:bodyPr>
          <a:lstStyle/>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Calculate the total number of moves required i.e. "pow(2, n) - 1" here n is number of disks.</a:t>
            </a:r>
          </a:p>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If number of disks (i.e. n) is even then interchange destination  pole and auxiliary pole.</a:t>
            </a:r>
          </a:p>
          <a:p>
            <a:pPr marL="457200" indent="-457200">
              <a:spcBef>
                <a:spcPts val="1200"/>
              </a:spcBef>
              <a:spcAft>
                <a:spcPts val="600"/>
              </a:spcAft>
              <a:buAutoNum type="arabicPeriod"/>
            </a:pPr>
            <a:r>
              <a:rPr lang="en-IN" sz="2400" dirty="0">
                <a:latin typeface="Times New Roman" panose="02020603050405020304" pitchFamily="18" charset="0"/>
                <a:cs typeface="Times New Roman" panose="02020603050405020304" pitchFamily="18" charset="0"/>
              </a:rPr>
              <a:t> for i = 1 to total number of moves:</a:t>
            </a:r>
          </a:p>
          <a:p>
            <a:pPr marL="628650" indent="-628650">
              <a:spcBef>
                <a:spcPts val="1200"/>
              </a:spcBef>
              <a:spcAft>
                <a:spcPts val="600"/>
              </a:spcAft>
            </a:pPr>
            <a:r>
              <a:rPr lang="en-IN" sz="2400" dirty="0">
                <a:latin typeface="Times New Roman" panose="02020603050405020304" pitchFamily="18" charset="0"/>
                <a:cs typeface="Times New Roman" panose="02020603050405020304" pitchFamily="18" charset="0"/>
              </a:rPr>
              <a:t>        if i%3 == 1:  legal movement of top disk between source pole and  destination pole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2:    legal movement top disk between source pole and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0:     legal movement top disk between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destination pole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424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Code for Tower of Hanoi  </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23528" y="1251129"/>
            <a:ext cx="8352928"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void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 char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if (n == 0) {</a:t>
            </a:r>
          </a:p>
          <a:p>
            <a:r>
              <a:rPr lang="en-IN" sz="2400" dirty="0">
                <a:latin typeface="Times New Roman" panose="02020603050405020304" pitchFamily="18" charset="0"/>
                <a:cs typeface="Times New Roman" panose="02020603050405020304" pitchFamily="18" charset="0"/>
              </a:rPr>
              <a:t>        return;</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"Move disk " &lt;&lt; n &lt;&lt; " from rod " &lt;&lt; </a:t>
            </a:r>
            <a:r>
              <a:rPr lang="en-IN" sz="2400" dirty="0" err="1">
                <a:latin typeface="Times New Roman" panose="02020603050405020304" pitchFamily="18" charset="0"/>
                <a:cs typeface="Times New Roman" panose="02020603050405020304" pitchFamily="18" charset="0"/>
              </a:rPr>
              <a:t>from_rod</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&lt;&lt; " to rod " &lt;&lt;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&lt;&lt; </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p:txBody>
      </p:sp>
      <p:sp>
        <p:nvSpPr>
          <p:cNvPr id="3" name="TextBox 2"/>
          <p:cNvSpPr txBox="1"/>
          <p:nvPr/>
        </p:nvSpPr>
        <p:spPr>
          <a:xfrm>
            <a:off x="971600" y="5354891"/>
            <a:ext cx="4392488" cy="369332"/>
          </a:xfrm>
          <a:prstGeom prst="rect">
            <a:avLst/>
          </a:prstGeom>
          <a:noFill/>
        </p:spPr>
        <p:txBody>
          <a:bodyPr wrap="square" rtlCol="0">
            <a:spAutoFit/>
          </a:bodyPr>
          <a:lstStyle/>
          <a:p>
            <a:r>
              <a:rPr lang="en-US" dirty="0">
                <a:hlinkClick r:id="rId5"/>
              </a:rPr>
              <a:t>Complete code here</a:t>
            </a:r>
            <a:endParaRPr lang="en-US" dirty="0"/>
          </a:p>
        </p:txBody>
      </p:sp>
    </p:spTree>
    <p:extLst>
      <p:ext uri="{BB962C8B-B14F-4D97-AF65-F5344CB8AC3E}">
        <p14:creationId xmlns:p14="http://schemas.microsoft.com/office/powerpoint/2010/main" val="31394975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57622" y="1206856"/>
            <a:ext cx="8390841" cy="5047536"/>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1. What is the postfix representation of the following infix expression?</a:t>
            </a:r>
          </a:p>
          <a:p>
            <a:pPr fontAlgn="base"/>
            <a:r>
              <a:rPr lang="en-US" sz="2300" dirty="0">
                <a:latin typeface="Times New Roman" panose="02020603050405020304" pitchFamily="18" charset="0"/>
                <a:cs typeface="Times New Roman" panose="02020603050405020304" pitchFamily="18" charset="0"/>
              </a:rPr>
              <a:t>                                 (A + B) * C – D * E / F</a:t>
            </a:r>
          </a:p>
          <a:p>
            <a:pPr fontAlgn="base"/>
            <a:endParaRPr lang="en-US" sz="2300" dirty="0">
              <a:latin typeface="Times New Roman" panose="02020603050405020304" pitchFamily="18" charset="0"/>
              <a:cs typeface="Times New Roman" panose="02020603050405020304" pitchFamily="18" charset="0"/>
            </a:endParaRP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endParaRPr lang="en-US" sz="2300" dirty="0">
              <a:latin typeface="Times New Roman" panose="02020603050405020304" pitchFamily="18" charset="0"/>
              <a:cs typeface="Times New Roman" panose="02020603050405020304" pitchFamily="18" charset="0"/>
            </a:endParaRPr>
          </a:p>
          <a:p>
            <a:pPr fontAlgn="base"/>
            <a:r>
              <a:rPr lang="en-US" sz="2300" dirty="0">
                <a:latin typeface="Times New Roman" panose="02020603050405020304" pitchFamily="18" charset="0"/>
                <a:cs typeface="Times New Roman" panose="02020603050405020304" pitchFamily="18" charset="0"/>
              </a:rPr>
              <a:t>2. The result evaluating the postfix expression 10 5 + 60 6 / * 8 − is</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284</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213</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142</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71</a:t>
            </a:r>
          </a:p>
        </p:txBody>
      </p:sp>
      <p:sp>
        <p:nvSpPr>
          <p:cNvPr id="11" name="Rectangle 10"/>
          <p:cNvSpPr/>
          <p:nvPr/>
        </p:nvSpPr>
        <p:spPr>
          <a:xfrm>
            <a:off x="838200" y="4876800"/>
            <a:ext cx="5181600" cy="369332"/>
          </a:xfrm>
          <a:prstGeom prst="rect">
            <a:avLst/>
          </a:prstGeom>
        </p:spPr>
        <p:txBody>
          <a:bodyPr wrap="square">
            <a:spAutoFit/>
          </a:bodyPr>
          <a:lstStyle/>
          <a:p>
            <a:r>
              <a:rPr lang="pt-BR" b="1" i="1" u="sng" dirty="0"/>
              <a:t> </a:t>
            </a:r>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C10BDE02-0F85-182F-B752-43CA686D0F9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05302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5F86AF23-865E-19C1-A22F-24767E9A3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Key Takeaways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4" name="Content Placeholder 13">
            <a:extLst>
              <a:ext uri="{FF2B5EF4-FFF2-40B4-BE49-F238E27FC236}">
                <a16:creationId xmlns:a16="http://schemas.microsoft.com/office/drawing/2014/main" id="{A834CE92-AB7A-0EAB-76EB-8308C88DE7B4}"/>
              </a:ext>
            </a:extLst>
          </p:cNvPr>
          <p:cNvSpPr>
            <a:spLocks noGrp="1"/>
          </p:cNvSpPr>
          <p:nvPr>
            <p:ph idx="1"/>
          </p:nvPr>
        </p:nvSpPr>
        <p:spPr>
          <a:xfrm>
            <a:off x="395536" y="1293834"/>
            <a:ext cx="8064896" cy="4525963"/>
          </a:xfrm>
        </p:spPr>
        <p:txBody>
          <a:bodyPr>
            <a:normAutofit lnSpcReduction="10000"/>
          </a:bodyPr>
          <a:lstStyle/>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is widely used because of its </a:t>
            </a:r>
            <a:r>
              <a:rPr lang="en-US" altLang="en-US" sz="2400" b="1" dirty="0">
                <a:latin typeface="Times New Roman" panose="02020603050405020304" pitchFamily="18" charset="0"/>
                <a:cs typeface="Times New Roman" panose="02020603050405020304" pitchFamily="18" charset="0"/>
              </a:rPr>
              <a:t>LIFO behavior</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Expression conversion and evaluation become simple using stack.</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helps manage </a:t>
            </a:r>
            <a:r>
              <a:rPr lang="en-US" altLang="en-US" sz="2400" b="1" dirty="0">
                <a:latin typeface="Times New Roman" panose="02020603050405020304" pitchFamily="18" charset="0"/>
                <a:cs typeface="Times New Roman" panose="02020603050405020304" pitchFamily="18" charset="0"/>
              </a:rPr>
              <a:t>function calls and recursion</a:t>
            </a:r>
            <a:r>
              <a:rPr lang="en-US" altLang="en-US" sz="2400" dirty="0">
                <a:latin typeface="Times New Roman" panose="02020603050405020304" pitchFamily="18" charset="0"/>
                <a:cs typeface="Times New Roman" panose="02020603050405020304" pitchFamily="18" charset="0"/>
              </a:rPr>
              <a:t> via the call stack.</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Backtracking problems like </a:t>
            </a:r>
            <a:r>
              <a:rPr lang="en-US" altLang="en-US" sz="2400" b="1" dirty="0">
                <a:latin typeface="Times New Roman" panose="02020603050405020304" pitchFamily="18" charset="0"/>
                <a:cs typeface="Times New Roman" panose="02020603050405020304" pitchFamily="18" charset="0"/>
              </a:rPr>
              <a:t>Tower of Hanoi</a:t>
            </a:r>
            <a:r>
              <a:rPr lang="en-US" altLang="en-US" sz="2400" dirty="0">
                <a:latin typeface="Times New Roman" panose="02020603050405020304" pitchFamily="18" charset="0"/>
                <a:cs typeface="Times New Roman" panose="02020603050405020304" pitchFamily="18" charset="0"/>
              </a:rPr>
              <a:t> rely on stack/recursion.</a:t>
            </a:r>
          </a:p>
          <a:p>
            <a:pPr marL="268288" lvl="0" indent="-268288" algn="just" eaLnBrk="0" fontAlgn="base" hangingPunct="0">
              <a:spcBef>
                <a:spcPts val="1200"/>
              </a:spcBef>
              <a:spcAft>
                <a:spcPts val="1200"/>
              </a:spcAft>
              <a:buFontTx/>
              <a:buChar char="•"/>
            </a:pPr>
            <a:r>
              <a:rPr lang="en-US" altLang="en-US" sz="2400" dirty="0">
                <a:latin typeface="Times New Roman" panose="02020603050405020304" pitchFamily="18" charset="0"/>
                <a:cs typeface="Times New Roman" panose="02020603050405020304" pitchFamily="18" charset="0"/>
              </a:rPr>
              <a:t>Stack is useful in </a:t>
            </a:r>
            <a:r>
              <a:rPr lang="en-US" altLang="en-US" sz="2400" b="1" dirty="0">
                <a:latin typeface="Times New Roman" panose="02020603050405020304" pitchFamily="18" charset="0"/>
                <a:cs typeface="Times New Roman" panose="02020603050405020304" pitchFamily="18" charset="0"/>
              </a:rPr>
              <a:t>reversing data</a:t>
            </a:r>
            <a:r>
              <a:rPr lang="en-US" altLang="en-US" sz="2400" dirty="0">
                <a:latin typeface="Times New Roman" panose="02020603050405020304" pitchFamily="18" charset="0"/>
                <a:cs typeface="Times New Roman" panose="02020603050405020304" pitchFamily="18" charset="0"/>
              </a:rPr>
              <a:t>, checking balanced parentheses, and parsing expressions.</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22436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632311"/>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algn="just">
              <a:spcBef>
                <a:spcPts val="600"/>
              </a:spcBef>
            </a:pPr>
            <a:r>
              <a:rPr lang="en-US" sz="1600" dirty="0">
                <a:latin typeface="Times New Roman" panose="02020603050405020304" pitchFamily="18" charset="0"/>
                <a:cs typeface="Times New Roman" panose="02020603050405020304" pitchFamily="18" charset="0"/>
                <a:hlinkClick r:id="rId5"/>
              </a:rPr>
              <a:t>https://practicepaper.in/gate-cse/stack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6"/>
              </a:rPr>
              <a:t>https://www.geeksforgeeks.org/introduction-to-stack-data-structure-and-algorithm-tutorials/?ref=lbp</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7"/>
              </a:rPr>
              <a:t>https://www.javatpoint.com/data-structure-stack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8"/>
              </a:rPr>
              <a:t>https://www.fullstack.cafe/interview-questions/stacks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9"/>
              </a:rPr>
              <a:t>https://www.interviewkickstart.com/learn/stack-data-structure</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0"/>
              </a:rPr>
              <a:t>https://www.youtube.com/watch?v=HRDHgKrYHgU</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1"/>
              </a:rPr>
              <a:t>https://www.youtube.com/watch?v=Ci9jZSRn3os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2"/>
              </a:rPr>
              <a:t>https://www.udemy.com/topic/data-structures/</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42</a:t>
            </a:fld>
            <a:endParaRPr lang="en-IN"/>
          </a:p>
        </p:txBody>
      </p:sp>
    </p:spTree>
    <p:extLst>
      <p:ext uri="{BB962C8B-B14F-4D97-AF65-F5344CB8AC3E}">
        <p14:creationId xmlns:p14="http://schemas.microsoft.com/office/powerpoint/2010/main" val="38954645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43</a:t>
            </a:fld>
            <a:endParaRPr lang="en-IN"/>
          </a:p>
        </p:txBody>
      </p:sp>
    </p:spTree>
    <p:extLst>
      <p:ext uri="{BB962C8B-B14F-4D97-AF65-F5344CB8AC3E}">
        <p14:creationId xmlns:p14="http://schemas.microsoft.com/office/powerpoint/2010/main" val="146689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23526</TotalTime>
  <Words>2841</Words>
  <Application>Microsoft Office PowerPoint</Application>
  <PresentationFormat>On-screen Show (4:3)</PresentationFormat>
  <Paragraphs>498</Paragraphs>
  <Slides>43</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1487</cp:revision>
  <cp:lastPrinted>2022-09-05T08:43:44Z</cp:lastPrinted>
  <dcterms:created xsi:type="dcterms:W3CDTF">2020-01-16T09:05:56Z</dcterms:created>
  <dcterms:modified xsi:type="dcterms:W3CDTF">2026-02-10T18:15:38Z</dcterms:modified>
</cp:coreProperties>
</file>