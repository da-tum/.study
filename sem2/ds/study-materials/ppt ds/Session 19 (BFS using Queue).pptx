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1011" r:id="rId2"/>
    <p:sldId id="993" r:id="rId3"/>
    <p:sldId id="1012" r:id="rId4"/>
    <p:sldId id="1013" r:id="rId5"/>
    <p:sldId id="691" r:id="rId6"/>
    <p:sldId id="1027" r:id="rId7"/>
    <p:sldId id="930" r:id="rId8"/>
    <p:sldId id="718" r:id="rId9"/>
    <p:sldId id="726" r:id="rId10"/>
    <p:sldId id="734" r:id="rId11"/>
    <p:sldId id="735" r:id="rId12"/>
    <p:sldId id="737" r:id="rId13"/>
    <p:sldId id="1076" r:id="rId14"/>
    <p:sldId id="738" r:id="rId15"/>
    <p:sldId id="739" r:id="rId16"/>
    <p:sldId id="740" r:id="rId17"/>
    <p:sldId id="741" r:id="rId18"/>
    <p:sldId id="742" r:id="rId19"/>
    <p:sldId id="743" r:id="rId20"/>
    <p:sldId id="891" r:id="rId21"/>
    <p:sldId id="1081" r:id="rId22"/>
    <p:sldId id="1082" r:id="rId23"/>
    <p:sldId id="1075" r:id="rId24"/>
    <p:sldId id="888" r:id="rId25"/>
    <p:sldId id="754" r:id="rId26"/>
    <p:sldId id="755" r:id="rId27"/>
    <p:sldId id="1074" r:id="rId28"/>
    <p:sldId id="886" r:id="rId29"/>
    <p:sldId id="1070" r:id="rId30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69" d="100"/>
          <a:sy n="69" d="100"/>
        </p:scale>
        <p:origin x="968" y="5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258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952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045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54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0487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7B20-9FCB-CB20-28B6-B68A78B1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BE912-E651-5EE9-5F46-537664CAD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D0F82-AB55-83B7-D005-0772E820F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8D74E-FD4E-F2A8-C9B5-6A6B78A6F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47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183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984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990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635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499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500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1F46-A82E-9FD8-2E3F-2DDDE6DB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01CC9-70B5-122A-9C18-1D4DBFE0E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765E4-9249-B6CD-C519-DC5C16F59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FAA3E-6F6C-867C-FAB2-705A3248A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3043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800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2035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1862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3B4E-1839-46C2-C524-72831AD7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14888-85BF-08C9-42BB-C16AC3F82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CD836-A87C-20C9-8775-13240290D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131CB-BA06-C9B5-C801-0AFFD1052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9558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838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mplilearn.com/tutorials/data-structure-tutorial/graphs-in-data-structur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tutorialspoint.com/data_structures_algorithms/graph_data_structure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what-is-graph-data-structure/" TargetMode="External"/><Relationship Id="rId11" Type="http://schemas.openxmlformats.org/officeDocument/2006/relationships/hyperlink" Target="https://www.youtube.com/watch?v=4IZ80K72OXo" TargetMode="External"/><Relationship Id="rId5" Type="http://schemas.openxmlformats.org/officeDocument/2006/relationships/hyperlink" Target="https://www.boardinfinity.com/blog/graphs-in-data-structure/" TargetMode="External"/><Relationship Id="rId10" Type="http://schemas.openxmlformats.org/officeDocument/2006/relationships/hyperlink" Target="https://www.upgrad.com/blog/graphs-in-data-structure/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s://www.geeksforgeeks.org/applications-of-graph-data-structure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948772" y="1478462"/>
            <a:ext cx="6588732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Graphs</a:t>
            </a:r>
          </a:p>
          <a:p>
            <a:pPr marL="342900" lvl="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Traversal Techniques (BFS &amp; DFS)</a:t>
            </a:r>
          </a:p>
          <a:p>
            <a:pPr marL="342900" lvl="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(BFS): Concept &amp; Properties</a:t>
            </a:r>
          </a:p>
          <a:p>
            <a:pPr marL="342900" lvl="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Algorithm (Steps)</a:t>
            </a:r>
          </a:p>
          <a:p>
            <a:pPr marL="342900" lvl="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– Worked Example (Level-order traversal)</a:t>
            </a:r>
          </a:p>
          <a:p>
            <a:pPr marL="342900" lvl="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Implementation using Queue </a:t>
            </a:r>
          </a:p>
          <a:p>
            <a:pPr marL="342900" lvl="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BFS</a:t>
            </a:r>
          </a:p>
          <a:p>
            <a:pPr marL="342900" lvl="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342900" lvl="0" indent="-3429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using Queue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1" y="1144905"/>
            <a:ext cx="8496942" cy="5150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graph and identify its components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between BFS and DFS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BFS as a level-by-level traversal technique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role of a queue in BFS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algorithm and pseudocode for BFS</a:t>
            </a:r>
          </a:p>
          <a:p>
            <a:pPr marL="360363" lvl="0" indent="-36036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BFS using a queue</a:t>
            </a: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Queue Applications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5" y="1297491"/>
            <a:ext cx="8580969" cy="44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lvl="0" indent="-17621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Queues implement FIFO for fair task processing.</a:t>
            </a:r>
          </a:p>
          <a:p>
            <a:pPr marL="176213" lvl="0" indent="-17621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CPU scheduling, printer spooling, BFS, packet handling, customer service, and traffic control.</a:t>
            </a:r>
          </a:p>
          <a:p>
            <a:pPr marL="176213" lvl="0" indent="-17621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queues optimize memory usage.</a:t>
            </a:r>
          </a:p>
          <a:p>
            <a:pPr marL="176213" lvl="0" indent="-17621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queues serve high-priority tasks first.</a:t>
            </a:r>
          </a:p>
          <a:p>
            <a:pPr marL="176213" lvl="0" indent="-176213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operations are efficient and essential for system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304786" y="1280189"/>
            <a:ext cx="8580969" cy="4842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__________ principle.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overcomes the problem of __________ in linear queue.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queue that serves higher priority elements first is called __________ queue.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inserts an element into a queue?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an element?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one OS application of queue.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82594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44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unused/vacant space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scheduling/printer spooling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4CFBBD-50BA-5AED-703C-8E89E17C0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32" y="120815"/>
            <a:ext cx="64447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Introduction to Graphs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734EE-9746-9E1E-DD18-BF795A5F179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9532" y="1033592"/>
            <a:ext cx="8424936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is a non-linear data structure made up of nodes or vertices and edges.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edges connect any two nodes in the graph, and the nodes are also known as vertices.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71800" y="5925932"/>
            <a:ext cx="584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799" y="3595296"/>
            <a:ext cx="4391025" cy="28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369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329420"/>
            <a:ext cx="82252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Graph Traversal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53461" y="1578099"/>
            <a:ext cx="84969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traversal is a method used to search nodes in a graph. </a:t>
            </a:r>
          </a:p>
          <a:p>
            <a:pPr marL="342900" indent="-34290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traversal Techniques :</a:t>
            </a:r>
          </a:p>
          <a:p>
            <a:pPr marL="720725" indent="-360363" fontAlgn="base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  </a:t>
            </a:r>
          </a:p>
          <a:p>
            <a:pPr marL="720725" indent="-360363" fontAlgn="base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039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3" y="329420"/>
            <a:ext cx="80812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BFS (Breadth-First Search)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67543" y="1107776"/>
            <a:ext cx="835292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endParaRPr lang="en-US" sz="2400" dirty="0"/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(BFS)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graph traversal algorithm, where we start from a selected(source) node and traverse the graph level by level, by exploring the neighbor nodes at each level.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12" name="Picture 11"/>
          <p:cNvPicPr/>
          <p:nvPr/>
        </p:nvPicPr>
        <p:blipFill>
          <a:blip r:embed="rId6"/>
          <a:stretch>
            <a:fillRect/>
          </a:stretch>
        </p:blipFill>
        <p:spPr>
          <a:xfrm>
            <a:off x="2555775" y="3716401"/>
            <a:ext cx="5433060" cy="25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4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14617" y="273900"/>
            <a:ext cx="42851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buSzPct val="25000"/>
            </a:pPr>
            <a:r>
              <a:rPr 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 for BFS</a:t>
            </a:r>
            <a:endParaRPr lang="en-IN" sz="32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-36513" y="901940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Grp="1" noChangeArrowheads="1"/>
          </p:cNvSpPr>
          <p:nvPr/>
        </p:nvSpPr>
        <p:spPr bwMode="auto">
          <a:xfrm>
            <a:off x="611560" y="994995"/>
            <a:ext cx="8258683" cy="5221271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w"/>
              <a:defRPr sz="3200" kern="1200">
                <a:solidFill>
                  <a:srgbClr val="01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: Define a queue based on the number of nodes.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Start from any node, visit it, and add it to the queue.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: Visit non-visited adjacent nodes in the queue.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: Delete nodes without edges and not in the queue.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: Empty the queue and form the spanning tree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53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3" y="329420"/>
            <a:ext cx="80812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25428" y="1507637"/>
            <a:ext cx="8129658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stands for __________ First Search.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explores nodes __________ by __________.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structure used in BFS is a __________.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__________ principle.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a queue suitable for BFS?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traversal technique explores deep before wide?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603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BE681-632B-E6FE-B7F1-56ACAAD0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F47CAE-F561-BB09-9484-6923B8F8A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8A131D-BC94-E10A-F12D-4AB2FE13DC4D}"/>
              </a:ext>
            </a:extLst>
          </p:cNvPr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329F5E3-145B-DF70-BA64-4BC4AB4E1C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24342F-0A2F-9BBB-AC4B-DDBEBF48EBF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EB428-C044-6504-8347-01A6975F0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3" y="329420"/>
            <a:ext cx="80812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B395E-9A08-DDD9-4DFC-7BD69CBFCCA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C1467-E6F7-3B37-DE84-EFE82F358CE8}"/>
              </a:ext>
            </a:extLst>
          </p:cNvPr>
          <p:cNvSpPr/>
          <p:nvPr/>
        </p:nvSpPr>
        <p:spPr>
          <a:xfrm>
            <a:off x="539552" y="1107776"/>
            <a:ext cx="812965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the root, all the nodes at a particular level are visited first, and then the nodes of the next level are traversed till all the nodes are visited.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B33A121-0813-B229-32AC-F6A427AC6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CC90D57-EE2A-5D0F-A51D-F3EF9F4F980B}"/>
              </a:ext>
            </a:extLst>
          </p:cNvPr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6F3F43-8561-7284-30C9-BEDA6070A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672" y="3442692"/>
            <a:ext cx="6797204" cy="300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2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5" y="329420"/>
            <a:ext cx="81532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790" y="1702130"/>
            <a:ext cx="8280226" cy="332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38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5" y="329420"/>
            <a:ext cx="81532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58" y="1724705"/>
            <a:ext cx="8241556" cy="388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5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329420"/>
            <a:ext cx="82252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77" y="1666628"/>
            <a:ext cx="8458150" cy="401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17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329420"/>
            <a:ext cx="82252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36" y="1804725"/>
            <a:ext cx="8553400" cy="398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81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5" y="329420"/>
            <a:ext cx="81532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17" y="1620593"/>
            <a:ext cx="8453388" cy="453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61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1" y="329420"/>
            <a:ext cx="80092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05" y="1384407"/>
            <a:ext cx="8202750" cy="480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44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DDC7670-4613-13C9-8F8E-471A2782A8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  <a:prstGeom prst="rect">
            <a:avLst/>
          </a:prstGeom>
        </p:spPr>
      </p:pic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51520" y="25260"/>
            <a:ext cx="8568952" cy="857250"/>
          </a:xfrm>
        </p:spPr>
        <p:txBody>
          <a:bodyPr>
            <a:normAutofit fontScale="90000"/>
          </a:bodyPr>
          <a:lstStyle/>
          <a:p>
            <a:r>
              <a:rPr lang="en-CA" alt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Implementing BFS traversal in Graph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altLang="en-US" sz="1800" dirty="0">
                <a:latin typeface="Arial" charset="0"/>
                <a:cs typeface="Arial" charset="0"/>
              </a:rPr>
              <a:t>	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 flipV="1">
            <a:off x="0" y="868530"/>
            <a:ext cx="9144000" cy="2796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381328"/>
            <a:ext cx="1808820" cy="2600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85293" y="1063660"/>
            <a:ext cx="7981460" cy="7339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BFS Traversal (PYTHON)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0601" y="1675043"/>
            <a:ext cx="7984641" cy="4130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from collections import deque</a:t>
            </a:r>
          </a:p>
          <a:p>
            <a:endParaRPr lang="en-US" sz="2000" dirty="0"/>
          </a:p>
          <a:p>
            <a:r>
              <a:rPr lang="en-US" sz="2000" dirty="0"/>
              <a:t>def </a:t>
            </a:r>
            <a:r>
              <a:rPr lang="en-US" sz="2000" dirty="0" err="1"/>
              <a:t>bfs</a:t>
            </a:r>
            <a:r>
              <a:rPr lang="en-US" sz="2000" dirty="0"/>
              <a:t>(graph, start):</a:t>
            </a:r>
          </a:p>
          <a:p>
            <a:r>
              <a:rPr lang="en-US" sz="2000" dirty="0"/>
              <a:t>    visited = set()          # to keep track of visited nodes</a:t>
            </a:r>
          </a:p>
          <a:p>
            <a:r>
              <a:rPr lang="en-US" sz="2000" dirty="0"/>
              <a:t>    queue = deque()          # queue for BFS</a:t>
            </a:r>
          </a:p>
          <a:p>
            <a:endParaRPr lang="en-US" sz="2000" dirty="0"/>
          </a:p>
          <a:p>
            <a:r>
              <a:rPr lang="en-US" sz="2000" dirty="0"/>
              <a:t>    </a:t>
            </a:r>
            <a:r>
              <a:rPr lang="en-US" sz="2000" dirty="0" err="1"/>
              <a:t>visited.add</a:t>
            </a:r>
            <a:r>
              <a:rPr lang="en-US" sz="2000" dirty="0"/>
              <a:t>(start)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queue.append</a:t>
            </a:r>
            <a:r>
              <a:rPr lang="en-US" sz="2000" dirty="0"/>
              <a:t>(start)</a:t>
            </a:r>
          </a:p>
          <a:p>
            <a:endParaRPr lang="en-US" sz="2000" dirty="0"/>
          </a:p>
          <a:p>
            <a:r>
              <a:rPr lang="en-US" sz="2000" dirty="0"/>
              <a:t>    print("BFS Traversal:", end=" ")</a:t>
            </a:r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2329400" y="636649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801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8B88-9B51-283A-4F55-41AA13EA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4732B4CC-E5AC-B5CE-CE6C-B871866287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  <a:prstGeom prst="rect">
            <a:avLst/>
          </a:prstGeom>
        </p:spPr>
      </p:pic>
      <p:sp>
        <p:nvSpPr>
          <p:cNvPr id="10242" name="Title 1">
            <a:extLst>
              <a:ext uri="{FF2B5EF4-FFF2-40B4-BE49-F238E27FC236}">
                <a16:creationId xmlns:a16="http://schemas.microsoft.com/office/drawing/2014/main" id="{BE9B90BD-2C99-26B3-9DA8-5AA6ABDF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5260"/>
            <a:ext cx="8568952" cy="857250"/>
          </a:xfrm>
        </p:spPr>
        <p:txBody>
          <a:bodyPr>
            <a:normAutofit fontScale="90000"/>
          </a:bodyPr>
          <a:lstStyle/>
          <a:p>
            <a:r>
              <a:rPr lang="en-CA" alt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Implementing BFS traversal in Graph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A13F13B5-2BF1-A888-9AF9-171F429B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altLang="en-US" sz="1800" dirty="0">
                <a:latin typeface="Arial" charset="0"/>
                <a:cs typeface="Arial" charset="0"/>
              </a:rPr>
              <a:t>	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8BED1B-4A85-8028-19B7-2D4B083BE775}"/>
              </a:ext>
            </a:extLst>
          </p:cNvPr>
          <p:cNvCxnSpPr/>
          <p:nvPr/>
        </p:nvCxnSpPr>
        <p:spPr>
          <a:xfrm flipV="1">
            <a:off x="0" y="868530"/>
            <a:ext cx="9144000" cy="2796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00A5000-69F2-96AC-0889-528C476973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381328"/>
            <a:ext cx="1808820" cy="2600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75694E-B36D-860D-7E8F-2DA5F01C9C70}"/>
              </a:ext>
            </a:extLst>
          </p:cNvPr>
          <p:cNvSpPr/>
          <p:nvPr/>
        </p:nvSpPr>
        <p:spPr>
          <a:xfrm>
            <a:off x="385293" y="1063660"/>
            <a:ext cx="7981460" cy="7339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BFS Traversal (PYTHON)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EEFD2F-F751-5ACC-31E9-D2F2076A522B}"/>
              </a:ext>
            </a:extLst>
          </p:cNvPr>
          <p:cNvSpPr/>
          <p:nvPr/>
        </p:nvSpPr>
        <p:spPr>
          <a:xfrm>
            <a:off x="400601" y="1675043"/>
            <a:ext cx="7984641" cy="4130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 while queue:</a:t>
            </a:r>
          </a:p>
          <a:p>
            <a:r>
              <a:rPr lang="en-US" sz="2000" dirty="0"/>
              <a:t>        node = </a:t>
            </a:r>
            <a:r>
              <a:rPr lang="en-US" sz="2000" dirty="0" err="1"/>
              <a:t>queue.popleft</a:t>
            </a:r>
            <a:r>
              <a:rPr lang="en-US" sz="2000" dirty="0"/>
              <a:t>()     # dequeue</a:t>
            </a:r>
          </a:p>
          <a:p>
            <a:r>
              <a:rPr lang="en-US" sz="2000" dirty="0"/>
              <a:t>        print(node, end=" ")</a:t>
            </a:r>
          </a:p>
          <a:p>
            <a:endParaRPr lang="en-US" sz="2000" dirty="0"/>
          </a:p>
          <a:p>
            <a:r>
              <a:rPr lang="en-US" sz="2000" dirty="0"/>
              <a:t>        for neighbor in graph[node]:</a:t>
            </a:r>
          </a:p>
          <a:p>
            <a:r>
              <a:rPr lang="en-US" sz="2000" dirty="0"/>
              <a:t>            if neighbor not in visited: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visited.add</a:t>
            </a:r>
            <a:r>
              <a:rPr lang="en-US" sz="2000" dirty="0"/>
              <a:t>(neighbor)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queue.append</a:t>
            </a:r>
            <a:r>
              <a:rPr lang="en-US" sz="2000" dirty="0"/>
              <a:t>(neighbor)</a:t>
            </a:r>
          </a:p>
          <a:p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42095D-F64E-C1B4-2E33-91E8832A7372}"/>
              </a:ext>
            </a:extLst>
          </p:cNvPr>
          <p:cNvSpPr/>
          <p:nvPr/>
        </p:nvSpPr>
        <p:spPr>
          <a:xfrm>
            <a:off x="2329400" y="636649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724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7218-4A91-3A12-13D2-DB0BC37C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1387FDF4-9AFC-A78A-5EEF-821D09EA8B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  <a:prstGeom prst="rect">
            <a:avLst/>
          </a:prstGeom>
        </p:spPr>
      </p:pic>
      <p:sp>
        <p:nvSpPr>
          <p:cNvPr id="10242" name="Title 1">
            <a:extLst>
              <a:ext uri="{FF2B5EF4-FFF2-40B4-BE49-F238E27FC236}">
                <a16:creationId xmlns:a16="http://schemas.microsoft.com/office/drawing/2014/main" id="{0AE96BEB-4153-3E76-A1D1-BCB3F08B6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5260"/>
            <a:ext cx="8568952" cy="857250"/>
          </a:xfrm>
        </p:spPr>
        <p:txBody>
          <a:bodyPr>
            <a:normAutofit fontScale="90000"/>
          </a:bodyPr>
          <a:lstStyle/>
          <a:p>
            <a:r>
              <a:rPr lang="en-CA" alt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Implementing BFS traversal in Graph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CF4BE9DF-D932-148C-864A-7E1BC938D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altLang="en-US" sz="1800" dirty="0">
                <a:latin typeface="Arial" charset="0"/>
                <a:cs typeface="Arial" charset="0"/>
              </a:rPr>
              <a:t>	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0C9A0C-5D2D-22B6-13CD-D645A320B00B}"/>
              </a:ext>
            </a:extLst>
          </p:cNvPr>
          <p:cNvCxnSpPr/>
          <p:nvPr/>
        </p:nvCxnSpPr>
        <p:spPr>
          <a:xfrm flipV="1">
            <a:off x="0" y="868530"/>
            <a:ext cx="9144000" cy="2796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C9A7FA0-37E2-2250-71B1-A216835326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381328"/>
            <a:ext cx="1808820" cy="2600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C444F3-7FFE-565A-E524-BC20FC3D7924}"/>
              </a:ext>
            </a:extLst>
          </p:cNvPr>
          <p:cNvSpPr/>
          <p:nvPr/>
        </p:nvSpPr>
        <p:spPr>
          <a:xfrm>
            <a:off x="385293" y="1063660"/>
            <a:ext cx="7981460" cy="7339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BFS Traversal (PYTHON)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6BEF9A-6899-52D3-C438-10062A29D084}"/>
              </a:ext>
            </a:extLst>
          </p:cNvPr>
          <p:cNvSpPr/>
          <p:nvPr/>
        </p:nvSpPr>
        <p:spPr>
          <a:xfrm>
            <a:off x="400601" y="1675043"/>
            <a:ext cx="7984641" cy="4130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# Example graph (adjacency list)</a:t>
            </a:r>
          </a:p>
          <a:p>
            <a:r>
              <a:rPr lang="en-US" sz="2000" dirty="0"/>
              <a:t>graph = {</a:t>
            </a:r>
          </a:p>
          <a:p>
            <a:r>
              <a:rPr lang="en-US" sz="2000" dirty="0"/>
              <a:t>    'A': ['B', 'C'],</a:t>
            </a:r>
          </a:p>
          <a:p>
            <a:r>
              <a:rPr lang="en-US" sz="2000" dirty="0"/>
              <a:t>    'B': ['A', 'D', 'E'],</a:t>
            </a:r>
          </a:p>
          <a:p>
            <a:r>
              <a:rPr lang="en-US" sz="2000" dirty="0"/>
              <a:t>    'C': ['A', 'F'],</a:t>
            </a:r>
          </a:p>
          <a:p>
            <a:r>
              <a:rPr lang="en-US" sz="2000" dirty="0"/>
              <a:t>    'D': ['B'],</a:t>
            </a:r>
          </a:p>
          <a:p>
            <a:r>
              <a:rPr lang="en-US" sz="2000" dirty="0"/>
              <a:t>    'E': ['B', 'F'],</a:t>
            </a:r>
          </a:p>
          <a:p>
            <a:r>
              <a:rPr lang="en-US" sz="2000" dirty="0"/>
              <a:t>    'F': ['C', 'E']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# Call BFS</a:t>
            </a:r>
          </a:p>
          <a:p>
            <a:r>
              <a:rPr lang="en-US" sz="2000" dirty="0" err="1"/>
              <a:t>bfs</a:t>
            </a:r>
            <a:r>
              <a:rPr lang="en-US" sz="2000" dirty="0"/>
              <a:t>(graph, 'A')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444934-85DE-D963-7832-8F1D7C1535CF}"/>
              </a:ext>
            </a:extLst>
          </p:cNvPr>
          <p:cNvSpPr/>
          <p:nvPr/>
        </p:nvSpPr>
        <p:spPr>
          <a:xfrm>
            <a:off x="2329400" y="636649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157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D60C-80F7-2430-9E52-57AC2EF8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562DBF-CD28-DCF3-D706-B05E26C08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8E884E-BF82-A5DC-EC61-221ACB47310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A487C52-81B5-3511-46F9-74DE51AE5F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6B0486-9E5D-CA65-D71C-2CF2335D513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729CE-D988-D882-0E22-9B77DF310035}"/>
              </a:ext>
            </a:extLst>
          </p:cNvPr>
          <p:cNvSpPr txBox="1"/>
          <p:nvPr/>
        </p:nvSpPr>
        <p:spPr>
          <a:xfrm>
            <a:off x="179512" y="1458149"/>
            <a:ext cx="874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34DAF49-DC24-1791-F5D6-8F5B5809D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77325"/>
            <a:ext cx="80334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QUICK CHECK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AB96D-0B47-8D5F-6E74-DE483F38C9AE}"/>
              </a:ext>
            </a:extLst>
          </p:cNvPr>
          <p:cNvSpPr txBox="1"/>
          <p:nvPr/>
        </p:nvSpPr>
        <p:spPr>
          <a:xfrm>
            <a:off x="36004" y="1131316"/>
            <a:ext cx="9071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5F1535-BEE7-30F0-817C-BD82A0D46DD5}"/>
              </a:ext>
            </a:extLst>
          </p:cNvPr>
          <p:cNvSpPr/>
          <p:nvPr/>
        </p:nvSpPr>
        <p:spPr>
          <a:xfrm>
            <a:off x="395537" y="1293834"/>
            <a:ext cx="8208912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times is a node visited in BFS?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enqueued first: the start node or its neighbors?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a vertex from the queue?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one application of BFS.</a:t>
            </a:r>
          </a:p>
        </p:txBody>
      </p:sp>
    </p:spTree>
    <p:extLst>
      <p:ext uri="{BB962C8B-B14F-4D97-AF65-F5344CB8AC3E}">
        <p14:creationId xmlns:p14="http://schemas.microsoft.com/office/powerpoint/2010/main" val="979335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458149"/>
            <a:ext cx="874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77325"/>
            <a:ext cx="80334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BFS APPLICATIONS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4" y="1131316"/>
            <a:ext cx="9071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360295" y="1330264"/>
            <a:ext cx="838816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and Map Navigation (Unweighted paths):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shortest routes when all edges have equal weight.</a:t>
            </a:r>
          </a:p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Broadcasting: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send data to all nodes in minimum time steps.</a:t>
            </a:r>
          </a:p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 Analysis: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people at a certain “distance” (friends, friends of friends).</a:t>
            </a:r>
          </a:p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Puzzle Solving &amp; Game AI: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problems like maze solving and minimum-move puzzles.</a:t>
            </a:r>
          </a:p>
          <a:p>
            <a:pPr marL="268288" lvl="0" indent="-268288" algn="just" eaLnBrk="0" fontAlgn="base" hangingPunct="0">
              <a:spcBef>
                <a:spcPts val="12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Collection Algorithms: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reachable memory blocks in memory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1626590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1" y="824789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823656"/>
            <a:ext cx="8424934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 A person wants to visit some places. He starts from a vertex and then wants to visit every place connected to this vertex and so on. What algorithm he should use?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Depth First Search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Breadth First Search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Trim’s algorithm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Kruskal’s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(B)</a:t>
            </a:r>
          </a:p>
          <a:p>
            <a:pPr>
              <a:spcBef>
                <a:spcPts val="60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 Which of the following is not an application of Breadth First Search?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Finding shortest path between two nodes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Finding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bipartiteness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graph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GPS navigation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Path Finding</a:t>
            </a:r>
          </a:p>
          <a:p>
            <a:pPr>
              <a:spcBef>
                <a:spcPts val="60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(D)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4" y="177325"/>
            <a:ext cx="80334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Test Your Knowledge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6266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1" y="824789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3452" y="823656"/>
            <a:ext cx="835701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  In BFS, how many times a node is visited?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Once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Twice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Equivalent to number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indegree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node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Thrice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(C)</a:t>
            </a:r>
          </a:p>
          <a:p>
            <a:pPr>
              <a:spcBef>
                <a:spcPts val="60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graph, Among the following sequences: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breadth first traversals of the above graph?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→ e → b → f → g → h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→ b → e → h → g → f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→ f → b → e → h → 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→ e → g → b → h → f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50" y="177325"/>
            <a:ext cx="79655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Test Your Knowledge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3450" y="5564166"/>
            <a:ext cx="1315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(A)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040" y="3995830"/>
            <a:ext cx="342900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08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5A77-53E1-8164-937B-E5CCD2C6E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8D9A99-2B01-64B8-086B-EA816819D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7C3A5C-3DBA-4AED-0524-91970732C01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A079F8E-4F60-140D-EE48-8D649F1C81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FAC2D-BD17-3014-0723-4F6CB3428B6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C9E500-7413-C68A-E0B6-7CAF5905787F}"/>
              </a:ext>
            </a:extLst>
          </p:cNvPr>
          <p:cNvSpPr txBox="1"/>
          <p:nvPr/>
        </p:nvSpPr>
        <p:spPr>
          <a:xfrm>
            <a:off x="179512" y="1458149"/>
            <a:ext cx="874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8B41AA7-15F5-4F4F-4630-C032159E2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77325"/>
            <a:ext cx="80334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KEY TAKEAWAYS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ECF32E-F877-131D-A60C-DED6A9372F2C}"/>
              </a:ext>
            </a:extLst>
          </p:cNvPr>
          <p:cNvSpPr txBox="1"/>
          <p:nvPr/>
        </p:nvSpPr>
        <p:spPr>
          <a:xfrm>
            <a:off x="36004" y="1131316"/>
            <a:ext cx="9071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C1295-3C61-F6C3-118E-A37A447A7575}"/>
              </a:ext>
            </a:extLst>
          </p:cNvPr>
          <p:cNvSpPr/>
          <p:nvPr/>
        </p:nvSpPr>
        <p:spPr>
          <a:xfrm>
            <a:off x="363424" y="1293834"/>
            <a:ext cx="8313031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is a graph traversal algorithm that visits vertices level by level.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queue (FIFO) to manage the traversal order.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vertex is visited once and marked to avoid repetition.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is ideal for shortest path (unweighted graphs), bipartite checking, and level-order traversal.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O(V + E)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O(V) (for queue + visited array)</a:t>
            </a:r>
          </a:p>
        </p:txBody>
      </p:sp>
    </p:spTree>
    <p:extLst>
      <p:ext uri="{BB962C8B-B14F-4D97-AF65-F5344CB8AC3E}">
        <p14:creationId xmlns:p14="http://schemas.microsoft.com/office/powerpoint/2010/main" val="2381770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2" y="0"/>
            <a:ext cx="9144000" cy="6887292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560" y="1081481"/>
            <a:ext cx="6267764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4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13692" y="980728"/>
            <a:ext cx="914400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50" y="6278894"/>
            <a:ext cx="1808820" cy="260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277634" y="1827625"/>
            <a:ext cx="6588732" cy="314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1327" y="1653336"/>
            <a:ext cx="656134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350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511993"/>
            <a:ext cx="8208912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5"/>
              </a:rPr>
              <a:t>https://www.boardinfinity.com/blog/graphs-in-data-structure/</a:t>
            </a:r>
            <a:r>
              <a:rPr lang="en-IN" sz="2000" dirty="0"/>
              <a:t>.</a:t>
            </a:r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6"/>
              </a:rPr>
              <a:t>https://www.geeksforgeeks.org/what-is-graph-data-structure/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7"/>
              </a:rPr>
              <a:t>https://www.tutorialspoint.com/data_structures_algorithms/graph_data_structure.html</a:t>
            </a:r>
            <a:r>
              <a:rPr lang="en-IN" sz="2000" dirty="0"/>
              <a:t>.</a:t>
            </a:r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8"/>
              </a:rPr>
              <a:t>https://www.simplilearn.com/tutorials/data-structure-tutorial/graphs-in-data-structure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9"/>
              </a:rPr>
              <a:t>https://www.geeksforgeeks.org/applications-of-graph-data-structure/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10"/>
              </a:rPr>
              <a:t>https://www.upgrad.com/blog/graphs-in-data-structure/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11"/>
              </a:rPr>
              <a:t>https://www.youtube.com/watch?v=4IZ80K72OXo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endParaRPr lang="en-IN" sz="135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endParaRPr lang="en-IN" sz="135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03420"/>
            <a:ext cx="5979732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References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886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6BD4-0C46-7723-3D33-4A396A19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9D137C-AB62-EEE0-8D48-C1AC00FB7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0AD931-41F5-5766-D306-C893F5B163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106362-5908-0850-F1E0-F9372D054593}"/>
              </a:ext>
            </a:extLst>
          </p:cNvPr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C6DA1-3C0A-0EB2-3E6B-C7CFCA82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96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23973</TotalTime>
  <Words>1534</Words>
  <Application>Microsoft Office PowerPoint</Application>
  <PresentationFormat>On-screen Show (4:3)</PresentationFormat>
  <Paragraphs>270</Paragraphs>
  <Slides>29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Implementing BFS traversal in Graph</vt:lpstr>
      <vt:lpstr>Implementing BFS traversal in Graph</vt:lpstr>
      <vt:lpstr>Implementing BFS traversal in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1493</cp:revision>
  <cp:lastPrinted>2022-09-05T08:43:44Z</cp:lastPrinted>
  <dcterms:created xsi:type="dcterms:W3CDTF">2020-01-16T09:05:56Z</dcterms:created>
  <dcterms:modified xsi:type="dcterms:W3CDTF">2026-02-10T20:51:41Z</dcterms:modified>
</cp:coreProperties>
</file>