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1011" r:id="rId2"/>
    <p:sldId id="993" r:id="rId3"/>
    <p:sldId id="1012" r:id="rId4"/>
    <p:sldId id="1013" r:id="rId5"/>
    <p:sldId id="691" r:id="rId6"/>
    <p:sldId id="1027" r:id="rId7"/>
    <p:sldId id="1091" r:id="rId8"/>
    <p:sldId id="262" r:id="rId9"/>
    <p:sldId id="263" r:id="rId10"/>
    <p:sldId id="264" r:id="rId11"/>
    <p:sldId id="265" r:id="rId12"/>
    <p:sldId id="266" r:id="rId13"/>
    <p:sldId id="267" r:id="rId14"/>
    <p:sldId id="1049" r:id="rId15"/>
    <p:sldId id="270" r:id="rId16"/>
    <p:sldId id="271" r:id="rId17"/>
    <p:sldId id="272" r:id="rId18"/>
    <p:sldId id="273" r:id="rId19"/>
    <p:sldId id="1052" r:id="rId20"/>
    <p:sldId id="1077" r:id="rId21"/>
    <p:sldId id="1078" r:id="rId22"/>
    <p:sldId id="1079" r:id="rId23"/>
    <p:sldId id="1092" r:id="rId24"/>
    <p:sldId id="1080" r:id="rId25"/>
    <p:sldId id="1081" r:id="rId26"/>
    <p:sldId id="1082" r:id="rId27"/>
    <p:sldId id="1083" r:id="rId28"/>
    <p:sldId id="1085" r:id="rId29"/>
    <p:sldId id="1087" r:id="rId30"/>
    <p:sldId id="1055" r:id="rId31"/>
    <p:sldId id="1056" r:id="rId32"/>
    <p:sldId id="1089" r:id="rId33"/>
    <p:sldId id="1090" r:id="rId34"/>
    <p:sldId id="1093" r:id="rId35"/>
    <p:sldId id="1070" r:id="rId36"/>
    <p:sldId id="1072" r:id="rId37"/>
    <p:sldId id="1014" r:id="rId38"/>
    <p:sldId id="269" r:id="rId39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B3"/>
    <a:srgbClr val="E31E24"/>
    <a:srgbClr val="4B0993"/>
    <a:srgbClr val="E83030"/>
    <a:srgbClr val="0060AA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54" autoAdjust="0"/>
    <p:restoredTop sz="93883" autoAdjust="0"/>
  </p:normalViewPr>
  <p:slideViewPr>
    <p:cSldViewPr>
      <p:cViewPr varScale="1">
        <p:scale>
          <a:sx n="69" d="100"/>
          <a:sy n="69" d="100"/>
        </p:scale>
        <p:origin x="968" y="68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93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4DFB-3008-8543-633F-58A4FDCE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E617-873D-1C3C-F1FE-596A7096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17E02-BCF9-92D4-5122-7BCC78C01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01162-177B-B734-FFE6-17BCFEDA5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905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056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581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8777-BC47-2200-6A1C-EB34789B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F4ABC-EEF1-A951-7FAC-1F93C569E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4343-20BB-49D4-3398-79EEED45D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6DA01-74A2-3336-38C9-77FDE5032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048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1622E-A8CC-0DF9-351E-4530C09C0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DD782-F713-0B37-E537-4E40D9E7D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83C6E0-2F99-3073-2BBE-7B5FA4DC2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17E35-26E9-D129-CF36-F9D071F98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88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dirty="0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dirty="0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dirty="0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dirty="0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dirty="0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613034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A09A-AE0A-CC35-A897-71F2B100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D8163-D0C9-4BA8-1D4E-7564DA97C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1906C-BDE0-BC96-7505-9CB8A55AC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FA082-CCC8-456F-35C2-ED829BC24D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AFFE3-BE48-9BA6-38FD-03BB373FD5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28CCA45-8F82-8549-F676-5BE96570DEE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0273513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445B9-07B8-370D-6D14-D9655847B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9348B-D396-E0F5-95BB-7696E8DDF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416A7-7D77-11B4-DAD6-5B2A82CA5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1BAB9-5E51-813E-62DB-DFF42ED78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74B21-41E4-7F59-DC8C-97E749ED7E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298B7F0-050D-5AE8-CF9F-CC7BA83608A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4998270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D0E69-5330-2581-522C-E1DD8797D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C46D75-32E0-60CF-C990-1E552CA65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734C5-F693-3CA7-7796-924C12C0A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87CCC-2393-4A52-C59E-D18C79502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40E61-BD07-235D-C93C-A28B18728E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D03F30F3-E418-DFAC-0424-E144DB46A4AD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8544370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B88AC-FFB0-9A72-C9CC-8760D66E9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874B1-49AE-6C2A-1B5A-759CB8507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C6D57-34F1-C317-F42C-7AC09B013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1F541-0B14-A210-257C-24C639C88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E150C-94CB-B47E-7C5E-18C563A8CE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EE77BD6-3EEE-E064-728D-1E9251BB178E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0806021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9E2D9-0157-9EC9-9315-02BA39364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6B82F-D849-92F9-3581-6F55D73AC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256CCF-1BEC-C8E3-3978-38186AA33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9E8F9-88C0-BB32-5998-08EA5BDB2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F664F-0A53-05AA-4BAE-7A939D4054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3B9A1C6C-A8F0-711C-8316-86320F4453E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6644342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5F222-16E9-EB98-2457-9B47D8CB4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156DBD-8361-1A21-737E-6AD0D9D06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D29DA2-97F4-BF38-B5BC-2A8949BFA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87979-5033-169E-4408-503FEA0EF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8907C-2052-0895-CE4F-2F0F917416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676FC841-30D2-1353-F85D-E0940E03062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5835513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2FD16-E8B9-9436-7E41-4972F2A67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248AB-ADB0-276A-C522-E86F803BF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EAC40-2A22-0040-DB73-A56C77FEB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E6311-657A-4CBD-B79C-3D5FFD30F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5058E-87A9-0B94-0808-1AD17580FF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D501F163-2997-D9E5-1508-0E73A08ED5A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5787870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38522-D5B2-54CA-FF51-56BFF19E8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F57B4-DBE7-F4EE-30DC-E2E6B1087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53FDB-D615-DF53-63E9-8A8D23859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5DED8-9606-93EC-8D8E-B6F44B1E3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74D94-511E-1BB4-96DC-AF7551C254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F8F9537-DFCC-92B3-8E1D-699E585DDBB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541779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A73E1-2B01-5E0B-CAFE-76866F8F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2028F-9E86-FF2D-D9AB-36644B9E3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CD0981-5A37-3BDF-6A76-1D6DAB382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4988F-6B1F-24AD-9CE3-04BDD7970B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6D3AF-F2F1-BEC2-E581-E5EFAED5CF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CD0719E-5454-09F8-9353-1EA54449841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241472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00FE8-C5D5-F249-4A83-3AC94C1B6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2DE6B-495E-4BAA-FFEE-242CAEF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6464B4-A327-79C2-5AB1-025455D5E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0E5CE-79DF-4FC6-FED4-FAEEFB6A1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08F52-2D1A-D824-3F8A-3E57A57BF0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60AB84DA-2936-9A1F-AEA5-BAD6A690C10D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136976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485807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0491507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7A15C-0B06-DF9D-DA02-21D4CF366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3DDD5-DAE3-55A0-3CC0-243D293A8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DF857-AFE1-C7A6-9E55-C07030EDE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51747-A2CB-1710-EA97-EAEF7A53A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5B3FE-7DCF-6782-CD53-7F3CE400F1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3022090-92F8-1FEE-6B98-1FE687B864D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5131204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ED9E2-C1F0-E731-473A-BBE9C49AF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38196-4EAF-A762-7733-7D7AEBCD8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A13B74-C45E-E747-A4A9-23CC3AD3F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1F726-8A27-18AD-3811-42B83EEB6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17E23-A8CA-9C8B-559D-B8C8B9BEF0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77E10CF-A898-FB07-4E59-631BCA8B248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435002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629BD-0A75-7C23-1F17-594FB82D4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73A82-B46B-9A8E-6985-71DE218A3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40C44-3C04-AB15-B352-2621B402D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C7AB8-071E-4ABD-D8EC-520A9B435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DDCB3-7FDE-B245-E530-F52EFBCB7C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D0CB6FEC-6F7F-EF6B-45D5-6A7E7AD1AC0F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5011005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5551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3890709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2238-09A6-8EB0-4295-5007DFCC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80A71-06A5-D1F8-DA16-27247CBDC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9DB18-C22C-0235-39B4-E26D3FB8C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C905F-3127-FA31-973F-892A372D9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018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what-is-linked-list/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questions.examside.com/past-years/gate/question/pconsider-the-problem-of-reversing-a-singly-linked-list-t-gate-cse-theory-of-computation-finite-automata-and-regular-language-zpfpkf4re1g8xuff" TargetMode="Externa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ocw.mit.edu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tutorialspoint.com/data_structures_algorithms/linked_list_algorithms.htm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types-of-linked-list/" TargetMode="External"/><Relationship Id="rId5" Type="http://schemas.openxmlformats.org/officeDocument/2006/relationships/hyperlink" Target="https://www.geeksforgeeks.org/what-is-linked-list/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ww.programiz.com/dsa/linked-list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0355-B08D-308D-DAFB-1DCEF1C1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E75B-70BC-32F0-9AE3-D3A4E8E6F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8983B-21DD-AA3A-59D7-A404EAAE16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D99E4B-F41D-043D-FE73-335D31AA23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873DE-D9DB-5423-6553-EECC3B910E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52" y="480488"/>
            <a:ext cx="6172601" cy="8887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07A6CE9-669B-DEE3-BF3E-8D5506EAE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625" y="1636320"/>
            <a:ext cx="6372708" cy="1284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ETCCDS202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034320-BE78-5A55-6F19-03B79C05C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619" y="4240831"/>
            <a:ext cx="648072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 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K.R. </a:t>
            </a:r>
            <a:r>
              <a:rPr lang="en-US" b="1" kern="100" dirty="0" err="1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  <a:endParaRPr lang="en-IN" b="1" dirty="0">
              <a:solidFill>
                <a:srgbClr val="E31E24"/>
              </a:solidFill>
              <a:latin typeface="Sylfaen" panose="010A0502050306030303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0A128E3-2186-5C09-4DCD-7BC65272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29000"/>
            <a:ext cx="6372708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Dr. Aarti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9C7E5-CE35-9355-4CD6-2B1E6EB9A5AA}"/>
              </a:ext>
            </a:extLst>
          </p:cNvPr>
          <p:cNvSpPr txBox="1"/>
          <p:nvPr/>
        </p:nvSpPr>
        <p:spPr>
          <a:xfrm>
            <a:off x="1178176" y="5615709"/>
            <a:ext cx="7027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 : </a:t>
            </a: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Linear Data Structures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4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47664" y="320012"/>
            <a:ext cx="54693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Unit-2 Linear Data Structures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213558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11	Arrays – 1D &amp; 2D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95536" y="1733775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12	Static &amp; Dynamic Arrays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3243" y="2249884"/>
            <a:ext cx="835292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13	Linked Lists Types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836" y="281152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14	Linked List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3378" y="3324993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15	Stack ADT &amp;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359" y="4262830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	Queue ADT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836" y="477629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18	Queue Applications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536" y="378788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16	 Stack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AA04E-4CF0-1135-99A8-DFA66C9162E6}"/>
              </a:ext>
            </a:extLst>
          </p:cNvPr>
          <p:cNvSpPr txBox="1"/>
          <p:nvPr/>
        </p:nvSpPr>
        <p:spPr>
          <a:xfrm>
            <a:off x="414129" y="5270729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19	BFS using Queue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5B26A0-3162-1565-E432-BE0EB2B54357}"/>
              </a:ext>
            </a:extLst>
          </p:cNvPr>
          <p:cNvSpPr txBox="1"/>
          <p:nvPr/>
        </p:nvSpPr>
        <p:spPr>
          <a:xfrm>
            <a:off x="421836" y="578683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	Revision (Unit–2)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64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9B22-9FA9-1FAA-D08D-F3C8030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9E82FE-96D7-2529-7945-4ACABDB58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685B53-95B0-E1DB-1C9C-F5456893FE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" y="6237312"/>
            <a:ext cx="3060242" cy="439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6DC02-599B-DF7E-0281-3D512FA448DC}"/>
              </a:ext>
            </a:extLst>
          </p:cNvPr>
          <p:cNvSpPr txBox="1"/>
          <p:nvPr/>
        </p:nvSpPr>
        <p:spPr>
          <a:xfrm>
            <a:off x="1277634" y="1827626"/>
            <a:ext cx="6588732" cy="30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350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1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35" y="9478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935" y="10621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6519" y="878322"/>
            <a:ext cx="7315199" cy="424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5322" y="255261"/>
            <a:ext cx="4517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Types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4D97C22-398E-DF29-2544-457D709AF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442114"/>
            <a:ext cx="5932586" cy="475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0363" marR="0" lvl="0" indent="-36036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Linked Lists</a:t>
            </a:r>
          </a:p>
          <a:p>
            <a:pPr marL="360363" marR="0" lvl="0" indent="-36036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Linked Lists?</a:t>
            </a:r>
          </a:p>
          <a:p>
            <a:pPr marL="360363" marR="0" lvl="0" indent="-36036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of a Linked List</a:t>
            </a:r>
          </a:p>
          <a:p>
            <a:pPr marL="360363" marR="0" lvl="0" indent="-36036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Creation of Node and Declaration of Linked List</a:t>
            </a:r>
          </a:p>
          <a:p>
            <a:pPr marL="360363" marR="0" lvl="0" indent="-36036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 of Linked Lists</a:t>
            </a:r>
          </a:p>
          <a:p>
            <a:pPr marL="360363" marR="0" lvl="0" indent="-36036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Linked Lists</a:t>
            </a:r>
          </a:p>
          <a:p>
            <a:pPr marL="360363" marR="0" lvl="0" indent="-36036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Linked List vs Array</a:t>
            </a:r>
          </a:p>
          <a:p>
            <a:pPr marL="360363" marR="0" lvl="0" indent="-36036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Analysis (Linked List vs Array)</a:t>
            </a:r>
          </a:p>
          <a:p>
            <a:pPr marL="360363" marR="0" lvl="0" indent="-36036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Linked Lists</a:t>
            </a:r>
          </a:p>
          <a:p>
            <a:pPr marL="360363" marR="0" lvl="0" indent="-36036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Linked List Types</a:t>
            </a:r>
          </a:p>
          <a:p>
            <a:pPr marL="360363" marR="0" lvl="0" indent="-36036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360363" marR="0" lvl="0" indent="-36036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Quick Quiz</a:t>
            </a:r>
          </a:p>
          <a:p>
            <a:pPr marL="360363" marR="0" lvl="0" indent="-36036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27437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5518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§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1" y="1132112"/>
            <a:ext cx="8496942" cy="5019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this lecture, students will be able to: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 linked list and explain its basic structure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need for linked lists over arrays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 between singly, doubly, circular, and circular doubly linked lists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advantages and disadvantages of linked lists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linked lists and arrays in terms of performance and memory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suitable applications for each linked list type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7407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</a:t>
            </a: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and Dynamic Arrays</a:t>
            </a: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245" y="1404059"/>
            <a:ext cx="8580969" cy="4919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lvl="0" indent="-268288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 have a fixed size, and are usually stored in stack memory.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 allow runtime resizing, are stored in heap memory, and provide better memory flexibility.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Python, lists act as dynamic arrays, automatically resizing when elements are added.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 are faster but rigid, whereas dynamic arrays are flexible but complex.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761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FECA-5393-67D2-AB3A-88FF12CA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17CCF-9D13-21D7-8A01-B566BD0E2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EEDFDC-CF63-81A9-B0FF-D66EB2B30BC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FCD68A-5D5F-69ED-9E1B-49A119C575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BA3086-797F-DF92-D68F-AC598BD921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C59DB3-3A91-DA7E-7B4A-1DC48C368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Pretest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09213-D4D2-E2C9-27C9-02B227D89D1F}"/>
              </a:ext>
            </a:extLst>
          </p:cNvPr>
          <p:cNvSpPr txBox="1"/>
          <p:nvPr/>
        </p:nvSpPr>
        <p:spPr>
          <a:xfrm>
            <a:off x="281515" y="1330735"/>
            <a:ext cx="8580969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 store elements in __________ memory locations.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size of a static array is decided at __________ time.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 are stored in __________ memory.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Python, a __________ behaves as a dynamic array.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append() operation in Python lists has __________ time complexity (amortized).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 startAt="6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used by static arrays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 startAt="6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used to implement dynamic arrays in Python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 startAt="6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memory used by dynamic arrays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07CED-2EE3-4762-E052-FA7C361DC9A8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732D7C8-79E3-F348-757E-CE701D933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5522B-7DAD-6F72-F197-E3266F677833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F6B204-7BB8-BD04-E03F-2A90C354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643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59997-042F-A7CB-403D-32360E060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9B4EE1-D1F2-BB0F-F162-0E777DF6E5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C82533-A239-766B-A391-4D27B7707596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D56DF75-2C50-D59C-2B95-9FCF6991FA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F6413E-BDF4-6A93-B1A2-EC6C1A0961E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7D91F9-917E-EDA1-5B60-45A6DE84E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Pretest (Answers)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451711-3214-A6B7-D6F4-1CAD28CC4CAE}"/>
              </a:ext>
            </a:extLst>
          </p:cNvPr>
          <p:cNvSpPr txBox="1"/>
          <p:nvPr/>
        </p:nvSpPr>
        <p:spPr>
          <a:xfrm>
            <a:off x="258245" y="1338608"/>
            <a:ext cx="8580969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Contiguous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Heap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7F4E79-64BC-264F-B468-0FBDC7B7D00E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15AE3660-889E-4727-51A0-1728EF767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A2E8E1-DA9E-8425-8AF2-51601D16B7A7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5E298B-8772-2B28-A24C-E96DB38D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433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US" sz="3600" dirty="0">
                <a:solidFill>
                  <a:srgbClr val="FF0000"/>
                </a:solidFill>
              </a:rPr>
              <a:t>Linked List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933E18-9F15-A015-7DA8-6FB3F541B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735" y="1136586"/>
            <a:ext cx="7415041" cy="49433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C1BE73-384E-6561-3C75-339BE8E7EFD8}"/>
              </a:ext>
            </a:extLst>
          </p:cNvPr>
          <p:cNvSpPr txBox="1"/>
          <p:nvPr/>
        </p:nvSpPr>
        <p:spPr>
          <a:xfrm>
            <a:off x="2690472" y="6068363"/>
            <a:ext cx="3960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AI Generated Image</a:t>
            </a:r>
          </a:p>
        </p:txBody>
      </p:sp>
    </p:spTree>
    <p:extLst>
      <p:ext uri="{BB962C8B-B14F-4D97-AF65-F5344CB8AC3E}">
        <p14:creationId xmlns:p14="http://schemas.microsoft.com/office/powerpoint/2010/main" val="658833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US" sz="3600" dirty="0">
                <a:solidFill>
                  <a:srgbClr val="FF0000"/>
                </a:solidFill>
              </a:rPr>
              <a:t>Linked List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408916" y="1507554"/>
            <a:ext cx="807720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itchFamily="18" charset="0"/>
              </a:rPr>
              <a:t>Linked list  is  a linear data structure with series of connected nodes.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are stored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contains: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of next node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linked list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data structure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node is pointed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itchFamily="18" charset="0"/>
              </a:rPr>
              <a:t>The last node of the list contains a pointer to the null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037411"/>
            <a:ext cx="4752528" cy="928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4564044" y="3975436"/>
            <a:ext cx="38884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hlinkClick r:id="rId6"/>
              </a:rPr>
              <a:t>https://www.geeksforgeeks.org/what-is-linked-list/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304208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5575" y="4578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US" sz="3600" dirty="0">
                <a:solidFill>
                  <a:srgbClr val="FF0000"/>
                </a:solidFill>
              </a:rPr>
              <a:t>Why Linked List?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07974" y="1480231"/>
            <a:ext cx="8368481" cy="3503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 have the following limitations. 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size of the array is fixed: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size of an array must be known in advance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operation is expensive: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must be created for the new element, which requires shifting existing elements to new positions.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4069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5575" y="4578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US" sz="3600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07975" y="1500104"/>
            <a:ext cx="8077200" cy="441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system, if we maintain a sorted list of IDs in an array id[].</a:t>
            </a:r>
          </a:p>
          <a:p>
            <a:pPr algn="ctr">
              <a:lnSpc>
                <a:spcPct val="2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id[] = [1000, 1010, 1050, 2000, 2040].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insert a new ID 1005, we have to move all the elements after 1000 (excluding 1000).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delete 1010 in id[], everything after 1010 has to be moved.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441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5575" y="4578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>
                <a:solidFill>
                  <a:srgbClr val="FF0000"/>
                </a:solidFill>
              </a:rPr>
              <a:t>Representation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81000" y="1293834"/>
            <a:ext cx="8077200" cy="391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linked list is represented by a pointer to the first node of the linked list.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node is called the head. If the linked list is empty, then the value of the head is NULL.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in a list consists of at least two parts:</a:t>
            </a:r>
          </a:p>
          <a:p>
            <a:pPr marL="817563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marL="817563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(or Reference) to the next node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3709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IN" sz="3200" dirty="0">
                <a:solidFill>
                  <a:srgbClr val="FF0000"/>
                </a:solidFill>
              </a:rPr>
              <a:t>Creation of Node and Declaration of Linked Lists</a:t>
            </a:r>
            <a:endParaRPr lang="en-IN" sz="3600" dirty="0">
              <a:solidFill>
                <a:srgbClr val="FF0000"/>
              </a:solidFill>
            </a:endParaRPr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  <a:endParaRPr lang="en-IN" dirty="0"/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914400" y="1480231"/>
            <a:ext cx="6858000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 * next;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 * n;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node*)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malloc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node*));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4" r="17433" b="55410"/>
          <a:stretch/>
        </p:blipFill>
        <p:spPr bwMode="auto">
          <a:xfrm>
            <a:off x="4191186" y="2541598"/>
            <a:ext cx="4177258" cy="1705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0840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>
                <a:solidFill>
                  <a:srgbClr val="FF0000"/>
                </a:solidFill>
              </a:rPr>
              <a:t> </a:t>
            </a:r>
            <a:r>
              <a:rPr lang="en-IN" sz="3200" dirty="0">
                <a:solidFill>
                  <a:srgbClr val="FF0000"/>
                </a:solidFill>
              </a:rPr>
              <a:t>Applications </a:t>
            </a:r>
            <a:endParaRPr lang="en-IN" sz="3600" dirty="0">
              <a:solidFill>
                <a:srgbClr val="FF0000"/>
              </a:solidFill>
            </a:endParaRPr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7958704-1B9D-7335-D51A-9B89E842A7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87" t="16292" r="787" b="16926"/>
          <a:stretch>
            <a:fillRect/>
          </a:stretch>
        </p:blipFill>
        <p:spPr>
          <a:xfrm>
            <a:off x="72008" y="1374186"/>
            <a:ext cx="8999984" cy="40710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6FC3CE6-DAF8-D076-6E9E-F34E591DC128}"/>
              </a:ext>
            </a:extLst>
          </p:cNvPr>
          <p:cNvSpPr txBox="1"/>
          <p:nvPr/>
        </p:nvSpPr>
        <p:spPr>
          <a:xfrm>
            <a:off x="2610036" y="5369440"/>
            <a:ext cx="3960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AI Generated Image</a:t>
            </a:r>
          </a:p>
        </p:txBody>
      </p:sp>
    </p:spTree>
    <p:extLst>
      <p:ext uri="{BB962C8B-B14F-4D97-AF65-F5344CB8AC3E}">
        <p14:creationId xmlns:p14="http://schemas.microsoft.com/office/powerpoint/2010/main" val="1452244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Advantages And Disadvantages</a:t>
            </a:r>
            <a:endParaRPr lang="en-IN" sz="3200" dirty="0">
              <a:solidFill>
                <a:srgbClr val="FF0000"/>
              </a:solidFill>
            </a:endParaRPr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06435" y="1622796"/>
            <a:ext cx="3445430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data structure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and deletion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Versatility 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Persistence </a:t>
            </a:r>
          </a:p>
          <a:p>
            <a:pPr algn="just"/>
            <a:endParaRPr lang="en-IN" sz="2400" dirty="0"/>
          </a:p>
        </p:txBody>
      </p:sp>
      <p:sp>
        <p:nvSpPr>
          <p:cNvPr id="13" name="Rectangle 12"/>
          <p:cNvSpPr/>
          <p:nvPr/>
        </p:nvSpPr>
        <p:spPr>
          <a:xfrm>
            <a:off x="4256405" y="1701472"/>
            <a:ext cx="4614375" cy="3359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usage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an element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complex implementation 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cache locality 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i="1" dirty="0"/>
          </a:p>
        </p:txBody>
      </p:sp>
    </p:spTree>
    <p:extLst>
      <p:ext uri="{BB962C8B-B14F-4D97-AF65-F5344CB8AC3E}">
        <p14:creationId xmlns:p14="http://schemas.microsoft.com/office/powerpoint/2010/main" val="2973473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Importance of Linked List</a:t>
            </a:r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55575" y="1219200"/>
            <a:ext cx="883602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Data structure</a:t>
            </a:r>
          </a:p>
          <a:p>
            <a:pPr marL="342900" indent="-342900" fontAlgn="base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Insertion/Deletion.</a:t>
            </a:r>
          </a:p>
          <a:p>
            <a:pPr marL="342900" indent="-342900" fontAlgn="base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Memory Utilization </a:t>
            </a:r>
          </a:p>
          <a:p>
            <a:pPr marL="342900" indent="-342900" fontAlgn="base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089394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7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Linked List </a:t>
            </a:r>
            <a:r>
              <a:rPr lang="en-IN" sz="3600" dirty="0" err="1">
                <a:solidFill>
                  <a:srgbClr val="FF0000"/>
                </a:solidFill>
              </a:rPr>
              <a:t>vs</a:t>
            </a:r>
            <a:r>
              <a:rPr lang="en-IN" sz="3600" dirty="0">
                <a:solidFill>
                  <a:srgbClr val="FF0000"/>
                </a:solidFill>
              </a:rPr>
              <a:t> Array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386054"/>
              </p:ext>
            </p:extLst>
          </p:nvPr>
        </p:nvGraphicFramePr>
        <p:xfrm>
          <a:off x="381000" y="685800"/>
          <a:ext cx="8690992" cy="57531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345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5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178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</a:t>
                      </a: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Linked List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51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 are stored in contiguous location.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Linked Lists are not stored in contiguous location.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6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size.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Size</a:t>
                      </a:r>
                      <a:endParaRPr lang="en-IN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6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is allocated at compile time.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is allocated at run time.</a:t>
                      </a:r>
                      <a:endParaRPr lang="en-IN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581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less memory than Linked Lists.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more memory than Arrays as it stores both data and address of next node.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581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Elements can be accessed easily in O(1) time.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Elements can be access by traversing through all the nodes till we reach the required node.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1085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 and deletion operation is slower than Linked List.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 and deletion operation is faster than Linked List.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64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7" y="-145918"/>
            <a:ext cx="87510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200" dirty="0">
                <a:solidFill>
                  <a:srgbClr val="FF0000"/>
                </a:solidFill>
              </a:rPr>
              <a:t>Time Complexity Analysis of Linked List and Array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343748"/>
              </p:ext>
            </p:extLst>
          </p:nvPr>
        </p:nvGraphicFramePr>
        <p:xfrm>
          <a:off x="589289" y="1188190"/>
          <a:ext cx="8229600" cy="49149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</a:t>
                      </a: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Linked list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Access</a:t>
                      </a:r>
                      <a:endParaRPr lang="en-IN" sz="2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  <a:endParaRPr lang="en-IN" sz="2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  <a:endParaRPr lang="en-IN" sz="2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 and deletion at beginning</a:t>
                      </a:r>
                      <a:endParaRPr lang="en-IN" sz="2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  <a:endParaRPr lang="en-IN" sz="2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  <a:endParaRPr lang="en-IN" sz="2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 and deletion at end</a:t>
                      </a:r>
                      <a:endParaRPr lang="en-IN" sz="2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  <a:endParaRPr lang="en-IN" sz="2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  <a:endParaRPr lang="en-IN" sz="2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 and deletion at a random position</a:t>
                      </a:r>
                      <a:endParaRPr lang="en-IN" sz="2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  <a:endParaRPr lang="en-IN" sz="2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  <a:endParaRPr lang="en-IN" sz="2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4172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Types of linked list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80231"/>
            <a:ext cx="8153400" cy="4082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9995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E3C67-8E4D-773F-C20C-02FCC14D4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DB00F7D-BF99-2AA6-2453-11AD963EF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897DEB-DCE0-9032-7DA0-B5182B7A95DF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F072DFD-D953-867D-E017-B4A85B24EA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26FF28-E27D-0655-B8E7-5B571C7C0D04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Singly Linked List</a:t>
            </a:r>
            <a:endParaRPr lang="en-US" sz="3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C67434-DF77-C581-D746-C57E1953A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DBD6220B-2DB4-24F5-98D0-F60BFF37E8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53127403-FBBD-89E0-C41D-A41FBB7811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29761F-6FDB-65BA-DAC4-CA0FFE608781}"/>
              </a:ext>
            </a:extLst>
          </p:cNvPr>
          <p:cNvSpPr/>
          <p:nvPr/>
        </p:nvSpPr>
        <p:spPr>
          <a:xfrm>
            <a:off x="155575" y="1443841"/>
            <a:ext cx="883602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Singly Linked List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linked list in which:</a:t>
            </a:r>
          </a:p>
          <a:p>
            <a:pPr marL="720725" indent="-36036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contains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pointer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6036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points to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node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6036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node points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Singly Linked List – Node Structure:</a:t>
            </a:r>
          </a:p>
          <a:p>
            <a:pPr marL="720725" indent="-36036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field</a:t>
            </a:r>
          </a:p>
          <a:p>
            <a:pPr marL="720725" indent="-36036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pointer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3AF7A0B-65AF-308C-CEEB-CF6C9CC383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7" t="22740" r="15070" b="57533"/>
          <a:stretch>
            <a:fillRect/>
          </a:stretch>
        </p:blipFill>
        <p:spPr bwMode="auto">
          <a:xfrm>
            <a:off x="1475657" y="5085184"/>
            <a:ext cx="6624736" cy="1107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8745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12A95-895F-3AC9-6161-54296ED43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E0C5C7-DD32-3BD1-A322-AD44F8AC21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565FDE1-735D-3A31-9AA8-EB2DAEF6D977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313E8C5-0221-4B77-DC33-A37F3FF521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03D174-71C9-8D86-D10F-2F54C083B39B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Singly Linked List- Key Features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1482E5-8804-4B03-D47D-7AAE6BE25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085F81DF-161F-28FF-82D6-A70D40B8BE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40E6A49C-17DB-2D74-FE07-B24D3B22C8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FE3B23-9B99-0D30-32B3-FD9CF29A2A6F}"/>
              </a:ext>
            </a:extLst>
          </p:cNvPr>
          <p:cNvSpPr/>
          <p:nvPr/>
        </p:nvSpPr>
        <p:spPr>
          <a:xfrm>
            <a:off x="155575" y="1219200"/>
            <a:ext cx="8836025" cy="224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One-directional traversal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memory usage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implementation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possible only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direction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FC04BE2-3627-DBFE-2CFD-CA2AD62F7B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7" t="22740" r="15070" b="57533"/>
          <a:stretch>
            <a:fillRect/>
          </a:stretch>
        </p:blipFill>
        <p:spPr bwMode="auto">
          <a:xfrm>
            <a:off x="1043608" y="3894081"/>
            <a:ext cx="6624736" cy="1107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1635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0017E-730A-6878-F870-835F1E37A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761B70-CBF1-1646-B63D-2661F430F8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3AD9C8-1A84-F208-B9DF-E0F85E52705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C43D526-36E4-5AA2-293E-3D6DCA9F6B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2D5DF3-56FE-8ECB-7F6F-5DC6EB411DCA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Check Your Understanding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6A4C51-5330-E2C2-4BB4-906C2E2D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6EBAEA68-88AB-C863-8B4A-AB0CBE55A3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5BE3FD6D-A1E0-C529-8F9E-7BA536F3F4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CADF16-4EF0-27E8-6EE0-CF81304BBD13}"/>
              </a:ext>
            </a:extLst>
          </p:cNvPr>
          <p:cNvSpPr/>
          <p:nvPr/>
        </p:nvSpPr>
        <p:spPr>
          <a:xfrm>
            <a:off x="155575" y="1219200"/>
            <a:ext cx="8836025" cy="1140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❓ How many pointers does a node have in a singly linked list?</a:t>
            </a:r>
            <a:br>
              <a:rPr lang="en-US" sz="2400" dirty="0"/>
            </a:br>
            <a:r>
              <a:rPr lang="en-US" sz="2400" dirty="0"/>
              <a:t>❓ What does the last node point to?</a:t>
            </a:r>
          </a:p>
        </p:txBody>
      </p:sp>
    </p:spTree>
    <p:extLst>
      <p:ext uri="{BB962C8B-B14F-4D97-AF65-F5344CB8AC3E}">
        <p14:creationId xmlns:p14="http://schemas.microsoft.com/office/powerpoint/2010/main" val="3463807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4646E-F87B-7670-F334-D71A006BD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BF74F4-B400-BD9E-B978-7BBC964208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CC35BE-FF43-EDEB-6041-27FAE3701F6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9C5A0E5-B594-33B2-4D43-3812581750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14F8AA-0896-AAE9-FD5B-BD7507823861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Check Your Understanding (Answers)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4B720C-191D-4B9E-B979-EB3CADD4E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5AB1A5C0-D149-E163-6A85-9EE16DC368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36AA9CEC-489F-2C1F-8B85-FA74D47596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0F2501-58AF-6BCE-B99A-3C93C1D15BBE}"/>
              </a:ext>
            </a:extLst>
          </p:cNvPr>
          <p:cNvSpPr/>
          <p:nvPr/>
        </p:nvSpPr>
        <p:spPr>
          <a:xfrm>
            <a:off x="155575" y="1219200"/>
            <a:ext cx="8836025" cy="224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How many pointers does a node have in a singly linked list?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 node in a singly linked list has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pointer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What does the last node point to?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The last node points to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6578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E7E45-6EDA-68F8-3761-933765AA7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ECCB25-1217-58F7-1499-EA6196D5DD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E2E5CC-5104-5B85-D65D-209766299FC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06140A2-17C7-B93F-3290-B67FAAA393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7408A9-701D-A3F1-B4FF-A71DA197AFFE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Doubly Linked List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E0D2B5-51DD-B2FA-CBAB-F3AC8CDA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9AEAFA2B-D233-3BB4-BB8F-79129E141D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0DE3F6B6-ABD7-562B-093F-40FD317E93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74FEA5-F24F-B94B-44F9-126992F6B869}"/>
              </a:ext>
            </a:extLst>
          </p:cNvPr>
          <p:cNvSpPr/>
          <p:nvPr/>
        </p:nvSpPr>
        <p:spPr>
          <a:xfrm>
            <a:off x="175295" y="1413063"/>
            <a:ext cx="883602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 Linked List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linked list in which: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contains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pointers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points to the previous node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points to the next node</a:t>
            </a:r>
          </a:p>
          <a:p>
            <a:pPr>
              <a:spcBef>
                <a:spcPts val="600"/>
              </a:spcBef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Structure: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indent="-3429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pointer</a:t>
            </a:r>
          </a:p>
          <a:p>
            <a:pPr marL="628650" indent="-3429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field</a:t>
            </a:r>
          </a:p>
          <a:p>
            <a:pPr marL="628650" indent="-3429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pointer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493F364-12DA-7154-7368-6BB8660D6C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3" t="43639" r="4256" b="35833"/>
          <a:stretch>
            <a:fillRect/>
          </a:stretch>
        </p:blipFill>
        <p:spPr bwMode="auto">
          <a:xfrm>
            <a:off x="899592" y="5427525"/>
            <a:ext cx="7629774" cy="117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5753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C94E7-A239-DC24-374B-3312C2964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CCF72E-2577-DE43-2A5D-862EFC8D74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420A0F-366E-9B1F-5C47-9C155BAEEC9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67AE3BA-BF6E-5217-D40F-29C22C6CB2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41536F-86D2-90C5-56AD-5C4CF8050C11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Doubly Linked List – Key Features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376998-E633-13D8-8E07-258049065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B57580D6-D142-427F-21F5-A63AC3C51B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FE1A82A7-669B-00E3-F9C2-E5813252FD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E8E971-3070-CC67-1B9B-B78732E0781A}"/>
              </a:ext>
            </a:extLst>
          </p:cNvPr>
          <p:cNvSpPr/>
          <p:nvPr/>
        </p:nvSpPr>
        <p:spPr>
          <a:xfrm>
            <a:off x="155575" y="1219200"/>
            <a:ext cx="8836025" cy="224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traversal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deletion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more memory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 pointer increases memory overhead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7A66E9C-7CEA-5B3F-AACD-BE8F3A04BC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3" t="43639" r="4256" b="35833"/>
          <a:stretch>
            <a:fillRect/>
          </a:stretch>
        </p:blipFill>
        <p:spPr bwMode="auto">
          <a:xfrm>
            <a:off x="775369" y="3850306"/>
            <a:ext cx="7629774" cy="117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2171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378F4-2990-D953-F7AD-8984CCBA4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CD02FB-2619-50DA-5D39-60409D4D2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4CEBAE-5985-95D2-9938-A5E0EA8BA67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F83F712-197D-1E60-AFF7-79EA9AFC70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B8414D-960B-EC91-FEB9-4F379DCB1136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Check Your Understanding (Answers)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6A9BC7-7C66-15BB-A3FE-A1C1704D3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C0AE5719-CAA4-03E5-5AAD-ACA3E5D325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42FF1352-49A0-5935-E188-73FA472033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CF5AFC-19FA-30B2-5835-F190F806734A}"/>
              </a:ext>
            </a:extLst>
          </p:cNvPr>
          <p:cNvSpPr/>
          <p:nvPr/>
        </p:nvSpPr>
        <p:spPr>
          <a:xfrm>
            <a:off x="155575" y="1219200"/>
            <a:ext cx="8836025" cy="224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How many pointers are present in a doubly linked list node?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 doubly linked list node has two pointers (previous and next).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Can traversal happen in both directions?</a:t>
            </a:r>
          </a:p>
          <a:p>
            <a:pPr marL="442913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Yes, traversal can happen in both forward and backward directions</a:t>
            </a:r>
          </a:p>
        </p:txBody>
      </p:sp>
    </p:spTree>
    <p:extLst>
      <p:ext uri="{BB962C8B-B14F-4D97-AF65-F5344CB8AC3E}">
        <p14:creationId xmlns:p14="http://schemas.microsoft.com/office/powerpoint/2010/main" val="2729885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51F4-1BE1-E934-4149-A5CDC3CDF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114DC2-CF61-8BB9-E646-D68642CD09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E1EF6A-8AB5-6307-E2DB-82E3D9CCAFA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EFDF16C-522A-84A9-CF7D-ED1FDE9FF3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28B11F-1155-33E1-76E5-75464FBB3531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Circular Linked List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91D512-EF14-06C4-1FD0-9E66C977F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30914BAF-8D5C-A4B1-4ED5-AB1E9DAFD5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FDB41B29-7D64-57E0-A31B-DF3FC4212A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D649FE-6AEE-1EE4-E313-D3C9FCE40767}"/>
              </a:ext>
            </a:extLst>
          </p:cNvPr>
          <p:cNvSpPr/>
          <p:nvPr/>
        </p:nvSpPr>
        <p:spPr>
          <a:xfrm>
            <a:off x="155575" y="1219200"/>
            <a:ext cx="883602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Linked List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linked list in which: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node does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point to NULL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points back to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node (head)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Linked List – Representation</a:t>
            </a:r>
          </a:p>
          <a:p>
            <a:endParaRPr lang="en-US" dirty="0"/>
          </a:p>
          <a:p>
            <a:endParaRPr lang="en-US" sz="24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E1B6CCC-DC83-7547-6C50-F42C900F4A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2" t="66732" r="10304" b="7583"/>
          <a:stretch>
            <a:fillRect/>
          </a:stretch>
        </p:blipFill>
        <p:spPr bwMode="auto">
          <a:xfrm>
            <a:off x="1097868" y="3868830"/>
            <a:ext cx="6984776" cy="144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04B511-D904-FB65-F958-DE9B494A68B3}"/>
              </a:ext>
            </a:extLst>
          </p:cNvPr>
          <p:cNvSpPr txBox="1"/>
          <p:nvPr/>
        </p:nvSpPr>
        <p:spPr>
          <a:xfrm>
            <a:off x="619772" y="5655994"/>
            <a:ext cx="4599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NULL pointer in the list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89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714BA-723D-44C1-5ECC-EABA39D14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EF2A6E-95F6-4C9A-340D-00734B04AF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0FA082-2255-0AE6-D1FB-3D71976CDDB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195793C-8594-CAC1-B711-10E377C008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BE9D41-E7E7-641D-2889-1EF80380CCBE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Circular Doubly Linked List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1A0A45-2D80-AAE0-C9B5-689FF09E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02410FBC-F465-9AC2-BE6B-2F0E43145D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28D15A44-F69B-D9DC-3FDC-4E7B9CE6FD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2C769-8DDD-6867-2B46-7C4FC3EBE8BB}"/>
              </a:ext>
            </a:extLst>
          </p:cNvPr>
          <p:cNvSpPr/>
          <p:nvPr/>
        </p:nvSpPr>
        <p:spPr>
          <a:xfrm>
            <a:off x="155575" y="1219200"/>
            <a:ext cx="8836025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features of doubly and circular linked lists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node points to first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node points to last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Circular Doubly Linked List – Structure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D611AF-6A9A-2BC4-37D7-60C9630D7D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3768" y="3742393"/>
            <a:ext cx="3888432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51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1A1ED-75D2-8D83-9F34-7BB93066A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4C12A1-5B00-BEAF-75B2-8BF161FEAD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61380E-991D-5F35-91C2-D127BB90069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F89E9CE-19A9-A979-C13C-682EABA438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3D9622-88A9-A75A-1157-96F422C217B4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Applications of Linked List Types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5E7F65-FABF-6A69-D874-D7B631207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EA94CAFD-8326-E500-51EF-79B7AE39BD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DF178AD0-0858-4CE2-3A02-A38C53CFD7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4C76FB-C7C2-3F2D-71A8-76B7969519E7}"/>
              </a:ext>
            </a:extLst>
          </p:cNvPr>
          <p:cNvSpPr/>
          <p:nvPr/>
        </p:nvSpPr>
        <p:spPr>
          <a:xfrm>
            <a:off x="155575" y="1219200"/>
            <a:ext cx="8592889" cy="2795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Singly Linked List: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Music playlists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 Linked List: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Browser back &amp; forward navigation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Linked List: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 scheduling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Doubly Linked List: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Multiplayer games, navigation systems</a:t>
            </a:r>
          </a:p>
        </p:txBody>
      </p:sp>
    </p:spTree>
    <p:extLst>
      <p:ext uri="{BB962C8B-B14F-4D97-AF65-F5344CB8AC3E}">
        <p14:creationId xmlns:p14="http://schemas.microsoft.com/office/powerpoint/2010/main" val="28973329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Identify the type of Linked List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0A1058-C613-3B00-1BB2-99B6DAE08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5656" y="1661940"/>
            <a:ext cx="6336704" cy="422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1738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Identify the type of Linked List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047FA6-035E-7250-0907-2CE598DDE2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104" y="1429767"/>
            <a:ext cx="7308304" cy="487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4590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F0FB-D984-9DFB-6A7C-8AE34DB4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B3EF78-FA50-62BC-A07C-AE2CB3B20E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0E0906A-3C8D-9DAE-AE94-5885FE2453C8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606DB9B-A6E5-B645-57B2-A4FF935CD6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1CC475-F861-72EC-E3DA-0CD3898146EA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Key Takeaways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E034A-9125-C539-5A41-F90255390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2883C25F-961B-569A-AD2B-157CE91A2B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6F920415-DFD8-88FB-034C-C54C1A5E3C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1982E1-E910-EC27-7F6A-463908C3AB7F}"/>
              </a:ext>
            </a:extLst>
          </p:cNvPr>
          <p:cNvSpPr/>
          <p:nvPr/>
        </p:nvSpPr>
        <p:spPr>
          <a:xfrm>
            <a:off x="155575" y="1219200"/>
            <a:ext cx="8592889" cy="2795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lists use pointers to connect nodes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exist based on pointer usage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Singly LL is memory efficient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 LL allows backward traversal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LL avoids NULL pointers</a:t>
            </a:r>
          </a:p>
        </p:txBody>
      </p:sp>
    </p:spTree>
    <p:extLst>
      <p:ext uri="{BB962C8B-B14F-4D97-AF65-F5344CB8AC3E}">
        <p14:creationId xmlns:p14="http://schemas.microsoft.com/office/powerpoint/2010/main" val="35280488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8F15E-929C-834E-92E3-54F946297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6C2562-9012-8558-EAAF-7DDAF28423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9D2A6B-4DF1-9B07-1F28-7547AC2FAF3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42AC623-A304-8B82-92E2-B464B065FD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26D18E-D9CF-97F9-D4C1-347E5CF563A8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Quick Quiz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D23E64-5CBE-4627-9B49-890D201BD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A6B2A499-2113-54BD-6D10-ECABCEF8FA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2008F5F9-6E96-B855-2EBE-BBC41B21B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871FE-D4E7-B2B2-7F4C-9D9FC32EBB4B}"/>
              </a:ext>
            </a:extLst>
          </p:cNvPr>
          <p:cNvSpPr/>
          <p:nvPr/>
        </p:nvSpPr>
        <p:spPr>
          <a:xfrm>
            <a:off x="155575" y="1219200"/>
            <a:ext cx="8592889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linked list supports backward traversal?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linked list has no NULL pointer?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linked list uses the least memory?</a:t>
            </a:r>
          </a:p>
        </p:txBody>
      </p:sp>
    </p:spTree>
    <p:extLst>
      <p:ext uri="{BB962C8B-B14F-4D97-AF65-F5344CB8AC3E}">
        <p14:creationId xmlns:p14="http://schemas.microsoft.com/office/powerpoint/2010/main" val="27347258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D6085-1F73-D624-BF56-3278B7174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738F34-93A2-B255-D7AE-47AEBEF860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CDB478-4B3E-F659-EF94-374188FA6E3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CE43166-59CD-6848-41BB-A245D033D10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28C30F-71E9-A2EE-0F33-1E8E1BB28F80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Quick Quiz (Answers)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276D87-1A37-A855-DCB6-EA028ABDE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304002ED-CF9E-1959-6A51-B37B0E0027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4F8E0474-915F-2CDE-4AC8-B59039F22E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01F6BD-13C4-F16A-F2D9-4F971A2CA06A}"/>
              </a:ext>
            </a:extLst>
          </p:cNvPr>
          <p:cNvSpPr/>
          <p:nvPr/>
        </p:nvSpPr>
        <p:spPr>
          <a:xfrm>
            <a:off x="180766" y="1290888"/>
            <a:ext cx="8592889" cy="3349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linked list supports backward traversal?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 linked list supports backward traversal.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linked list has no NULL pointer?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linked list has no NULL pointer.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linked list uses the least memory?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Singly linked list uses the least memory.</a:t>
            </a:r>
          </a:p>
        </p:txBody>
      </p:sp>
    </p:spTree>
    <p:extLst>
      <p:ext uri="{BB962C8B-B14F-4D97-AF65-F5344CB8AC3E}">
        <p14:creationId xmlns:p14="http://schemas.microsoft.com/office/powerpoint/2010/main" val="913281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Test Your self 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Rectangle 7"/>
          <p:cNvSpPr/>
          <p:nvPr/>
        </p:nvSpPr>
        <p:spPr>
          <a:xfrm>
            <a:off x="395536" y="1321908"/>
            <a:ext cx="8427489" cy="5247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As we have the memory address of nodes, can we traverse backwards in a linked list?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What are the advantages of a linked list?</a:t>
            </a:r>
          </a:p>
          <a:p>
            <a:pPr marL="268288" algn="just">
              <a:spcBef>
                <a:spcPts val="1200"/>
              </a:spcBef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Dynamic Memory Allocation</a:t>
            </a:r>
          </a:p>
          <a:p>
            <a:pPr marL="268288" algn="just">
              <a:spcBef>
                <a:spcPts val="1200"/>
              </a:spcBef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b: They require less memory than an array to store the same data.</a:t>
            </a:r>
          </a:p>
          <a:p>
            <a:pPr marL="268288" algn="just">
              <a:spcBef>
                <a:spcPts val="1200"/>
              </a:spcBef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 We can easily traverse back to previous elements.</a:t>
            </a:r>
          </a:p>
          <a:p>
            <a:pPr marL="268288" algn="just">
              <a:spcBef>
                <a:spcPts val="1200"/>
              </a:spcBef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d: None of the above.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What is the time complexity for the insertion of an element into a linked list?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309413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altLang="en-US" sz="3600" dirty="0">
                <a:solidFill>
                  <a:srgbClr val="FF0000"/>
                </a:solidFill>
              </a:rPr>
              <a:t>Quiz Answers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087" y="1537372"/>
            <a:ext cx="3790054" cy="2951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No, we can’t.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:a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3586906"/>
            <a:ext cx="868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https://questions.examside.com/past-years/gate/question/pconsider-the-problem-of-reversing-a-singly-linked-list-t-gate-cse-theory-of-computation-finite-automata-and-regular-language-zpfpkf4re1g8xuff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0505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9C3D-3F30-A3F3-A545-26CB145F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DC34CE-387F-2349-2368-E7AB32992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ECC9169-F46C-9DFF-074B-9042CA367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3570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References</a:t>
            </a:r>
            <a:endParaRPr lang="en-US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D4E920-65A2-CCE7-FEA5-14D91F60AAA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E0C2226-8947-177E-6706-83378DA8A4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291" y="6331528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18B84-F150-B1E2-D936-7FC20CE87C0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75B91-F517-A8A8-3443-03C2FD642B05}"/>
              </a:ext>
            </a:extLst>
          </p:cNvPr>
          <p:cNvSpPr txBox="1"/>
          <p:nvPr/>
        </p:nvSpPr>
        <p:spPr>
          <a:xfrm>
            <a:off x="216025" y="1144192"/>
            <a:ext cx="874846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H.,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E., Rivest, R. L., &amp; Stein, C.,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Lipschutz,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Schaum’s Outline of Data Structures with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 Education.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Weiss, M. A.,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 Analysis in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5th Edition, Pearson Education.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Skiena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Design Manual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Edition, Springer.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Resources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Linked List Introduction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https://www.geeksforgeeks.org/what-is-linked-list/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Types of Linked Lists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https://www.geeksforgeeks.org/types-of-linked-list/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TutorialsPoint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Structures: Linked List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https://www.tutorialspoint.com/data_structures_algorithms/linked_list_algorithms.htm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OpenCourseWare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Introduction to Algorithms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https://ocw.mit.edu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Programiz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Linked List in Python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https://www.programiz.com/dsa/linked-list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399E0A-2CFF-1DD0-69C4-94E7F4E7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37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ACD63A8-35FC-E8F0-BBC5-7CCA6D159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8304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19679</TotalTime>
  <Words>2319</Words>
  <Application>Microsoft Office PowerPoint</Application>
  <PresentationFormat>On-screen Show (4:3)</PresentationFormat>
  <Paragraphs>465</Paragraphs>
  <Slides>38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Garamond</vt:lpstr>
      <vt:lpstr>Sylfaen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Aarti Sangwan</cp:lastModifiedBy>
  <cp:revision>1390</cp:revision>
  <cp:lastPrinted>2022-09-05T08:43:44Z</cp:lastPrinted>
  <dcterms:created xsi:type="dcterms:W3CDTF">2020-01-16T09:05:56Z</dcterms:created>
  <dcterms:modified xsi:type="dcterms:W3CDTF">2026-02-10T16:42:59Z</dcterms:modified>
</cp:coreProperties>
</file>