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1011" r:id="rId2"/>
    <p:sldId id="993" r:id="rId3"/>
    <p:sldId id="1012" r:id="rId4"/>
    <p:sldId id="1013" r:id="rId5"/>
    <p:sldId id="691" r:id="rId6"/>
    <p:sldId id="1027" r:id="rId7"/>
    <p:sldId id="274" r:id="rId8"/>
    <p:sldId id="1063" r:id="rId9"/>
    <p:sldId id="1060" r:id="rId10"/>
    <p:sldId id="1077" r:id="rId11"/>
    <p:sldId id="276" r:id="rId12"/>
    <p:sldId id="1079" r:id="rId13"/>
    <p:sldId id="1080" r:id="rId14"/>
    <p:sldId id="278" r:id="rId15"/>
    <p:sldId id="1083" r:id="rId16"/>
    <p:sldId id="1088" r:id="rId17"/>
    <p:sldId id="280" r:id="rId18"/>
    <p:sldId id="1091" r:id="rId19"/>
    <p:sldId id="281" r:id="rId20"/>
    <p:sldId id="282" r:id="rId21"/>
    <p:sldId id="1106" r:id="rId22"/>
    <p:sldId id="283" r:id="rId23"/>
    <p:sldId id="1092" r:id="rId24"/>
    <p:sldId id="284" r:id="rId25"/>
    <p:sldId id="1095" r:id="rId26"/>
    <p:sldId id="285" r:id="rId27"/>
    <p:sldId id="286" r:id="rId28"/>
    <p:sldId id="1098" r:id="rId29"/>
    <p:sldId id="287" r:id="rId30"/>
    <p:sldId id="288" r:id="rId31"/>
    <p:sldId id="294" r:id="rId32"/>
    <p:sldId id="1108" r:id="rId33"/>
    <p:sldId id="289" r:id="rId34"/>
    <p:sldId id="1064" r:id="rId35"/>
    <p:sldId id="1084" r:id="rId36"/>
    <p:sldId id="1024" r:id="rId37"/>
    <p:sldId id="1014" r:id="rId38"/>
    <p:sldId id="269" r:id="rId39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B3"/>
    <a:srgbClr val="E31E24"/>
    <a:srgbClr val="4B0993"/>
    <a:srgbClr val="E83030"/>
    <a:srgbClr val="0060AA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54" autoAdjust="0"/>
    <p:restoredTop sz="93883" autoAdjust="0"/>
  </p:normalViewPr>
  <p:slideViewPr>
    <p:cSldViewPr>
      <p:cViewPr varScale="1">
        <p:scale>
          <a:sx n="69" d="100"/>
          <a:sy n="69" d="100"/>
        </p:scale>
        <p:origin x="968" y="56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3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56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4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8777-BC47-2200-6A1C-EB34789B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4ABC-EEF1-A951-7FAC-1F93C569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4343-20BB-49D4-3398-79EEED45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DA01-74A2-3336-38C9-77FDE5032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104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319185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834174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82023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FE146-E500-E332-BAC6-B5D167E80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620BC-7131-637A-AEEE-40B75F12A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C5901-0ADD-E9C0-1E1F-22EAA4EAA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BA9CF-9F83-57DE-C8E2-B49FF72C1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97AE6-5F02-A4BE-E9D9-02AD278A45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3CA7C8F7-4E8B-41E7-196C-6FF78B4E0E2E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688932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598004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0BC6-B372-9495-1B21-22483785F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B5616-A25E-F981-B8FC-B03D5C4B4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8EBAC-CE6C-B795-BC64-D24C5C4C5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C9369-F7AD-1A99-F56D-8F83C98EF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3D46F-C422-15D2-7BD6-D73184414C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B0307ED-BBB4-F0E6-0289-D3F98D40EE0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113610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F5B24-5AE6-D7A7-8C2E-E0B84950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B4B27-710F-16E9-41A2-319369606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24BFC-A7F8-C7FC-2C21-755724C57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BC41B-C4D4-63FA-2145-F9E8B2A9E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D7219-C222-9400-0311-FDFBCB6D9E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7D20502-FF4B-CB25-C8A3-96A3DA30F4A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350057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9234801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333D0-5E06-98F0-D348-BAF0719C9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D64B6-C4F9-B185-8721-AFE56BF3C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2B52F-7C0B-93B4-ECB9-0768F4E23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DEBB7-B4FF-3615-D41F-354192635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3BEFA-AE5F-C3F4-AEBB-1910AAE0A5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F28E519C-E34C-A6F1-87E8-DDB255353A1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9733190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1CDF4-7BDE-2A16-8327-73E5932D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61B62-A42B-CB64-0088-6F7A2FA2D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AD658-6374-9FAA-1AC6-6CA386F35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C5CE1-1858-7759-1295-60CC71C63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C8D8E-897B-8B36-9240-2A90CFC5C9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03206C1E-4BAA-925E-0EF5-371CACA1F10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056415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0180438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0D53A-49C5-8BD0-D9D6-224545C3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91F4C-6769-C170-E2B2-5C0D671B2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7DB5F-2BFF-1C1C-A7C5-EF01B26C8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78AD6-9B01-281D-E765-D799B6F34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BE951-93B0-3528-A878-DDD5A64C14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2AC908B-49B4-31ED-C240-506FF738E3C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627731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0264210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7488600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305C7-815A-3C2B-6CA3-F270F69AC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48EF7-5388-747E-B1DC-D8615A741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8EEF8-709A-62A5-0BEE-9D5408B57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C3427-5495-2207-B525-AF36DCC0A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65BEB-29F0-8A80-FF37-E9C81C6B10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06CE5796-24E6-BB70-CBD9-BA0C22063C2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6969858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8433093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4A50-6F1D-F927-5920-15AEACE3D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0415D-2D6C-8184-5F6A-B3AEAD877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D9D16-3FC4-8571-A8EF-7116B2E4A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A772E-D1E2-A770-1236-AD9D77E94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82B31-A6EA-9CC9-8F93-57931B2170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61E434A-671F-F602-E924-7068391F463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7274300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2233311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AA2AB-4EF4-157F-E881-58737C414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095FC-2716-273C-D613-4870D61F3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8A823-4D50-F895-9383-F2FE9DBFB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5B188-6D15-3ACA-CA23-E2A3453DB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DDDCA-C48F-9026-F99A-AB46097F08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214C3F4-4F43-0E8E-1FF4-BE695B2428B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364075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612884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2050068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37EA8-6ABE-7CA7-E20A-5EA3A944A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589D9F-0296-065A-9AFC-F2B9341CD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37312-324A-8EE3-6B8B-5343E2F25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BE233-668B-3662-3E47-4B29532FE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B0206-61C5-DBFA-CEC0-8877524B84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F24EAB9-E87D-1FB8-F0F5-6FFCA1671B1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019465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309393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5160745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616665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7378-903F-6A94-7C3E-F8AA681C7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99403-897F-9365-E3B3-29FB9A9A9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DFF4A-89D8-ACC9-C85F-DB6858CFB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0ED14-69A7-2F21-90A0-AE3A0A84DA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C6BDC-9F7A-A600-C185-8883C091CA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681C2D9-E070-B7EB-8463-93748D85970F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4455174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922289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067325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24D8C-A1BD-6EEA-2254-13FDC8D9B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2F684-C10B-D117-10FE-BDA1AC0C0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C619E-E00D-4284-878E-F42277540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9F25A-19E9-3756-0497-48E388079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BB975-BCF0-6B84-13C9-E663CF7F82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9E0B43E5-3CEB-8609-F7A9-213B325DF8B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6694048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1349-3B1A-4219-422B-9E452793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C6E87-1A18-81F5-76C3-1F1A34309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46D69-9C91-B6C1-C36A-D9E763DD7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89B68-97B5-6C71-0B4F-7458139BC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8293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2238-09A6-8EB0-4295-5007DFCC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80A71-06A5-D1F8-DA16-27247CBDC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9DB18-C22C-0235-39B4-E26D3FB8C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C905F-3127-FA31-973F-892A372D9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01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onlinegdb.com/W0xVdCg1n" TargetMode="Externa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nlinegdb.com/CDlrmZCMK9" TargetMode="Externa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dsa/linked-list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tutorialspoint.com/data_structures_algorithms/linked_list_algorithms.htm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linked-list-set-2-inserting-a-node/" TargetMode="External"/><Relationship Id="rId5" Type="http://schemas.openxmlformats.org/officeDocument/2006/relationships/hyperlink" Target="https://www.geeksforgeeks.org/linked-list-set-1-introduction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ocw.mit.edu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0355-B08D-308D-DAFB-1DCEF1C1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75B-70BC-32F0-9AE3-D3A4E8E6F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983B-21DD-AA3A-59D7-A404EAAE1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99E4B-F41D-043D-FE73-335D31AA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873DE-D9DB-5423-6553-EECC3B910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2" y="480488"/>
            <a:ext cx="6172601" cy="888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7A6CE9-669B-DEE3-BF3E-8D5506EA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25" y="1636320"/>
            <a:ext cx="6372708" cy="12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ETCCDS202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034320-BE78-5A55-6F19-03B79C05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619" y="4240831"/>
            <a:ext cx="64807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K.R. </a:t>
            </a:r>
            <a:r>
              <a:rPr lang="en-US" b="1" kern="100" dirty="0" err="1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  <a:endParaRPr lang="en-IN" b="1" dirty="0">
              <a:solidFill>
                <a:srgbClr val="E31E24"/>
              </a:solidFill>
              <a:latin typeface="Sylfaen" panose="010A0502050306030303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0A128E3-2186-5C09-4DCD-7BC65272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6372708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Dr. Aarti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9C7E5-CE35-9355-4CD6-2B1E6EB9A5AA}"/>
              </a:ext>
            </a:extLst>
          </p:cNvPr>
          <p:cNvSpPr txBox="1"/>
          <p:nvPr/>
        </p:nvSpPr>
        <p:spPr>
          <a:xfrm>
            <a:off x="1178176" y="5615709"/>
            <a:ext cx="702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 : </a:t>
            </a: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Linear Data Structures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320012"/>
            <a:ext cx="54693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Unit-2 Linear Data Structures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213558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	Arrays – 1D &amp; 2D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95536" y="1733775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	Static &amp; Dynamic Arrays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3243" y="2249884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	Linked Lists Types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836" y="2811526"/>
            <a:ext cx="835292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14	Linked List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378" y="3324993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	Stack ADT &amp;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359" y="4262830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	Queue ADT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36" y="477629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	Queue 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536" y="378788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16	 Stack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AA04E-4CF0-1135-99A8-DFA66C9162E6}"/>
              </a:ext>
            </a:extLst>
          </p:cNvPr>
          <p:cNvSpPr txBox="1"/>
          <p:nvPr/>
        </p:nvSpPr>
        <p:spPr>
          <a:xfrm>
            <a:off x="414129" y="5270729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	BFS using Queue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B26A0-3162-1565-E432-BE0EB2B54357}"/>
              </a:ext>
            </a:extLst>
          </p:cNvPr>
          <p:cNvSpPr txBox="1"/>
          <p:nvPr/>
        </p:nvSpPr>
        <p:spPr>
          <a:xfrm>
            <a:off x="421836" y="578683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	Revision (Unit–2)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4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82FE-96D7-2529-7945-4ACABDB58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85B53-95B0-E1DB-1C9C-F5456893FE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" y="6237312"/>
            <a:ext cx="3060242" cy="439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1277634" y="1827626"/>
            <a:ext cx="6588732" cy="30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35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1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35" y="9478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935" y="10621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6519" y="878322"/>
            <a:ext cx="7315199" cy="424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Session 14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6568" y="1616452"/>
            <a:ext cx="58613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Linked List Operations</a:t>
            </a: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Singly Linked List Representation</a:t>
            </a: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Operation</a:t>
            </a: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Operations</a:t>
            </a: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Operations</a:t>
            </a: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Operation</a:t>
            </a: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Quiz</a:t>
            </a: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322" y="255261"/>
            <a:ext cx="451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Operations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518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8295" y="1318926"/>
            <a:ext cx="8496942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this lecture, students will be able to: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basic operations performed on a linked list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traversal, insertion, deletion, and search operations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and understand algorithms and code for linked list operations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time complexity of different linked list operations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common errors while performing pointer manipulations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07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</a:t>
            </a:r>
            <a:r>
              <a:rPr lang="en-IN" sz="28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Linked List Types</a:t>
            </a:r>
            <a:r>
              <a:rPr lang="en-US" sz="28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1515" y="1413758"/>
            <a:ext cx="8580969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lvl="0" indent="-176213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linked list is a linear data structure made up of nodes, where each node contains data and pointer(s).</a:t>
            </a:r>
          </a:p>
          <a:p>
            <a:pPr marL="176213" lvl="0" indent="-176213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head points to the first node, and the last node points to NULL (except in circular lists).</a:t>
            </a:r>
          </a:p>
          <a:p>
            <a:pPr marL="176213" lvl="0" indent="-176213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Singly linked list: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pointer; forward traversal only.</a:t>
            </a:r>
          </a:p>
          <a:p>
            <a:pPr marL="176213" lvl="0" indent="-176213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pointers; forward and backward traversal.</a:t>
            </a:r>
          </a:p>
          <a:p>
            <a:pPr marL="176213" lvl="0" indent="-176213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linked list: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NULL pointer; last node points to head.</a:t>
            </a:r>
          </a:p>
          <a:p>
            <a:pPr marL="176213" lvl="0" indent="-176213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lists: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with efficient insertion and deletion.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81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FECA-5393-67D2-AB3A-88FF12CA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17CCF-9D13-21D7-8A01-B566BD0E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EDFDC-CF63-81A9-B0FF-D66EB2B30B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FCD68A-5D5F-69ED-9E1B-49A119C57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A3086-797F-DF92-D68F-AC598BD921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59DB3-3A91-DA7E-7B4A-1DC48C3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9213-D4D2-E2C9-27C9-02B227D89D1F}"/>
              </a:ext>
            </a:extLst>
          </p:cNvPr>
          <p:cNvSpPr txBox="1"/>
          <p:nvPr/>
        </p:nvSpPr>
        <p:spPr>
          <a:xfrm>
            <a:off x="304786" y="1580530"/>
            <a:ext cx="8580969" cy="4288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linked list is composed of a series of connected __________.</a:t>
            </a: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of a singly linked list contains __________ pointer(s).</a:t>
            </a: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circular linked list, the last node points to the __________.</a:t>
            </a: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doubly linked list supports __________ traversal.</a:t>
            </a: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lists store elements in __________ memory locations.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6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to the first node of a linked 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7CED-2EE3-4762-E052-FA7C361DC9A8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732D7C8-79E3-F348-757E-CE701D93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5522B-7DAD-6F72-F197-E3266F677833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F6B204-7BB8-BD04-E03F-2A90C35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9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IN" sz="3600" dirty="0">
                <a:solidFill>
                  <a:srgbClr val="FF0000"/>
                </a:solidFill>
              </a:rPr>
              <a:t>Linked List </a:t>
            </a:r>
            <a:r>
              <a:rPr lang="en-US" sz="3200" dirty="0">
                <a:solidFill>
                  <a:srgbClr val="FF0000"/>
                </a:solidFill>
              </a:rPr>
              <a:t>Operations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2D975-8EBA-F76D-6F55-20D94EF5C38B}"/>
              </a:ext>
            </a:extLst>
          </p:cNvPr>
          <p:cNvSpPr txBox="1"/>
          <p:nvPr/>
        </p:nvSpPr>
        <p:spPr>
          <a:xfrm>
            <a:off x="307975" y="1392420"/>
            <a:ext cx="8144073" cy="4211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operations on a linked list are:</a:t>
            </a:r>
          </a:p>
          <a:p>
            <a:pPr marL="360363" indent="-360363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Visiting every element and displaying it</a:t>
            </a:r>
          </a:p>
          <a:p>
            <a:pPr marL="360363" indent="-360363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a new element to the list- beginning, end, after another node</a:t>
            </a:r>
          </a:p>
          <a:p>
            <a:pPr marL="360363" indent="-360363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Removing an item from a list- beginning, end, after a given node</a:t>
            </a:r>
          </a:p>
          <a:p>
            <a:pPr marL="360363" indent="-360363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supplied key is used to search element</a:t>
            </a:r>
          </a:p>
        </p:txBody>
      </p:sp>
    </p:spTree>
    <p:extLst>
      <p:ext uri="{BB962C8B-B14F-4D97-AF65-F5344CB8AC3E}">
        <p14:creationId xmlns:p14="http://schemas.microsoft.com/office/powerpoint/2010/main" val="760915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Singly linked list </a:t>
            </a:r>
            <a:r>
              <a:rPr lang="en-IN" sz="3600" dirty="0">
                <a:solidFill>
                  <a:srgbClr val="FF0000"/>
                </a:solidFill>
              </a:rPr>
              <a:t>Representation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46589"/>
            <a:ext cx="8594425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are sequentially linked using pointers.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allocation allows flexible node creation and deletion.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are accessed by traversing the list from the head.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29" r="12512" b="16751"/>
          <a:stretch>
            <a:fillRect/>
          </a:stretch>
        </p:blipFill>
        <p:spPr bwMode="auto">
          <a:xfrm>
            <a:off x="2195736" y="4038219"/>
            <a:ext cx="4112096" cy="122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2509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0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dirty="0">
                <a:solidFill>
                  <a:srgbClr val="FF0000"/>
                </a:solidFill>
              </a:rPr>
              <a:t>Implementation of Single Linked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70816" y="1380125"/>
            <a:ext cx="8153400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start node to access the linked list.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 self-referential structure with data and a next pointer.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the start pointer to NULL.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463" y="3390274"/>
            <a:ext cx="7425073" cy="229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7104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C3EF4-5E2E-F788-9DCB-36AE68267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7218D7-4D90-40E4-141B-DF5D28532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82A1DB-9BFE-C17C-D6C4-DF88D1F26C9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1263EC0-B1D2-3679-4AE5-AF956A3638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A8BE41-E398-FC4B-562F-9E1B32D4958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A160D1-7CC2-FA38-3200-7EA974145E68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Traversal operation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664CF-EDF8-5344-904C-EC82D3730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EC112-88E3-C9C4-19F1-D1D610ACAA04}"/>
              </a:ext>
            </a:extLst>
          </p:cNvPr>
          <p:cNvSpPr txBox="1"/>
          <p:nvPr/>
        </p:nvSpPr>
        <p:spPr>
          <a:xfrm>
            <a:off x="184347" y="1217077"/>
            <a:ext cx="8571505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is the process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visiting each node of the linked list exactly once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access or display data.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starts from </a:t>
            </a:r>
            <a:r>
              <a:rPr lang="en-US" sz="2400" dirty="0">
                <a:latin typeface="Courier New" panose="02070309020205020404" pitchFamily="49" charset="0"/>
              </a:rPr>
              <a:t>head</a:t>
            </a: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continues until </a:t>
            </a:r>
            <a:r>
              <a:rPr lang="en-US" sz="2400" dirty="0">
                <a:latin typeface="Courier New" panose="02070309020205020404" pitchFamily="49" charset="0"/>
              </a:rPr>
              <a:t>NULL</a:t>
            </a:r>
            <a:r>
              <a:rPr lang="en-US" sz="2400" dirty="0"/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Traverse Linked List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from </a:t>
            </a:r>
            <a:r>
              <a:rPr lang="en-US" sz="2400" dirty="0">
                <a:latin typeface="Courier New" panose="02070309020205020404" pitchFamily="49" charset="0"/>
              </a:rPr>
              <a:t>head</a:t>
            </a:r>
            <a:endParaRPr lang="en-US" sz="2400" dirty="0"/>
          </a:p>
          <a:p>
            <a:pPr marL="628650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400" dirty="0"/>
              <a:t> </a:t>
            </a:r>
            <a:r>
              <a:rPr lang="en-US" sz="2400" dirty="0">
                <a:latin typeface="Courier New" panose="02070309020205020404" pitchFamily="49" charset="0"/>
              </a:rPr>
              <a:t>head</a:t>
            </a: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NULL, stop</a:t>
            </a:r>
          </a:p>
          <a:p>
            <a:pPr marL="628650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the data of current node</a:t>
            </a:r>
          </a:p>
          <a:p>
            <a:pPr marL="628650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to the next node</a:t>
            </a:r>
          </a:p>
          <a:p>
            <a:pPr marL="628650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current node becomes NULL</a:t>
            </a:r>
          </a:p>
        </p:txBody>
      </p:sp>
    </p:spTree>
    <p:extLst>
      <p:ext uri="{BB962C8B-B14F-4D97-AF65-F5344CB8AC3E}">
        <p14:creationId xmlns:p14="http://schemas.microsoft.com/office/powerpoint/2010/main" val="578631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820" y="7937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Algorithm</a:t>
            </a:r>
            <a:endParaRPr lang="en-US" sz="3200" b="1" dirty="0">
              <a:solidFill>
                <a:srgbClr val="FF0000"/>
              </a:solidFill>
            </a:endParaRPr>
          </a:p>
          <a:p>
            <a:endParaRPr lang="en-IN" sz="3200" dirty="0"/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97768" y="1133356"/>
            <a:ext cx="4572000" cy="54707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PTR = HEAD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PTR = NULL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WRITE "EMPTY LIST"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GOTO STEP 7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END OF IF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REPEAT STEP 5 AND 6 UNTIL PTR != NULL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PRINT PTR→ DATA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PTR = PTR → NEXT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LOOP]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EXIT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69768" y="5692883"/>
            <a:ext cx="4053257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Complete code here.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310" y="1883697"/>
            <a:ext cx="5176242" cy="1331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566" y="3938152"/>
            <a:ext cx="5176242" cy="1626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4229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A4578-344A-45C1-E8A1-144ACD5C5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98F6BF-FDB7-DFDF-6309-C577F1594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DF785C-E404-ADD2-063F-3F09E4A5D52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CF20692-924B-8E38-7FD8-4688BC0C72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DFFAB3-FCFB-7B3F-9F04-799C1CBFA685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25903-FD19-FF11-4FB2-2186BFB2152F}"/>
              </a:ext>
            </a:extLst>
          </p:cNvPr>
          <p:cNvSpPr txBox="1"/>
          <p:nvPr/>
        </p:nvSpPr>
        <p:spPr>
          <a:xfrm>
            <a:off x="72008" y="53136"/>
            <a:ext cx="87510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200" dirty="0">
                <a:solidFill>
                  <a:srgbClr val="FF0000"/>
                </a:solidFill>
              </a:rPr>
              <a:t>Traversal Code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820AAB-F10A-604B-C57A-5B5D84C33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/>
          <p:cNvSpPr/>
          <p:nvPr/>
        </p:nvSpPr>
        <p:spPr>
          <a:xfrm>
            <a:off x="231038" y="1340062"/>
            <a:ext cx="4505460" cy="2570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node *temp = head;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("\n\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nList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elements are - \n");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while(temp != NULL) { </a:t>
            </a:r>
          </a:p>
          <a:p>
            <a:pPr>
              <a:lnSpc>
                <a:spcPct val="150000"/>
              </a:lnSpc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---&gt;",temp-&gt;data);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 = temp-&gt;next; }</a:t>
            </a:r>
          </a:p>
        </p:txBody>
      </p:sp>
    </p:spTree>
    <p:extLst>
      <p:ext uri="{BB962C8B-B14F-4D97-AF65-F5344CB8AC3E}">
        <p14:creationId xmlns:p14="http://schemas.microsoft.com/office/powerpoint/2010/main" val="2788074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DBB3B-202D-E21D-8E47-D9FCF0449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E001F6-E035-EC82-1B4E-1ADB0955A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7CED2-6DF8-113C-04D2-E5BA01AA756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5DEC344-A15C-0DBB-C171-9805A0F221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5448D3-1FDE-4869-1A77-495BB4B6A53C}"/>
              </a:ext>
            </a:extLst>
          </p:cNvPr>
          <p:cNvSpPr txBox="1"/>
          <p:nvPr/>
        </p:nvSpPr>
        <p:spPr>
          <a:xfrm>
            <a:off x="72008" y="285169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Insertion Operations </a:t>
            </a:r>
            <a:r>
              <a:rPr lang="en-IN" sz="3600" dirty="0">
                <a:solidFill>
                  <a:srgbClr val="FF0000"/>
                </a:solidFill>
              </a:rPr>
              <a:t>at the beginning</a:t>
            </a:r>
            <a:endParaRPr lang="en-US" sz="3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A12E7A-4D52-753F-B7D7-D5BDD9FE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6D5AC7F8-4A32-F49C-BED7-13F96B2411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DA2A9161-151F-478E-AB32-49D1DF35CD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71EC1F-2D5A-6DE1-7CB4-BA0BEAEB08ED}"/>
              </a:ext>
            </a:extLst>
          </p:cNvPr>
          <p:cNvSpPr/>
          <p:nvPr/>
        </p:nvSpPr>
        <p:spPr>
          <a:xfrm>
            <a:off x="83804" y="1145741"/>
            <a:ext cx="8664660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beginning means adding a new node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the current head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Fastest insertion operation.</a:t>
            </a:r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ACC3749D-1C57-56F5-D131-E2CAEB0B0E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833237B8-48CD-4F98-DD20-C0C0349E1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73" y="2833704"/>
            <a:ext cx="7815542" cy="3345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801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008" y="274519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Algorithm: Insert At Beginning</a:t>
            </a:r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307974" y="1231007"/>
            <a:ext cx="5864225" cy="5217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AVAIL = NULL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OVERFLOW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 to Step 7 [END OF IF]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NEW_NODE = AVAIL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AVAIL = AVAIL -&gt; NEXT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 4: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NEW_NODE -&gt; DATA = VAL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NEW_NODE -&gt; NEXT = HEAD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HEAD = NEW_NODE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7: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29781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7FC36-95C9-0AFF-E3CD-37977A2F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9E52F0-3CBD-FDBC-93EE-B77207ED2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A99522-F639-8549-698F-1A723D9700E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2CD1877-E013-E2F9-125A-3699E1FF24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DB74B7-57A7-4ED4-8856-FED47DD8963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B2AF42-D991-688B-8E9D-B0C1D348E03D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Insertion at beginning </a:t>
            </a:r>
            <a:r>
              <a:rPr lang="en-IN" sz="3600" dirty="0">
                <a:solidFill>
                  <a:srgbClr val="FF0000"/>
                </a:solidFill>
              </a:rPr>
              <a:t>Code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F2A6E5-0F1C-5C92-33FB-774B6625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144A5E-C497-9E81-D38B-A29B45B47EFB}"/>
              </a:ext>
            </a:extLst>
          </p:cNvPr>
          <p:cNvSpPr txBox="1"/>
          <p:nvPr/>
        </p:nvSpPr>
        <p:spPr>
          <a:xfrm>
            <a:off x="395536" y="1666628"/>
            <a:ext cx="4655126" cy="2928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200000"/>
              </a:lnSpc>
              <a:spcBef>
                <a:spcPts val="600"/>
              </a:spcBef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insert_begin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(head, value):</a:t>
            </a:r>
          </a:p>
          <a:p>
            <a:pPr rtl="0">
              <a:lnSpc>
                <a:spcPct val="200000"/>
              </a:lnSpc>
              <a:spcBef>
                <a:spcPts val="600"/>
              </a:spcBef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new_node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Node(value)</a:t>
            </a:r>
          </a:p>
          <a:p>
            <a:pPr rtl="0">
              <a:lnSpc>
                <a:spcPct val="200000"/>
              </a:lnSpc>
              <a:spcBef>
                <a:spcPts val="600"/>
              </a:spcBef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new_node.next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head</a:t>
            </a:r>
          </a:p>
          <a:p>
            <a:pPr rtl="0">
              <a:lnSpc>
                <a:spcPct val="200000"/>
              </a:lnSpc>
              <a:spcBef>
                <a:spcPts val="600"/>
              </a:spcBef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new_node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559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7EC66-154D-9AD4-2128-E75F95C66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D2E09E-8712-9090-9EFE-8DB58F6C65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951E36-0869-D756-1EEF-EDE8416BA6A4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855C6F3-054F-3A45-C5DF-781EFCA9F2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5A8996-70BB-F4CF-C29E-084FC58328E4}"/>
              </a:ext>
            </a:extLst>
          </p:cNvPr>
          <p:cNvSpPr txBox="1"/>
          <p:nvPr/>
        </p:nvSpPr>
        <p:spPr>
          <a:xfrm>
            <a:off x="72008" y="294372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Insertion at End</a:t>
            </a:r>
            <a:endParaRPr lang="en-US" sz="3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7434E0-AFC5-8143-87DB-3BE12304A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A1ED3481-4F19-B8F6-37DA-F8A2B332F4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5F4936EE-67AF-0763-787A-E2A722E6D7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D87B4498-FF61-3D61-7601-8C69BD6901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C66CD3-62FA-6A9D-C94E-655E33E967A4}"/>
              </a:ext>
            </a:extLst>
          </p:cNvPr>
          <p:cNvSpPr txBox="1"/>
          <p:nvPr/>
        </p:nvSpPr>
        <p:spPr>
          <a:xfrm>
            <a:off x="155575" y="1107991"/>
            <a:ext cx="8667450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end means adding a new node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last node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traversal.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59" y="2273027"/>
            <a:ext cx="7494322" cy="3995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554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008" y="248922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Algorithm: Insert At End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85008" y="1154312"/>
            <a:ext cx="8836025" cy="4729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AVAIL = NULL  </a:t>
            </a:r>
          </a:p>
          <a:p>
            <a:pPr marL="800100" lvl="2" indent="0" algn="just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OVERFLOW </a:t>
            </a:r>
          </a:p>
          <a:p>
            <a:pPr marL="0" indent="0" algn="just">
              <a:spcBef>
                <a:spcPts val="300"/>
              </a:spcBef>
              <a:spcAft>
                <a:spcPts val="600"/>
              </a:spcAft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Go to Step 10 [END OF IF] </a:t>
            </a:r>
          </a:p>
          <a:p>
            <a:pPr algn="just"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NEW_NODE = AVAIL</a:t>
            </a:r>
          </a:p>
          <a:p>
            <a:pPr algn="just"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 3: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AVAIL = AVAIL -&gt; NEXT </a:t>
            </a:r>
          </a:p>
          <a:p>
            <a:pPr algn="just"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NEW_NODE -&gt; DATA = VAL </a:t>
            </a:r>
          </a:p>
          <a:p>
            <a:pPr algn="just"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NEW_NODE -&gt; NEXT = NULL </a:t>
            </a:r>
          </a:p>
          <a:p>
            <a:pPr algn="just"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PTR = HEAD </a:t>
            </a:r>
          </a:p>
          <a:p>
            <a:pPr algn="just"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7: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 8 while PTR -&gt; NEXT != NULL Step </a:t>
            </a:r>
          </a:p>
          <a:p>
            <a:pPr algn="just"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8: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PTR = PTR -&gt; NEXT [END OF LOOP] </a:t>
            </a:r>
          </a:p>
          <a:p>
            <a:pPr algn="just"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9: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PTR -&gt; NEXT = NEW_NODE </a:t>
            </a:r>
          </a:p>
          <a:p>
            <a:pPr algn="just"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10: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2330069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DE7A-53D8-E6BE-7F78-320CA93BB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ADA4C5-D146-FF74-76E5-031AD8DF9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7E7D29-5474-13D2-79D7-F38F25F9D378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247322F-BC45-A7D1-AE0A-918E6C3B07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C686D9-D872-CABA-81ED-F93C9191096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43DBE2-7A55-4128-674F-F9F8EC075103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Insertion at End </a:t>
            </a:r>
            <a:r>
              <a:rPr lang="en-IN" sz="3600" dirty="0">
                <a:solidFill>
                  <a:srgbClr val="FF0000"/>
                </a:solidFill>
              </a:rPr>
              <a:t>Code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ACF75-A268-1BBB-2B08-A0B3787A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15371B-B922-0F62-5203-AF41E839E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404248"/>
              </p:ext>
            </p:extLst>
          </p:nvPr>
        </p:nvGraphicFramePr>
        <p:xfrm>
          <a:off x="2251272" y="1542760"/>
          <a:ext cx="4392488" cy="422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2488">
                  <a:extLst>
                    <a:ext uri="{9D8B030D-6E8A-4147-A177-3AD203B41FA5}">
                      <a16:colId xmlns:a16="http://schemas.microsoft.com/office/drawing/2014/main" val="2217686037"/>
                    </a:ext>
                  </a:extLst>
                </a:gridCol>
              </a:tblGrid>
              <a:tr h="2696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at End – Python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244575"/>
                  </a:ext>
                </a:extLst>
              </a:tr>
              <a:tr h="2233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insert_end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(head, value):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new_node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Node(value)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if head is None: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return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new_node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temp = head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while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temp.next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temp =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temp.next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temp.next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new_node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return head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166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855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899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Insert a Node after a given Node in a Linked list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5" y="1219200"/>
            <a:ext cx="8732023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9560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265298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Algorithm: Insert After An Element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3" name="Content Placeholder 1"/>
          <p:cNvSpPr txBox="1">
            <a:spLocks/>
          </p:cNvSpPr>
          <p:nvPr/>
        </p:nvSpPr>
        <p:spPr>
          <a:xfrm>
            <a:off x="332715" y="1219200"/>
            <a:ext cx="8658883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tep 1: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AVAIL = NULL Write OVERFLOW Go to Step 12 [END OF IF]</a:t>
            </a:r>
          </a:p>
          <a:p>
            <a:pPr>
              <a:spcBef>
                <a:spcPts val="6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NEW_NODE = AVAIL </a:t>
            </a:r>
          </a:p>
          <a:p>
            <a:pPr>
              <a:spcBef>
                <a:spcPts val="6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AVAIL = AVAIL -&gt; NEXT </a:t>
            </a:r>
          </a:p>
          <a:p>
            <a:pPr>
              <a:spcBef>
                <a:spcPts val="6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NEW_NODE -&gt; DATA = VAL</a:t>
            </a:r>
          </a:p>
          <a:p>
            <a:pPr>
              <a:spcBef>
                <a:spcPts val="6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PTR = HEAD </a:t>
            </a:r>
          </a:p>
          <a:p>
            <a:pPr>
              <a:spcBef>
                <a:spcPts val="6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PREPTR = PTR</a:t>
            </a:r>
          </a:p>
          <a:p>
            <a:pPr>
              <a:spcBef>
                <a:spcPts val="6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7: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Steps 8 and 9 while PREPTR -&gt; DATA != NUM </a:t>
            </a:r>
          </a:p>
          <a:p>
            <a:pPr>
              <a:spcBef>
                <a:spcPts val="6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8: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PREPTR = PTR</a:t>
            </a:r>
          </a:p>
          <a:p>
            <a:pPr>
              <a:spcBef>
                <a:spcPts val="6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 9: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PTR = PTR -&gt; NEXT [END OF LOOP]</a:t>
            </a:r>
          </a:p>
          <a:p>
            <a:pPr>
              <a:spcBef>
                <a:spcPts val="6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10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PREPTR -&gt; NEXT = NEW_NODE </a:t>
            </a:r>
          </a:p>
          <a:p>
            <a:pPr>
              <a:spcBef>
                <a:spcPts val="6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11: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NEW_NODE -&gt; NEXT = PTR </a:t>
            </a:r>
          </a:p>
          <a:p>
            <a:pPr>
              <a:spcBef>
                <a:spcPts val="6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12: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2614696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B24FE-67C1-7C66-A525-CD2C1BF34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E6BFEC-9228-C52E-3D65-D410F3EA52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FDB451-23CB-AC0E-6F4E-6FA68DF9B4D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CA6AC9A-E331-5FEB-B52E-E7C7E6B6D4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CFBC0E-D78B-EFD1-EEB5-8943DE29770B}"/>
              </a:ext>
            </a:extLst>
          </p:cNvPr>
          <p:cNvSpPr txBox="1"/>
          <p:nvPr/>
        </p:nvSpPr>
        <p:spPr>
          <a:xfrm>
            <a:off x="72008" y="265298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Check Your Understanding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617AF7-67C4-CD23-20F7-B4DEFECFF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DFC4212C-FE9B-27E9-0F1B-9FB0B1E4B5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E6C92663-75CB-233F-1CBC-EAF1896C92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CC77A2FE-606F-B67F-4927-F2C1A968DB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8D57CD56-6542-A5E6-FDC8-B997A2A4A67F}"/>
              </a:ext>
            </a:extLst>
          </p:cNvPr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6D8AF4D0-36A3-26CE-2E57-F151084007FD}"/>
              </a:ext>
            </a:extLst>
          </p:cNvPr>
          <p:cNvSpPr txBox="1">
            <a:spLocks/>
          </p:cNvSpPr>
          <p:nvPr/>
        </p:nvSpPr>
        <p:spPr>
          <a:xfrm>
            <a:off x="332715" y="1219200"/>
            <a:ext cx="8343741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of a linked list always starts from the __________ node.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the beginning of a linked list requires updating the __________ pointer.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insertion operation does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traversal?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will be the time complexity of inserting a node at the beginning of a linked list?</a:t>
            </a:r>
          </a:p>
        </p:txBody>
      </p:sp>
    </p:spTree>
    <p:extLst>
      <p:ext uri="{BB962C8B-B14F-4D97-AF65-F5344CB8AC3E}">
        <p14:creationId xmlns:p14="http://schemas.microsoft.com/office/powerpoint/2010/main" val="3078325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3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899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Deleting Elements from a Linked List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97768" y="1219200"/>
            <a:ext cx="6584032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node is deleted.</a:t>
            </a:r>
          </a:p>
          <a:p>
            <a:pPr marL="342900" indent="-342900" algn="just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node is deleted.</a:t>
            </a:r>
          </a:p>
          <a:p>
            <a:pPr marL="342900" indent="-342900" algn="just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node after a given node is deleted</a:t>
            </a:r>
          </a:p>
        </p:txBody>
      </p:sp>
    </p:spTree>
    <p:extLst>
      <p:ext uri="{BB962C8B-B14F-4D97-AF65-F5344CB8AC3E}">
        <p14:creationId xmlns:p14="http://schemas.microsoft.com/office/powerpoint/2010/main" val="2095186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4A571-EA22-B280-778D-3552B9792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9C67D1-ADD5-4F8C-ED39-04A6AA75C3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3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F11939-3C19-74B8-F180-21B275895C8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3E056B-6E84-C1E3-7E16-B96BBE7A92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A37B0F-2005-D118-1FAE-8E42424D43DF}"/>
              </a:ext>
            </a:extLst>
          </p:cNvPr>
          <p:cNvSpPr txBox="1"/>
          <p:nvPr/>
        </p:nvSpPr>
        <p:spPr>
          <a:xfrm>
            <a:off x="36907" y="160338"/>
            <a:ext cx="899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Deleting First  Element from a Linked List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A94E05-ED4F-23C8-38F8-8AA2549C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F22180BB-E657-A2E1-0974-1D88364094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8FD8C13F-9D9A-1954-5F7C-21B04C9E88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F5C24459-F076-834A-3FB9-B37B6A7509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51DF9A-CBFE-6E31-18AF-DEC8915D8646}"/>
              </a:ext>
            </a:extLst>
          </p:cNvPr>
          <p:cNvSpPr/>
          <p:nvPr/>
        </p:nvSpPr>
        <p:spPr>
          <a:xfrm>
            <a:off x="197768" y="1219200"/>
            <a:ext cx="87484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Deletion from beginning removes the </a:t>
            </a:r>
            <a:r>
              <a:rPr lang="en-US" sz="2400" b="1" dirty="0"/>
              <a:t>first node</a:t>
            </a:r>
            <a:r>
              <a:rPr lang="en-US" sz="2400" dirty="0"/>
              <a:t> of the linked list.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61B594C1-DE4A-2761-25FD-7976F5E3E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98" y="1862035"/>
            <a:ext cx="8689459" cy="3587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5412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238686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Algorithm: Delete From Beginning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HEAD = NULL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UNDERFLOW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Step 5 [END OF IF]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PTR = HEAD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HEAD = HEAD -&gt; NEXT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PTR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 5: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22574943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6956E-372A-828C-4E4C-3B416001C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178978-2AAB-982C-9671-589AE117C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83AE5E-8BAC-20A2-F54D-BB480BD8D94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8480057-2860-DB86-2465-FD3722280B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B1C109-04EF-AC71-2107-1C867F4C4F3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329D71-F4A1-4810-62AF-F9405E8CF0FC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dirty="0">
                <a:solidFill>
                  <a:srgbClr val="FF0000"/>
                </a:solidFill>
              </a:rPr>
              <a:t>Deletion from Beginning Code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3913E7-27C7-E97C-EA97-367A7CA2F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423A50-9349-A281-BDBB-14CF031CC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408953"/>
              </p:ext>
            </p:extLst>
          </p:nvPr>
        </p:nvGraphicFramePr>
        <p:xfrm>
          <a:off x="2107256" y="2122153"/>
          <a:ext cx="4680520" cy="23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520">
                  <a:extLst>
                    <a:ext uri="{9D8B030D-6E8A-4147-A177-3AD203B41FA5}">
                      <a16:colId xmlns:a16="http://schemas.microsoft.com/office/drawing/2014/main" val="2217686037"/>
                    </a:ext>
                  </a:extLst>
                </a:gridCol>
              </a:tblGrid>
              <a:tr h="2696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Deletion from Beginning 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Python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244575"/>
                  </a:ext>
                </a:extLst>
              </a:tr>
              <a:tr h="22336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delete_begin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(head):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if head is None: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return None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return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head.next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166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33888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3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899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Deletion from End of a Linked list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57272"/>
            <a:ext cx="8241520" cy="41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044DD3-7E59-D531-89FA-3AD59DD140C0}"/>
              </a:ext>
            </a:extLst>
          </p:cNvPr>
          <p:cNvSpPr txBox="1"/>
          <p:nvPr/>
        </p:nvSpPr>
        <p:spPr>
          <a:xfrm>
            <a:off x="157884" y="1178528"/>
            <a:ext cx="8374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from end removes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node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linked list.</a:t>
            </a:r>
          </a:p>
        </p:txBody>
      </p:sp>
    </p:spTree>
    <p:extLst>
      <p:ext uri="{BB962C8B-B14F-4D97-AF65-F5344CB8AC3E}">
        <p14:creationId xmlns:p14="http://schemas.microsoft.com/office/powerpoint/2010/main" val="3114886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008" y="287727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Algorithm: Delete From End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3" name="Content Placeholder 1"/>
          <p:cNvSpPr txBox="1">
            <a:spLocks/>
          </p:cNvSpPr>
          <p:nvPr/>
        </p:nvSpPr>
        <p:spPr>
          <a:xfrm>
            <a:off x="307975" y="1307392"/>
            <a:ext cx="8229600" cy="4755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HEAD = NULL Write UNDERFLOW Go to Step 8 [END OF IF] 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PTR = HEAD 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Steps 4 and 5 while PTR -&gt; NEXT != NULL 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PREPTR = PTR 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PTR = PTR -&gt; NEXT [END OF LOOP] 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PREPTR -&gt; NEXT = NULL 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7: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PTR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8: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5030995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2F9F1-E767-EE01-BE4C-A8CF8C1A6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0C393B-8BD7-34AE-C80F-F1E7CBCEC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3F9334-96D9-8F1E-40FB-E5458B46257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85FCC9E-BF40-16A6-124F-D5437E08AE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774388-A546-0EE9-CC66-30F52B98468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97F7EA-0FC4-4F5C-DEEB-314F5964B8AB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dirty="0">
                <a:solidFill>
                  <a:srgbClr val="FF0000"/>
                </a:solidFill>
              </a:rPr>
              <a:t>Deletion from End Code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CF3F0-5F2A-43A0-F002-E0ECD81A7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CEE9B4-6CFA-F1E4-6D1B-4425C7AC1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228749"/>
              </p:ext>
            </p:extLst>
          </p:nvPr>
        </p:nvGraphicFramePr>
        <p:xfrm>
          <a:off x="2107256" y="1753817"/>
          <a:ext cx="4680520" cy="391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520">
                  <a:extLst>
                    <a:ext uri="{9D8B030D-6E8A-4147-A177-3AD203B41FA5}">
                      <a16:colId xmlns:a16="http://schemas.microsoft.com/office/drawing/2014/main" val="2217686037"/>
                    </a:ext>
                  </a:extLst>
                </a:gridCol>
              </a:tblGrid>
              <a:tr h="2696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Deletion from End 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Python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244575"/>
                  </a:ext>
                </a:extLst>
              </a:tr>
              <a:tr h="2233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delete_end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(head):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if head is None or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head.next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None: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return None</a:t>
                      </a:r>
                    </a:p>
                    <a:p>
                      <a:pPr rtl="0"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temp = head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while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temp.next.next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temp =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temp.next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temp.next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None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return head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166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730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6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91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Delete the Node after a given Node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29" y="1219200"/>
            <a:ext cx="8353425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2819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008" y="266738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Algorithm: Delete After A Node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307975" y="11430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IF HEAD = NULL Write UNDERFLOW Go to Step 10 [END OF IF]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SET PTR = HEAD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SET PREPTR = PTR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Repeat Steps 5 and 6 while PREPTR -&gt; DATA != NUM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SET PREPTR = PTR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SET PTR = PTR -&gt; NEXT [END OF LOOP]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SET TEMP = PTR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 SET PREPTR -&gt; NEXT = PTR -&gt; NEXT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 9: FREE TEMP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10 : EXIT</a:t>
            </a:r>
          </a:p>
        </p:txBody>
      </p:sp>
    </p:spTree>
    <p:extLst>
      <p:ext uri="{BB962C8B-B14F-4D97-AF65-F5344CB8AC3E}">
        <p14:creationId xmlns:p14="http://schemas.microsoft.com/office/powerpoint/2010/main" val="22309409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48891" y="263588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Code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307975" y="1284339"/>
            <a:ext cx="6709792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void del(node *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before_del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before_del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NULL ||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before_del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 == NULL)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node* temp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before_del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before_del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 = temp-&gt;next;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delete temp;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90936" y="4941168"/>
            <a:ext cx="3276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Complete code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0283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92B95-6443-B741-ECBD-979077F0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769D93-67FC-A93F-F2BA-BE7DB8F47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3CDE2D-17A8-7288-6C9F-0B6A548367B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54B949A-C666-1E2A-68A8-5805033A9E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6C0075-A62F-868A-CC9E-BFF6D28C097B}"/>
              </a:ext>
            </a:extLst>
          </p:cNvPr>
          <p:cNvSpPr txBox="1"/>
          <p:nvPr/>
        </p:nvSpPr>
        <p:spPr>
          <a:xfrm>
            <a:off x="348891" y="263588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Check Your Understanding 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C5ABF-C641-E77B-E567-38CA13D12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F7F4E857-EE0F-7DE4-1023-45C7F3C92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9754968F-6019-198A-B2EF-9FDC060683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362F5130-5647-1923-3884-7A6E87DF56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5C8855B0-CBE5-FB42-2F2B-1232EE2E9708}"/>
              </a:ext>
            </a:extLst>
          </p:cNvPr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EDDDFC39-080E-F7B9-DD73-BB50DA8E422A}"/>
              </a:ext>
            </a:extLst>
          </p:cNvPr>
          <p:cNvSpPr txBox="1">
            <a:spLocks/>
          </p:cNvSpPr>
          <p:nvPr/>
        </p:nvSpPr>
        <p:spPr>
          <a:xfrm>
            <a:off x="307974" y="1284339"/>
            <a:ext cx="8512497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node is removed during deletion from the beginning of a linked list?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from the end of a singly linked list requires locating the __________ node.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if deletion is attempted on an empty linked list?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time complexity of deleting the last node in a singly linked list?</a:t>
            </a:r>
          </a:p>
        </p:txBody>
      </p:sp>
    </p:spTree>
    <p:extLst>
      <p:ext uri="{BB962C8B-B14F-4D97-AF65-F5344CB8AC3E}">
        <p14:creationId xmlns:p14="http://schemas.microsoft.com/office/powerpoint/2010/main" val="16885515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6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32564" y="356577"/>
            <a:ext cx="91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Search (Algorithm)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460375" y="1211857"/>
            <a:ext cx="6778625" cy="3586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Step 1: [INITIALIZE] SET PTR = HEAD 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Step 2: Repeat Steps 3 and 4 while PTR != NULL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Step 3: If ITEM = PTR -&gt; DATA SET POS = PTR Go To Step 5 ELSE SET PTR = PTR -&gt; NEXT [END OF IF] [END OF LOOP] 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Step 4: SET POS = NULL 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Step 5: EXIT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9" t="4088" r="10458" b="11878"/>
          <a:stretch>
            <a:fillRect/>
          </a:stretch>
        </p:blipFill>
        <p:spPr bwMode="auto">
          <a:xfrm>
            <a:off x="4049267" y="3539737"/>
            <a:ext cx="4634358" cy="3108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6822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u="sng" dirty="0"/>
          </a:p>
          <a:p>
            <a:r>
              <a:rPr lang="en-IN" sz="3600" dirty="0">
                <a:solidFill>
                  <a:srgbClr val="FF0000"/>
                </a:solidFill>
              </a:rPr>
              <a:t>Advantages and disadvantages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E4911A-CB64-2CF1-7D2E-F792995B8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537679"/>
              </p:ext>
            </p:extLst>
          </p:nvPr>
        </p:nvGraphicFramePr>
        <p:xfrm>
          <a:off x="332716" y="1711547"/>
          <a:ext cx="8229600" cy="328828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6492799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4323078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Disadvantages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22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insertion and deletion: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Only pointer adjustments are needed.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size: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List can grow or shrink without contiguous memory.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Flexible: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fixed size limit for data storage.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direct access: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Elements must be accessed by traversing from the head.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 memory overhead: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 node stores an additional pointer.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Inefficient reverse traversal: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backward pointers in singly linked lists.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112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787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06076-2122-6226-8CF8-8E5014A2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0ED533-6BE7-31F1-EC9B-589A10822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BAC2D1-6201-F35C-1026-956D4140410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55F962-725D-CABD-00A5-687795182E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5D30A1-B15D-F63A-01F5-E059690E7894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B8934E-D90F-F534-26A4-4E258CCE38C5}"/>
              </a:ext>
            </a:extLst>
          </p:cNvPr>
          <p:cNvSpPr txBox="1"/>
          <p:nvPr/>
        </p:nvSpPr>
        <p:spPr>
          <a:xfrm>
            <a:off x="105967" y="286239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Test Yourself 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7C97E-2706-4815-2398-7463C405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1980EB-992E-552C-20BE-8440B3EBD229}"/>
              </a:ext>
            </a:extLst>
          </p:cNvPr>
          <p:cNvSpPr/>
          <p:nvPr/>
        </p:nvSpPr>
        <p:spPr>
          <a:xfrm>
            <a:off x="243143" y="1294280"/>
            <a:ext cx="8536009" cy="4052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363" indent="-360363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linked list is made up of a collection of __________.</a:t>
            </a:r>
          </a:p>
          <a:p>
            <a:pPr marL="360363" indent="-360363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pointer to the first node of a linked list is called the __________.</a:t>
            </a:r>
          </a:p>
          <a:p>
            <a:pPr marL="360363" indent="-360363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singly linked list, the last node points to __________.</a:t>
            </a:r>
          </a:p>
          <a:p>
            <a:pPr marL="360363" indent="-360363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of a linked list starts from the __________ node.</a:t>
            </a:r>
          </a:p>
          <a:p>
            <a:pPr marL="360363" indent="-360363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the beginning of a linked list has time complexity __________.</a:t>
            </a:r>
          </a:p>
        </p:txBody>
      </p:sp>
    </p:spTree>
    <p:extLst>
      <p:ext uri="{BB962C8B-B14F-4D97-AF65-F5344CB8AC3E}">
        <p14:creationId xmlns:p14="http://schemas.microsoft.com/office/powerpoint/2010/main" val="4065194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4A5F-18D4-4D6E-64F4-9174126A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BDDB06-4B6E-4707-1E17-AAE8BFCF4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EF6197-3238-08C9-B26C-DB30D7D65F43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344C319-238E-5A65-3F7E-593393C197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6FAB2C-6B04-D9C7-C35F-2BCAD3D9C65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4D8156-DA4B-BB1C-9496-FC99853F1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46497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Key 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C61E0-6318-2865-A850-DCAA5ACF48FE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3A715DB1-87CD-88B2-807A-5931C67A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858CE0-C15F-AB9B-F784-3C122776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FCCBC8-63DE-671F-2BE9-9F6EDF20EAEA}"/>
              </a:ext>
            </a:extLst>
          </p:cNvPr>
          <p:cNvSpPr txBox="1"/>
          <p:nvPr/>
        </p:nvSpPr>
        <p:spPr>
          <a:xfrm>
            <a:off x="253130" y="1446123"/>
            <a:ext cx="8567339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lvl="0" indent="-268288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operations rely heavily on pointer manipulation</a:t>
            </a:r>
          </a:p>
          <a:p>
            <a:pPr marL="268288" lvl="0" indent="-268288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is required to access or modify most nodes</a:t>
            </a:r>
          </a:p>
          <a:p>
            <a:pPr marL="268288" lvl="0" indent="-268288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and deletion at the beginning are the fastest operations</a:t>
            </a:r>
          </a:p>
          <a:p>
            <a:pPr marL="268288" lvl="0" indent="-268288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and insertion at the end require traversal</a:t>
            </a:r>
          </a:p>
          <a:p>
            <a:pPr marL="268288" lvl="0" indent="-268288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handling of head and NULL conditions is critical</a:t>
            </a:r>
          </a:p>
        </p:txBody>
      </p:sp>
    </p:spTree>
    <p:extLst>
      <p:ext uri="{BB962C8B-B14F-4D97-AF65-F5344CB8AC3E}">
        <p14:creationId xmlns:p14="http://schemas.microsoft.com/office/powerpoint/2010/main" val="4003454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9C3D-3F30-A3F3-A545-26CB145F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DC34CE-387F-2349-2368-E7AB3299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ECC9169-F46C-9DFF-074B-9042CA36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3570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References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D4E920-65A2-CCE7-FEA5-14D91F60AAA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E0C2226-8947-177E-6706-83378DA8A4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41" y="6337479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18B84-F150-B1E2-D936-7FC20CE87C0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75B91-F517-A8A8-3443-03C2FD642B05}"/>
              </a:ext>
            </a:extLst>
          </p:cNvPr>
          <p:cNvSpPr txBox="1"/>
          <p:nvPr/>
        </p:nvSpPr>
        <p:spPr>
          <a:xfrm>
            <a:off x="216025" y="1144192"/>
            <a:ext cx="874846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Lipschutz,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Schaum’s Outline of Data Structures with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Weiss, M. A.,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 Analysis in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Edition, Pearson Education.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Skiena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Design Manual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Edition, Springer.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Resources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Linked List Operations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https://www.geeksforgeeks.org/linked-list-set-1-introduction/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Insertion &amp; Deletion in Linked List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https://www.geeksforgeeks.org/linked-list-set-2-inserting-a-node/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TutorialsPoint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Linked List Operations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https://www.tutorialspoint.com/data_structures_algorithms/linked_list_algorithms.htm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Programiz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Linked List in Python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https://www.programiz.com/dsa/linked-list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OpenCourseWare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Introduction to Algorithms</a:t>
            </a:r>
            <a:br>
              <a:rPr lang="en-US" dirty="0"/>
            </a:br>
            <a:r>
              <a:rPr lang="en-US" dirty="0">
                <a:hlinkClick r:id="rId9"/>
              </a:rPr>
              <a:t>https://ocw.mit.edu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399E0A-2CFF-1DD0-69C4-94E7F4E7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8304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19820</TotalTime>
  <Words>2732</Words>
  <Application>Microsoft Office PowerPoint</Application>
  <PresentationFormat>On-screen Show (4:3)</PresentationFormat>
  <Paragraphs>461</Paragraphs>
  <Slides>38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Calibri</vt:lpstr>
      <vt:lpstr>Courier New</vt:lpstr>
      <vt:lpstr>Garamond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Aarti Sangwan</cp:lastModifiedBy>
  <cp:revision>1414</cp:revision>
  <cp:lastPrinted>2022-09-05T08:43:44Z</cp:lastPrinted>
  <dcterms:created xsi:type="dcterms:W3CDTF">2020-01-16T09:05:56Z</dcterms:created>
  <dcterms:modified xsi:type="dcterms:W3CDTF">2026-02-10T18:51:32Z</dcterms:modified>
</cp:coreProperties>
</file>