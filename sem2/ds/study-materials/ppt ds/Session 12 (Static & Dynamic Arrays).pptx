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1011" r:id="rId2"/>
    <p:sldId id="993" r:id="rId3"/>
    <p:sldId id="1012" r:id="rId4"/>
    <p:sldId id="1013" r:id="rId5"/>
    <p:sldId id="691" r:id="rId6"/>
    <p:sldId id="1027" r:id="rId7"/>
    <p:sldId id="693" r:id="rId8"/>
    <p:sldId id="1028" r:id="rId9"/>
    <p:sldId id="930" r:id="rId10"/>
    <p:sldId id="1015" r:id="rId11"/>
    <p:sldId id="1026" r:id="rId12"/>
    <p:sldId id="968" r:id="rId13"/>
    <p:sldId id="1032" r:id="rId14"/>
    <p:sldId id="1033" r:id="rId15"/>
    <p:sldId id="1018" r:id="rId16"/>
    <p:sldId id="1016" r:id="rId17"/>
    <p:sldId id="1017" r:id="rId18"/>
    <p:sldId id="1049" r:id="rId19"/>
    <p:sldId id="969" r:id="rId20"/>
    <p:sldId id="1019" r:id="rId21"/>
    <p:sldId id="970" r:id="rId22"/>
    <p:sldId id="1034" r:id="rId23"/>
    <p:sldId id="1035" r:id="rId24"/>
    <p:sldId id="1038" r:id="rId25"/>
    <p:sldId id="1041" r:id="rId26"/>
    <p:sldId id="1045" r:id="rId27"/>
    <p:sldId id="1040" r:id="rId28"/>
    <p:sldId id="1021" r:id="rId29"/>
    <p:sldId id="1022" r:id="rId30"/>
    <p:sldId id="1053" r:id="rId31"/>
    <p:sldId id="1054" r:id="rId32"/>
    <p:sldId id="1055" r:id="rId33"/>
    <p:sldId id="1044" r:id="rId34"/>
    <p:sldId id="1043" r:id="rId35"/>
    <p:sldId id="1024" r:id="rId36"/>
    <p:sldId id="1025" r:id="rId37"/>
    <p:sldId id="1048" r:id="rId38"/>
    <p:sldId id="1046" r:id="rId39"/>
    <p:sldId id="1047" r:id="rId40"/>
    <p:sldId id="1014" r:id="rId41"/>
    <p:sldId id="269" r:id="rId42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1E24"/>
    <a:srgbClr val="4B0993"/>
    <a:srgbClr val="E83030"/>
    <a:srgbClr val="0060AA"/>
    <a:srgbClr val="0066B3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3883" autoAdjust="0"/>
  </p:normalViewPr>
  <p:slideViewPr>
    <p:cSldViewPr>
      <p:cViewPr varScale="1">
        <p:scale>
          <a:sx n="69" d="100"/>
          <a:sy n="69" d="100"/>
        </p:scale>
        <p:origin x="968" y="68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303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469B-3BFE-93C5-AE72-99786D387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3972A-C9AE-706D-5FF8-34186171A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CC122-1163-C6F8-A5FF-1B8B6CE30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4314A-DD6D-3BCF-9D67-CA1323FEA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056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92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417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F896-DE86-835F-65A8-4C483656D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E39AB-BF56-D24C-88AA-6ED4E5B58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B68E8-C400-B14E-15B9-E6A1C67AD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A5285-7299-7E1A-94BC-2CC1C4EDE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3316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6449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4F953-F239-C017-2C6A-9286017B3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A17FD-24A1-E43D-C625-6E37A2D6E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4ADF1-E3E6-58AE-C8F4-84DB975DA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AB2A9-8915-FDD2-84EA-D64B40C34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304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AF63-0BBC-6508-FB2F-ABC5B23CD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31E4F-8B90-AD75-BA34-0A0A72F57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E9A51-EB6B-5A0E-E7E1-0A658F69A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8D236-012E-58E7-29C7-12D3EC838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8930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2E227-7547-DF46-6B14-8E4C491B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8FB08-9922-1AAD-B917-578F78018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2D6A8-CEC3-1F32-98B6-3E9A9F2CF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DBB6C-3B07-2AEF-06A3-A3F930669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505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BD9B-7231-C36D-FCBD-C1388189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A4798-F181-AA2A-3065-159ADDDC7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FB7AF-C6ED-E0CB-43D5-9132B0B33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E6D37-1D1F-B1ED-212D-F700DBB33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3850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2CDA7-56F7-92AB-8D5A-EA1FE4F4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F905B-6E5A-1B25-E231-32CEC68E0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9B2BA-7BB9-D76D-54F3-64B89D173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D9FAC-C424-499D-EFC0-8B711B772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0275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2DBC0-204F-5E47-3B6F-49B46B79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20C1B-A4B4-1D36-61DF-C9855F41E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8E092-83FA-EFD7-ED9E-0C02828B1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86E67-39E8-A89C-E369-85438820A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46223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6884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7508B-0450-4AE1-6E8F-A66DD840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2E99B-057E-1F5C-65EF-F78BFBBA6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E4DE8-07D7-4597-9484-4910F80DB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B5049-1C21-BE14-B6CE-B630A3514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21033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7087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33444-94B8-75F7-3FE8-62FD23DD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A4ACC-0D1C-DCAF-7D67-0FF1020BA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0D750-E381-AA36-267A-8C986F48C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C5FE0-1596-1392-01B8-FBE5A98D3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1421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879A-8D01-D548-4D0D-C1B33515D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89CEA-622E-F422-6713-22D229BB7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29489-F6F1-E69B-9D30-A6A5C086E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31CA1-9A6D-CD54-7460-1AA130066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525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676EA-5557-2F27-9032-0B2D053D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21689-1BE9-3228-E793-B8EF7F2C6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308ED-7441-1813-5F2F-AE0D956EA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F9A40-7AC6-8EBE-AF72-CDB80DC42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4591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7FA19-9EEB-53A5-44A7-3546301D7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084FB-5F6A-4BEF-5159-27AD356E8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7C7A6-D438-6BD0-EDD7-B183ECDFC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48611-0A9F-E3BB-3A93-641894947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8322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50BEB-6139-047F-2A00-E59C332F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8D7B3-ED3E-6F49-EF0E-81EA76DE5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645BB-5926-DC52-340E-59BAD3E02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50D7C-D128-9B98-F7FF-510463F95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0862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33C82-247C-4DB1-8FD6-AD24BF44A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50662-040B-F507-5BD5-1D4A59E6D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92592-6936-3A16-C8B6-83A63E9C4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590E5-73F3-9BA4-F2B2-2BBC0DFA9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7069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C522D-A09F-B797-218D-1790369E9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C7F1C-1E34-2E77-A3E2-15BB70ABA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F9FCC-85EB-E99D-D2C4-748DDAB83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03BB3-8B69-28AA-A44D-20781B97A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9299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7F85-76E3-12A2-DB2B-2D68B2AB2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DD74E-8086-D81C-BD5C-316280BA7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EF983-E2BF-3CCB-D986-25B4480A2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B0262-D791-E9C2-E669-528A23DB2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7518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31B2E-41F7-33DF-0666-A7D27FA8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6D59B-9917-B796-087B-999764E21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70739-279A-3FDD-84CF-A48E49142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0E040-5D67-C3C4-0139-7D5FC206D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9042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4956F-F486-0D08-7C56-8696722DB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EFBD7-58BB-642B-7E42-6CDA6041B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F4ADE-DF03-4F5D-53A2-2C70CB28B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D095F-A5E7-5FF5-35EF-2975A4B66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6069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96873-EDB8-39C6-F8D0-9471DF2C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BD2E8-385E-8EA4-F659-4FCE0212F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20FD3-9993-AC18-0F7B-C895FFBE7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B58F0-D11F-94E7-9CB2-4A5ACEEA5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0604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866A-CFDC-6A2D-EEDC-731D024F6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CBA8A-47F1-BFA1-8672-1780BA4D5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C5860-30C5-A02A-21F7-22B919E3B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4F552-8799-2A92-C95F-29443290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848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65DEA-4B0F-7F3B-DCF3-6BF355733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3F6DE-EE9A-540B-3F1E-243493C35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BE223-B4E7-4BEF-F01B-826EDE6C9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EF0BF-6FBD-29ED-28A1-4C4E6508D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8053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1349-3B1A-4219-422B-9E452793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C6E87-1A18-81F5-76C3-1F1A34309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46D69-9C91-B6C1-C36A-D9E763DD7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9B68-97B5-6C71-0B4F-7458139BC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8293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1D1EE-B605-9941-36A9-5CCF19A95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F4C95-C557-C530-18E3-ECEF18D9F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360F8-6324-CA91-8BF8-3737519B9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2DEB3-442F-6868-4E36-234B4946F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9711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5D92-27CA-4C68-B0B5-B14BED8FA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D8E1E-45C4-B591-892B-44DFC7C83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7AF11-FDDC-FD69-6F57-C4A7397A5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4B803-71AC-6C0F-EA6C-92860FDF1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4644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4580-DF5E-B9E6-E94F-09E156A1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151B1-9836-82E7-F528-430F24452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4AB12-8059-787E-57A6-B8A45E4BB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3F82F-54FA-B667-08FB-E1C4A4F74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1144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14DE-1621-B1EF-95F1-186FF866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63E96-509C-3651-0FD7-3C8352AC5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8395A-51FC-C118-2E64-6E95DCBB5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DEB25-6B58-1B06-481A-615167277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8184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2238-09A6-8EB0-4295-5007DFCC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80A71-06A5-D1F8-DA16-27247CBDC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9DB18-C22C-0235-39B4-E26D3FB8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905F-3127-FA31-973F-892A372D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01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python-programming/list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ocw.mit.edu/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data_structures_algorithms/array_data_structure.htm" TargetMode="External"/><Relationship Id="rId5" Type="http://schemas.openxmlformats.org/officeDocument/2006/relationships/hyperlink" Target="https://www.geeksforgeeks.org/array-data-structure/" TargetMode="Externa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ETCCDS202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Dr. Aarti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277634" y="1827626"/>
            <a:ext cx="6588732" cy="30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76848" y="1656803"/>
            <a:ext cx="5861364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Recapitulation: 1-D and 2-D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Questions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Quiz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and Dynamic Arrays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7075" y="1322871"/>
            <a:ext cx="8496942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lecture, students will be able to: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 between static and dynamic arrays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programs using static and dynamic arrays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 when to use which type of array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(Unit-2: </a:t>
            </a:r>
            <a:r>
              <a:rPr lang="en-IN" sz="2800" b="1" dirty="0">
                <a:solidFill>
                  <a:srgbClr val="E31E24"/>
                </a:solidFill>
              </a:rPr>
              <a:t>1-D Array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507" y="1450864"/>
            <a:ext cx="8580969" cy="398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elements of the same data type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are stored in contiguous memory locations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element is accessed using an index (starts from 0)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Why Arrays are Used?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access using index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repetitive operations using loops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(Unit-2: 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2</a:t>
            </a:r>
            <a:r>
              <a:rPr lang="en-IN" sz="2800" b="1" dirty="0">
                <a:solidFill>
                  <a:srgbClr val="E31E24"/>
                </a:solidFill>
              </a:rPr>
              <a:t>-D Array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180628" y="1362301"/>
            <a:ext cx="8580969" cy="4673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1-D Arrays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363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elements in a single row (linear form)</a:t>
            </a:r>
          </a:p>
          <a:p>
            <a:pPr marL="720725" indent="-360363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operations: Traversal, Sum of elements, Searching elements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Two-Dimensional Arrays (2-D Arrays)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36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rows and columns</a:t>
            </a:r>
          </a:p>
          <a:p>
            <a:pPr marL="720725" indent="-36036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format: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array[row][column]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4777" y="1463202"/>
            <a:ext cx="8153168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What is an array?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A non-linear data structure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 collection of elements of different types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 collection of elements of the same type stored contiguously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A dynamic data structure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 What is the index of the first element in an array?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1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-1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0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Depends on compiler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0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F21E-4ACB-438A-153A-0AA29CCE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0920DE-4C79-FECB-3A83-20CC14FDD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F79621-9E6C-1655-9103-5DB153145B1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40BAEB7-C3B3-05E7-C69C-FBCBC2E544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EE6971-AEA6-B022-C197-8E650B68A11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D9213C-B987-4305-AD33-421006CF6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1485E-0EFA-D759-9262-1DEC6EB77166}"/>
              </a:ext>
            </a:extLst>
          </p:cNvPr>
          <p:cNvSpPr txBox="1"/>
          <p:nvPr/>
        </p:nvSpPr>
        <p:spPr>
          <a:xfrm>
            <a:off x="323530" y="1353791"/>
            <a:ext cx="836327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 Which of the following is true about arrays?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Arrays store elements of different data types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Arrays grow automatically in size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Arrays store elements in contiguous memory locations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Arrays do not support indexing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Q4. How many indices are required to access an element in a 2-D array?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One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Two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Three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Depends on data 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1F4F22-1807-E787-044F-502F64B4ECE2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07E75786-0A59-BE56-F25D-A03F7B66B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251F44-5174-421C-E09C-58672FAC252C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933FCE6-8E3A-87EA-4E73-CF4318A7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8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8640958" cy="2888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(Answers)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A collection of elements of the same type stored contiguously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0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Arrays store elements in contiguous memory locations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b)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What is an Array?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8384C-A5AE-475C-73B4-6FB7016AD858}"/>
              </a:ext>
            </a:extLst>
          </p:cNvPr>
          <p:cNvSpPr txBox="1"/>
          <p:nvPr/>
        </p:nvSpPr>
        <p:spPr>
          <a:xfrm>
            <a:off x="373224" y="1132112"/>
            <a:ext cx="8591264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array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elements of the same data type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 memory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values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starts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= {10, 20, 30, 40, 50};</a:t>
            </a:r>
          </a:p>
        </p:txBody>
      </p:sp>
    </p:spTree>
    <p:extLst>
      <p:ext uri="{BB962C8B-B14F-4D97-AF65-F5344CB8AC3E}">
        <p14:creationId xmlns:p14="http://schemas.microsoft.com/office/powerpoint/2010/main" val="740015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2802C-D8DA-44A1-0722-8EE9752C9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E578A1-725A-B284-DBBB-C8B5C8378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479961-3659-0BE8-4E95-EAF29AF93F51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C172FDC-A976-CC81-47C9-AF26CB4731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F8F91E-BBD5-7D7F-924D-BC05C9A7F91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45C86-2351-7691-9DB0-CE47DBA8F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Classification of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23D5D-824E-93CD-FF12-5DE7B202AED4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E6D2F1D-6C5A-3C38-1205-232B51D1F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3FA38BC-3AFA-8CD0-7212-3E89AFC2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481534-0452-4934-25E3-1987BC2098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52" t="10430" r="5043" b="14652"/>
          <a:stretch>
            <a:fillRect/>
          </a:stretch>
        </p:blipFill>
        <p:spPr>
          <a:xfrm>
            <a:off x="1137929" y="2790797"/>
            <a:ext cx="7344817" cy="34271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98DB34-22C7-987D-A5C9-E0873FBD9E11}"/>
              </a:ext>
            </a:extLst>
          </p:cNvPr>
          <p:cNvSpPr txBox="1"/>
          <p:nvPr/>
        </p:nvSpPr>
        <p:spPr>
          <a:xfrm>
            <a:off x="373224" y="5832251"/>
            <a:ext cx="39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Fig.1:  Types of  Arrays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937BD3-F808-7B6F-0C96-260FB298FD93}"/>
              </a:ext>
            </a:extLst>
          </p:cNvPr>
          <p:cNvSpPr txBox="1"/>
          <p:nvPr/>
        </p:nvSpPr>
        <p:spPr>
          <a:xfrm>
            <a:off x="373224" y="1132112"/>
            <a:ext cx="4645890" cy="15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can be classified based on: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declaration (Dimensions)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time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037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Fixed seating in a classroom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at compile time.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is of fixed size.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must be known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execution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cannot be changed later during program execution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in square brackets [ ].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lvl="0" algn="ctr">
              <a:defRPr/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2400" dirty="0" err="1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[5] = {1, 2, 3, 4, 5};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708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18B1D-38F3-33D7-899E-A3D77893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5F2B57-8C76-7494-3A3D-6D15306E5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89C9DF-4BAC-D037-9DEA-C2EE4E1F9203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D997AE2-B298-12CF-DEF9-0F6F92F54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7E46EB-1714-B636-4871-8677FAE7CC2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058BAF-6B20-DC0F-214C-AB0ACBFD4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Syntax and Initialization (Python)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F5D160F-BEF6-5495-54F8-001304BA4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08904F-AFBB-46A8-9C96-B796422E7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225A98-BD96-7EF6-A87A-6607778DF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435836"/>
              </p:ext>
            </p:extLst>
          </p:nvPr>
        </p:nvGraphicFramePr>
        <p:xfrm>
          <a:off x="683567" y="1465910"/>
          <a:ext cx="7776865" cy="4474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923">
                  <a:extLst>
                    <a:ext uri="{9D8B030D-6E8A-4147-A177-3AD203B41FA5}">
                      <a16:colId xmlns:a16="http://schemas.microsoft.com/office/drawing/2014/main" val="628795679"/>
                    </a:ext>
                  </a:extLst>
                </a:gridCol>
                <a:gridCol w="2653842">
                  <a:extLst>
                    <a:ext uri="{9D8B030D-6E8A-4147-A177-3AD203B41FA5}">
                      <a16:colId xmlns:a16="http://schemas.microsoft.com/office/drawing/2014/main" val="450335016"/>
                    </a:ext>
                  </a:extLst>
                </a:gridCol>
                <a:gridCol w="3566100">
                  <a:extLst>
                    <a:ext uri="{9D8B030D-6E8A-4147-A177-3AD203B41FA5}">
                      <a16:colId xmlns:a16="http://schemas.microsoft.com/office/drawing/2014/main" val="674293293"/>
                    </a:ext>
                  </a:extLst>
                </a:gridCol>
              </a:tblGrid>
              <a:tr h="342751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526908"/>
                  </a:ext>
                </a:extLst>
              </a:tr>
              <a:tr h="9083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[0] *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 array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array.array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', [0, 0, 0, 0, 0])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238632"/>
                  </a:ext>
                </a:extLst>
              </a:tr>
              <a:tr h="586605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[10, 20, 30, 40, 50]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 array</a:t>
                      </a:r>
                    </a:p>
                    <a:p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array.array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', [1, 2, 3, 4, 5])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18822"/>
                  </a:ext>
                </a:extLst>
              </a:tr>
              <a:tr h="2051664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is decided at creation</a:t>
                      </a:r>
                    </a:p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Index-based access</a:t>
                      </a:r>
                    </a:p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is </a:t>
                      </a:r>
                      <a:r>
                        <a:rPr lang="en-US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treated as fixed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logic</a:t>
                      </a:r>
                    </a:p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allows resizing, but 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do not resize it → behaves like static array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integer type</a:t>
                      </a:r>
                    </a:p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elements must be of the 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type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591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596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26C6A-B9E1-4C4C-C906-3EAE804F3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E716DE-929E-44FA-143C-8E29064EF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119C58-B986-7970-2E52-D7207ABFBA88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25BD57-EDDA-0D6A-4358-2D2F26F7B1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4F3BDA-E4A8-5E5D-0ED0-3DD644DE596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9364A-FE39-E2C3-A689-0B7F7B8FC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Example Program (Static Array Simulation in Python)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212AEF8C-3BFC-EE8A-D7FA-83A0A3DB2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69EA11-83B5-1B84-0765-068977E7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5DF248-E800-81FB-C643-50A7E9A089F8}"/>
              </a:ext>
            </a:extLst>
          </p:cNvPr>
          <p:cNvSpPr txBox="1"/>
          <p:nvPr/>
        </p:nvSpPr>
        <p:spPr>
          <a:xfrm>
            <a:off x="395536" y="1536174"/>
            <a:ext cx="511373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Static array simulation in Python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[10, 20, 30, 40, 50]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size fixed at creation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print("Static Array Elements:")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178B1-F740-57F6-F5C0-B66E50E286FF}"/>
              </a:ext>
            </a:extLst>
          </p:cNvPr>
          <p:cNvSpPr txBox="1"/>
          <p:nvPr/>
        </p:nvSpPr>
        <p:spPr>
          <a:xfrm>
            <a:off x="4073415" y="4250992"/>
            <a:ext cx="489654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Key Points: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4988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decided at creation</a:t>
            </a:r>
          </a:p>
          <a:p>
            <a:pPr marL="534988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append or resize operation used</a:t>
            </a:r>
          </a:p>
          <a:p>
            <a:pPr marL="534988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Behaves like a static array conceptually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178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A7ABE-F239-DDE8-8DEA-04B1CEAF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8E1FB9-687F-E701-F755-883B76047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EE8AEC-288A-8E39-0445-D392C102CA8C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280A830-5DA6-331F-1A46-24096F6FCE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E6F3BC-1C36-2F18-7D59-7596AADACFD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A38533-B1A1-3CEB-A9B1-0C4478BD1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Memory Allocation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CEF1D-8F62-472A-99EA-B8D94EC21F7F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7A61FB-FF8D-EC40-1C18-6A1232754DC5}"/>
              </a:ext>
            </a:extLst>
          </p:cNvPr>
          <p:cNvSpPr/>
          <p:nvPr/>
        </p:nvSpPr>
        <p:spPr>
          <a:xfrm>
            <a:off x="107504" y="1107776"/>
            <a:ext cx="878497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at compile time.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Usually stored in stack memory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access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flexibility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array size is exceeded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wastage or overflow risk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9A51D4F-52BC-DB43-5A46-462782207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353341-BD03-98B0-F4FD-B6AB5E87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019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D963-2B3A-F5E4-13E4-AD8CCF979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25B94E-3021-AEA6-5FC9-3EE12A1A4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F3EE63-16B7-9707-67E3-E98AD149FE7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3395903-4861-3A80-4D1D-EA9BF503A2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48B7B8-0426-E809-A97E-8A85D7E7CAA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E36B05-0C9B-C354-D206-AB5AA7A15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Advantages &amp;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0758F-FD47-5401-5D13-08BB17ECA622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B63E47-FF83-E1E4-2A12-CC8F6B8702C9}"/>
              </a:ext>
            </a:extLst>
          </p:cNvPr>
          <p:cNvSpPr/>
          <p:nvPr/>
        </p:nvSpPr>
        <p:spPr>
          <a:xfrm>
            <a:off x="146420" y="1313489"/>
            <a:ext cx="8784976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to declare and use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access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overhead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</a:t>
            </a: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wastage possible</a:t>
            </a: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when size is unknown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4CCF547-F0BA-C042-9670-4B7A9533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E9F4F2-5554-96E1-6EC7-A9DEBBD1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746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54CCD-BDE0-5E39-7AC7-3D79A4B0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9D3BF1-43C2-8A56-022A-CEB84680C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FD1B16-5DD7-A786-6FB4-785C6E0B76E0}"/>
              </a:ext>
            </a:extLst>
          </p:cNvPr>
          <p:cNvCxnSpPr/>
          <p:nvPr/>
        </p:nvCxnSpPr>
        <p:spPr>
          <a:xfrm>
            <a:off x="-1825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DFB446-0564-AEF2-ECA0-006A2486E3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7537AC-8802-D262-FB31-816D673D01E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372D21-707C-CF73-1163-FA547D7BE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86EEE6-EAB6-B2D2-4766-D7C1CDEAD325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D2936-0BF1-5955-3E01-5ED00FCD4E5D}"/>
              </a:ext>
            </a:extLst>
          </p:cNvPr>
          <p:cNvSpPr/>
          <p:nvPr/>
        </p:nvSpPr>
        <p:spPr>
          <a:xfrm>
            <a:off x="68078" y="1399882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Can the size of a static array be changed at runtime?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happens if the array size is exceeded?</a:t>
            </a:r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6897C323-A4DF-B323-1A72-A9C04C7A3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47A85B-32E3-0341-54E0-85BE35BB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098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1405-29D7-54C8-5B51-6674F93C9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2B8F7B-FCD1-2F4A-AE15-C9D32147F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179FCE-7E5E-DD26-C08E-ECF009DA985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EF43521-0FE2-CF01-F18F-72010245E1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6B459F-8F2F-E344-4009-30B9E9DE66A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94FDCA-9982-782A-190D-4F3F73162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790A5-7AD1-82DC-BF4A-B72DA4ECDD4A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B6A17-6AA2-5AB1-D26E-593418AB9EA5}"/>
              </a:ext>
            </a:extLst>
          </p:cNvPr>
          <p:cNvSpPr/>
          <p:nvPr/>
        </p:nvSpPr>
        <p:spPr>
          <a:xfrm>
            <a:off x="95787" y="1324513"/>
            <a:ext cx="8784976" cy="2949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❓Can the size of a static array be changed at runtime?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size of a static array cannot be changed during runtime.</a:t>
            </a:r>
          </a:p>
          <a:p>
            <a:pPr marL="542925" lvl="0" indent="-542925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tabLst>
                <a:tab pos="714375" algn="l"/>
              </a:tabLs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❓What happens if the array size is exceeded?</a:t>
            </a:r>
          </a:p>
          <a:p>
            <a:pPr marL="442913" lvl="0" indent="-442913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tabLst>
                <a:tab pos="71437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It may cause memory overflow or runtime errors, leading to unexpected behavior.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A033EFD8-4ADD-0B2D-B06D-8199A37CA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0092C8-2D76-8FB0-D950-9DD74063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736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Expanding waiting list for admissions</a:t>
            </a:r>
          </a:p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at run time.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is not of fixed size.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Specify size during run time.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Stored in </a:t>
            </a:r>
            <a:r>
              <a:rPr lang="en-US" sz="24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heap memory</a:t>
            </a:r>
            <a:endParaRPr lang="en-US" sz="24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can be modified using memory management functions.</a:t>
            </a:r>
            <a:endParaRPr lang="en-US" sz="24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Example:      </a:t>
            </a:r>
          </a:p>
          <a:p>
            <a:pPr algn="just">
              <a:defRPr/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int*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int[5];</a:t>
            </a:r>
          </a:p>
          <a:p>
            <a:pPr lvl="0" algn="just"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rcRect l="5803" t="11815" r="5535" b="12838"/>
          <a:stretch>
            <a:fillRect/>
          </a:stretch>
        </p:blipFill>
        <p:spPr>
          <a:xfrm>
            <a:off x="4415453" y="1758327"/>
            <a:ext cx="4611915" cy="30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2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B19B-E55C-7BCB-436D-C37784CEB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AAE13E-4AFD-3A20-3155-293775EABD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996644-9AE9-A187-6EF0-E0543BCB18AB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4F88CD-0820-CA51-C17A-E57D50DD6C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90DCB1-50FE-32D7-DC34-E0AA92DF3E7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ACE1C8-F8A5-7CBC-64FD-4E76C6B2A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– Advantages &amp;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F61C1-D2E6-E15C-DB87-CFF9432EDAE0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727BE-275E-67B8-7869-F9DFC493E010}"/>
              </a:ext>
            </a:extLst>
          </p:cNvPr>
          <p:cNvSpPr/>
          <p:nvPr/>
        </p:nvSpPr>
        <p:spPr>
          <a:xfrm>
            <a:off x="107504" y="1107776"/>
            <a:ext cx="878497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 size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memory utilization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 data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than static arrays</a:t>
            </a: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leaks if not freed</a:t>
            </a: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to manage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0" indent="-360363" algn="just">
              <a:buFont typeface="Wingdings" panose="05000000000000000000" pitchFamily="2" charset="2"/>
              <a:buChar char="v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00264E8B-10F9-0AF1-DB86-6FB96A7D8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54D9EC-CBB2-AC38-269A-D64CFE99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470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Example of Static and Dynamic Arrays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66" y="1381972"/>
            <a:ext cx="8222134" cy="37381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544" y="5517232"/>
            <a:ext cx="6264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Fig.2:  Example of Static and Dynamic Arrays </a:t>
            </a:r>
          </a:p>
        </p:txBody>
      </p:sp>
    </p:spTree>
    <p:extLst>
      <p:ext uri="{BB962C8B-B14F-4D97-AF65-F5344CB8AC3E}">
        <p14:creationId xmlns:p14="http://schemas.microsoft.com/office/powerpoint/2010/main" val="1610540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BEDC3-E062-3CF2-8D7C-F073B8F0F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957D0F-DE68-0CFD-8F5D-57BA1EE5F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AB3242-02A6-CC6D-B0B1-6848BC7EF96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8E35F66-E9D1-EA8F-2AEC-57720B4221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30600-2C66-44BE-CCF9-ABBA7B231D8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6610D7-B9B3-6F31-7015-A8AA21F3B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Using Python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D2689-9084-435D-3796-3F83C9E10D53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41AFE7-B05C-25E1-01AE-C0371EEA8689}"/>
              </a:ext>
            </a:extLst>
          </p:cNvPr>
          <p:cNvSpPr/>
          <p:nvPr/>
        </p:nvSpPr>
        <p:spPr>
          <a:xfrm>
            <a:off x="107504" y="1107776"/>
            <a:ext cx="8784976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[10, 20, 30]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Elements (Dynamic Growth)</a:t>
            </a:r>
          </a:p>
          <a:p>
            <a:pPr marL="360363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(40)</a:t>
            </a:r>
          </a:p>
          <a:p>
            <a:pPr marL="360363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Elements</a:t>
            </a:r>
          </a:p>
          <a:p>
            <a:pPr marL="360363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[2])   # Output: 30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99018EC3-3F04-F6A8-2F5D-EFFE1D8FF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A5C624C-9F6B-EB37-9B2C-76E1B31A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674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9230-1D79-3992-1435-9639D6A5F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C7D385-7A9F-751C-442E-9DB980EF7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8B54FA-3052-2BAA-B408-B0D5AF0F4332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56B8FE9-9414-D2DC-9A98-75DDE6161D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229C67-8C86-F2DE-B6C1-19B769EF51E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422C72-44CA-10EF-F32E-2DF3DA295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– Example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2C4DAD4E-917C-AC99-CA8A-693CC5FC6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29D065-E904-0031-65C7-C5266549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48320B-A9D8-2A52-A0BE-F3131720B664}"/>
              </a:ext>
            </a:extLst>
          </p:cNvPr>
          <p:cNvSpPr txBox="1"/>
          <p:nvPr/>
        </p:nvSpPr>
        <p:spPr>
          <a:xfrm>
            <a:off x="395536" y="1222097"/>
            <a:ext cx="766459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10, 20, 30, 40]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automatically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resizes memory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needed.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lists are dynamic arrays by default.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650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2AF0-B522-1483-366B-3995C41A6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DDCE50-2F81-4234-CB96-61F95FF2F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27A28-AA7E-0370-1647-A57D3D4D7E79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0895034-4EB9-CE39-A8EA-01EF3F6FF2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56BC81-35A0-A7D6-B2EA-2FF0F07B2FF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BB2973-A2F8-660E-138E-8A164C6AA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Comparison: Static vs Dynamic Array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CA04C-5BE6-188A-E1E2-07E490176E34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EDA9153-5751-6506-C3A8-5881403DC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89E890-39E9-170F-9F49-731C620A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B8BF4B-398F-5CDC-2C40-7E1D36283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34305"/>
              </p:ext>
            </p:extLst>
          </p:nvPr>
        </p:nvGraphicFramePr>
        <p:xfrm>
          <a:off x="590870" y="1324923"/>
          <a:ext cx="8229600" cy="40233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0933082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334908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00903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Static-like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236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logically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 at runtime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732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/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70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157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385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07890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Perspective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489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07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Resize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(by logic)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42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append()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70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2457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2C1C127-F8F1-6E1B-77FF-9782DE7ABE0D}"/>
              </a:ext>
            </a:extLst>
          </p:cNvPr>
          <p:cNvSpPr txBox="1"/>
          <p:nvPr/>
        </p:nvSpPr>
        <p:spPr>
          <a:xfrm>
            <a:off x="590870" y="5379372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Python, a dynamic array is implemented using lists, which automatically resize themselves when elements are added or removed during program execution.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952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12A7-60AA-7D3A-053C-D60BF834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332245-6AAF-95C9-A537-053D2E048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9CB71D-1E6E-4493-3DCD-EF5CB7F00FA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C0F85CF-025A-2D5A-341C-FAE2311C30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5AD0CC-E81A-52EF-6E47-09291325765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91B279-6EBA-5712-789C-56891B80F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97B32-9084-D2BB-16C7-869AB09F3B2D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64A300-9F60-AF3B-BAAD-A1A395A2F3C7}"/>
              </a:ext>
            </a:extLst>
          </p:cNvPr>
          <p:cNvSpPr/>
          <p:nvPr/>
        </p:nvSpPr>
        <p:spPr>
          <a:xfrm>
            <a:off x="112020" y="1332305"/>
            <a:ext cx="8784976" cy="1694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Python data structure behaves as a dynamic array?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internally when a list grows beyond capacity?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Dynamic Arrays?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5C6C876-7F7E-DC2A-51FA-DAB85FE09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B08090-BA09-4AD7-A6F2-A14B1E58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495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1DBA-CDE2-F985-78D8-47612763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DFCF0C-CAB3-FC4C-C3A4-C2DC84C44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7183F2-156F-ECF9-8593-68FAC0A7231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5D0371E-114E-FEBD-861A-B641761C48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A21F07-F212-882B-393B-7ABC52411B9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50DA62-9E46-711E-2BBD-83FD992BB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C38043-4E19-6314-1ECA-3C910456C63A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357E7-8AB9-8EA4-4D21-42D51C457500}"/>
              </a:ext>
            </a:extLst>
          </p:cNvPr>
          <p:cNvSpPr/>
          <p:nvPr/>
        </p:nvSpPr>
        <p:spPr>
          <a:xfrm>
            <a:off x="359532" y="1756479"/>
            <a:ext cx="8208912" cy="389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Python list behaves as a dynamic array.</a:t>
            </a:r>
          </a:p>
          <a:p>
            <a:pPr marL="360363" indent="-360363" algn="just">
              <a:spcBef>
                <a:spcPts val="1200"/>
              </a:spcBef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Python allocates a larger memory block, copies existing elements to it, and updates the list reference, enabling amortized O(1) growth.</a:t>
            </a:r>
          </a:p>
          <a:p>
            <a:pPr marL="442913" indent="-442913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Dynamic Arrays are used: </a:t>
            </a:r>
          </a:p>
          <a:p>
            <a:pPr marL="803275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input size is unknown</a:t>
            </a:r>
          </a:p>
          <a:p>
            <a:pPr marL="803275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frequent insertions are required</a:t>
            </a:r>
          </a:p>
          <a:p>
            <a:pPr marL="803275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memory flexibility is needed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63715332-278C-9219-7179-E2A632E25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ABCCA7-B705-C888-5E9C-E13FDE97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680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675F-F380-5171-C497-3318838D8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86BACE-6284-A13C-83B5-895286332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371535-6B09-F892-179C-423FCD78D6C1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75720EE-7903-9189-3629-AC9F62FDED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C51ACE-5E61-B210-94A8-925618240B6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7AD9FE-F51E-554B-D222-47D142B45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(Resizable) in Python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29BFDEA-AB30-D966-9424-4E8DB7929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95B9FCF-86C2-80D0-B95B-9B5EB03F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FC78B-2C5D-3CE3-F2FA-FE308FE039FC}"/>
              </a:ext>
            </a:extLst>
          </p:cNvPr>
          <p:cNvSpPr txBox="1"/>
          <p:nvPr/>
        </p:nvSpPr>
        <p:spPr>
          <a:xfrm>
            <a:off x="395536" y="1252875"/>
            <a:ext cx="796204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Dynamic array in Python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   # empty list (dynamic array)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print("Dynamic Array Elements:")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changes at runtime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lists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by default.</a:t>
            </a:r>
          </a:p>
        </p:txBody>
      </p:sp>
    </p:spTree>
    <p:extLst>
      <p:ext uri="{BB962C8B-B14F-4D97-AF65-F5344CB8AC3E}">
        <p14:creationId xmlns:p14="http://schemas.microsoft.com/office/powerpoint/2010/main" val="3260398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1902-114C-AD51-7662-AB2F9DA24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660F0B-FDEE-C90C-6296-FBCC8F29A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AEEE5E-7626-15F9-57C6-B70CE3198C9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2440EB2-99D0-D979-2723-D9DB9DBD95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AD526F-C302-CE36-BAD0-06DB86C37D8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364730-5CA2-6CEE-01E2-628DBB351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Visual Memory Representation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584CA-DF98-E0A5-557F-1A726DABAB27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11287B6A-7680-FE4C-B91C-13507B813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63453AC-68B3-7FD7-5BD1-06396D00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7E53F1-2FBD-E4B2-A135-9F5614871E5B}"/>
              </a:ext>
            </a:extLst>
          </p:cNvPr>
          <p:cNvSpPr txBox="1"/>
          <p:nvPr/>
        </p:nvSpPr>
        <p:spPr>
          <a:xfrm>
            <a:off x="439149" y="5526152"/>
            <a:ext cx="6264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Fig.3:  Visual Memory Representation of Static and Dynamic Arrays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0A9CAB-5BCE-10F8-0193-3DDB49251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149" y="1939249"/>
            <a:ext cx="2034223" cy="3174207"/>
          </a:xfrm>
          <a:prstGeom prst="rect">
            <a:avLst/>
          </a:prstGeom>
        </p:spPr>
      </p:pic>
      <p:pic>
        <p:nvPicPr>
          <p:cNvPr id="5124" name="Picture 4" descr="Dive Into Systems">
            <a:extLst>
              <a:ext uri="{FF2B5EF4-FFF2-40B4-BE49-F238E27FC236}">
                <a16:creationId xmlns:a16="http://schemas.microsoft.com/office/drawing/2014/main" id="{50BDB60D-A1CA-F6D3-968C-82051BE0C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385" y="2000687"/>
            <a:ext cx="6553200" cy="354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79CA58B-28A5-D662-B0FF-822FCBDF86ED}"/>
              </a:ext>
            </a:extLst>
          </p:cNvPr>
          <p:cNvSpPr txBox="1"/>
          <p:nvPr/>
        </p:nvSpPr>
        <p:spPr>
          <a:xfrm>
            <a:off x="250357" y="1450080"/>
            <a:ext cx="2685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 (a):  Dynamic Arrays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C8E0E-08A5-1E62-115C-1CFAF354A0F6}"/>
              </a:ext>
            </a:extLst>
          </p:cNvPr>
          <p:cNvSpPr txBox="1"/>
          <p:nvPr/>
        </p:nvSpPr>
        <p:spPr>
          <a:xfrm>
            <a:off x="4662264" y="1495104"/>
            <a:ext cx="2250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 (b):  Static Arrays </a:t>
            </a:r>
          </a:p>
        </p:txBody>
      </p:sp>
    </p:spTree>
    <p:extLst>
      <p:ext uri="{BB962C8B-B14F-4D97-AF65-F5344CB8AC3E}">
        <p14:creationId xmlns:p14="http://schemas.microsoft.com/office/powerpoint/2010/main" val="3202004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13FCC-FCEA-E6A9-2477-39AF3161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69164A-0C77-5271-7B84-8CC7A96D4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0B3CC7-8EF2-430B-1272-72B259C125C8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A82E6BD-6E69-2A33-D12C-69AF86A5AC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685851-487A-D032-F3F0-5497A76EA7D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DFDABB-5205-8CD6-E1BB-7376DD490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D0D3FB-D536-A079-90AE-49C0197CCDAB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AEF0917-56CE-212A-86F8-07F655DE9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33FD12-B545-31D6-7A6E-7EE6F988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007D4-B71D-D0E3-EF02-46C2167F7307}"/>
              </a:ext>
            </a:extLst>
          </p:cNvPr>
          <p:cNvSpPr txBox="1"/>
          <p:nvPr/>
        </p:nvSpPr>
        <p:spPr>
          <a:xfrm>
            <a:off x="253131" y="1136658"/>
            <a:ext cx="8567339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 a static array of size 5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same program using a dynamic array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memory location used in both cases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to:</a:t>
            </a:r>
          </a:p>
          <a:p>
            <a:pPr marL="36036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array size from the user</a:t>
            </a:r>
          </a:p>
          <a:p>
            <a:pPr marL="36036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memory dynamically</a:t>
            </a:r>
          </a:p>
          <a:p>
            <a:pPr marL="36036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display elements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202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AB0E4-5AF4-03D7-6FFD-5F01E7512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B8769B-B7C8-E9BA-A9D0-2774599A1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09B6A0-5642-FF17-453E-4B88F99B87A3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FDB1DC3-F2BB-753C-6894-F6F1022948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344233-3469-8811-D96A-4F308D6570E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FFD3C7-18A8-BB0E-7292-12C9A1473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Task – Answer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7235F-A860-450F-35E4-EAB665DC2209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25778CF-7EC0-9617-825C-19DC124AC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FEB7FF-1E26-BA09-7136-E1E4B6A1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D16B5-13D3-8797-6D9A-8648DC7D3BC2}"/>
              </a:ext>
            </a:extLst>
          </p:cNvPr>
          <p:cNvSpPr txBox="1"/>
          <p:nvPr/>
        </p:nvSpPr>
        <p:spPr>
          <a:xfrm>
            <a:off x="288330" y="1293834"/>
            <a:ext cx="8567339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 a Static Array of Size 5 (Simulated in Python)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Static array simulation in Python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[10, 20, 30, 40, 50]   # size fixed at creation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does not support true static arrays, so a fixed-size list is used and not resized, simulating static array behavior.</a:t>
            </a:r>
          </a:p>
        </p:txBody>
      </p:sp>
    </p:spTree>
    <p:extLst>
      <p:ext uri="{BB962C8B-B14F-4D97-AF65-F5344CB8AC3E}">
        <p14:creationId xmlns:p14="http://schemas.microsoft.com/office/powerpoint/2010/main" val="4207577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D1C0-FDEA-DDB9-FE54-D1C320C13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51FB4B-73E2-42C2-686F-5317827CB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022173-2CAE-A349-0DF4-AB4CC9A9C459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29F58BA-46A6-3A66-2363-5951AE46A4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4E3379-40EA-25B7-B0BA-00729143376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CBA5B9-7361-7564-41FD-65964C6FB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Task – Answer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19BBA-295D-A063-3A8A-92917E99B61C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434E4BF-9B47-9CE1-D6DB-A654F67F7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2AFB86-88EE-5AE4-AABE-F418C916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925B8-9245-16DA-36DA-5141CE3B973C}"/>
              </a:ext>
            </a:extLst>
          </p:cNvPr>
          <p:cNvSpPr txBox="1"/>
          <p:nvPr/>
        </p:nvSpPr>
        <p:spPr>
          <a:xfrm>
            <a:off x="250357" y="1213240"/>
            <a:ext cx="8504073" cy="52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Same Program Using a Dynamic Array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* 10)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Location Used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 (simulated list):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Heap memory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(list):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Heap memory</a:t>
            </a:r>
          </a:p>
          <a:p>
            <a:pPr>
              <a:lnSpc>
                <a:spcPct val="150000"/>
              </a:lnSpc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Python, all lists are stored in heap memory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9127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ABE6-61DD-D7EF-ED10-4484B8DF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D3DDE8-A6FA-5D10-29C2-115122994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CC3BD3-2860-AE71-22FC-A29D527FD39C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B6C5AB3-1FCA-D6A7-A1CE-4B28F3792E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A9FC22-62D9-C4A4-1699-2DD9C3E1E4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AF2289-7274-B6DF-F977-2093141F4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Exercise – Answer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07644-FA4B-B2E1-4EC6-CAE54D76EF36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673BC7AE-C644-7DB5-371A-CED7C3BFE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C604F5-2CBB-493B-197D-7E83787F1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24EEF-3DFD-953D-347D-8A48F0B875A6}"/>
              </a:ext>
            </a:extLst>
          </p:cNvPr>
          <p:cNvSpPr txBox="1"/>
          <p:nvPr/>
        </p:nvSpPr>
        <p:spPr>
          <a:xfrm>
            <a:off x="250357" y="1087502"/>
            <a:ext cx="8567339" cy="5763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Dynamic array with user input program in Python</a:t>
            </a:r>
          </a:p>
          <a:p>
            <a:pPr>
              <a:spcBef>
                <a:spcPts val="2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int(input("Enter the size of the array: "))</a:t>
            </a:r>
          </a:p>
          <a:p>
            <a:pPr>
              <a:spcBef>
                <a:spcPts val="200"/>
              </a:spcBef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pPr>
              <a:spcBef>
                <a:spcPts val="2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Store elements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range(n):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element = int(input(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f"Enter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{i+1}: "))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(element)</a:t>
            </a:r>
          </a:p>
          <a:p>
            <a:pPr>
              <a:spcBef>
                <a:spcPts val="2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Display elements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print("Array elements are:")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)):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446402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2D315-F7D6-663B-895F-76D8EBCF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586A03-5999-5736-FF58-A569B19B2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6F782B-A508-00CD-7556-C6AE00142AA1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9C4ACED-9359-9020-0A7B-DD14B11BA0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827D78-A348-5BB1-320C-CE48AD4BB96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7729F-C30B-D7C0-39EB-0D19A995A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9CA0F-8136-A8A7-4CC7-745FC13DADF8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2B947DE9-ACCB-164B-F0F1-E832F8303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AD9BCD-C3AA-4ABD-5A66-6FCEDD9F3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9D143-4180-EFF9-0C07-0501C817C07E}"/>
              </a:ext>
            </a:extLst>
          </p:cNvPr>
          <p:cNvSpPr txBox="1"/>
          <p:nvPr/>
        </p:nvSpPr>
        <p:spPr>
          <a:xfrm>
            <a:off x="250357" y="1579556"/>
            <a:ext cx="8436443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store fixed exam marks when the number of subjects is known.</a:t>
            </a: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represent days of the week or months of the year with a fixed size.</a:t>
            </a: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game boards like chess or tic-tac-toe, where the board size is constant.</a:t>
            </a: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embedded systems for fixed sensor readings due to limited memory.</a:t>
            </a:r>
          </a:p>
        </p:txBody>
      </p:sp>
    </p:spTree>
    <p:extLst>
      <p:ext uri="{BB962C8B-B14F-4D97-AF65-F5344CB8AC3E}">
        <p14:creationId xmlns:p14="http://schemas.microsoft.com/office/powerpoint/2010/main" val="31057736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78BA-1B30-BAC7-5441-E1060732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83F078-9293-CD2E-3CF5-4CFB8711B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99CCB8-2543-1DC7-850D-6C172DD9AD87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0115D17-3539-0974-4EDD-301F9B856E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04F29E-C470-317E-50DE-113AAD85461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65EB48-6A24-074D-8B3E-655A58C3A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8773-90EF-11CF-3ECF-F79F162D4C7C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95A4C07-3775-6D02-0286-76E733E70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19F8A-3C36-528F-1317-491088E3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8AEBE-CCB6-AEA7-F4E7-A60C7D52B28E}"/>
              </a:ext>
            </a:extLst>
          </p:cNvPr>
          <p:cNvSpPr txBox="1"/>
          <p:nvPr/>
        </p:nvSpPr>
        <p:spPr>
          <a:xfrm>
            <a:off x="250357" y="1614899"/>
            <a:ext cx="8567339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shopping carts where items can be added or removed dynamically.</a:t>
            </a: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social media feeds where posts load and grow at runtime.</a:t>
            </a: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student registration systems where the number of students is not fixed.</a:t>
            </a: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image and video processing where data size varies dynamically.</a:t>
            </a:r>
          </a:p>
        </p:txBody>
      </p:sp>
    </p:spTree>
    <p:extLst>
      <p:ext uri="{BB962C8B-B14F-4D97-AF65-F5344CB8AC3E}">
        <p14:creationId xmlns:p14="http://schemas.microsoft.com/office/powerpoint/2010/main" val="38860259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4A5F-18D4-4D6E-64F4-9174126A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BDDB06-4B6E-4707-1E17-AAE8BFCF4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EF6197-3238-08C9-B26C-DB30D7D65F43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344C319-238E-5A65-3F7E-593393C197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FAB2C-6B04-D9C7-C35F-2BCAD3D9C65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4D8156-DA4B-BB1C-9496-FC99853F1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Key 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C61E0-6318-2865-A850-DCAA5ACF48FE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A715DB1-87CD-88B2-807A-5931C67A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858CE0-C15F-AB9B-F784-3C122776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CCBC8-63DE-671F-2BE9-9F6EDF20EAEA}"/>
              </a:ext>
            </a:extLst>
          </p:cNvPr>
          <p:cNvSpPr txBox="1"/>
          <p:nvPr/>
        </p:nvSpPr>
        <p:spPr>
          <a:xfrm>
            <a:off x="253130" y="1446123"/>
            <a:ext cx="8567339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are simple but rigid</a:t>
            </a:r>
          </a:p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are flexible but complex</a:t>
            </a:r>
          </a:p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is crucial in dynamic arrays</a:t>
            </a:r>
          </a:p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wisely based on data size predictability</a:t>
            </a:r>
          </a:p>
        </p:txBody>
      </p:sp>
    </p:spTree>
    <p:extLst>
      <p:ext uri="{BB962C8B-B14F-4D97-AF65-F5344CB8AC3E}">
        <p14:creationId xmlns:p14="http://schemas.microsoft.com/office/powerpoint/2010/main" val="4003454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C110-25BD-1973-5F16-984E4EC0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63387F-FD4C-A9C0-96EA-069511EC5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E2EF80-054F-7C52-77EF-85A09CD0D6B6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1E56364-2BF2-0AD5-3DA7-E415765C03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EA4295-0B98-9639-573A-714FC197F2B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661104-488E-F9A4-1625-E34FE44C4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8E410-6E40-3CAE-62E0-F92D0EAA6ED4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A0AD26EA-757C-16DD-C283-4305EFB72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6201207-2041-78B4-425D-85EA03BB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96709-FC82-6991-F688-CE05188B0838}"/>
              </a:ext>
            </a:extLst>
          </p:cNvPr>
          <p:cNvSpPr txBox="1"/>
          <p:nvPr/>
        </p:nvSpPr>
        <p:spPr>
          <a:xfrm>
            <a:off x="253130" y="1446123"/>
            <a:ext cx="8567339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memory is used by dynamic arrays?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array type is faster?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should static arrays be preferred?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2117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722FC-57FC-421E-1C2C-9EDE19E1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C08F76-3EE1-1770-B1B1-747540C9A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5DA8DB-F28E-20C9-99A7-0A7C94E0F59F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4CFD752-12FA-21CF-295E-A1803136F5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035F19-E6B5-4EF8-AE4F-E6EF2AB7762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569D09-E0B0-FB2E-1683-A359BD9EF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507A1-B1B7-26AC-F2F1-12A35F3CC013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F557FA2-E4B5-DC2C-16AB-6CBA6B323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F7FE9D-8EBD-D559-5EBE-7B17D58E6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953B4-EB46-D9D0-46D7-1A83A7BF1495}"/>
              </a:ext>
            </a:extLst>
          </p:cNvPr>
          <p:cNvSpPr txBox="1"/>
          <p:nvPr/>
        </p:nvSpPr>
        <p:spPr>
          <a:xfrm>
            <a:off x="253130" y="1446123"/>
            <a:ext cx="8567339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lvl="0" indent="-357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memory is used by dynamic arrays?</a:t>
            </a:r>
          </a:p>
          <a:p>
            <a:pPr marL="271463" lvl="0" indent="1714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use heap memory.</a:t>
            </a:r>
          </a:p>
          <a:p>
            <a:pPr marL="357188" lvl="0" indent="-357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array type is faster?</a:t>
            </a:r>
          </a:p>
          <a:p>
            <a:pPr marL="357188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are faster due to fixed size and compile-time memory allocation.</a:t>
            </a:r>
          </a:p>
          <a:p>
            <a:pPr marL="357188" lvl="0" indent="-357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should static arrays be preferred?</a:t>
            </a:r>
          </a:p>
          <a:p>
            <a:pPr marL="357188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should be preferred when the data size is fixed and known in advance.</a:t>
            </a:r>
          </a:p>
        </p:txBody>
      </p:sp>
    </p:spTree>
    <p:extLst>
      <p:ext uri="{BB962C8B-B14F-4D97-AF65-F5344CB8AC3E}">
        <p14:creationId xmlns:p14="http://schemas.microsoft.com/office/powerpoint/2010/main" val="17543496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BFE65-4B47-4868-56CB-A2442A4C6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C810BA-2E9E-2401-27A2-CBD611F29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AFFB51-7819-1608-D179-22BDBB7227B6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BFF22BF-91EC-1530-3A1E-91D6FBEB71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784711-69EB-AD50-0D12-4A9D5450D2B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4A7106-9C65-26F9-D7ED-789F262EE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93387-DC20-4F50-FCC4-5F55DDE6E7FC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94B864CD-F5A0-A5C9-62EB-253108705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7D3049-0D78-42FD-5E0D-5B93B907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61D38-24A7-448E-BFB9-F2391C3F7B5E}"/>
              </a:ext>
            </a:extLst>
          </p:cNvPr>
          <p:cNvSpPr txBox="1"/>
          <p:nvPr/>
        </p:nvSpPr>
        <p:spPr>
          <a:xfrm>
            <a:off x="250357" y="1383498"/>
            <a:ext cx="8567339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the Blanks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used by static arrays is ________.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Python data structure that behaves as a dynamic array is ________.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are stored in ________ memory.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have a ________ size decided before execution.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append() method is used to add elements in a ________ array in Python.</a:t>
            </a:r>
          </a:p>
        </p:txBody>
      </p:sp>
    </p:spTree>
    <p:extLst>
      <p:ext uri="{BB962C8B-B14F-4D97-AF65-F5344CB8AC3E}">
        <p14:creationId xmlns:p14="http://schemas.microsoft.com/office/powerpoint/2010/main" val="18768965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D3995-908D-6973-0A03-0662FF8A3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0FE56B-46FA-256D-6E8E-B0E2E9A10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56BFC9-EFE8-4496-A730-EC98CF822D42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3E55FC3-7303-5556-9D8B-CDF38BC251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8EB1D0-0B25-94E6-829A-236EEDB7A7E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6376EF-4CD4-FE3D-D4D6-59235FA29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33A12-71A3-9798-077E-C965CC025F89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E097993-35DF-317B-A8CF-3E7882E6D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E84FC3-0A26-05F8-1761-AF7C7E46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18C355-D3EC-3EDB-6AD2-EF62D7AD38F1}"/>
              </a:ext>
            </a:extLst>
          </p:cNvPr>
          <p:cNvSpPr txBox="1"/>
          <p:nvPr/>
        </p:nvSpPr>
        <p:spPr>
          <a:xfrm>
            <a:off x="250357" y="1567580"/>
            <a:ext cx="856733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</p:txBody>
      </p:sp>
    </p:spTree>
    <p:extLst>
      <p:ext uri="{BB962C8B-B14F-4D97-AF65-F5344CB8AC3E}">
        <p14:creationId xmlns:p14="http://schemas.microsoft.com/office/powerpoint/2010/main" val="37608293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9C3D-3F30-A3F3-A545-26CB145F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C34CE-387F-2349-2368-E7AB3299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CC9169-F46C-9DFF-074B-9042CA36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4E920-65A2-CCE7-FEA5-14D91F60AAA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0C2226-8947-177E-6706-83378DA8A4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18B84-F150-B1E2-D936-7FC20CE87C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75B91-F517-A8A8-3443-03C2FD642B05}"/>
              </a:ext>
            </a:extLst>
          </p:cNvPr>
          <p:cNvSpPr txBox="1"/>
          <p:nvPr/>
        </p:nvSpPr>
        <p:spPr>
          <a:xfrm>
            <a:off x="216025" y="1144192"/>
            <a:ext cx="874846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pPr marL="271463" lvl="0" indent="-2714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Arrays in Data Structures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https://www.geeksforgeeks.org/array-data-structure/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lvl="0" indent="-2714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Structures: Arrays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https://www.tutorialspoint.com/data_structures_algorithms/array_data_structure.htm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lvl="0" indent="-2714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OpenCourseWare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Introduction to Algorithms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https://ocw.mit.edu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lvl="0" indent="-2714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Python Lists (Dynamic Arrays)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https://www.programiz.com/python-programming/list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399E0A-2CFF-1DD0-69C4-94E7F4E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8304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19228</TotalTime>
  <Words>2543</Words>
  <Application>Microsoft Office PowerPoint</Application>
  <PresentationFormat>On-screen Show (4:3)</PresentationFormat>
  <Paragraphs>521</Paragraphs>
  <Slides>41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Aarti Sangwan</cp:lastModifiedBy>
  <cp:revision>1352</cp:revision>
  <cp:lastPrinted>2022-09-05T08:43:44Z</cp:lastPrinted>
  <dcterms:created xsi:type="dcterms:W3CDTF">2020-01-16T09:05:56Z</dcterms:created>
  <dcterms:modified xsi:type="dcterms:W3CDTF">2026-02-10T16:29:35Z</dcterms:modified>
</cp:coreProperties>
</file>