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1011" r:id="rId2"/>
    <p:sldId id="993" r:id="rId3"/>
    <p:sldId id="1012" r:id="rId4"/>
    <p:sldId id="691" r:id="rId5"/>
    <p:sldId id="1027" r:id="rId6"/>
    <p:sldId id="1013" r:id="rId7"/>
    <p:sldId id="1061" r:id="rId8"/>
    <p:sldId id="1077" r:id="rId9"/>
    <p:sldId id="259" r:id="rId10"/>
    <p:sldId id="260" r:id="rId11"/>
    <p:sldId id="1028" r:id="rId12"/>
    <p:sldId id="262" r:id="rId13"/>
    <p:sldId id="264" r:id="rId14"/>
    <p:sldId id="265" r:id="rId15"/>
    <p:sldId id="266" r:id="rId16"/>
    <p:sldId id="281" r:id="rId17"/>
    <p:sldId id="282" r:id="rId18"/>
    <p:sldId id="283" r:id="rId19"/>
    <p:sldId id="284" r:id="rId20"/>
    <p:sldId id="289" r:id="rId21"/>
    <p:sldId id="1029" r:id="rId22"/>
    <p:sldId id="270" r:id="rId23"/>
    <p:sldId id="294" r:id="rId24"/>
    <p:sldId id="295" r:id="rId25"/>
    <p:sldId id="296" r:id="rId26"/>
    <p:sldId id="1033" r:id="rId27"/>
    <p:sldId id="1034" r:id="rId28"/>
    <p:sldId id="1035" r:id="rId29"/>
    <p:sldId id="1036" r:id="rId30"/>
    <p:sldId id="300" r:id="rId31"/>
    <p:sldId id="263" r:id="rId32"/>
    <p:sldId id="1037" r:id="rId33"/>
    <p:sldId id="1038" r:id="rId34"/>
    <p:sldId id="1039" r:id="rId35"/>
    <p:sldId id="1040" r:id="rId36"/>
    <p:sldId id="1041" r:id="rId37"/>
    <p:sldId id="1042" r:id="rId38"/>
    <p:sldId id="1043" r:id="rId39"/>
    <p:sldId id="1044" r:id="rId40"/>
    <p:sldId id="1045" r:id="rId41"/>
    <p:sldId id="1046" r:id="rId42"/>
    <p:sldId id="1047" r:id="rId43"/>
    <p:sldId id="1048" r:id="rId44"/>
    <p:sldId id="279" r:id="rId45"/>
    <p:sldId id="1050" r:id="rId46"/>
    <p:sldId id="1079" r:id="rId47"/>
    <p:sldId id="1076" r:id="rId48"/>
    <p:sldId id="1069" r:id="rId49"/>
    <p:sldId id="1070" r:id="rId50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B1ED7-D672-4101-B2AA-9A45811BA99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BB24C3-A629-46E7-9479-3B41D511850B}">
      <dgm:prSet phldrT="[Text]" phldr="0" custT="1"/>
      <dgm:spPr/>
      <dgm:t>
        <a:bodyPr/>
        <a:lstStyle/>
        <a:p>
          <a:r>
            <a:rPr lang="en-I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Priority Order</a:t>
          </a:r>
        </a:p>
      </dgm:t>
    </dgm:pt>
    <dgm:pt modelId="{43E6BD47-D5FE-4687-8C37-0F663342D7C5}" type="parTrans" cxnId="{E713062C-088F-4E0E-BD58-C171917C8937}">
      <dgm:prSet/>
      <dgm:spPr/>
      <dgm:t>
        <a:bodyPr/>
        <a:lstStyle/>
        <a:p>
          <a:endParaRPr lang="en-IN"/>
        </a:p>
      </dgm:t>
    </dgm:pt>
    <dgm:pt modelId="{499EA8CB-7723-40C4-9C76-CCA01AC8CAE9}" type="sibTrans" cxnId="{E713062C-088F-4E0E-BD58-C171917C8937}">
      <dgm:prSet/>
      <dgm:spPr/>
      <dgm:t>
        <a:bodyPr/>
        <a:lstStyle/>
        <a:p>
          <a:endParaRPr lang="en-IN"/>
        </a:p>
      </dgm:t>
    </dgm:pt>
    <dgm:pt modelId="{E9FC6428-7FA9-43CE-A20C-95A44D2B4902}">
      <dgm:prSet phldrT="[Text]" phldr="0" custT="1"/>
      <dgm:spPr/>
      <dgm:t>
        <a:bodyPr/>
        <a:lstStyle/>
        <a:p>
          <a:r>
            <a:rPr lang="en-I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Ascending Order</a:t>
          </a:r>
        </a:p>
      </dgm:t>
    </dgm:pt>
    <dgm:pt modelId="{99742060-3BF8-469D-B475-F6E97DD2BE08}" type="parTrans" cxnId="{C624080D-019C-442D-A641-1EE0375AFB11}">
      <dgm:prSet/>
      <dgm:spPr/>
      <dgm:t>
        <a:bodyPr/>
        <a:lstStyle/>
        <a:p>
          <a:endParaRPr lang="en-IN"/>
        </a:p>
      </dgm:t>
    </dgm:pt>
    <dgm:pt modelId="{758A9567-BC0A-4E0C-906A-9D3F845DEB1E}" type="sibTrans" cxnId="{C624080D-019C-442D-A641-1EE0375AFB11}">
      <dgm:prSet/>
      <dgm:spPr/>
      <dgm:t>
        <a:bodyPr/>
        <a:lstStyle/>
        <a:p>
          <a:endParaRPr lang="en-IN"/>
        </a:p>
      </dgm:t>
    </dgm:pt>
    <dgm:pt modelId="{97107C1A-B6F9-435B-93D9-0285583BE275}">
      <dgm:prSet phldrT="[Text]" phldr="0" custT="1"/>
      <dgm:spPr/>
      <dgm:t>
        <a:bodyPr/>
        <a:lstStyle/>
        <a:p>
          <a:r>
            <a:rPr lang="en-I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Descending Order</a:t>
          </a:r>
        </a:p>
      </dgm:t>
    </dgm:pt>
    <dgm:pt modelId="{2F81E490-CB97-4774-A520-5E85136DA850}" type="parTrans" cxnId="{119A2D72-282B-4DBF-9697-BDF05F8AA6F8}">
      <dgm:prSet/>
      <dgm:spPr/>
      <dgm:t>
        <a:bodyPr/>
        <a:lstStyle/>
        <a:p>
          <a:endParaRPr lang="en-IN"/>
        </a:p>
      </dgm:t>
    </dgm:pt>
    <dgm:pt modelId="{19405BFF-71B9-451C-AA92-81B34F919232}" type="sibTrans" cxnId="{119A2D72-282B-4DBF-9697-BDF05F8AA6F8}">
      <dgm:prSet/>
      <dgm:spPr/>
      <dgm:t>
        <a:bodyPr/>
        <a:lstStyle/>
        <a:p>
          <a:endParaRPr lang="en-IN"/>
        </a:p>
      </dgm:t>
    </dgm:pt>
    <dgm:pt modelId="{C54FA8BC-FD3C-4289-B586-6194C158893A}" type="pres">
      <dgm:prSet presAssocID="{1A4B1ED7-D672-4101-B2AA-9A45811BA9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CDD6E0-0AF8-485C-B6C0-DF058F9BA821}" type="pres">
      <dgm:prSet presAssocID="{C3BB24C3-A629-46E7-9479-3B41D511850B}" presName="hierRoot1" presStyleCnt="0">
        <dgm:presLayoutVars>
          <dgm:hierBranch val="init"/>
        </dgm:presLayoutVars>
      </dgm:prSet>
      <dgm:spPr/>
    </dgm:pt>
    <dgm:pt modelId="{02B038DB-A609-45D5-ADE5-B884A55E8CD8}" type="pres">
      <dgm:prSet presAssocID="{C3BB24C3-A629-46E7-9479-3B41D511850B}" presName="rootComposite1" presStyleCnt="0"/>
      <dgm:spPr/>
    </dgm:pt>
    <dgm:pt modelId="{D53EBE76-66A9-479A-AD45-03DC56D62CD9}" type="pres">
      <dgm:prSet presAssocID="{C3BB24C3-A629-46E7-9479-3B41D511850B}" presName="rootText1" presStyleLbl="node0" presStyleIdx="0" presStyleCnt="1">
        <dgm:presLayoutVars>
          <dgm:chPref val="3"/>
        </dgm:presLayoutVars>
      </dgm:prSet>
      <dgm:spPr/>
    </dgm:pt>
    <dgm:pt modelId="{BDFD64BD-C993-4B05-8393-54C64D73513F}" type="pres">
      <dgm:prSet presAssocID="{C3BB24C3-A629-46E7-9479-3B41D511850B}" presName="rootConnector1" presStyleLbl="node1" presStyleIdx="0" presStyleCnt="0"/>
      <dgm:spPr/>
    </dgm:pt>
    <dgm:pt modelId="{A5450EE2-5A6A-49CD-9714-2AB288D7239B}" type="pres">
      <dgm:prSet presAssocID="{C3BB24C3-A629-46E7-9479-3B41D511850B}" presName="hierChild2" presStyleCnt="0"/>
      <dgm:spPr/>
    </dgm:pt>
    <dgm:pt modelId="{8B21DEE3-4C18-4016-952B-038FDF8788D0}" type="pres">
      <dgm:prSet presAssocID="{99742060-3BF8-469D-B475-F6E97DD2BE08}" presName="Name37" presStyleLbl="parChTrans1D2" presStyleIdx="0" presStyleCnt="2"/>
      <dgm:spPr/>
    </dgm:pt>
    <dgm:pt modelId="{F0707551-EC32-441F-93C8-4A0A823EA7D7}" type="pres">
      <dgm:prSet presAssocID="{E9FC6428-7FA9-43CE-A20C-95A44D2B4902}" presName="hierRoot2" presStyleCnt="0">
        <dgm:presLayoutVars>
          <dgm:hierBranch val="init"/>
        </dgm:presLayoutVars>
      </dgm:prSet>
      <dgm:spPr/>
    </dgm:pt>
    <dgm:pt modelId="{28FCE38A-06EB-44F4-8F7B-48B35FA3E6C4}" type="pres">
      <dgm:prSet presAssocID="{E9FC6428-7FA9-43CE-A20C-95A44D2B4902}" presName="rootComposite" presStyleCnt="0"/>
      <dgm:spPr/>
    </dgm:pt>
    <dgm:pt modelId="{4425AF2B-016B-426B-BAF3-7F11B4DB9E73}" type="pres">
      <dgm:prSet presAssocID="{E9FC6428-7FA9-43CE-A20C-95A44D2B4902}" presName="rootText" presStyleLbl="node2" presStyleIdx="0" presStyleCnt="2">
        <dgm:presLayoutVars>
          <dgm:chPref val="3"/>
        </dgm:presLayoutVars>
      </dgm:prSet>
      <dgm:spPr/>
    </dgm:pt>
    <dgm:pt modelId="{0CAE7341-E464-4846-9A3B-AAEC54624753}" type="pres">
      <dgm:prSet presAssocID="{E9FC6428-7FA9-43CE-A20C-95A44D2B4902}" presName="rootConnector" presStyleLbl="node2" presStyleIdx="0" presStyleCnt="2"/>
      <dgm:spPr/>
    </dgm:pt>
    <dgm:pt modelId="{C4ED19A7-9C14-4D2F-859D-60CF86D9E080}" type="pres">
      <dgm:prSet presAssocID="{E9FC6428-7FA9-43CE-A20C-95A44D2B4902}" presName="hierChild4" presStyleCnt="0"/>
      <dgm:spPr/>
    </dgm:pt>
    <dgm:pt modelId="{B6590C20-2F08-4279-B183-1473FCC96393}" type="pres">
      <dgm:prSet presAssocID="{E9FC6428-7FA9-43CE-A20C-95A44D2B4902}" presName="hierChild5" presStyleCnt="0"/>
      <dgm:spPr/>
    </dgm:pt>
    <dgm:pt modelId="{B5EF47CF-F35F-4D1E-871D-E40BA4A83730}" type="pres">
      <dgm:prSet presAssocID="{2F81E490-CB97-4774-A520-5E85136DA850}" presName="Name37" presStyleLbl="parChTrans1D2" presStyleIdx="1" presStyleCnt="2"/>
      <dgm:spPr/>
    </dgm:pt>
    <dgm:pt modelId="{6CCFFB7F-DC79-4CB2-9A76-00357E406960}" type="pres">
      <dgm:prSet presAssocID="{97107C1A-B6F9-435B-93D9-0285583BE275}" presName="hierRoot2" presStyleCnt="0">
        <dgm:presLayoutVars>
          <dgm:hierBranch val="init"/>
        </dgm:presLayoutVars>
      </dgm:prSet>
      <dgm:spPr/>
    </dgm:pt>
    <dgm:pt modelId="{4E8442A6-392F-4B16-81D5-EC39891EC625}" type="pres">
      <dgm:prSet presAssocID="{97107C1A-B6F9-435B-93D9-0285583BE275}" presName="rootComposite" presStyleCnt="0"/>
      <dgm:spPr/>
    </dgm:pt>
    <dgm:pt modelId="{23CF6994-8A54-4851-A49A-6E37D087C93D}" type="pres">
      <dgm:prSet presAssocID="{97107C1A-B6F9-435B-93D9-0285583BE275}" presName="rootText" presStyleLbl="node2" presStyleIdx="1" presStyleCnt="2">
        <dgm:presLayoutVars>
          <dgm:chPref val="3"/>
        </dgm:presLayoutVars>
      </dgm:prSet>
      <dgm:spPr/>
    </dgm:pt>
    <dgm:pt modelId="{1F728D9E-C6CB-46C2-86E2-273833FB83B7}" type="pres">
      <dgm:prSet presAssocID="{97107C1A-B6F9-435B-93D9-0285583BE275}" presName="rootConnector" presStyleLbl="node2" presStyleIdx="1" presStyleCnt="2"/>
      <dgm:spPr/>
    </dgm:pt>
    <dgm:pt modelId="{C61504F5-B71D-4320-BFDE-E0280F37DA72}" type="pres">
      <dgm:prSet presAssocID="{97107C1A-B6F9-435B-93D9-0285583BE275}" presName="hierChild4" presStyleCnt="0"/>
      <dgm:spPr/>
    </dgm:pt>
    <dgm:pt modelId="{5B54D639-8674-41B4-9680-D1AEE4812AC0}" type="pres">
      <dgm:prSet presAssocID="{97107C1A-B6F9-435B-93D9-0285583BE275}" presName="hierChild5" presStyleCnt="0"/>
      <dgm:spPr/>
    </dgm:pt>
    <dgm:pt modelId="{D1A926B5-713D-491C-8225-4022DB461845}" type="pres">
      <dgm:prSet presAssocID="{C3BB24C3-A629-46E7-9479-3B41D511850B}" presName="hierChild3" presStyleCnt="0"/>
      <dgm:spPr/>
    </dgm:pt>
  </dgm:ptLst>
  <dgm:cxnLst>
    <dgm:cxn modelId="{503F9501-79E9-49B6-A6DF-9743A0A9B467}" type="presOf" srcId="{99742060-3BF8-469D-B475-F6E97DD2BE08}" destId="{8B21DEE3-4C18-4016-952B-038FDF8788D0}" srcOrd="0" destOrd="0" presId="urn:microsoft.com/office/officeart/2005/8/layout/orgChart1"/>
    <dgm:cxn modelId="{C624080D-019C-442D-A641-1EE0375AFB11}" srcId="{C3BB24C3-A629-46E7-9479-3B41D511850B}" destId="{E9FC6428-7FA9-43CE-A20C-95A44D2B4902}" srcOrd="0" destOrd="0" parTransId="{99742060-3BF8-469D-B475-F6E97DD2BE08}" sibTransId="{758A9567-BC0A-4E0C-906A-9D3F845DEB1E}"/>
    <dgm:cxn modelId="{0FAD890F-05D8-4E86-B160-7B33ED156CF1}" type="presOf" srcId="{2F81E490-CB97-4774-A520-5E85136DA850}" destId="{B5EF47CF-F35F-4D1E-871D-E40BA4A83730}" srcOrd="0" destOrd="0" presId="urn:microsoft.com/office/officeart/2005/8/layout/orgChart1"/>
    <dgm:cxn modelId="{68BC1829-4666-442B-97B4-EE3BC73103B4}" type="presOf" srcId="{1A4B1ED7-D672-4101-B2AA-9A45811BA997}" destId="{C54FA8BC-FD3C-4289-B586-6194C158893A}" srcOrd="0" destOrd="0" presId="urn:microsoft.com/office/officeart/2005/8/layout/orgChart1"/>
    <dgm:cxn modelId="{E713062C-088F-4E0E-BD58-C171917C8937}" srcId="{1A4B1ED7-D672-4101-B2AA-9A45811BA997}" destId="{C3BB24C3-A629-46E7-9479-3B41D511850B}" srcOrd="0" destOrd="0" parTransId="{43E6BD47-D5FE-4687-8C37-0F663342D7C5}" sibTransId="{499EA8CB-7723-40C4-9C76-CCA01AC8CAE9}"/>
    <dgm:cxn modelId="{EAE2684D-6F9B-43DF-B4D7-F230A3AE56C8}" type="presOf" srcId="{C3BB24C3-A629-46E7-9479-3B41D511850B}" destId="{D53EBE76-66A9-479A-AD45-03DC56D62CD9}" srcOrd="0" destOrd="0" presId="urn:microsoft.com/office/officeart/2005/8/layout/orgChart1"/>
    <dgm:cxn modelId="{119A2D72-282B-4DBF-9697-BDF05F8AA6F8}" srcId="{C3BB24C3-A629-46E7-9479-3B41D511850B}" destId="{97107C1A-B6F9-435B-93D9-0285583BE275}" srcOrd="1" destOrd="0" parTransId="{2F81E490-CB97-4774-A520-5E85136DA850}" sibTransId="{19405BFF-71B9-451C-AA92-81B34F919232}"/>
    <dgm:cxn modelId="{1AEC3779-1A3F-4E21-97E1-EA56D03CB478}" type="presOf" srcId="{97107C1A-B6F9-435B-93D9-0285583BE275}" destId="{23CF6994-8A54-4851-A49A-6E37D087C93D}" srcOrd="0" destOrd="0" presId="urn:microsoft.com/office/officeart/2005/8/layout/orgChart1"/>
    <dgm:cxn modelId="{3A531E9E-5ABA-444F-A87D-C090D65AB435}" type="presOf" srcId="{E9FC6428-7FA9-43CE-A20C-95A44D2B4902}" destId="{0CAE7341-E464-4846-9A3B-AAEC54624753}" srcOrd="1" destOrd="0" presId="urn:microsoft.com/office/officeart/2005/8/layout/orgChart1"/>
    <dgm:cxn modelId="{902E1F9F-DC1D-4755-AAB8-912B158B1114}" type="presOf" srcId="{97107C1A-B6F9-435B-93D9-0285583BE275}" destId="{1F728D9E-C6CB-46C2-86E2-273833FB83B7}" srcOrd="1" destOrd="0" presId="urn:microsoft.com/office/officeart/2005/8/layout/orgChart1"/>
    <dgm:cxn modelId="{A072A7CF-E9BB-46A7-8F3C-3AB9BE2CDEFE}" type="presOf" srcId="{C3BB24C3-A629-46E7-9479-3B41D511850B}" destId="{BDFD64BD-C993-4B05-8393-54C64D73513F}" srcOrd="1" destOrd="0" presId="urn:microsoft.com/office/officeart/2005/8/layout/orgChart1"/>
    <dgm:cxn modelId="{2D2B36DF-29C0-4D9B-A81B-18473AF135BA}" type="presOf" srcId="{E9FC6428-7FA9-43CE-A20C-95A44D2B4902}" destId="{4425AF2B-016B-426B-BAF3-7F11B4DB9E73}" srcOrd="0" destOrd="0" presId="urn:microsoft.com/office/officeart/2005/8/layout/orgChart1"/>
    <dgm:cxn modelId="{AAD68680-BDBD-43BB-859C-1FC69F519957}" type="presParOf" srcId="{C54FA8BC-FD3C-4289-B586-6194C158893A}" destId="{3DCDD6E0-0AF8-485C-B6C0-DF058F9BA821}" srcOrd="0" destOrd="0" presId="urn:microsoft.com/office/officeart/2005/8/layout/orgChart1"/>
    <dgm:cxn modelId="{1F3D2EAE-1329-4EFC-8617-58C83BD62682}" type="presParOf" srcId="{3DCDD6E0-0AF8-485C-B6C0-DF058F9BA821}" destId="{02B038DB-A609-45D5-ADE5-B884A55E8CD8}" srcOrd="0" destOrd="0" presId="urn:microsoft.com/office/officeart/2005/8/layout/orgChart1"/>
    <dgm:cxn modelId="{4499C4E1-C548-4C39-82C4-E9EF54E51E42}" type="presParOf" srcId="{02B038DB-A609-45D5-ADE5-B884A55E8CD8}" destId="{D53EBE76-66A9-479A-AD45-03DC56D62CD9}" srcOrd="0" destOrd="0" presId="urn:microsoft.com/office/officeart/2005/8/layout/orgChart1"/>
    <dgm:cxn modelId="{A628C940-641E-4B3F-8CC2-E1A22D840C3C}" type="presParOf" srcId="{02B038DB-A609-45D5-ADE5-B884A55E8CD8}" destId="{BDFD64BD-C993-4B05-8393-54C64D73513F}" srcOrd="1" destOrd="0" presId="urn:microsoft.com/office/officeart/2005/8/layout/orgChart1"/>
    <dgm:cxn modelId="{6AC92C58-F274-484E-8CDA-38A11A444472}" type="presParOf" srcId="{3DCDD6E0-0AF8-485C-B6C0-DF058F9BA821}" destId="{A5450EE2-5A6A-49CD-9714-2AB288D7239B}" srcOrd="1" destOrd="0" presId="urn:microsoft.com/office/officeart/2005/8/layout/orgChart1"/>
    <dgm:cxn modelId="{06AE1D09-E15A-46D4-B83A-96FFFD586559}" type="presParOf" srcId="{A5450EE2-5A6A-49CD-9714-2AB288D7239B}" destId="{8B21DEE3-4C18-4016-952B-038FDF8788D0}" srcOrd="0" destOrd="0" presId="urn:microsoft.com/office/officeart/2005/8/layout/orgChart1"/>
    <dgm:cxn modelId="{DB4BBF31-ADD7-40B3-B5AF-B476811B37C6}" type="presParOf" srcId="{A5450EE2-5A6A-49CD-9714-2AB288D7239B}" destId="{F0707551-EC32-441F-93C8-4A0A823EA7D7}" srcOrd="1" destOrd="0" presId="urn:microsoft.com/office/officeart/2005/8/layout/orgChart1"/>
    <dgm:cxn modelId="{4CE6F7E5-F732-4835-8984-BFF187EA5234}" type="presParOf" srcId="{F0707551-EC32-441F-93C8-4A0A823EA7D7}" destId="{28FCE38A-06EB-44F4-8F7B-48B35FA3E6C4}" srcOrd="0" destOrd="0" presId="urn:microsoft.com/office/officeart/2005/8/layout/orgChart1"/>
    <dgm:cxn modelId="{D472A1DB-E5A6-4D3F-986C-5BC450E5F186}" type="presParOf" srcId="{28FCE38A-06EB-44F4-8F7B-48B35FA3E6C4}" destId="{4425AF2B-016B-426B-BAF3-7F11B4DB9E73}" srcOrd="0" destOrd="0" presId="urn:microsoft.com/office/officeart/2005/8/layout/orgChart1"/>
    <dgm:cxn modelId="{EE5985E7-86CC-4A48-8ABB-E12FCC0C5ABA}" type="presParOf" srcId="{28FCE38A-06EB-44F4-8F7B-48B35FA3E6C4}" destId="{0CAE7341-E464-4846-9A3B-AAEC54624753}" srcOrd="1" destOrd="0" presId="urn:microsoft.com/office/officeart/2005/8/layout/orgChart1"/>
    <dgm:cxn modelId="{0A0191B5-D28E-4E90-A58A-33EA9B0CAA0E}" type="presParOf" srcId="{F0707551-EC32-441F-93C8-4A0A823EA7D7}" destId="{C4ED19A7-9C14-4D2F-859D-60CF86D9E080}" srcOrd="1" destOrd="0" presId="urn:microsoft.com/office/officeart/2005/8/layout/orgChart1"/>
    <dgm:cxn modelId="{352F5300-7600-4537-8477-F1E96ECF334C}" type="presParOf" srcId="{F0707551-EC32-441F-93C8-4A0A823EA7D7}" destId="{B6590C20-2F08-4279-B183-1473FCC96393}" srcOrd="2" destOrd="0" presId="urn:microsoft.com/office/officeart/2005/8/layout/orgChart1"/>
    <dgm:cxn modelId="{FA4D1AD5-9902-46D4-AF7A-3C9E6DDC4B56}" type="presParOf" srcId="{A5450EE2-5A6A-49CD-9714-2AB288D7239B}" destId="{B5EF47CF-F35F-4D1E-871D-E40BA4A83730}" srcOrd="2" destOrd="0" presId="urn:microsoft.com/office/officeart/2005/8/layout/orgChart1"/>
    <dgm:cxn modelId="{B3BDE05A-95F6-469C-B7E3-19BB169BDCC8}" type="presParOf" srcId="{A5450EE2-5A6A-49CD-9714-2AB288D7239B}" destId="{6CCFFB7F-DC79-4CB2-9A76-00357E406960}" srcOrd="3" destOrd="0" presId="urn:microsoft.com/office/officeart/2005/8/layout/orgChart1"/>
    <dgm:cxn modelId="{888B5317-C901-41A3-9652-0CCF88D164E9}" type="presParOf" srcId="{6CCFFB7F-DC79-4CB2-9A76-00357E406960}" destId="{4E8442A6-392F-4B16-81D5-EC39891EC625}" srcOrd="0" destOrd="0" presId="urn:microsoft.com/office/officeart/2005/8/layout/orgChart1"/>
    <dgm:cxn modelId="{D10BFE96-21A2-4FF1-9FD7-AA248DACFF48}" type="presParOf" srcId="{4E8442A6-392F-4B16-81D5-EC39891EC625}" destId="{23CF6994-8A54-4851-A49A-6E37D087C93D}" srcOrd="0" destOrd="0" presId="urn:microsoft.com/office/officeart/2005/8/layout/orgChart1"/>
    <dgm:cxn modelId="{BAF8C75F-1848-44B5-B39B-9CF8525052DC}" type="presParOf" srcId="{4E8442A6-392F-4B16-81D5-EC39891EC625}" destId="{1F728D9E-C6CB-46C2-86E2-273833FB83B7}" srcOrd="1" destOrd="0" presId="urn:microsoft.com/office/officeart/2005/8/layout/orgChart1"/>
    <dgm:cxn modelId="{897280EF-6741-4459-88A9-CF7404B9DEEE}" type="presParOf" srcId="{6CCFFB7F-DC79-4CB2-9A76-00357E406960}" destId="{C61504F5-B71D-4320-BFDE-E0280F37DA72}" srcOrd="1" destOrd="0" presId="urn:microsoft.com/office/officeart/2005/8/layout/orgChart1"/>
    <dgm:cxn modelId="{CC6FFD6C-E8BF-4EF4-B357-D77D90DD02FE}" type="presParOf" srcId="{6CCFFB7F-DC79-4CB2-9A76-00357E406960}" destId="{5B54D639-8674-41B4-9680-D1AEE4812AC0}" srcOrd="2" destOrd="0" presId="urn:microsoft.com/office/officeart/2005/8/layout/orgChart1"/>
    <dgm:cxn modelId="{3F88DD64-33A7-460B-B8D5-BFA948027944}" type="presParOf" srcId="{3DCDD6E0-0AF8-485C-B6C0-DF058F9BA821}" destId="{D1A926B5-713D-491C-8225-4022DB46184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F47CF-F35F-4D1E-871D-E40BA4A83730}">
      <dsp:nvSpPr>
        <dsp:cNvPr id="0" name=""/>
        <dsp:cNvSpPr/>
      </dsp:nvSpPr>
      <dsp:spPr>
        <a:xfrm>
          <a:off x="304800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489"/>
              </a:lnTo>
              <a:lnTo>
                <a:pt x="1668009" y="289489"/>
              </a:lnTo>
              <a:lnTo>
                <a:pt x="1668009" y="57897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21DEE3-4C18-4016-952B-038FDF8788D0}">
      <dsp:nvSpPr>
        <dsp:cNvPr id="0" name=""/>
        <dsp:cNvSpPr/>
      </dsp:nvSpPr>
      <dsp:spPr>
        <a:xfrm>
          <a:off x="137999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1668009" y="0"/>
              </a:moveTo>
              <a:lnTo>
                <a:pt x="1668009" y="289489"/>
              </a:lnTo>
              <a:lnTo>
                <a:pt x="0" y="289489"/>
              </a:lnTo>
              <a:lnTo>
                <a:pt x="0" y="57897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3EBE76-66A9-479A-AD45-03DC56D62CD9}">
      <dsp:nvSpPr>
        <dsp:cNvPr id="0" name=""/>
        <dsp:cNvSpPr/>
      </dsp:nvSpPr>
      <dsp:spPr>
        <a:xfrm>
          <a:off x="1669479" y="363990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Priority Order</a:t>
          </a:r>
        </a:p>
      </dsp:txBody>
      <dsp:txXfrm>
        <a:off x="1669479" y="363990"/>
        <a:ext cx="2757041" cy="1378520"/>
      </dsp:txXfrm>
    </dsp:sp>
    <dsp:sp modelId="{4425AF2B-016B-426B-BAF3-7F11B4DB9E73}">
      <dsp:nvSpPr>
        <dsp:cNvPr id="0" name=""/>
        <dsp:cNvSpPr/>
      </dsp:nvSpPr>
      <dsp:spPr>
        <a:xfrm>
          <a:off x="1469" y="2321489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Ascending Order</a:t>
          </a:r>
        </a:p>
      </dsp:txBody>
      <dsp:txXfrm>
        <a:off x="1469" y="2321489"/>
        <a:ext cx="2757041" cy="1378520"/>
      </dsp:txXfrm>
    </dsp:sp>
    <dsp:sp modelId="{23CF6994-8A54-4851-A49A-6E37D087C93D}">
      <dsp:nvSpPr>
        <dsp:cNvPr id="0" name=""/>
        <dsp:cNvSpPr/>
      </dsp:nvSpPr>
      <dsp:spPr>
        <a:xfrm>
          <a:off x="3337489" y="2321489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Descending Order</a:t>
          </a:r>
        </a:p>
      </dsp:txBody>
      <dsp:txXfrm>
        <a:off x="3337489" y="2321489"/>
        <a:ext cx="2757041" cy="1378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910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1EDF-9350-A0AA-1930-87E304B3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A3AFB-48EB-4A4A-E3B5-C8D49CAD8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57E3B-420A-F83C-5EFB-80E27E42D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83EDA-003D-E7C0-C17C-2F32C020A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1F4A8-66AA-B3C5-4BAE-69CC015319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F100996-2168-F08A-7AD9-FBD90F75C55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07304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2929-1D84-4325-2008-DAE31DDA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C7BA7-B230-C911-F60C-DCEBC7F75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3B461-07B8-36A7-4FA6-FFC23FD0C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F0195-A739-1426-3B18-E439FBA6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779F8-D801-E5DB-BDE6-2E66115F6A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DF9BA49-20A1-27C1-F999-482D48D77B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08468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B3372-B38E-C2E2-762B-66F90CF9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D156D-30C9-2D14-641B-9BB715AB4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45020-0F2C-609B-6988-934BBCA0E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EDB50-7349-6A99-8D2D-FCEC6351B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316F-D4AF-C66D-394D-EA32B222FF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3CF2C2E-04AC-EDFE-103B-5FC241531E1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2756431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C9E9-7CB4-4A70-0839-29FF7C5B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1969C-BD51-21BE-3506-F0BD90AE2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C8844-50D2-42F9-3966-48F0EA73A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7142-FAB4-DDF9-E192-1EA98F4AD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AD778-B099-2FD4-500E-A8B95AA3A7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B1D33B2-CFAA-33A9-E1E1-56C7A9E52DF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730906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5E08-3F4D-8767-E118-9E07EE07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0DE44-2889-685E-BE33-BEBA2B6D2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C07D4-33C5-42CD-352E-9722488F3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B7C11-8EEC-F84A-E835-6AB369694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2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javatpoint.com/data-structure-queue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scaler.com/topics/data-structures/queue-in-data-structure/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app=desktop&amp;v=gYxdHbbjn_8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youtube.com/watch?app=desktop&amp;v=gYxdHbbjn_8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introduction-to-circular-queue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mplilearn.com/tutorials/data-structure-tutorial/priority-queue-in-data-structure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www.simplilearn.com/tutorials/data-structure-tutorial/priority-queue-in-data-structure" TargetMode="Externa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simplilearn.com/tutorials/data-structure-tutorial/priority-queue-in-data-structure" TargetMode="Externa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simplilearn.com/tutorials/data-structure-tutorial/priority-queue-in-data-structure" TargetMode="Externa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s-priority-queue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www.javatpoint.com/ds-priority-queue" TargetMode="Externa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mplilearn.com/tutorials/data-structure-tutorial/priority-queue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scaler.com/topics/data-structures/queue-in-data-structure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rogramiz.com/dsa/queue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952651" y="1303053"/>
            <a:ext cx="6588732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Queue Applications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FIFO is important for real systems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Queue – Overview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– Need &amp; Concept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Operations &amp; Algorithms (Array)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 of Circular Queue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Circular Queue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– Concept &amp; Operations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Implementations (Array/Heap/Linked List)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Applications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Queue ADT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205129"/>
            <a:ext cx="8428555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FIFO principle.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is done using enqueue at the rear.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is done using dequeue from the front.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Implementations: array-based and linked-list-based.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 occurs when the queue is full; underflow occurs when it is empty.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311511" y="1357755"/>
            <a:ext cx="8580969" cy="43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that indicates the first element is called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used to insert an element is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underflow occurs when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 from a queue?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application of queue.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implementation allows dynamic size?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how queues are used in operating systems, networking, and algorithms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role of FIFO in CPU scheduling, buffering, and BFS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linear queue, circular queue, deque, and priority queue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queue operations to solve real-world problems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 appropriate queue type for a given application</a:t>
            </a:r>
          </a:p>
        </p:txBody>
      </p:sp>
    </p:spTree>
    <p:extLst>
      <p:ext uri="{BB962C8B-B14F-4D97-AF65-F5344CB8AC3E}">
        <p14:creationId xmlns:p14="http://schemas.microsoft.com/office/powerpoint/2010/main" val="79795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B245-7209-F2A3-E674-D1AB5538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BECEE0-BDE1-AA5D-A3F9-F75C5119F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99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D0B86D5-A4E7-5A36-758B-5577CFD5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Applications of Queue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70E5F6-EEE6-A733-BF5B-EDF661897FA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9DD233-F30B-9F67-1619-5F6C07E493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56884-BDED-7AB9-9AC6-033EBDE6850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90310-457C-A1FD-D2FF-3BAA8581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14BC-CC8B-1AA9-84A7-ED4F9DA528B5}"/>
              </a:ext>
            </a:extLst>
          </p:cNvPr>
          <p:cNvSpPr/>
          <p:nvPr/>
        </p:nvSpPr>
        <p:spPr>
          <a:xfrm>
            <a:off x="395536" y="1293834"/>
            <a:ext cx="8672262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Spooling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Packet Handling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28647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8DC4-FD33-5519-340F-66BD4CC6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1E9431-491F-C3EE-0E85-310EBBF6A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99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FCD72CB-4A43-3928-633D-435F61B93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73" y="38154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ECBFD-AC98-E9F0-B470-3490EB6DF0E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3A77339-0139-558D-1407-2490E1AD00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7CC80-ECCF-A309-BC17-5CD138CC8F1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BFD5C-5852-1547-CFC4-C8C2984C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14C40-961E-34A4-DA24-C828316AE5AE}"/>
              </a:ext>
            </a:extLst>
          </p:cNvPr>
          <p:cNvSpPr/>
          <p:nvPr/>
        </p:nvSpPr>
        <p:spPr>
          <a:xfrm>
            <a:off x="282822" y="1293834"/>
            <a:ext cx="8177610" cy="4673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CPU scheduling, processes wait in the __________ queue.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explores nodes __________ by __________.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printer spooling, print jobs are processed in __________ order.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queue suitable for customer service systems?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networking application of queue.</a:t>
            </a:r>
          </a:p>
        </p:txBody>
      </p:sp>
    </p:spTree>
    <p:extLst>
      <p:ext uri="{BB962C8B-B14F-4D97-AF65-F5344CB8AC3E}">
        <p14:creationId xmlns:p14="http://schemas.microsoft.com/office/powerpoint/2010/main" val="106747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50779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Why was the circular queue</a:t>
            </a:r>
            <a:r>
              <a:rPr lang="en-US" sz="3200" dirty="0">
                <a:solidFill>
                  <a:srgbClr val="FF0000"/>
                </a:solidFill>
              </a:rPr>
              <a:t>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1006951"/>
            <a:ext cx="8583488" cy="2872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rear reaches to the end position of the Queue then there might be possibility that some vacant spaces are left in the beginning which cannot be utilized.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such limitations, the concept of the circular queue was introduced.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2874" y="6343791"/>
            <a:ext cx="75390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https://www.javatpoint.com/data-structure-queue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44" y="3566120"/>
            <a:ext cx="470344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430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9406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Circular Queue?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953869"/>
            <a:ext cx="8367464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based on the FIFO (First In First Out) principle except that the last position is connected to the first position in a circular queue that forms a circle.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a 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Buffer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2232" y="6206090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https://www.scaler.com/topics/data-structures/queue-in-data-structure/</a:t>
            </a:r>
            <a:endParaRPr lang="en-IN" dirty="0"/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043" y="3074172"/>
            <a:ext cx="4578366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721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-51965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1121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Operations</a:t>
            </a:r>
            <a:endParaRPr lang="en-US" sz="28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536" y="1143000"/>
            <a:ext cx="8367464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is used to get the front element from the Queue.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is used to get the rear element from the Queue.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function is used to insert the new value in the Queue. The new element is always inserted from the rear end.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function deletes an element from the Queue. The deletion in a Queue always takes place from the front end.</a:t>
            </a:r>
          </a:p>
          <a:p>
            <a:pPr algn="just"/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742157" y="5477650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https://www.youtube.com/watch?app=desktop&amp;v=gYxdHbbjn_8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930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06" y="36871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46863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Representation using Array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1143000"/>
            <a:ext cx="8583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609600" y="5943600"/>
            <a:ext cx="769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https://www.youtube.com/watch?app=desktop&amp;v=gYxdHbbjn_8</a:t>
            </a:r>
            <a:endParaRPr lang="en-IN" dirty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2" t="5582" r="8434" b="15267"/>
          <a:stretch>
            <a:fillRect/>
          </a:stretch>
        </p:blipFill>
        <p:spPr bwMode="auto">
          <a:xfrm>
            <a:off x="1217340" y="1164609"/>
            <a:ext cx="6480720" cy="452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4665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51593"/>
            <a:ext cx="7488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Implement Circular Queue using Array: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922234"/>
            <a:ext cx="7711959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If FRONT = (REAR + 1) % MAXSIZE : then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Write : “Queue Overflow” and return.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[End of If structure]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Read NUM to be inserted in Circular Queue.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If FRONT= -1 : then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FRONT = REAR =0.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REAR=(REAR + 1) % MAXSIZE.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[End of If Else structure]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Set CQUEUE[REAR]=NUM;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: Exit </a:t>
            </a:r>
          </a:p>
        </p:txBody>
      </p:sp>
    </p:spTree>
    <p:extLst>
      <p:ext uri="{BB962C8B-B14F-4D97-AF65-F5344CB8AC3E}">
        <p14:creationId xmlns:p14="http://schemas.microsoft.com/office/powerpoint/2010/main" val="63933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345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51593"/>
            <a:ext cx="66967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Implement Circular Queue using Array: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60" y="1124744"/>
            <a:ext cx="81534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If FRONT = - 1 : then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Write : “Queue Underflow” and return.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[End of If Structure]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Set NUM = CQUEUE[FRONT].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Write ‘Deleted element from circular queue is : ",NUM.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If FRONT = REAR : then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FRONT = REAR = -1;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FRONT = (FRONT + 1) % MAXSIZE.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: Exit</a:t>
            </a:r>
          </a:p>
        </p:txBody>
      </p:sp>
    </p:spTree>
    <p:extLst>
      <p:ext uri="{BB962C8B-B14F-4D97-AF65-F5344CB8AC3E}">
        <p14:creationId xmlns:p14="http://schemas.microsoft.com/office/powerpoint/2010/main" val="148172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51593"/>
            <a:ext cx="74168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Illustration of Circular Queue Operations: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94791"/>
            <a:ext cx="7010400" cy="426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77888" y="5836334"/>
            <a:ext cx="7332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https://www.geeksforgeeks.org/introduction-to-circular-queue/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527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51593"/>
            <a:ext cx="74168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Advantages of Circular Queue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536" y="1052736"/>
            <a:ext cx="8136904" cy="44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space utilization: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 efficiently use the available memory space.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shifting of elements: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continuously added and removed without the need to shift remaining elements.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relatively straightforward to implement a circular queue using an array.</a:t>
            </a:r>
          </a:p>
        </p:txBody>
      </p:sp>
    </p:spTree>
    <p:extLst>
      <p:ext uri="{BB962C8B-B14F-4D97-AF65-F5344CB8AC3E}">
        <p14:creationId xmlns:p14="http://schemas.microsoft.com/office/powerpoint/2010/main" val="271135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75557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Disadvantage  of Circular Queue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865" y="1124744"/>
            <a:ext cx="8542784" cy="3673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 have a fixed capacity determined by the size of the underlying array.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confusion: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circular nature of the queue can sometimes lead to confusion in understanding its behavior, especially with wraparound scenarios.</a:t>
            </a:r>
          </a:p>
        </p:txBody>
      </p:sp>
    </p:spTree>
    <p:extLst>
      <p:ext uri="{BB962C8B-B14F-4D97-AF65-F5344CB8AC3E}">
        <p14:creationId xmlns:p14="http://schemas.microsoft.com/office/powerpoint/2010/main" val="2077628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51593"/>
            <a:ext cx="77048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Applications  of Circular Queue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544" y="1219200"/>
            <a:ext cx="8398768" cy="3451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for managing task scheduling.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for managing packets in routers and switches.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in embedded systems.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resource allocation scenarios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6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0"/>
            <a:ext cx="87972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 Code for insertion &amp;deletion Operation Of Queue (Python)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512" y="1219200"/>
            <a:ext cx="8686800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0736" y="1128653"/>
            <a:ext cx="38164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= [0] * 5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-1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-1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= 5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enqueue(value):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rear == size - 1: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Overflow")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front == -1: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front = 0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rear += 1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queue[rear] = value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print(value, "inserted")</a:t>
            </a:r>
          </a:p>
          <a:p>
            <a:pPr fontAlgn="base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7F17A-9FDA-35E0-8BD0-C87DB3A658F2}"/>
              </a:ext>
            </a:extLst>
          </p:cNvPr>
          <p:cNvSpPr txBox="1"/>
          <p:nvPr/>
        </p:nvSpPr>
        <p:spPr>
          <a:xfrm>
            <a:off x="4583415" y="1128653"/>
            <a:ext cx="39598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dequeue():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Underflow")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print("Deleted element:", queue[front])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+= 1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Example usage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enqueue(10)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enqueue(20)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enqueue(30)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dequeue()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dequeue()</a:t>
            </a:r>
          </a:p>
        </p:txBody>
      </p:sp>
    </p:spTree>
    <p:extLst>
      <p:ext uri="{BB962C8B-B14F-4D97-AF65-F5344CB8AC3E}">
        <p14:creationId xmlns:p14="http://schemas.microsoft.com/office/powerpoint/2010/main" val="42065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51593"/>
            <a:ext cx="15841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512" y="1219200"/>
            <a:ext cx="8686800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914400"/>
            <a:ext cx="760965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in Circular Queue are: </a:t>
            </a:r>
          </a:p>
          <a:p>
            <a:pPr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14 22 6 </a:t>
            </a:r>
          </a:p>
          <a:p>
            <a:pPr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Deleted value = 14 </a:t>
            </a:r>
          </a:p>
          <a:p>
            <a:pPr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Deleted value = 22 </a:t>
            </a:r>
          </a:p>
          <a:p>
            <a:pPr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in Circular Queue are: 6</a:t>
            </a:r>
          </a:p>
          <a:p>
            <a:pPr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in Circular Queue are: 6  9  20;</a:t>
            </a:r>
          </a:p>
          <a:p>
            <a:pPr fontAlgn="base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06593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37216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544" y="902558"/>
            <a:ext cx="7992888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circular Queue 'q' implemented whose size is 11 from 0 to 10. The front &amp; rear pointers start to point at q[2]. The ninth element be added at which position?</a:t>
            </a:r>
          </a:p>
          <a:p>
            <a:pPr algn="just">
              <a:spcBef>
                <a:spcPts val="600"/>
              </a:spcBef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lvl="1" indent="-360363">
              <a:spcBef>
                <a:spcPts val="600"/>
              </a:spcBef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q[0]</a:t>
            </a:r>
          </a:p>
          <a:p>
            <a:pPr marL="360363" lvl="1" indent="-360363">
              <a:spcBef>
                <a:spcPts val="600"/>
              </a:spcBef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q[1]</a:t>
            </a:r>
          </a:p>
          <a:p>
            <a:pPr marL="360363" lvl="1" indent="-360363">
              <a:spcBef>
                <a:spcPts val="600"/>
              </a:spcBef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q[9]</a:t>
            </a:r>
          </a:p>
          <a:p>
            <a:pPr marL="360363" lvl="1" indent="-360363">
              <a:spcBef>
                <a:spcPts val="600"/>
              </a:spcBef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q[10]</a:t>
            </a:r>
          </a:p>
          <a:p>
            <a:pPr marL="360363" lvl="1" indent="-360363">
              <a:spcBef>
                <a:spcPts val="600"/>
              </a:spcBef>
              <a:buFont typeface="+mj-lt"/>
              <a:buAutoNum type="alphaLcParenR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a. q[0]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7EDB1-C0C9-3C1E-AF68-B41AC3BF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44330"/>
            <a:ext cx="5181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Test Yourself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5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" y="-5442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79996" y="774774"/>
            <a:ext cx="8253151" cy="460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Choose the incorrect statement?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Queue is implemented through the linked list, keeping track of a front pointer will change only rear pointer "s" during insertion into non-empty Queue.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Queue can be used to implement the least recently used page fault algorithm and Quicksort algorithm.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Queue can be used to implement the Quicksort algorithm but not least recently used (LRU) page fault algorithm.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(A) and (C)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552" y="5358107"/>
            <a:ext cx="81935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c. The Queue can be used to implement the Quicksort algorithm but not least recently used (LRU) page fault algorithm.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99AEC7-042F-4947-35FF-C5C058E7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44330"/>
            <a:ext cx="5181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Test Yourself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133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Doubly Ended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62"/>
          <a:stretch>
            <a:fillRect/>
          </a:stretch>
        </p:blipFill>
        <p:spPr bwMode="auto">
          <a:xfrm>
            <a:off x="1099781" y="2055152"/>
            <a:ext cx="7019925" cy="1877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029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199" y="381545"/>
            <a:ext cx="81202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Doubly Ended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279146"/>
            <a:ext cx="4312568" cy="150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restricted queue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restricted queue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000140"/>
            <a:ext cx="6114034" cy="131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493" y="4824978"/>
            <a:ext cx="6275040" cy="107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639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9551" y="381545"/>
            <a:ext cx="8037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Operations performed on Deque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552" y="1334777"/>
            <a:ext cx="80378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the following operations that can be applied on a deque -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front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rear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at front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at rear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front item from the deque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rear item from the deque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the deque is full or not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the deque is empty or not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621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370965"/>
            <a:ext cx="817341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 Queues</a:t>
            </a:r>
            <a:br>
              <a:rPr lang="en-IN" sz="3200" dirty="0"/>
            </a:b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47" y="1145459"/>
            <a:ext cx="7324725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95094" y="5184663"/>
            <a:ext cx="7086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https://www.simplilearn.com/tutorials/data-structure-tutorial/priority-queue-in-data-structure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259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4" y="370965"/>
            <a:ext cx="8029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 Queues</a:t>
            </a:r>
            <a:br>
              <a:rPr lang="en-IN" sz="3200" dirty="0"/>
            </a:b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5094" y="5184663"/>
            <a:ext cx="7086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https://www.simplilearn.com/tutorials/data-structure-tutorial/priority-queue-in-data-structure</a:t>
            </a:r>
            <a:endParaRPr lang="en-IN" dirty="0"/>
          </a:p>
          <a:p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467544" y="1314712"/>
            <a:ext cx="802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priority of elements determines the order of removal in a queue, i.e., the element with higher priority will leave the queue first, whereas the element with the lowest priority at last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553216"/>
            <a:ext cx="6238875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7406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4" y="370965"/>
            <a:ext cx="8029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 Queues</a:t>
            </a:r>
          </a:p>
          <a:p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1A5B4E-7247-B549-387E-5EAF99584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051774"/>
              </p:ext>
            </p:extLst>
          </p:nvPr>
        </p:nvGraphicFramePr>
        <p:xfrm>
          <a:off x="1542256" y="171088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61274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370965"/>
            <a:ext cx="810140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 Queues</a:t>
            </a:r>
          </a:p>
          <a:p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638800"/>
            <a:ext cx="7086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https://www.simplilearn.com/tutorials/data-structure-tutorial/priority-queue-in-data-structure</a:t>
            </a:r>
            <a:endParaRPr lang="en-IN" dirty="0"/>
          </a:p>
          <a:p>
            <a:endParaRPr lang="en-IN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42"/>
          <a:stretch>
            <a:fillRect/>
          </a:stretch>
        </p:blipFill>
        <p:spPr bwMode="auto">
          <a:xfrm>
            <a:off x="988919" y="1317625"/>
            <a:ext cx="7202674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2829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370965"/>
            <a:ext cx="803974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 Queues</a:t>
            </a:r>
          </a:p>
          <a:p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971600" y="5184663"/>
            <a:ext cx="741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https://www.simplilearn.com/tutorials/data-structure-tutorial/priority-queue-in-data-structure</a:t>
            </a:r>
            <a:endParaRPr lang="en-IN" dirty="0"/>
          </a:p>
          <a:p>
            <a:endParaRPr lang="en-IN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58"/>
          <a:stretch>
            <a:fillRect/>
          </a:stretch>
        </p:blipFill>
        <p:spPr bwMode="auto">
          <a:xfrm>
            <a:off x="457200" y="1371600"/>
            <a:ext cx="7924800" cy="351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0876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9551" y="381545"/>
            <a:ext cx="8037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Priority Queue Applications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" name="Rectangle 1"/>
          <p:cNvSpPr/>
          <p:nvPr/>
        </p:nvSpPr>
        <p:spPr>
          <a:xfrm>
            <a:off x="683568" y="1293834"/>
            <a:ext cx="4242995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Time-activated events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responsibilities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Djikstra’s Algorithm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Prim’s Algorithm </a:t>
            </a:r>
          </a:p>
        </p:txBody>
      </p:sp>
    </p:spTree>
    <p:extLst>
      <p:ext uri="{BB962C8B-B14F-4D97-AF65-F5344CB8AC3E}">
        <p14:creationId xmlns:p14="http://schemas.microsoft.com/office/powerpoint/2010/main" val="3581231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11559" y="381545"/>
            <a:ext cx="7965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Priority Queue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50" y="1375249"/>
            <a:ext cx="3541035" cy="3682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Linked List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Binary Heap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Array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</a:t>
            </a:r>
          </a:p>
          <a:p>
            <a:pPr algn="just"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94012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3" y="381545"/>
            <a:ext cx="81098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Priority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44" y="1233334"/>
            <a:ext cx="81098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 is used to insert a new element into the queue. Whenever a new element is inserted, 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element is moved to an empty slot top to bottom and left to right. 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inserted element is not in the correct position. It will be compared with the parent element. 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 the element is not in the correct order, then elements are swapped until the inserted element gets to the correct position. </a:t>
            </a:r>
          </a:p>
        </p:txBody>
      </p:sp>
    </p:spTree>
    <p:extLst>
      <p:ext uri="{BB962C8B-B14F-4D97-AF65-F5344CB8AC3E}">
        <p14:creationId xmlns:p14="http://schemas.microsoft.com/office/powerpoint/2010/main" val="3398701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Priority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44" y="1233334"/>
            <a:ext cx="8208912" cy="35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(the queue is empty)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node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                                            //when node is already present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at the end of the queue (last node from left to right)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heapify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array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17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Priority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48" y="1362037"/>
            <a:ext cx="8136904" cy="37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 is used to remove any element from the queue, For deleting any element, 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element which needs to be deleted.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it with the last element.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last element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Heapify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array.</a:t>
            </a:r>
          </a:p>
        </p:txBody>
      </p:sp>
    </p:spTree>
    <p:extLst>
      <p:ext uri="{BB962C8B-B14F-4D97-AF65-F5344CB8AC3E}">
        <p14:creationId xmlns:p14="http://schemas.microsoft.com/office/powerpoint/2010/main" val="61357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73" y="38154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Priority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1233334"/>
            <a:ext cx="87849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(node== leaf node)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 node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                                             //when node is not leaf node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node with leaf node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leaf node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heapify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array</a:t>
            </a:r>
          </a:p>
        </p:txBody>
      </p:sp>
    </p:spTree>
    <p:extLst>
      <p:ext uri="{BB962C8B-B14F-4D97-AF65-F5344CB8AC3E}">
        <p14:creationId xmlns:p14="http://schemas.microsoft.com/office/powerpoint/2010/main" val="1615893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0999" y="381545"/>
            <a:ext cx="81964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Priority Queue Using Array: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1091018"/>
            <a:ext cx="670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implementation using array is:</a:t>
            </a:r>
          </a:p>
          <a:p>
            <a:pPr>
              <a:lnSpc>
                <a:spcPct val="20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node: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priority: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2399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73" y="135324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Priority Queue Using Array:</a:t>
            </a:r>
          </a:p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90" y="1212542"/>
            <a:ext cx="81998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 array: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insert new element into the priority queue.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an element with the highest priority from the priority queue.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determine the highest priority element in the queue without removing it.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27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73" y="38154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Priority Queue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012" y="1896425"/>
            <a:ext cx="5649788" cy="30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77888" y="5257800"/>
            <a:ext cx="6113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https://www.javatpoint.com/ds-priority-queue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71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7" y="381545"/>
            <a:ext cx="8253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Priority Queue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323528" y="1293834"/>
            <a:ext cx="86409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link list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7888" y="5257800"/>
            <a:ext cx="6113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https://www.javatpoint.com/ds-priority-queue</a:t>
            </a:r>
            <a:endParaRPr lang="en-IN" dirty="0"/>
          </a:p>
          <a:p>
            <a:endParaRPr lang="en-IN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20314"/>
            <a:ext cx="749617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503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3" y="381545"/>
            <a:ext cx="81098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Algorithm for Insertion at rear end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487" y="1138988"/>
            <a:ext cx="82833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[Check for overflow]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if(rear==MAX)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Print("Queue is Overflow”);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return;  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Step-2: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[Insert Element]	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rear=rear+1;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q[rear]=no;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[Set rear and front pointer]        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rear=0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rear=1;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front=0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front=1;  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862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5" y="381545"/>
            <a:ext cx="81818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Algorithm for Insertion at front end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807" y="1347865"/>
            <a:ext cx="83553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 :  [Check for the front position]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if(front&lt;=1)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Print("Cannot add item at the front”);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 :  [Insert at front]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front=front-1;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q[front]=no;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  : Return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31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3" y="381545"/>
            <a:ext cx="81098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Algorithm for Deletion from front end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3" y="1251764"/>
            <a:ext cx="83649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 [ Check for front pointer]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front=0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print(" Queue is Underflow”);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 [Perform deletion]  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no=q[front];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print(“Deleted element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is”,no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[Set front and rear pointer]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front=rear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front=0;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rear=0;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 front=front+1;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 : Return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86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3" y="381545"/>
            <a:ext cx="81098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Algorithm for Deletion from rear end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1293834"/>
            <a:ext cx="8447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 : [Check for the rear pointer]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rear=0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print(“Cannot delete value at rear end”);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 [ perform deletion]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 no=q[rear];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[Check for the front and rear pointer]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front= rear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front=0;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rear=0;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  rear=rear-1;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print(“Deleted element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is”,no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 : Return</a:t>
            </a:r>
          </a:p>
        </p:txBody>
      </p:sp>
    </p:spTree>
    <p:extLst>
      <p:ext uri="{BB962C8B-B14F-4D97-AF65-F5344CB8AC3E}">
        <p14:creationId xmlns:p14="http://schemas.microsoft.com/office/powerpoint/2010/main" val="2695151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Applications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72270"/>
            <a:ext cx="8044009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556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467E-8BC1-3BF2-BF59-DBE88A26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59E712-47A0-A0AA-237B-69D1A2625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B70FFD3-2273-3396-0F62-56A851E61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81545"/>
            <a:ext cx="8181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a-DK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EE7B2-3260-DE07-F9F5-3DCED710408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DA96C67-CAE9-80EA-76E5-51432AD888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8A489-2BAD-3AB8-8654-B94B95CD497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D29BF-F581-9473-48C2-35272636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40553-62BE-4068-D0AF-BE83CFF3086F}"/>
              </a:ext>
            </a:extLst>
          </p:cNvPr>
          <p:cNvSpPr txBox="1"/>
          <p:nvPr/>
        </p:nvSpPr>
        <p:spPr>
          <a:xfrm>
            <a:off x="467544" y="1219686"/>
            <a:ext cx="837165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was the circular queue introduced?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condition indicates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circular queue?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queue removes elements based on priority?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time complexity of enqueue and dequeue in a circular queue?</a:t>
            </a:r>
          </a:p>
        </p:txBody>
      </p:sp>
    </p:spTree>
    <p:extLst>
      <p:ext uri="{BB962C8B-B14F-4D97-AF65-F5344CB8AC3E}">
        <p14:creationId xmlns:p14="http://schemas.microsoft.com/office/powerpoint/2010/main" val="1723508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D74D-4C8B-01D5-E59A-9EE674CC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CBE3F3-C657-5CE5-CE01-C1A7647BD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99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19B5446-37F1-D142-7F20-F56B2B6AC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21" y="381545"/>
            <a:ext cx="82945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94078F-EBFE-0719-D951-A990B3A324F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6A7E465-6A1A-F3AD-F033-C6C8E763CE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973B48-BDBA-F332-5A30-7A4D6111261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4B795-C454-DCAA-C22E-D1B61803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E8547-6DC9-AA9B-EBA1-F15CC51AA7F5}"/>
              </a:ext>
            </a:extLst>
          </p:cNvPr>
          <p:cNvSpPr/>
          <p:nvPr/>
        </p:nvSpPr>
        <p:spPr>
          <a:xfrm>
            <a:off x="281651" y="1456259"/>
            <a:ext cx="829458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fundamental for fair and ordered processing (FIFO).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CPU scheduling, printer spooling, BFS, networking, and traffic systems.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 improve space utilization over linear array queues.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 process elements based on priority, not arrival time.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queue type improves performance and resource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3364742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B4D2-A8D2-0540-3D5D-90E5BA47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900CBD-7349-29E5-A527-8D5E36E26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E71710B-EADB-A893-E51E-4B9FC6AEA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CA9003-DCCB-0DCC-8549-4CB39D7CDF6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7A9C69-F778-7CFA-FDB3-A5169FE7A5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9FB76-187A-1829-B7CF-1D3F94E6D4D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9C9F6-4D83-9C8C-B249-11BE1F82B3B6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Applications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https://www.geeksforgeeks.org/queue-data-structure/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&amp; Circular Queue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https://www.javatpoint.com/data-structure-queue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Circular Queue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https://www.scaler.com/topics/data-structures/queue-in-data-structure/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Simplilearn – Priority Queue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https://www.simplilearn.com/tutorials/data-structure-tutorial/priority-queue-in-data-structure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Python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https://www.programiz.com/dsa/queue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AF5305-A19D-A366-0884-D99B02E5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33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6BD4-0C46-7723-3D33-4A396A19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9D137C-AB62-EEE0-8D48-C1AC00FB7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AD931-41F5-5766-D306-C893F5B163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06362-5908-0850-F1E0-F9372D054593}"/>
              </a:ext>
            </a:extLst>
          </p:cNvPr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C6DA1-3C0A-0EB2-3E6B-C7CFCA82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6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23642</TotalTime>
  <Words>3382</Words>
  <Application>Microsoft Office PowerPoint</Application>
  <PresentationFormat>On-screen Show (4:3)</PresentationFormat>
  <Paragraphs>598</Paragraphs>
  <Slides>49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1478</cp:revision>
  <cp:lastPrinted>2022-09-05T08:43:44Z</cp:lastPrinted>
  <dcterms:created xsi:type="dcterms:W3CDTF">2020-01-16T09:05:56Z</dcterms:created>
  <dcterms:modified xsi:type="dcterms:W3CDTF">2026-02-10T20:45:12Z</dcterms:modified>
</cp:coreProperties>
</file>