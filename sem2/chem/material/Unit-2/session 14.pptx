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575" r:id="rId2"/>
    <p:sldId id="565" r:id="rId3"/>
    <p:sldId id="576" r:id="rId4"/>
    <p:sldId id="256" r:id="rId5"/>
    <p:sldId id="505" r:id="rId6"/>
    <p:sldId id="510" r:id="rId7"/>
    <p:sldId id="589" r:id="rId8"/>
    <p:sldId id="590" r:id="rId9"/>
    <p:sldId id="591" r:id="rId10"/>
    <p:sldId id="599" r:id="rId11"/>
    <p:sldId id="592" r:id="rId12"/>
    <p:sldId id="593" r:id="rId13"/>
    <p:sldId id="594" r:id="rId14"/>
    <p:sldId id="595" r:id="rId15"/>
    <p:sldId id="537" r:id="rId16"/>
    <p:sldId id="543" r:id="rId17"/>
    <p:sldId id="596" r:id="rId18"/>
    <p:sldId id="597" r:id="rId19"/>
    <p:sldId id="572" r:id="rId20"/>
    <p:sldId id="573" r:id="rId21"/>
    <p:sldId id="285" r:id="rId22"/>
    <p:sldId id="5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798378-1E7B-8F04-96AC-200AE4F18171}" v="11" dt="2025-04-07T08:56:14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286FC-E133-411B-BF4E-7AF0D6464D44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C4682-FF64-427E-8D2F-40170B211C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6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C930-15FA-C418-B121-8B77CFA6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6D2DB-AECE-1DB5-229D-D84ACD262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32016-DE94-B446-49D5-A6D75D235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F5F2B-E274-AA8A-5DF2-259640E80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997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0FE2A-5AAB-3366-22D6-610AB467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15D3C-47F9-7661-5AE9-64BAB33AB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063BF-F5AC-EDE2-2E3D-7395A39A3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096B3-CA13-FE06-FE4F-DE290BB87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149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225B-882E-292B-4CED-0A7A81D9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D2088-1A05-E806-CDD6-7D9278D32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EBBA8-08DD-ACA4-18C5-EB7D5E3FF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01F66-2924-F2F4-A1F5-1B3BA32BB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110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C10EF-C7B6-1D4F-3CA6-620498CB9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DECD1-518E-E9E8-3DA3-B04A9391B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E1A01-CAAC-31B8-4D07-40666590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48BAC-9856-B735-2F98-52D6EC32E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F329-00F8-E3B8-443A-55FB4AFD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460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A7B3-5143-6136-71C6-DBDB39C3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75875-4D7F-69E7-40EA-381D05A21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EEF06-B0F6-7485-91C5-0E49E152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7EEE6-0B77-9A56-70A8-FA2582553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8E6F5-E955-D77F-5929-7DA8645E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07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A261-16B5-C26F-DFC4-55C4DF33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A536F-981F-EA68-99CD-91489F6BA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BC335-4993-FCDC-2D23-ED53E971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88A20-2411-E6E7-879B-0A1AD8DD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2F4CC-7B61-16FD-96FF-BF0B3B9D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3BA0-0B1E-13FE-C5CB-C7FE9709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1C5C8-D228-A7C4-D424-D2EE30097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DD17E-B1CA-A1AD-1388-6A8D9CF55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EC456-7BA2-45AF-B0A1-BB5CC3D66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D457A-CC60-2F8B-63BA-39606B1B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4195D-3DEA-08BF-B19D-7B2F4998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5B7B-86A3-CDFB-4852-1222C507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A25E0-7355-E5C2-42FD-A9FA8BEF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B8598-1430-0043-F731-BAC8C97A3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A3F69-7815-25EF-7D9C-1FDCBB563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86CA0-6004-131C-0622-12CDFF7FC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4C772-3CF2-036E-3448-BBA5343BB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CA8022-A116-DD3F-7B37-681BB999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BFA63-705D-DA68-F3E3-92166C04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73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8942-980E-37BB-1AE2-A62D725C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5B75D-922D-5804-A0A3-9592C2A4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7B59B-71C5-1D23-A5EC-071CA31D6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B31A9-B9E9-F37D-970C-A7AF4152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74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673E7-C4ED-4BF4-AD56-DEA033D3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41861-3517-CBE3-C886-A5C89F3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F8D36-0236-5280-D86F-387822C1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029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8325-CAFE-672A-1B17-98C1CD00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EA2C-0058-2F8F-DBEE-BD3D2501E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788BD-FAE8-5D98-708A-D6F20ED69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5ACAE-D355-8DC9-626F-B108D27A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C8552-D13E-2E79-FAB1-06DA97B3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FE516-CC8D-D50D-96C7-027AFD57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82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1E03-A417-12A7-E0E9-C576CF31F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CEE4C-C713-8CE5-803B-877CA6050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A6B22-D7F9-397D-C5FE-4D013C161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80853-0D12-2F1F-1AEA-75CBBF14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D5B19-424A-046A-6E3B-7CB59EEA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783B1-5905-A1AF-4F95-54D6BF9E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6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AA41-C8E4-CFDF-B4DE-0D6A9ED1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5AFA7-A3FD-C2F6-999C-5DD3F55EA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2E299-58A9-9850-4256-6B1589EDC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26CF8-E654-A7A9-1088-3FE0CDA3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E91C3-80B6-4415-7091-FE06EE6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5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125B4-406D-8B0B-8384-CC3CFDD99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E4664-6E78-B0DE-2146-BD4839043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ED04-934E-5F4F-41E5-E9CBE6F6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A086B-82F5-12A0-26E1-6F3E9F42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F137F-2198-9FEE-9E53-8CE1B3F5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78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78A82-9F28-C66F-25AD-CDC66D64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BBD6A-6CEA-F609-CA4A-794CA6421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36FD6-CF00-000A-FEF9-6E6773016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0A192-DB96-4638-8888-1BF781B50EF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EE51A-2FD3-C654-A36F-DF026B796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56E5A-9B6D-8D49-AA91-9B780BCC7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3D603-5342-456E-B51F-BB31E9BF3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18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1508786" y="1251438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3280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Mehak Ahuja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152400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3: Battery Technology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00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7623" y="409574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1506502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1601F2-B24A-2428-148A-09D76B383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46284"/>
              </p:ext>
            </p:extLst>
          </p:nvPr>
        </p:nvGraphicFramePr>
        <p:xfrm>
          <a:off x="975360" y="1313561"/>
          <a:ext cx="8742434" cy="4966604"/>
        </p:xfrm>
        <a:graphic>
          <a:graphicData uri="http://schemas.openxmlformats.org/drawingml/2006/table">
            <a:tbl>
              <a:tblPr/>
              <a:tblGrid>
                <a:gridCol w="2507520">
                  <a:extLst>
                    <a:ext uri="{9D8B030D-6E8A-4147-A177-3AD203B41FA5}">
                      <a16:colId xmlns:a16="http://schemas.microsoft.com/office/drawing/2014/main" val="1940542252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3086358177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718158968"/>
                    </a:ext>
                  </a:extLst>
                </a:gridCol>
              </a:tblGrid>
              <a:tr h="521835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WISE DETAILS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b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24710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1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Water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6 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671126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Introduction, water analysis: Hardness-determination by EDTA method, Treatment of boiler feed water: Internal treatment (Phosphate, Colloidal and Calgon conditioning). External treatments: Ion exchange and lime-soda process, Zeolite processes. Boiler scales formation and ill effects, methods of prevention of scales. Numerical problems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225577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Chemical Fuels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78116"/>
                  </a:ext>
                </a:extLst>
              </a:tr>
              <a:tr h="962345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Fuels: Introduction, classification, calorific value (HCV &amp; LCV), Determination of calorific value of fuel using Bomb calorimeter.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Solid fuel: Coal- its analysis by proximate and ultimate analysis, Numerical problems.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Liquid fuels: Refining of petroleum, Petroleum cracking, Knocking in IC engine, its ill effects and prevention of knocking. Anti-knocking agent: Leaded and unleaded petrol.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Gaseous fuels: LPG, CNG and their applications.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70779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Battery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10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039795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- Galvanic cell, electrode potential, EMF of the cell and cell representation. Batteries and their importance, Classification of batteries- primary, secondary and reserve batteries with examples. Battery characteristics - voltage, capacity, energy density, power density, energy efficiency, cycle life and shelf life.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Construction, working and applications of: Ni-Cd, and Lithium-ion battery. Working principle of an electric vehicle.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215297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Polymer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217920"/>
                  </a:ext>
                </a:extLst>
              </a:tr>
              <a:tr h="617166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 concepts of polymer, Types of polymers, Thermoplastic &amp; thermosetting plastics, Preparation and application of some industrially important polymers (Natural rubber, Buna S, Buna-N, Neoprene, Isoprene, Nylon-6, nylon-6,6 , </a:t>
                      </a:r>
                      <a:r>
                        <a:rPr lang="en-US" sz="11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Decron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and Terylene). Conducting and biodegradable polymers.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3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2152650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/>
        </p:nvGraphicFramePr>
        <p:xfrm>
          <a:off x="5657779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ulti-colour batteries">
            <a:extLst>
              <a:ext uri="{FF2B5EF4-FFF2-40B4-BE49-F238E27FC236}">
                <a16:creationId xmlns:a16="http://schemas.microsoft.com/office/drawing/2014/main" id="{8BB0C897-078F-15A5-1A52-062B67B2B7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5730"/>
          <a:stretch/>
        </p:blipFill>
        <p:spPr>
          <a:xfrm>
            <a:off x="-9589" y="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92622-40F5-810A-E663-9F1273642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IN" sz="4000" b="1" dirty="0">
                <a:solidFill>
                  <a:srgbClr val="FFFFFF"/>
                </a:solidFill>
              </a:rPr>
              <a:t>Battery Technology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0B783-8CC5-C807-430B-7435168A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GB" sz="2800" b="1" dirty="0">
                <a:solidFill>
                  <a:schemeClr val="bg1"/>
                </a:solidFill>
              </a:rPr>
              <a:t>Introduction - Galvanic cell, electrode potential, EMF of the cell and cell representation.</a:t>
            </a:r>
            <a:endParaRPr lang="en-IN" sz="36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5427886-9EAB-B5FD-AB1E-A98567AA238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447030-CB01-3CD1-2335-913C8FE97D0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E462FF-77AB-8E19-4613-488D8905448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14FB3C0-83A7-1BFF-EB73-9AF8E542566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3ED177-E55A-7E86-1E3A-154913EA830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0F63A8-7DD0-143B-5223-96AA03B8643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978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FC3-D57B-A90F-B348-C933DF34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16336-BAD8-6B00-7E8A-E5F55EA6E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AE3A7B7-A3BB-DF34-83D7-9F840A33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524" y="317663"/>
            <a:ext cx="50145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Electrochemical cells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7FC374-5BF6-3D11-DBCE-ED7F5C7774C1}"/>
              </a:ext>
            </a:extLst>
          </p:cNvPr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094BCA0-6CA0-CA17-A2C4-83B26AAA3A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C33A8B-D984-C93D-C8FD-E7A9A231A2BD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81808" y="1220099"/>
            <a:ext cx="878497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/>
              <a:t>Electrochemical cells are devices that convert chemical energy into electrical energy or vice versa.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/>
              <a:t>Galvanic cells (also called voltaic cells) are electrochemical cells that produce electrical energy from a spontaneous redox reaction.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/>
              <a:t>Electrode potential is the tendency of an electrode to lose or gain electrons.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/>
              <a:t>EMF (electromotive force) is the maximum potential difference between two electrodes of a galvanic cell when no current is flowing.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/>
              <a:t>Cell representation is a shorthand way of representing a galvanic cell, showing the electrodes, electrolyte, and direction of electron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1524" y="4439767"/>
            <a:ext cx="856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64050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16336-BAD8-6B00-7E8A-E5F55EA6EC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-27384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4BCA0-6CA0-CA17-A2C4-83B26AAA3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8502" y="107623"/>
            <a:ext cx="88279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Difference between Galvanic cell and Electrolytic cell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55132" y="5971111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Fig 1 : Galvanic cell and electrolytic cell</a:t>
            </a:r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184FC04-4662-46F7-BBEA-2328CE13CA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2" b="5837"/>
          <a:stretch/>
        </p:blipFill>
        <p:spPr bwMode="auto">
          <a:xfrm>
            <a:off x="1524000" y="1460030"/>
            <a:ext cx="8892480" cy="451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306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22ECA8-CB67-CD0F-54D0-92AF3A51B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428366"/>
            <a:ext cx="5544324" cy="3715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47366-BD81-F340-FB93-60314641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306165" cy="309605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B70AFFD-9DDF-D12F-BEAD-4C73BCF9755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A99EAD-876F-C25C-2C3B-68738707680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F8DFB-5D67-83BC-54CC-A8B47619760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238347-161F-29BA-3AC8-3F9528EE03F1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B0F0A5-9370-D9BA-43F5-E3D59EAAAEA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CE57F1-07F1-A4DD-737C-0A4196C83AC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845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5C9A72-8368-3AC0-5606-F9A676E5D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99" y="638942"/>
            <a:ext cx="4581124" cy="3177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A0D23D-9A0E-F559-78D7-0D6A6CCC9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074" y="3341303"/>
            <a:ext cx="4680276" cy="321868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8C84089-0C0C-4547-2EF9-0A41964A3C1F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0BE08E-0656-8B28-5FF7-853294FFD9D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88795D-D211-FFB7-EE19-892FA4E6F00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5827D5-BE98-1CD5-4360-62F90D41B02D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C01160-6EB2-E276-16F4-D8F618377CD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E1B50E-1992-ACF5-02D6-A5C712C3E0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605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32385A-183E-EFFE-5608-D013E97C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939" y="897927"/>
            <a:ext cx="7939727" cy="534886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0114B74-8338-86C1-A562-62E6F9473D34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0EBB69-120E-B4D4-4133-A9102253369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AF89A3-00B2-778D-0A14-B36774282D0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D7C0A3C-A7B8-49EA-21FD-4E529F5AD974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16610A1-0CB6-0D9E-136F-4C9EC511466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B2F5D3-7EC3-CECB-210F-43FF0DC4A2A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379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D270C7-DA1A-A3A4-62D5-4A85FD49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1" y="907438"/>
            <a:ext cx="8315018" cy="519161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84F1D5-3415-3E24-D4FE-4AF4528F747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720B23-71D4-9D0E-2681-0FA23CBB5E0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0911B1-309D-359D-724E-33F26DD10F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1598C91-008D-1627-635D-5832228A3E4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601993-653E-4935-951D-462375C068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E9A5FD-93AE-A52C-C1C1-AD9FD48D6DC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592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F2BA71-34BB-AAFF-08F3-C998DFE04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07" y="521914"/>
            <a:ext cx="5515745" cy="3658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13EDA5-FDD2-3957-761C-0C332020B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552" y="2970605"/>
            <a:ext cx="5201376" cy="347711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51373E9-0BF9-EC74-3342-E77719866E79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0C3478-93A4-A57A-BEFA-58EF55C293A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DD1D9A-87EA-D28B-B669-E054595176E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AD89BF-79B3-1417-826D-7ED849A1E02E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26F71-5467-34CE-1B23-EDC5AAA8123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6B9D27-DB54-1EF3-26A8-4B9EADEF17A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250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667AD4-1FF8-C09C-4C2E-596BE2BDC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301" y="784194"/>
            <a:ext cx="8672430" cy="542410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FD88A8E-0531-C7F9-05D9-E08B189B619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873724-2069-E03F-D588-4AC5451529E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837ED9-1D4A-829E-4322-E26D70E17AE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50C85C5-0AE3-DC94-7B14-8EA4689C3793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F7E21D-631A-640B-572B-2E58ED776E9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237405-1F2E-C9A4-2DD7-86502DEE9E1A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8632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AD35A-2A29-1D3A-B85F-F68C5888C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04" y="776855"/>
            <a:ext cx="8893742" cy="588740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2A405EC-84DE-B868-8051-5CC78B26FD35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E51AB3-15A7-0DDA-08A6-5A560847AE39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3C8406-6FA7-A81B-F262-28D8FFEE406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9A49D44-8693-E0C9-12D8-5DE35F82E5C3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264715-5DA4-EE1A-EB51-11E9AB1C91CC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3EE695-8367-1C77-25C1-54617BE5CE6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619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BBE0F-DDC9-14DF-101F-CF291BB63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8" y="603185"/>
            <a:ext cx="4552961" cy="3054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AC3C7-85BB-4D70-6206-971178388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519" y="2945800"/>
            <a:ext cx="5363323" cy="333421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9EBFF8-F613-E89C-1F30-2BB3BBC930E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7C0B52-48A0-F0ED-CA9B-BD68DC94E88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BF9221-BA37-DA59-859C-A4F38B94DF4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D0BE3AF-CE17-8820-4F2A-3BDD83D6F4BB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574DD4-4028-1112-6998-F276DCE60BB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5B1766-6507-F1E2-0ADA-CF8FC708D64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3504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6B7A-B291-1F2C-B9E7-D77F8496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5FBA83-0725-C8F4-2CA9-F1CF6EFB9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25A1011-6FFC-F9DA-C0DD-7BA7BC0F8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572" y="84450"/>
            <a:ext cx="52934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Galvanic cell diagram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9456B8-CD4C-6997-549D-CDFB97A2853F}"/>
              </a:ext>
            </a:extLst>
          </p:cNvPr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79011A-9794-2463-9335-3737461F97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4496F8-17D1-C6D2-3ECB-02F472A414E5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78043-1CBB-3FB1-4BA8-8FB4FE7B293C}"/>
              </a:ext>
            </a:extLst>
          </p:cNvPr>
          <p:cNvSpPr txBox="1"/>
          <p:nvPr/>
        </p:nvSpPr>
        <p:spPr>
          <a:xfrm>
            <a:off x="1896935" y="4443254"/>
            <a:ext cx="856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FA3B1-D430-9B28-9B51-C5E85C09DE08}"/>
              </a:ext>
            </a:extLst>
          </p:cNvPr>
          <p:cNvSpPr txBox="1">
            <a:spLocks/>
          </p:cNvSpPr>
          <p:nvPr/>
        </p:nvSpPr>
        <p:spPr>
          <a:xfrm>
            <a:off x="1271464" y="2835459"/>
            <a:ext cx="10515600" cy="5472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Ø"/>
            </a:pPr>
            <a:endParaRPr lang="en-IN" sz="24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2844BC-2F22-BA5B-3B21-BB1979AC4D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260" y="1111395"/>
            <a:ext cx="7288009" cy="49685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3D8906-1404-D5AF-6EEE-7E2F0A09628F}"/>
              </a:ext>
            </a:extLst>
          </p:cNvPr>
          <p:cNvSpPr txBox="1"/>
          <p:nvPr/>
        </p:nvSpPr>
        <p:spPr>
          <a:xfrm>
            <a:off x="3791744" y="6295030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Fig 2 : Galvanic cell representation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38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D92E-DA40-3DE4-C413-7266D553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56AD29-C641-7619-3C63-9535BBA03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813816"/>
            <a:ext cx="9180512" cy="6044183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1D8B18C-F33B-C083-F64F-762521400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162089"/>
            <a:ext cx="231345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Example:</a:t>
            </a:r>
            <a:endParaRPr lang="en-IN" sz="3200" b="1" dirty="0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5BF7DA-9365-6310-9297-F2ABED51D7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0B4B8D-E9EC-569D-51FB-E1724A32C037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5CDD44-E635-E5CD-A121-68F438612E30}"/>
              </a:ext>
            </a:extLst>
          </p:cNvPr>
          <p:cNvSpPr txBox="1"/>
          <p:nvPr/>
        </p:nvSpPr>
        <p:spPr>
          <a:xfrm>
            <a:off x="1847528" y="1480231"/>
            <a:ext cx="8496944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Write the half-cell reaction and the overall cell reaction for the electrochemical cell: Zn | Zn </a:t>
            </a:r>
            <a:r>
              <a:rPr lang="en-US" b="1" baseline="30000" dirty="0">
                <a:solidFill>
                  <a:srgbClr val="FF0000"/>
                </a:solidFill>
              </a:rPr>
              <a:t>2+ </a:t>
            </a:r>
            <a:r>
              <a:rPr lang="en-US" b="1" dirty="0">
                <a:solidFill>
                  <a:srgbClr val="FF0000"/>
                </a:solidFill>
              </a:rPr>
              <a:t>(1.0M) || Pb </a:t>
            </a:r>
            <a:r>
              <a:rPr lang="en-US" b="1" baseline="30000" dirty="0">
                <a:solidFill>
                  <a:srgbClr val="FF0000"/>
                </a:solidFill>
              </a:rPr>
              <a:t>2+ </a:t>
            </a:r>
            <a:r>
              <a:rPr lang="en-US" b="1" dirty="0">
                <a:solidFill>
                  <a:srgbClr val="FF0000"/>
                </a:solidFill>
              </a:rPr>
              <a:t>(1.0M) | Pb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8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Calculate the standard </a:t>
            </a:r>
            <a:r>
              <a:rPr lang="en-US" b="1" dirty="0" err="1">
                <a:solidFill>
                  <a:srgbClr val="FF0000"/>
                </a:solidFill>
              </a:rPr>
              <a:t>e.m.f</a:t>
            </a:r>
            <a:r>
              <a:rPr lang="en-US" b="1" dirty="0">
                <a:solidFill>
                  <a:srgbClr val="FF0000"/>
                </a:solidFill>
              </a:rPr>
              <a:t> for the cell if standard electrode potential (reduction) for Pb </a:t>
            </a:r>
            <a:r>
              <a:rPr lang="en-US" b="1" baseline="30000" dirty="0">
                <a:solidFill>
                  <a:srgbClr val="FF0000"/>
                </a:solidFill>
              </a:rPr>
              <a:t>2+ </a:t>
            </a:r>
            <a:r>
              <a:rPr lang="en-US" b="1" dirty="0">
                <a:solidFill>
                  <a:srgbClr val="FF0000"/>
                </a:solidFill>
              </a:rPr>
              <a:t>| Pb and Zn </a:t>
            </a:r>
            <a:r>
              <a:rPr lang="en-US" b="1" baseline="30000" dirty="0">
                <a:solidFill>
                  <a:srgbClr val="FF0000"/>
                </a:solidFill>
              </a:rPr>
              <a:t>2+ </a:t>
            </a:r>
            <a:r>
              <a:rPr lang="en-US" b="1" dirty="0">
                <a:solidFill>
                  <a:srgbClr val="FF0000"/>
                </a:solidFill>
              </a:rPr>
              <a:t>| Zn electrodes are – 0.126 V and – 0.763 V respectively.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Zn electrode acts as anode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Pb electrode acts as cathode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And therefore , oxidation occurs at zinc electrode and reduction occurs at lead electrode.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7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half cell reactions are :</a:t>
            </a:r>
            <a:br>
              <a:rPr lang="en-US" dirty="0"/>
            </a:br>
            <a:r>
              <a:rPr lang="en-US" dirty="0"/>
              <a:t>Oxidation half reaction : Zn(s)→Zn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dirty="0" err="1"/>
              <a:t>aq</a:t>
            </a:r>
            <a:r>
              <a:rPr lang="en-US" dirty="0"/>
              <a:t>)+2e</a:t>
            </a:r>
            <a:r>
              <a:rPr lang="en-US" baseline="30000" dirty="0"/>
              <a:t>−</a:t>
            </a:r>
            <a:br>
              <a:rPr lang="en-US" dirty="0"/>
            </a:br>
            <a:r>
              <a:rPr lang="en-US" dirty="0"/>
              <a:t>Reduction half reaction : Pb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dirty="0" err="1"/>
              <a:t>aq</a:t>
            </a:r>
            <a:r>
              <a:rPr lang="en-US" dirty="0"/>
              <a:t>)+2e</a:t>
            </a:r>
            <a:r>
              <a:rPr lang="en-US" baseline="30000" dirty="0"/>
              <a:t>− </a:t>
            </a:r>
            <a:r>
              <a:rPr lang="en-US" dirty="0"/>
              <a:t>→Pb(s)</a:t>
            </a:r>
          </a:p>
          <a:p>
            <a:endParaRPr lang="en-US" sz="7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Overall cell reaction : Zn (s) +Pb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dirty="0" err="1"/>
              <a:t>aq</a:t>
            </a:r>
            <a:r>
              <a:rPr lang="en-US" dirty="0"/>
              <a:t>)→Zn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dirty="0" err="1"/>
              <a:t>aq</a:t>
            </a:r>
            <a:r>
              <a:rPr lang="en-US" dirty="0"/>
              <a:t>) + Pb(s)</a:t>
            </a:r>
            <a:br>
              <a:rPr lang="en-US" dirty="0"/>
            </a:br>
            <a:r>
              <a:rPr lang="en-US" dirty="0" err="1"/>
              <a:t>E</a:t>
            </a:r>
            <a:r>
              <a:rPr lang="en-US" baseline="30000" dirty="0" err="1"/>
              <a:t>o</a:t>
            </a:r>
            <a:r>
              <a:rPr lang="en-US" baseline="-25000" dirty="0" err="1"/>
              <a:t>cell</a:t>
            </a:r>
            <a:r>
              <a:rPr lang="en-US" dirty="0"/>
              <a:t>= </a:t>
            </a:r>
            <a:r>
              <a:rPr lang="en-US" dirty="0" err="1"/>
              <a:t>E</a:t>
            </a:r>
            <a:r>
              <a:rPr lang="en-US" baseline="30000" dirty="0" err="1"/>
              <a:t>o</a:t>
            </a:r>
            <a:r>
              <a:rPr lang="en-US" baseline="-25000" dirty="0" err="1"/>
              <a:t>R</a:t>
            </a:r>
            <a:r>
              <a:rPr lang="en-US" dirty="0" err="1"/>
              <a:t>−E</a:t>
            </a:r>
            <a:r>
              <a:rPr lang="en-US" baseline="30000" dirty="0" err="1"/>
              <a:t>o</a:t>
            </a:r>
            <a:r>
              <a:rPr lang="en-US" baseline="-25000" dirty="0" err="1"/>
              <a:t>L</a:t>
            </a:r>
            <a:r>
              <a:rPr lang="en-US" baseline="-25000" dirty="0"/>
              <a:t>  </a:t>
            </a:r>
            <a:r>
              <a:rPr lang="en-US" dirty="0"/>
              <a:t>=  −0.126−(−0.763)  =0.637 V</a:t>
            </a:r>
          </a:p>
        </p:txBody>
      </p:sp>
    </p:spTree>
    <p:extLst>
      <p:ext uri="{BB962C8B-B14F-4D97-AF65-F5344CB8AC3E}">
        <p14:creationId xmlns:p14="http://schemas.microsoft.com/office/powerpoint/2010/main" val="3665627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A10F7-B5E8-250A-D9D1-9D2DF3481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346" y="741888"/>
            <a:ext cx="4243842" cy="2522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208EA8-5161-BAEB-A377-AF9DE0AEC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454" y="3593972"/>
            <a:ext cx="4269453" cy="25221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BFB53F-9632-9D94-FAD8-447EAC681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464" y="3587116"/>
            <a:ext cx="4158623" cy="252899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6314351-C816-4840-3C79-C2C5E4111D11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55FD24-2F0E-6D9A-32E7-CB7C953AAE7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CA926C-8A93-8C10-B8A1-32C9ADB2B29A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F6EB83-B341-6C45-340D-B7AC4F2F5DCD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90AA02-7689-34A2-ECF3-4A2222247F8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FAE1DF-038F-0B9E-248F-4C6014A4F68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9053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68256A-2580-8DD9-3970-BBDFBBC1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02" y="755815"/>
            <a:ext cx="8380759" cy="534660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7FF9589-86F6-F3F3-5AB6-8A1FA46803DA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7C7191A-8328-1433-447D-17CEAB3478E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E99F90-F759-FCE9-1854-A6E2C2198E8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E5758B-E7CA-0693-B761-07905EA57949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BE2B22-1C29-5711-A43D-C1F2A043CD1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1F51EB-B080-B146-0E3A-DCD698EEE19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0798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Take away of the session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b="1">
                <a:ea typeface="+mn-lt"/>
                <a:cs typeface="+mn-lt"/>
              </a:rPr>
              <a:t>Definition: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b="1">
                <a:ea typeface="+mn-lt"/>
                <a:cs typeface="+mn-lt"/>
              </a:rPr>
              <a:t>battery</a:t>
            </a:r>
            <a:r>
              <a:rPr lang="en-US">
                <a:ea typeface="+mn-lt"/>
                <a:cs typeface="+mn-lt"/>
              </a:rPr>
              <a:t> is a device that </a:t>
            </a:r>
            <a:r>
              <a:rPr lang="en-US" b="1">
                <a:ea typeface="+mn-lt"/>
                <a:cs typeface="+mn-lt"/>
              </a:rPr>
              <a:t>stores chemical energy</a:t>
            </a:r>
            <a:r>
              <a:rPr lang="en-US">
                <a:ea typeface="+mn-lt"/>
                <a:cs typeface="+mn-lt"/>
              </a:rPr>
              <a:t> and converts it into </a:t>
            </a:r>
            <a:r>
              <a:rPr lang="en-US" b="1">
                <a:ea typeface="+mn-lt"/>
                <a:cs typeface="+mn-lt"/>
              </a:rPr>
              <a:t>electrical energy</a:t>
            </a:r>
            <a:r>
              <a:rPr lang="en-US">
                <a:ea typeface="+mn-lt"/>
                <a:cs typeface="+mn-lt"/>
              </a:rPr>
              <a:t> through electrochemical reactions.</a:t>
            </a:r>
          </a:p>
          <a:p>
            <a:r>
              <a:rPr lang="en-US" b="1" dirty="0">
                <a:ea typeface="+mn-lt"/>
                <a:cs typeface="+mn-lt"/>
              </a:rPr>
              <a:t>Types of Batteries: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Primary Batteries:</a:t>
            </a:r>
            <a:r>
              <a:rPr lang="en-US" dirty="0">
                <a:ea typeface="+mn-lt"/>
                <a:cs typeface="+mn-lt"/>
              </a:rPr>
              <a:t> Non-rechargeable (e.g., dry cell, alkaline battery)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Secondary Batteries:</a:t>
            </a:r>
            <a:r>
              <a:rPr lang="en-US" dirty="0">
                <a:ea typeface="+mn-lt"/>
                <a:cs typeface="+mn-lt"/>
              </a:rPr>
              <a:t> Rechargeable (e.g., lead-acid, lithium-ion, nickel-cadmium)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Key Components:</a:t>
            </a:r>
            <a:endParaRPr lang="en-US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Anode (negative electrode)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Cathode (positive electrode)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Electrolyte</a:t>
            </a:r>
            <a:r>
              <a:rPr lang="en-US" dirty="0">
                <a:ea typeface="+mn-lt"/>
                <a:cs typeface="+mn-lt"/>
              </a:rPr>
              <a:t> (medium for ion flow)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Important Parameters: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Voltage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capacity (</a:t>
            </a:r>
            <a:r>
              <a:rPr lang="en-US" b="1" dirty="0" err="1">
                <a:ea typeface="+mn-lt"/>
                <a:cs typeface="+mn-lt"/>
              </a:rPr>
              <a:t>mAh</a:t>
            </a:r>
            <a:r>
              <a:rPr lang="en-US" b="1" dirty="0">
                <a:ea typeface="+mn-lt"/>
                <a:cs typeface="+mn-lt"/>
              </a:rPr>
              <a:t>/Ah)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cycle life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energy density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charging time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Applications:</a:t>
            </a:r>
            <a:r>
              <a:rPr lang="en-US" dirty="0">
                <a:ea typeface="+mn-lt"/>
                <a:cs typeface="+mn-lt"/>
              </a:rPr>
              <a:t> Widely used in </a:t>
            </a:r>
            <a:r>
              <a:rPr lang="en-US" b="1" dirty="0">
                <a:ea typeface="+mn-lt"/>
                <a:cs typeface="+mn-lt"/>
              </a:rPr>
              <a:t>electronics, EVs, power backup systems, and renewable energy storage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FB3E50-893C-2282-A340-F8946047056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CC375F-5932-12D9-E0E0-D0841E54F6F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FB00F3-FC1D-CC1D-584C-BA24CD9CC59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41FF575-3D57-EB7E-C311-7B62784040C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AE67CE-0356-E2D9-7563-5F694F21C659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AFD280-F824-B547-D9A0-0FEB1CE9A23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2620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944" y="1253331"/>
            <a:ext cx="10515600" cy="4351338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buNone/>
            </a:pP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1. Which of the following batteries is rechargeable?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A. Alkaline battery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B. Dry cell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C. Lead-acid battery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D. Zinc-carbon battery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5600" dirty="0"/>
          </a:p>
          <a:p>
            <a:pPr>
              <a:buNone/>
            </a:pP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2. What is the function of the electrolyte in a battery?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A. Stores electricity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B. Prevents short circuit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C. Allows ion flow between electrodes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D. Insulates the electrodes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5600" dirty="0"/>
          </a:p>
          <a:p>
            <a:pPr>
              <a:buNone/>
            </a:pP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3. Which of the following is a primary battery?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A. Nickel-cadmium battery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B. Lead-acid battery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C. Lithium-ion battery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D. Zinc-carbon battery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✅ Answer: D</a:t>
            </a:r>
            <a:endParaRPr lang="en-US" sz="5600" dirty="0"/>
          </a:p>
          <a:p>
            <a:pPr>
              <a:buNone/>
            </a:pP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4. What does “</a:t>
            </a:r>
            <a:r>
              <a:rPr lang="en-GB" sz="5600" b="1" dirty="0" err="1">
                <a:solidFill>
                  <a:schemeClr val="accent1"/>
                </a:solidFill>
                <a:ea typeface="+mn-lt"/>
                <a:cs typeface="+mn-lt"/>
              </a:rPr>
              <a:t>mAh</a:t>
            </a: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” (milliampere-hour) indicate in a battery?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A. Voltage rating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B. Power consumption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C. Battery capacity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D. Resistance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5600" dirty="0"/>
          </a:p>
          <a:p>
            <a:pPr>
              <a:buNone/>
            </a:pP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5. Lithium-ion batteries are widely used in: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A. Flashlights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B. Mobile phones and laptops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C. Remote controls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D. Emergency lamps only</a:t>
            </a:r>
            <a:b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5600" b="1" dirty="0">
                <a:solidFill>
                  <a:schemeClr val="accent1"/>
                </a:solidFill>
                <a:ea typeface="+mn-lt"/>
                <a:cs typeface="+mn-lt"/>
              </a:rPr>
              <a:t> ✅ Answer: B</a:t>
            </a:r>
            <a:endParaRPr lang="en-GB" sz="5600" dirty="0"/>
          </a:p>
          <a:p>
            <a:pPr>
              <a:buNone/>
            </a:pP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4F804-C689-3DA7-91D1-4EB535398D8A}"/>
              </a:ext>
            </a:extLst>
          </p:cNvPr>
          <p:cNvSpPr txBox="1"/>
          <p:nvPr/>
        </p:nvSpPr>
        <p:spPr>
          <a:xfrm>
            <a:off x="4871541" y="191573"/>
            <a:ext cx="1386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Questions</a:t>
            </a:r>
            <a:endParaRPr lang="en-IN" sz="20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906A34-E80E-02EE-B93A-322FAA430DE8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26077E-1C69-A97D-476F-03F21EFA426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F6EEC4C-9C54-6996-D383-E8CE5BF061E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120A9-6F34-BC99-C80B-B233E950E7E3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B7B828-CC4D-3F7F-1140-A4548284CEB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C3F2A3-4699-D7CB-2EEB-BE2F990AE4D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529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611" y="376489"/>
            <a:ext cx="10515600" cy="1325563"/>
          </a:xfrm>
        </p:spPr>
        <p:txBody>
          <a:bodyPr/>
          <a:lstStyle/>
          <a:p>
            <a:r>
              <a:rPr b="1" dirty="0">
                <a:solidFill>
                  <a:schemeClr val="accent5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288" y="1996323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000" dirty="0"/>
              <a:t>CO1: </a:t>
            </a:r>
            <a:r>
              <a:rPr lang="en-US" sz="2000" dirty="0"/>
              <a:t>Understand the methods for water hardness and the basics of boiler water treatment and analyze fuel calorific values and battery.</a:t>
            </a:r>
          </a:p>
          <a:p>
            <a:pPr marL="0" indent="0">
              <a:buNone/>
            </a:pPr>
            <a:r>
              <a:rPr lang="en-GB" sz="2000" dirty="0"/>
              <a:t>CO2: </a:t>
            </a:r>
            <a:r>
              <a:rPr lang="en-US" sz="2000" dirty="0"/>
              <a:t>Explain the characteristics and working principles of different battery types and types of fuels.</a:t>
            </a:r>
            <a:endParaRPr lang="en-GB" sz="2000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263E1C-814B-1AF4-B7F4-B4AEB0945408}"/>
              </a:ext>
            </a:extLst>
          </p:cNvPr>
          <p:cNvSpPr txBox="1">
            <a:spLocks/>
          </p:cNvSpPr>
          <p:nvPr/>
        </p:nvSpPr>
        <p:spPr>
          <a:xfrm>
            <a:off x="805113" y="319232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5"/>
                </a:solidFill>
              </a:rPr>
              <a:t>Mapped Course Outcomes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A9837B-9412-6B18-7838-57D35A21EE7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ADEBA5-6E72-EC44-A640-AF97D4E5D79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AF2560-0AE3-44D1-B205-AC7E71FDD893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79D6B0-FFC6-A9D2-8A81-FD5DC1E6D76D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02959D-38B4-7D26-CC3F-BF4AD360344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C0538D-9319-C1E8-73C9-9C6981649CE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8E27E974-F716-ECC7-6FE5-DCB3DEB0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13" y="22779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Recall definitions and types of electrochemical cells and batteries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CO1, CO2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 the construction and characteristics of batteries and galvanic cells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CO1, CO2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EMF calculation methods and relate them to real battery examples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Analyze the differences between galvanic and electrolytic cells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4DCA4-FD37-C2FC-1119-5C45808EF00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3CB68-5CE5-9A1C-A405-2895508686B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766F54-A2AC-8A36-FCBA-75783A45962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3BA160-06B8-4131-B8B4-9311BD5B3757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4D3B3F-BF91-7EBC-2133-14B8E92D23C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C7CBCB-34DC-95E3-9429-D8AF1AEA67E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1293</Words>
  <Application>Microsoft Office PowerPoint</Application>
  <PresentationFormat>Widescreen</PresentationFormat>
  <Paragraphs>114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Verdana</vt:lpstr>
      <vt:lpstr>Wingdings</vt:lpstr>
      <vt:lpstr>Office Theme</vt:lpstr>
      <vt:lpstr>PowerPoint Presentation</vt:lpstr>
      <vt:lpstr>Course Overview</vt:lpstr>
      <vt:lpstr>PowerPoint Presentation</vt:lpstr>
      <vt:lpstr>Battery Technology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away of the session</vt:lpstr>
      <vt:lpstr>PowerPoint Presentation</vt:lpstr>
      <vt:lpstr>Learning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Dr. Mehak Ahuja</cp:lastModifiedBy>
  <cp:revision>14</cp:revision>
  <dcterms:created xsi:type="dcterms:W3CDTF">2024-10-30T03:44:15Z</dcterms:created>
  <dcterms:modified xsi:type="dcterms:W3CDTF">2025-08-23T09:02:06Z</dcterms:modified>
</cp:coreProperties>
</file>