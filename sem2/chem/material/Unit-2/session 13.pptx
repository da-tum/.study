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575" r:id="rId2"/>
    <p:sldId id="565" r:id="rId3"/>
    <p:sldId id="576" r:id="rId4"/>
    <p:sldId id="589" r:id="rId5"/>
    <p:sldId id="507" r:id="rId6"/>
    <p:sldId id="590" r:id="rId7"/>
    <p:sldId id="591" r:id="rId8"/>
    <p:sldId id="592" r:id="rId9"/>
    <p:sldId id="593" r:id="rId10"/>
    <p:sldId id="594" r:id="rId11"/>
    <p:sldId id="595" r:id="rId12"/>
    <p:sldId id="597" r:id="rId13"/>
    <p:sldId id="596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285" r:id="rId24"/>
    <p:sldId id="588" r:id="rId25"/>
    <p:sldId id="545" r:id="rId26"/>
    <p:sldId id="572" r:id="rId27"/>
    <p:sldId id="5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02C1D-94CB-4834-A912-3AE0D08131D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DB4FE-EB86-4588-BAFB-1393FF14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82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1C4E-7B30-6C16-6960-80DF5FE74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8DFA7-5061-BF0B-C240-8FF3FDD85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CDE0-B404-31DF-E0DA-198F6498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DC50-F691-89D0-46A6-B4DECC75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B6D23-AB62-06CB-7F0A-0A239A47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D488-1772-83CE-8618-96D1889B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CFA5-1450-CB13-E191-2973EBB0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0071-FCC8-62C2-E8EC-F46636A6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65BA2-16FA-BCEB-1754-40DE38CF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C5799-FCF7-5381-2AD3-7B195DEA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7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F38D-EE2D-F18E-8BE9-F3C1D7A0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3E3C-5521-82E3-3BFB-8E8733024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71E3-DF3F-FEEC-44D7-495A6C78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9EF14-D775-4121-8165-17042C5B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69711-C6E9-A6BD-A55A-D69FB46D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4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453C-538B-EA7B-AA31-C8039EB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81EC-06B1-A9F6-4144-0F7E7F405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AD819-12B1-25F4-3EA2-EFA4EBC0F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6A0FF-429B-EB37-FCE9-40C3225D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B8E0A-6B6D-3C10-FFA1-393DF17A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7C42-A85A-667B-0429-C7FFA6A3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8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D4E7-4C07-646A-8E6C-2CD76E46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FD103-0CB9-AE1B-4470-AB2DC8C09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4EE50-8F0B-CFB3-E7F3-0460A6BC4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281D9-E595-85FB-6301-48AB99B78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49F9A-1D1A-A1DF-FF6F-7A443C745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F0EBB-31A9-8141-6EBD-F94404C0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F0DC0-4CC9-82CA-6688-CE12909B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3002-7B32-290B-9184-4C5CC749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0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D627-F147-C2A2-F449-8FCF9B88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A377A-6BB6-9B2E-82D7-AF93F836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10EE8-67A8-345C-4FCE-FB4F22FC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7476A-5F48-62A8-B238-ED7B4A46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1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E1CAE-D8F7-D851-D86D-24384831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16E03-7A1C-2383-044B-6561FE36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17E39-5725-D2C2-0262-E31C2A13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1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4448-2272-F2FA-41D1-E4DE6D62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CE77-2D49-C93B-8DD6-6B48553A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D74E9-EB5E-E5FF-17BF-B7ABCCC9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6F97C-E6AC-1E89-0451-6C8CB07A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34E53-FCA7-8F51-B66E-4C49328C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11705-7976-F416-42F8-A4393B82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4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18C7-19F3-7817-D90F-A9A43B67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AC4C7-3830-73FC-0798-8CC5E1A56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FE46-7012-CE40-27D8-9D7A5A937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2CAD0-4DC3-2DC4-B1DB-23B6FB23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B8B5A-55BA-1F51-A16F-00A7CE83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F312F-E75C-B64D-BA84-3CFE3764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5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4483-972D-73EF-B7B3-FB45EEB9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E8C84-A190-B9A2-9E31-665AC5937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80901-C7CA-EC1D-91CA-E214051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ACD6E-F14F-B4B5-40A5-3EF5E250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F97-DA3A-5302-367E-BCA6A97B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5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7ED5D-89AA-4EB5-3B7B-36A681DB0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8AA92-D26C-DEAF-ABBC-22A169FD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367A-4D9D-EFD2-04DB-841E12AE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ABC7-07D8-03A4-1E86-BCEDFD0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1DA3-A7AB-F7A6-E5EC-58D13B15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3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7DD64-AECF-C1F4-D198-3E0B65BF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C4DB9-F1E0-50C2-832F-F8A369929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2A811-8D93-43A5-F090-64B23FAD5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6BA5-9D6B-3CC5-F1CE-453FE9598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A45C-D85D-FECF-F105-D91EC8D0A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6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1508786" y="1251438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3280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Mehak Ahuja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152400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0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7623" y="409574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1506502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719BDD-186E-08A6-C939-8A57F8F86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98321"/>
              </p:ext>
            </p:extLst>
          </p:nvPr>
        </p:nvGraphicFramePr>
        <p:xfrm>
          <a:off x="975360" y="1313561"/>
          <a:ext cx="8742434" cy="4966604"/>
        </p:xfrm>
        <a:graphic>
          <a:graphicData uri="http://schemas.openxmlformats.org/drawingml/2006/table">
            <a:tbl>
              <a:tblPr/>
              <a:tblGrid>
                <a:gridCol w="2507520">
                  <a:extLst>
                    <a:ext uri="{9D8B030D-6E8A-4147-A177-3AD203B41FA5}">
                      <a16:colId xmlns:a16="http://schemas.microsoft.com/office/drawing/2014/main" val="1940542252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3086358177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718158968"/>
                    </a:ext>
                  </a:extLst>
                </a:gridCol>
              </a:tblGrid>
              <a:tr h="521835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WISE DETAILS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b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24710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Water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6 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671126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Introduction, water analysis: Hardness-determination by EDTA method, Treatment of boiler feed water: Internal treatment (Phosphate, Colloidal and Calgon conditioning). External treatments: Ion exchange and lime-soda process, Zeolite processes. Boiler scales formation and ill effects, methods of prevention of scales. Numerical problems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22557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Chemical Fuels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78116"/>
                  </a:ext>
                </a:extLst>
              </a:tr>
              <a:tr h="962345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Fuels: Introduction, classification, calorific value (HCV &amp; LCV), Determination of calorific value of fuel using Bomb calorimeter.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Solid fuel: Coal- its analysis by proximate and ultimate analysis, Numerical problems.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Liquid fuels: Refining of petroleum, Petroleum cracking, Knocking in IC engine, its ill effects and prevention of knocking. Anti-knocking agent: Leaded and unleaded petrol.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Gaseous fuels: LPG, CNG and their applications.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70779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Battery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039795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- Galvanic cell, electrode potential, EMF of the cell and cell representation. Batteries and their importance, Classification of batteries- primary, secondary and reserve batteries with examples. Battery characteristics - voltage, capacity, energy density, power density, energy efficiency, cycle life and shelf life.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Construction, working and applications of: Ni-Cd, and Lithium-ion battery. Working principle of an electric vehicle.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21529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Polymer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217920"/>
                  </a:ext>
                </a:extLst>
              </a:tr>
              <a:tr h="617166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 concepts of polymer, Types of polymers, Thermoplastic &amp; thermosetting plastics, Preparation and application of some industrially important polymers (Natural rubber, Buna S, Buna-N, Neoprene, Isoprene, Nylon-6, nylon-6,6 , </a:t>
                      </a:r>
                      <a:r>
                        <a:rPr lang="en-US" sz="11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Decron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Terylene). Conducting and biodegradable polymers.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3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2152650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/>
        </p:nvGraphicFramePr>
        <p:xfrm>
          <a:off x="5657779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D30CA-6469-6B00-954E-8D35AB9694F8}"/>
              </a:ext>
            </a:extLst>
          </p:cNvPr>
          <p:cNvSpPr txBox="1"/>
          <p:nvPr/>
        </p:nvSpPr>
        <p:spPr>
          <a:xfrm>
            <a:off x="2454442" y="1720840"/>
            <a:ext cx="72831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LIQUID FUELS Continued………. </a:t>
            </a:r>
          </a:p>
          <a:p>
            <a:r>
              <a:rPr lang="en-US" sz="5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</a:p>
          <a:p>
            <a:r>
              <a:rPr lang="en-US" sz="5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GASEOUS FUELS</a:t>
            </a:r>
            <a:endParaRPr lang="en-IN" sz="5400" b="1" i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6C8D50-7512-7BE8-2AE5-B5E9DE0A2B8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09CB91-9C50-2EE5-FF1E-D7565D1EA95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6A8223-1CA8-B1B1-3719-A6484E9C3EC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73B920B-2053-E513-4EDD-78ACFF8A08E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08CBBC-BEB2-CEFD-B79F-48C3C52E2AB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F286172-12AA-7EE1-B457-869AF52EF67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914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" t="15006" r="4883" b="44576"/>
          <a:stretch/>
        </p:blipFill>
        <p:spPr bwMode="auto">
          <a:xfrm>
            <a:off x="2522176" y="421152"/>
            <a:ext cx="7551684" cy="2490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21789" r="6241" b="31339"/>
          <a:stretch/>
        </p:blipFill>
        <p:spPr bwMode="auto">
          <a:xfrm>
            <a:off x="2510344" y="3501008"/>
            <a:ext cx="7539366" cy="2396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45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040C31-4E91-F42D-0BEE-529AAD66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975970"/>
            <a:ext cx="8535591" cy="49060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2C811AB-5D8D-61EA-76E1-D071E568A12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313C10-6DAC-74CE-6C8B-255CCA3E67CC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C10D66-0E87-4E47-2762-37B8470927E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4E0BE1F-18E5-5409-F2A1-1339F0FFCAB9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D700E9-6720-CF35-B68D-938F842C521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A6EDE0-8AE0-00B5-BCFC-F1B06051E95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10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240E01-4FE9-DC40-1774-EF728F891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952154"/>
            <a:ext cx="8230749" cy="495369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BECDED-CC7B-7F48-8A54-082708BBFFA1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B90C90-FBFA-12E7-996D-538290BC4CE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203356-2008-5D04-9300-7CE122FA333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16E59A6-BC0B-7AE8-90AD-D18704D1A4C9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65DAAF-A8D7-3148-3460-E071ED4F6E7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613BA8-9D6F-8882-B765-6018467C772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63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FF3B64-8B81-6F9F-CC67-21902300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123363"/>
            <a:ext cx="8802328" cy="661127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60B51DD-C813-2A5B-3BE1-FEDE31CB564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3C3A95-134D-11CB-3CB4-E658C6EFD0F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47AC33-445F-497F-01DD-70D3235A8FBA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1AE9200-1F63-E9B5-E054-92E51F14C493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D72AFE-D9A5-318D-BE8A-B6548E779BB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F02DE3-BCF0-50C1-39BE-D8A29EB74A6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87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6C6435-E4B9-C239-ECE2-7D2B4CED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36" y="595001"/>
            <a:ext cx="5468592" cy="28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2AA4B-4400-0D91-4A38-86569F8D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496" y="2995217"/>
            <a:ext cx="6063596" cy="3862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C2F50A-3544-C869-897F-BD53A94E2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6" y="3828854"/>
            <a:ext cx="4147829" cy="21935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5FB4756-15F1-834B-C31D-3E45CD1AA2D0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ABB014-E5CB-7B6F-4252-1BBDDD4CDF4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997F66-CFF2-9B4D-97F9-EE8A6144690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B02A3F-27BA-7754-B004-1ACAE9027173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763C3A-BEDE-43D7-64D0-072658687E2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D7A42C-D7FB-A105-0724-3C645308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280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287BC-CD8F-CF6B-E8C8-5CA97C75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351995"/>
            <a:ext cx="8592749" cy="615400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3D86CE-7D9D-054F-90D9-E35955B243E5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3CCDA7-0E53-D680-1C63-3F121A51FB0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D3E460-77A3-5E13-B805-FE08C03669B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BD70565-60C5-1D40-7AB5-089F0A24561C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1ED480-D57E-8D09-0497-0EA1757301F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5193C-4BE8-460A-0CA0-6E49BDEFE58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36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70E75-6B91-5810-B5BC-DC8B3B22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337" y="609163"/>
            <a:ext cx="6755214" cy="563967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FD374A5-B8FD-6956-B737-2D940DDDC351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AB9003-294F-73E3-8BF9-30E6FCE61B5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A3E519-5FFA-DE2F-FE50-2EC89C5F4B6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3547FE-F87D-336C-A509-219FA3416D8C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836FF9-46D1-A826-403B-1A1B2F7F23D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AEEF69-A411-30F6-EB52-3772BCD5ECB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77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79ACE-F96C-223F-B5AB-37AF23A37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885470"/>
            <a:ext cx="8297433" cy="50870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94E25C5-53FB-738E-F933-DB6F9FDBD651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F5886F-C2E7-CA97-7DAA-174715EB1EF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D912E-6DD2-00C3-AC63-ABBD320578E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6DEB8D-DAD1-1BA6-A147-0C57F41F4C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8F3AC4-B01C-59DC-B304-9CA248D15F0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D61C4-2018-B9BB-EBA1-FACBD230A6A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892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2B917-C634-2353-012E-1F9EF3BD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285311"/>
            <a:ext cx="8116433" cy="628737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80D90C4-E241-C1AF-9398-1BD7D36690CA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6E0219-6A19-E4F7-6B36-48BADB821A7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7D5161-E5F6-2F6A-08E5-2AE9D23B162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2FCAFF-81FD-1DCE-9249-269084516514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9223E7-D66F-F028-0FB0-B9FE4643B02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F6CFCF1-F7C6-7326-90EE-FC1EBD8246A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740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0E0D68-0B38-E464-DA60-33714979C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809259"/>
            <a:ext cx="8259328" cy="523948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FCF3702-5DF0-9E42-773C-A68C360FF86F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7244C1-754F-8671-45E0-A116DA0DE10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36DF5B-E9BD-7070-F29F-ABB397313B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267FB3-E824-CDA9-E705-A78A1BCC97D2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309260-D13B-778A-6464-BA4C59CF266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7F17E6-3BCE-7401-A61E-1013E74A5CB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149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C5BEA-1331-FC9A-E35C-DF58A495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413916"/>
            <a:ext cx="8297433" cy="60301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EEFACF3-1FE0-008F-A1EE-9395F8FB0EBF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A0AC7C-80FD-1232-24A0-4BD74A320AF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E9AF66-8932-389E-35A3-2ACBFED5BBE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00112-81C0-AB8E-BE4C-F8D7E15643EB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B0BBD-607C-3B5D-6A98-64750AD2BED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62E0FC-8F90-01E0-3A04-192ADFB600D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153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4A7B0-1AAE-F1AF-DBA1-CBEDA4896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20" y="552048"/>
            <a:ext cx="8306959" cy="575390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BD2EA1D-AAAA-4541-7243-C0CC3E51EB1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0F89D1-0B65-ECB7-53AF-80019B1E417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306287-1B80-416D-7667-FEEF0C41C6F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3098470-3A15-220C-C946-AB658DBF28D3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B7C0FE-4FE0-6DA8-8E7F-2819225ECC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1890E3-1A13-1F15-2F51-1F3A6504E1C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507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FE232-EB96-C03D-D974-42D738D2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47" y="1388151"/>
            <a:ext cx="6944694" cy="304842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751EB3D-D865-BAA6-0156-71544E85C07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4DF5E8-9C11-BCBC-618A-1E3CA1F9CF2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914838-F197-CB4C-D110-1DC0CBE28C4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27627F8-43D4-51CD-99E7-B3BB5727700E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3AC72F-D2BC-2F7D-6772-84C4DBC57A4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193A91-CC90-DCA2-39F9-0A1EAC6BF58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516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47471-E819-87FD-A8C1-AF2F86F2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228007"/>
            <a:ext cx="8516539" cy="514421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0DC3809-972F-08F6-6F57-24143DE2717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6C95834-295D-7324-AA60-988B21F5065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64D7AFE-1911-73E7-E2E7-8FF37B7F34B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4F8895D-D0D0-9800-21AF-0EE54571DF88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8BB4D8-C92B-F255-A8BC-9C4DB67776D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B1C173-3CDD-060F-F9A7-448A523334E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289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5569A-6F15-F871-8AF5-AAE4D9420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1604708"/>
            <a:ext cx="8240275" cy="36485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924823A-71A5-6A61-4003-BAD39C4A6EB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D9A522-AE75-E60E-AB89-DF8B227FE8C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830446-801D-1EE1-E2DE-8946AE1876E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6B9FAA1-0731-8B3B-64FA-CE81A7149D8F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31A749-0EFC-705D-B227-1D3A70A4B36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89C9CF-0C10-A96B-4054-CA5639BB447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91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ADEC9-D425-4B4A-CFCD-2B43C5B3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752101"/>
            <a:ext cx="8173591" cy="535379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8F99000-4DDA-178B-B846-760B2C536CC2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059A20-1698-8483-110B-C8F16CC4B9B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8434F9-39DF-D18E-0B02-B43557B32F0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48CC6C-547F-3495-C663-ECFADB7F201A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A1B532D-15CC-FA7F-F5EA-810F492ECDA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41D69F-464A-20B4-9C04-9923FF56DE6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2138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7B84C-CDAD-6252-EA63-35F0CB82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699706"/>
            <a:ext cx="8468907" cy="545858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C2E3707-4507-8177-7E15-C4972A49DA5A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B9876D-B717-AD31-7F2E-1E959526396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DD0749-FB15-76B7-FB83-F0ECFD462DF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CAAFD7-9126-6C8D-E0B2-04E3CF5B31A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9505D2-D3ED-141E-C809-22D4E9D4B48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26AD63-2A71-E932-7BD1-3D1CCE72958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11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95CDD-5EBB-AD0D-EE7C-C7207A321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09" y="660756"/>
            <a:ext cx="7172343" cy="57572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FEAC29A-9492-39F0-A37D-1A0F5832F0A9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A802B7-AC7E-D87A-228A-D97C7DA767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49D071-8C07-3C7F-BFBE-8EF5E81F06F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710D8A-0C4D-36E6-29F9-F553A552870E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BC5DD9-B28F-1A77-5F5E-7B77B614FB9C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0787DB-541B-9E2C-E66D-ECBAE5DDB88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650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76489"/>
            <a:ext cx="10515600" cy="1325563"/>
          </a:xfrm>
        </p:spPr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611" y="1916113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CO1: </a:t>
            </a:r>
            <a:r>
              <a:rPr lang="en-US" sz="2400" dirty="0"/>
              <a:t>Understand the methods for water hardness and the basics of boiler water treatment and analyze fuel calorific values and battery.</a:t>
            </a:r>
          </a:p>
          <a:p>
            <a:pPr marL="0" indent="0">
              <a:buNone/>
            </a:pPr>
            <a:r>
              <a:rPr lang="en-GB" sz="2400" dirty="0"/>
              <a:t>CO2: </a:t>
            </a:r>
            <a:r>
              <a:rPr lang="en-US" sz="2400" dirty="0"/>
              <a:t>Explain the characteristics and working principles of different battery types and types of fuels.</a:t>
            </a:r>
            <a:endParaRPr lang="en-GB" sz="24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805113" y="31923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A9837B-9412-6B18-7838-57D35A21EE7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ADEBA5-6E72-EC44-A640-AF97D4E5D79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F2560-0AE3-44D1-B205-AC7E71FDD893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9D6B0-FFC6-A9D2-8A81-FD5DC1E6D76D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2959D-38B4-7D26-CC3F-BF4AD360344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0538D-9319-C1E8-73C9-9C6981649CE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EC4DEF99-1714-B21A-673C-620C1AED7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11" y="1630364"/>
            <a:ext cx="9332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Recall definitions and types of fuels (CO2)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characteristics of solid, liquid, and gaseous fuels;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calorific value (CO1, 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knowledge to identify ideal fuels and solve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related to fuel properties (CO1, CO2)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4DCA4-FD37-C2FC-1119-5C45808EF00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3CB68-5CE5-9A1C-A405-2895508686B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766F54-A2AC-8A36-FCBA-75783A4596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BA160-06B8-4131-B8B4-9311BD5B375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4D3B3F-BF91-7EBC-2133-14B8E92D23C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C7CBCB-34DC-95E3-9429-D8AF1AEA67E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9857" y="251916"/>
            <a:ext cx="344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Antiknock Agents</a:t>
            </a:r>
            <a:endParaRPr lang="en-IN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703195" y="1196752"/>
            <a:ext cx="68407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TEL – Tetra ethyl lead </a:t>
            </a:r>
            <a:r>
              <a:rPr lang="en-US" sz="3200" b="1" dirty="0" err="1"/>
              <a:t>Pb</a:t>
            </a:r>
            <a:r>
              <a:rPr lang="en-US" sz="3200" b="1" dirty="0"/>
              <a:t>(C</a:t>
            </a:r>
            <a:r>
              <a:rPr lang="en-US" sz="3200" b="1" baseline="-25000" dirty="0"/>
              <a:t>2</a:t>
            </a:r>
            <a:r>
              <a:rPr lang="en-US" sz="3200" b="1" dirty="0"/>
              <a:t>H</a:t>
            </a:r>
            <a:r>
              <a:rPr lang="en-US" sz="3200" b="1" baseline="-25000" dirty="0"/>
              <a:t>5</a:t>
            </a:r>
            <a:r>
              <a:rPr lang="en-US" sz="3200" b="1" dirty="0"/>
              <a:t>)</a:t>
            </a:r>
            <a:r>
              <a:rPr lang="en-US" sz="3200" b="1" baseline="-25000" dirty="0"/>
              <a:t>4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sz="2400" b="1" dirty="0"/>
              <a:t>Used in the form of ethyl fluid.</a:t>
            </a:r>
          </a:p>
          <a:p>
            <a:r>
              <a:rPr lang="en-US" sz="2400" b="1" baseline="-25000" dirty="0"/>
              <a:t>    </a:t>
            </a:r>
          </a:p>
          <a:p>
            <a:endParaRPr lang="en-US" sz="2400" b="1" baseline="-25000" dirty="0"/>
          </a:p>
          <a:p>
            <a:r>
              <a:rPr lang="en-US" sz="2400" b="1" dirty="0"/>
              <a:t>Ethyl fluid contains: 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63% TEL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26% </a:t>
            </a:r>
            <a:r>
              <a:rPr lang="en-US" sz="2400" b="1" dirty="0" err="1"/>
              <a:t>dibromoethane</a:t>
            </a:r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baseline="-25000" dirty="0"/>
              <a:t> </a:t>
            </a:r>
            <a:r>
              <a:rPr lang="en-US" sz="2400" b="1" dirty="0"/>
              <a:t>9 % </a:t>
            </a:r>
            <a:r>
              <a:rPr lang="en-US" sz="2400" b="1" dirty="0" err="1"/>
              <a:t>dichloro</a:t>
            </a:r>
            <a:r>
              <a:rPr lang="en-US" sz="2400" b="1" dirty="0"/>
              <a:t> ethane</a:t>
            </a:r>
            <a:r>
              <a:rPr lang="en-US" sz="2400" b="1" baseline="-25000" dirty="0"/>
              <a:t>            </a:t>
            </a:r>
          </a:p>
          <a:p>
            <a:endParaRPr lang="en-US" sz="2400" b="1" baseline="-25000" dirty="0"/>
          </a:p>
          <a:p>
            <a:r>
              <a:rPr lang="en-US" sz="2400" b="1" dirty="0"/>
              <a:t>1-2 ml of ethyl fluid added to 1 </a:t>
            </a:r>
            <a:r>
              <a:rPr lang="en-US" sz="2400" b="1" dirty="0" err="1"/>
              <a:t>litre</a:t>
            </a:r>
            <a:r>
              <a:rPr lang="en-US" sz="2400" b="1" dirty="0"/>
              <a:t> of petrol increases octane value by 8-10 units.</a:t>
            </a:r>
          </a:p>
          <a:p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68463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Take away of the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Fuels that are </a:t>
            </a:r>
            <a:r>
              <a:rPr lang="en-US" b="1" dirty="0">
                <a:ea typeface="+mn-lt"/>
                <a:cs typeface="+mn-lt"/>
              </a:rPr>
              <a:t>liquid at room temperature</a:t>
            </a:r>
            <a:r>
              <a:rPr lang="en-US" dirty="0">
                <a:ea typeface="+mn-lt"/>
                <a:cs typeface="+mn-lt"/>
              </a:rPr>
              <a:t> and used primarily in </a:t>
            </a:r>
            <a:r>
              <a:rPr lang="en-US" b="1" dirty="0">
                <a:ea typeface="+mn-lt"/>
                <a:cs typeface="+mn-lt"/>
              </a:rPr>
              <a:t>transportation, heating, and industrial processes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Examples: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Petrol (gasoline), diesel, kerosene, fuel oil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alcohols (ethanol, methanol)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Advantages: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High </a:t>
            </a:r>
            <a:r>
              <a:rPr lang="en-US" b="1" dirty="0">
                <a:ea typeface="+mn-lt"/>
                <a:cs typeface="+mn-lt"/>
              </a:rPr>
              <a:t>calorific value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Easy </a:t>
            </a:r>
            <a:r>
              <a:rPr lang="en-US" b="1" dirty="0">
                <a:ea typeface="+mn-lt"/>
                <a:cs typeface="+mn-lt"/>
              </a:rPr>
              <a:t>transportation and storage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Clean and </a:t>
            </a:r>
            <a:r>
              <a:rPr lang="en-US" b="1" dirty="0">
                <a:ea typeface="+mn-lt"/>
                <a:cs typeface="+mn-lt"/>
              </a:rPr>
              <a:t>smokeless combustion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Easily </a:t>
            </a:r>
            <a:r>
              <a:rPr lang="en-US" b="1" dirty="0">
                <a:ea typeface="+mn-lt"/>
                <a:cs typeface="+mn-lt"/>
              </a:rPr>
              <a:t>regulated supply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Applications:</a:t>
            </a:r>
            <a:r>
              <a:rPr lang="en-US" dirty="0">
                <a:ea typeface="+mn-lt"/>
                <a:cs typeface="+mn-lt"/>
              </a:rPr>
              <a:t> Used in </a:t>
            </a:r>
            <a:r>
              <a:rPr lang="en-US" b="1" dirty="0">
                <a:ea typeface="+mn-lt"/>
                <a:cs typeface="+mn-lt"/>
              </a:rPr>
              <a:t>vehicles, airplanes, power plants, burners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internal combustion engines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Drawbacks: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b="1" dirty="0">
                <a:ea typeface="+mn-lt"/>
                <a:cs typeface="+mn-lt"/>
              </a:rPr>
              <a:t>Costly</a:t>
            </a:r>
            <a:r>
              <a:rPr lang="en-US" dirty="0">
                <a:ea typeface="+mn-lt"/>
                <a:cs typeface="+mn-lt"/>
              </a:rPr>
              <a:t> compared to solid fuels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Risk of </a:t>
            </a:r>
            <a:r>
              <a:rPr lang="en-US" b="1" dirty="0">
                <a:ea typeface="+mn-lt"/>
                <a:cs typeface="+mn-lt"/>
              </a:rPr>
              <a:t>fire and explosions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Environmental pollution</a:t>
            </a:r>
            <a:r>
              <a:rPr lang="en-US" dirty="0">
                <a:ea typeface="+mn-lt"/>
                <a:cs typeface="+mn-lt"/>
              </a:rPr>
              <a:t> (CO₂, NOx emissions)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66" y="58477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1. 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Which of the following is a liquid fuel?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Coal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Wood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Diesel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Biogas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2. One advantage of liquid fuels is: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Low calorific value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Difficult handling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Easy transport and storage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Produces more ash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3. Which of these is </a:t>
            </a:r>
            <a:r>
              <a:rPr lang="en-GB" sz="1400" b="1" i="1" dirty="0">
                <a:solidFill>
                  <a:schemeClr val="accent1"/>
                </a:solidFill>
                <a:ea typeface="+mn-lt"/>
                <a:cs typeface="+mn-lt"/>
              </a:rPr>
              <a:t>not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 liquid fuel?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Petrol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LPG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Kerosene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Fuel oil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B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4. Liquid fuels are commonly used in: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Wood stoves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Blast furnaces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Internal combustion engines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Charcoal kilns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5. Which of the following is a disadvantage of liquid fuels?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High ash content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Cannot be pumped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High fire risk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Low efficiency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7AC5-10C1-5B8C-A5EB-96E5C71CA99B}"/>
              </a:ext>
            </a:extLst>
          </p:cNvPr>
          <p:cNvSpPr txBox="1"/>
          <p:nvPr/>
        </p:nvSpPr>
        <p:spPr>
          <a:xfrm>
            <a:off x="4507832" y="0"/>
            <a:ext cx="2103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993</Words>
  <Application>Microsoft Office PowerPoint</Application>
  <PresentationFormat>Widescreen</PresentationFormat>
  <Paragraphs>101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Times New Roman</vt:lpstr>
      <vt:lpstr>Verdana</vt:lpstr>
      <vt:lpstr>Office Theme</vt:lpstr>
      <vt:lpstr>PowerPoint Presentation</vt:lpstr>
      <vt:lpstr>Course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References</vt:lpstr>
      <vt:lpstr>PowerPoint Presentation</vt:lpstr>
      <vt:lpstr>Take away of the session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Dr. Mehak Ahuja</cp:lastModifiedBy>
  <cp:revision>19</cp:revision>
  <dcterms:created xsi:type="dcterms:W3CDTF">2024-10-29T10:07:03Z</dcterms:created>
  <dcterms:modified xsi:type="dcterms:W3CDTF">2025-08-23T07:18:55Z</dcterms:modified>
</cp:coreProperties>
</file>