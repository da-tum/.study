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575" r:id="rId2"/>
    <p:sldId id="565" r:id="rId3"/>
    <p:sldId id="576" r:id="rId4"/>
    <p:sldId id="590" r:id="rId5"/>
    <p:sldId id="591" r:id="rId6"/>
    <p:sldId id="592" r:id="rId7"/>
    <p:sldId id="593" r:id="rId8"/>
    <p:sldId id="594" r:id="rId9"/>
    <p:sldId id="595" r:id="rId10"/>
    <p:sldId id="537" r:id="rId11"/>
    <p:sldId id="589" r:id="rId12"/>
    <p:sldId id="521" r:id="rId13"/>
    <p:sldId id="522" r:id="rId14"/>
    <p:sldId id="535" r:id="rId15"/>
    <p:sldId id="536" r:id="rId16"/>
    <p:sldId id="524" r:id="rId17"/>
    <p:sldId id="523" r:id="rId18"/>
    <p:sldId id="526" r:id="rId19"/>
    <p:sldId id="527" r:id="rId20"/>
    <p:sldId id="572" r:id="rId21"/>
    <p:sldId id="573" r:id="rId22"/>
    <p:sldId id="285" r:id="rId23"/>
    <p:sldId id="58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C025DF-285B-71C7-A4B1-D4C4492BFBB8}" v="9" dt="2025-10-27T04:24: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90"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ehak Ahuja" userId="S::mehak.ahuja@krmangalam.edu.in::c5c841d9-01a2-49ff-87b7-111eb2ad3848" providerId="AD" clId="Web-{57C025DF-285B-71C7-A4B1-D4C4492BFBB8}"/>
    <pc:docChg chg="addSld delSld modSld">
      <pc:chgData name="Dr. Mehak Ahuja" userId="S::mehak.ahuja@krmangalam.edu.in::c5c841d9-01a2-49ff-87b7-111eb2ad3848" providerId="AD" clId="Web-{57C025DF-285B-71C7-A4B1-D4C4492BFBB8}" dt="2025-10-27T04:24:03.503" v="4" actId="20577"/>
      <pc:docMkLst>
        <pc:docMk/>
      </pc:docMkLst>
      <pc:sldChg chg="modSp">
        <pc:chgData name="Dr. Mehak Ahuja" userId="S::mehak.ahuja@krmangalam.edu.in::c5c841d9-01a2-49ff-87b7-111eb2ad3848" providerId="AD" clId="Web-{57C025DF-285B-71C7-A4B1-D4C4492BFBB8}" dt="2025-10-27T04:24:03.503" v="4" actId="20577"/>
        <pc:sldMkLst>
          <pc:docMk/>
          <pc:sldMk cId="1223824514" sldId="575"/>
        </pc:sldMkLst>
        <pc:spChg chg="mod">
          <ac:chgData name="Dr. Mehak Ahuja" userId="S::mehak.ahuja@krmangalam.edu.in::c5c841d9-01a2-49ff-87b7-111eb2ad3848" providerId="AD" clId="Web-{57C025DF-285B-71C7-A4B1-D4C4492BFBB8}" dt="2025-10-27T04:24:03.503" v="4" actId="20577"/>
          <ac:spMkLst>
            <pc:docMk/>
            <pc:sldMk cId="1223824514" sldId="575"/>
            <ac:spMk id="4" creationId="{B644A3F9-E1EE-5DBD-6D95-67CF95DACB77}"/>
          </ac:spMkLst>
        </pc:spChg>
      </pc:sldChg>
      <pc:sldChg chg="new del">
        <pc:chgData name="Dr. Mehak Ahuja" userId="S::mehak.ahuja@krmangalam.edu.in::c5c841d9-01a2-49ff-87b7-111eb2ad3848" providerId="AD" clId="Web-{57C025DF-285B-71C7-A4B1-D4C4492BFBB8}" dt="2025-10-27T04:23:47.003" v="1"/>
        <pc:sldMkLst>
          <pc:docMk/>
          <pc:sldMk cId="271052653" sldId="596"/>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197D1C-C8C7-4B7D-A14A-F8DDC3A6DCE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E7A032A-16F1-46AF-8B22-86037CEB9DA0}">
      <dgm:prSet/>
      <dgm:spPr/>
      <dgm:t>
        <a:bodyPr/>
        <a:lstStyle/>
        <a:p>
          <a:pPr>
            <a:lnSpc>
              <a:spcPct val="100000"/>
            </a:lnSpc>
          </a:pPr>
          <a:r>
            <a:rPr lang="en-IN" b="1" dirty="0"/>
            <a:t>CO1: </a:t>
          </a:r>
          <a:r>
            <a:rPr lang="en-US" b="1" dirty="0"/>
            <a:t>Understand</a:t>
          </a:r>
          <a:r>
            <a:rPr lang="en-US" dirty="0"/>
            <a:t> the methods for water hardness and the basics of boiler water treatment and analyze fuel calorific values and battery.</a:t>
          </a:r>
        </a:p>
      </dgm:t>
    </dgm:pt>
    <dgm:pt modelId="{F86E09F7-486D-4BEF-A923-F14FEC225C64}" type="parTrans" cxnId="{3320C3F2-A6CD-41CE-AF17-60423ED069A6}">
      <dgm:prSet/>
      <dgm:spPr/>
      <dgm:t>
        <a:bodyPr/>
        <a:lstStyle/>
        <a:p>
          <a:endParaRPr lang="en-US"/>
        </a:p>
      </dgm:t>
    </dgm:pt>
    <dgm:pt modelId="{3FC4EF5E-B808-440A-9E2C-4F7831C8CE8C}" type="sibTrans" cxnId="{3320C3F2-A6CD-41CE-AF17-60423ED069A6}">
      <dgm:prSet/>
      <dgm:spPr/>
      <dgm:t>
        <a:bodyPr/>
        <a:lstStyle/>
        <a:p>
          <a:endParaRPr lang="en-US"/>
        </a:p>
      </dgm:t>
    </dgm:pt>
    <dgm:pt modelId="{0B198A1D-F0DF-4034-A8BC-B066E7FF3EDB}">
      <dgm:prSet/>
      <dgm:spPr/>
      <dgm:t>
        <a:bodyPr/>
        <a:lstStyle/>
        <a:p>
          <a:pPr>
            <a:lnSpc>
              <a:spcPct val="100000"/>
            </a:lnSpc>
          </a:pPr>
          <a:r>
            <a:rPr lang="en-IN" b="1" dirty="0"/>
            <a:t>CO2: </a:t>
          </a:r>
          <a:r>
            <a:rPr lang="en-US" b="1" dirty="0"/>
            <a:t>Explain</a:t>
          </a:r>
          <a:r>
            <a:rPr lang="en-US" dirty="0"/>
            <a:t> the characteristics and working principles of different battery types and types of fuels. </a:t>
          </a:r>
          <a:endParaRPr lang="en-IN" dirty="0"/>
        </a:p>
      </dgm:t>
    </dgm:pt>
    <dgm:pt modelId="{134E97FE-7EA1-4ADC-83A6-E3D5A6596EBE}" type="parTrans" cxnId="{3D6D94CC-9AFE-4BCD-A5DC-7F3DCEE6B33F}">
      <dgm:prSet/>
      <dgm:spPr/>
      <dgm:t>
        <a:bodyPr/>
        <a:lstStyle/>
        <a:p>
          <a:endParaRPr lang="en-IN"/>
        </a:p>
      </dgm:t>
    </dgm:pt>
    <dgm:pt modelId="{04E66C80-9E50-4D38-B67A-F4FA2D865CE3}" type="sibTrans" cxnId="{3D6D94CC-9AFE-4BCD-A5DC-7F3DCEE6B33F}">
      <dgm:prSet/>
      <dgm:spPr/>
      <dgm:t>
        <a:bodyPr/>
        <a:lstStyle/>
        <a:p>
          <a:endParaRPr lang="en-IN"/>
        </a:p>
      </dgm:t>
    </dgm:pt>
    <dgm:pt modelId="{EEB38B72-A912-468A-BFC3-8EE4A0CB542B}">
      <dgm:prSet/>
      <dgm:spPr/>
      <dgm:t>
        <a:bodyPr/>
        <a:lstStyle/>
        <a:p>
          <a:pPr>
            <a:lnSpc>
              <a:spcPct val="100000"/>
            </a:lnSpc>
          </a:pPr>
          <a:r>
            <a:rPr lang="en-IN" b="1" dirty="0"/>
            <a:t>CO3: </a:t>
          </a:r>
          <a:r>
            <a:rPr lang="en-US" b="1" dirty="0"/>
            <a:t>Determine</a:t>
          </a:r>
          <a:r>
            <a:rPr lang="en-US" dirty="0"/>
            <a:t> the differences between batteries and fuel cells and classify fuel cell types based on their components.</a:t>
          </a:r>
          <a:r>
            <a:rPr lang="en-IN" dirty="0"/>
            <a:t>. </a:t>
          </a:r>
        </a:p>
      </dgm:t>
    </dgm:pt>
    <dgm:pt modelId="{740ADBB8-CDAC-40D3-99FE-E2752AA6F6F5}" type="parTrans" cxnId="{5AC764CA-156A-405F-A245-8AE6D91B80B0}">
      <dgm:prSet/>
      <dgm:spPr/>
      <dgm:t>
        <a:bodyPr/>
        <a:lstStyle/>
        <a:p>
          <a:endParaRPr lang="en-IN"/>
        </a:p>
      </dgm:t>
    </dgm:pt>
    <dgm:pt modelId="{B2634535-4686-436F-A9EC-5C2A6D4668CD}" type="sibTrans" cxnId="{5AC764CA-156A-405F-A245-8AE6D91B80B0}">
      <dgm:prSet/>
      <dgm:spPr/>
      <dgm:t>
        <a:bodyPr/>
        <a:lstStyle/>
        <a:p>
          <a:endParaRPr lang="en-IN"/>
        </a:p>
      </dgm:t>
    </dgm:pt>
    <dgm:pt modelId="{862F3A91-D739-459C-AA59-ACC91F401002}">
      <dgm:prSet/>
      <dgm:spPr/>
      <dgm:t>
        <a:bodyPr/>
        <a:lstStyle/>
        <a:p>
          <a:pPr>
            <a:lnSpc>
              <a:spcPct val="100000"/>
            </a:lnSpc>
          </a:pPr>
          <a:r>
            <a:rPr lang="en-IN" b="1" dirty="0"/>
            <a:t>CO4: </a:t>
          </a:r>
          <a:r>
            <a:rPr lang="en-US" b="1" dirty="0"/>
            <a:t>Identify</a:t>
          </a:r>
          <a:r>
            <a:rPr lang="en-US" dirty="0"/>
            <a:t> between hard and soft water, solve the related numerical problems on water purification and emf and its significance in industry and daily life.</a:t>
          </a:r>
          <a:endParaRPr lang="en-IN" dirty="0"/>
        </a:p>
      </dgm:t>
    </dgm:pt>
    <dgm:pt modelId="{921011F5-0208-4207-BF03-301150786E64}" type="parTrans" cxnId="{3D8F8866-8328-49C1-81AE-8F591F259B99}">
      <dgm:prSet/>
      <dgm:spPr/>
      <dgm:t>
        <a:bodyPr/>
        <a:lstStyle/>
        <a:p>
          <a:endParaRPr lang="en-IN"/>
        </a:p>
      </dgm:t>
    </dgm:pt>
    <dgm:pt modelId="{831DC015-3E12-4E16-A5EC-98A7F0C54591}" type="sibTrans" cxnId="{3D8F8866-8328-49C1-81AE-8F591F259B99}">
      <dgm:prSet/>
      <dgm:spPr/>
      <dgm:t>
        <a:bodyPr/>
        <a:lstStyle/>
        <a:p>
          <a:endParaRPr lang="en-IN"/>
        </a:p>
      </dgm:t>
    </dgm:pt>
    <dgm:pt modelId="{2536D237-47EA-4B37-A454-BB90BD199B6A}" type="pres">
      <dgm:prSet presAssocID="{98197D1C-C8C7-4B7D-A14A-F8DDC3A6DCEA}" presName="root" presStyleCnt="0">
        <dgm:presLayoutVars>
          <dgm:dir/>
          <dgm:resizeHandles val="exact"/>
        </dgm:presLayoutVars>
      </dgm:prSet>
      <dgm:spPr/>
    </dgm:pt>
    <dgm:pt modelId="{379558B8-FE68-46C2-8D91-F37CFA5AF511}" type="pres">
      <dgm:prSet presAssocID="{1E7A032A-16F1-46AF-8B22-86037CEB9DA0}" presName="compNode" presStyleCnt="0"/>
      <dgm:spPr/>
    </dgm:pt>
    <dgm:pt modelId="{F41D418F-7B3C-47CC-81B2-AE3147FC537D}" type="pres">
      <dgm:prSet presAssocID="{1E7A032A-16F1-46AF-8B22-86037CEB9DA0}" presName="bgRect" presStyleLbl="bgShp" presStyleIdx="0" presStyleCnt="4"/>
      <dgm:spPr/>
    </dgm:pt>
    <dgm:pt modelId="{8CBEF6DD-AA1D-47DF-9638-57CD9E704645}" type="pres">
      <dgm:prSet presAssocID="{1E7A032A-16F1-46AF-8B22-86037CEB9DA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croscope"/>
        </a:ext>
      </dgm:extLst>
    </dgm:pt>
    <dgm:pt modelId="{D399F639-EE39-4BCB-8E7E-86EA8EBD54FF}" type="pres">
      <dgm:prSet presAssocID="{1E7A032A-16F1-46AF-8B22-86037CEB9DA0}" presName="spaceRect" presStyleCnt="0"/>
      <dgm:spPr/>
    </dgm:pt>
    <dgm:pt modelId="{C859899F-9E11-47BC-ABD7-B1ADA39E6E4E}" type="pres">
      <dgm:prSet presAssocID="{1E7A032A-16F1-46AF-8B22-86037CEB9DA0}" presName="parTx" presStyleLbl="revTx" presStyleIdx="0" presStyleCnt="4">
        <dgm:presLayoutVars>
          <dgm:chMax val="0"/>
          <dgm:chPref val="0"/>
        </dgm:presLayoutVars>
      </dgm:prSet>
      <dgm:spPr/>
    </dgm:pt>
    <dgm:pt modelId="{90216848-D318-4661-B39E-EF10D6A71FA1}" type="pres">
      <dgm:prSet presAssocID="{3FC4EF5E-B808-440A-9E2C-4F7831C8CE8C}" presName="sibTrans" presStyleCnt="0"/>
      <dgm:spPr/>
    </dgm:pt>
    <dgm:pt modelId="{F95D8AB0-6A9B-485A-BDE4-E4A68A9A505E}" type="pres">
      <dgm:prSet presAssocID="{0B198A1D-F0DF-4034-A8BC-B066E7FF3EDB}" presName="compNode" presStyleCnt="0"/>
      <dgm:spPr/>
    </dgm:pt>
    <dgm:pt modelId="{C012FC80-3824-4EFE-9F5A-114D1483AA54}" type="pres">
      <dgm:prSet presAssocID="{0B198A1D-F0DF-4034-A8BC-B066E7FF3EDB}" presName="bgRect" presStyleLbl="bgShp" presStyleIdx="1" presStyleCnt="4"/>
      <dgm:spPr/>
    </dgm:pt>
    <dgm:pt modelId="{B4D3A1C4-4BA4-4014-841A-6B71C45548B0}" type="pres">
      <dgm:prSet presAssocID="{0B198A1D-F0DF-4034-A8BC-B066E7FF3ED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ientist"/>
        </a:ext>
      </dgm:extLst>
    </dgm:pt>
    <dgm:pt modelId="{7EBC6868-9C28-4991-8CF1-9D70A6D813FC}" type="pres">
      <dgm:prSet presAssocID="{0B198A1D-F0DF-4034-A8BC-B066E7FF3EDB}" presName="spaceRect" presStyleCnt="0"/>
      <dgm:spPr/>
    </dgm:pt>
    <dgm:pt modelId="{D44C2E2F-D83F-4A52-A6C0-E2CA822CE068}" type="pres">
      <dgm:prSet presAssocID="{0B198A1D-F0DF-4034-A8BC-B066E7FF3EDB}" presName="parTx" presStyleLbl="revTx" presStyleIdx="1" presStyleCnt="4">
        <dgm:presLayoutVars>
          <dgm:chMax val="0"/>
          <dgm:chPref val="0"/>
        </dgm:presLayoutVars>
      </dgm:prSet>
      <dgm:spPr/>
    </dgm:pt>
    <dgm:pt modelId="{B24887C3-295A-4F94-953B-202027765959}" type="pres">
      <dgm:prSet presAssocID="{04E66C80-9E50-4D38-B67A-F4FA2D865CE3}" presName="sibTrans" presStyleCnt="0"/>
      <dgm:spPr/>
    </dgm:pt>
    <dgm:pt modelId="{9E014CA1-8CB7-4B47-837C-FDA9CD13B899}" type="pres">
      <dgm:prSet presAssocID="{EEB38B72-A912-468A-BFC3-8EE4A0CB542B}" presName="compNode" presStyleCnt="0"/>
      <dgm:spPr/>
    </dgm:pt>
    <dgm:pt modelId="{1AE007B7-B3F8-4079-A7C6-8FECDDD7FCAC}" type="pres">
      <dgm:prSet presAssocID="{EEB38B72-A912-468A-BFC3-8EE4A0CB542B}" presName="bgRect" presStyleLbl="bgShp" presStyleIdx="2" presStyleCnt="4"/>
      <dgm:spPr/>
    </dgm:pt>
    <dgm:pt modelId="{78CE3D94-A17F-4373-8F94-FFA0F916D308}" type="pres">
      <dgm:prSet presAssocID="{EEB38B72-A912-468A-BFC3-8EE4A0CB542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tom"/>
        </a:ext>
      </dgm:extLst>
    </dgm:pt>
    <dgm:pt modelId="{2320A3BD-2636-4C64-8E3B-441C52220EBB}" type="pres">
      <dgm:prSet presAssocID="{EEB38B72-A912-468A-BFC3-8EE4A0CB542B}" presName="spaceRect" presStyleCnt="0"/>
      <dgm:spPr/>
    </dgm:pt>
    <dgm:pt modelId="{CDF8F216-6DF1-4747-B11D-32515D5ADACC}" type="pres">
      <dgm:prSet presAssocID="{EEB38B72-A912-468A-BFC3-8EE4A0CB542B}" presName="parTx" presStyleLbl="revTx" presStyleIdx="2" presStyleCnt="4">
        <dgm:presLayoutVars>
          <dgm:chMax val="0"/>
          <dgm:chPref val="0"/>
        </dgm:presLayoutVars>
      </dgm:prSet>
      <dgm:spPr/>
    </dgm:pt>
    <dgm:pt modelId="{CD869F62-C8BC-47A1-9B89-E65DF783C3B1}" type="pres">
      <dgm:prSet presAssocID="{B2634535-4686-436F-A9EC-5C2A6D4668CD}" presName="sibTrans" presStyleCnt="0"/>
      <dgm:spPr/>
    </dgm:pt>
    <dgm:pt modelId="{F41339C3-1E4E-4314-A8CA-390171776897}" type="pres">
      <dgm:prSet presAssocID="{862F3A91-D739-459C-AA59-ACC91F401002}" presName="compNode" presStyleCnt="0"/>
      <dgm:spPr/>
    </dgm:pt>
    <dgm:pt modelId="{9CC8D97A-242E-4192-9D22-094C754722C1}" type="pres">
      <dgm:prSet presAssocID="{862F3A91-D739-459C-AA59-ACC91F401002}" presName="bgRect" presStyleLbl="bgShp" presStyleIdx="3" presStyleCnt="4"/>
      <dgm:spPr/>
    </dgm:pt>
    <dgm:pt modelId="{E3801F28-382D-48CB-999F-D64AC321BFEA}" type="pres">
      <dgm:prSet presAssocID="{862F3A91-D739-459C-AA59-ACC91F40100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NA"/>
        </a:ext>
      </dgm:extLst>
    </dgm:pt>
    <dgm:pt modelId="{0EA0F913-274C-4385-B0AF-55AA690A1A7F}" type="pres">
      <dgm:prSet presAssocID="{862F3A91-D739-459C-AA59-ACC91F401002}" presName="spaceRect" presStyleCnt="0"/>
      <dgm:spPr/>
    </dgm:pt>
    <dgm:pt modelId="{C5518254-9836-41F1-BF89-7570967DD110}" type="pres">
      <dgm:prSet presAssocID="{862F3A91-D739-459C-AA59-ACC91F401002}" presName="parTx" presStyleLbl="revTx" presStyleIdx="3" presStyleCnt="4">
        <dgm:presLayoutVars>
          <dgm:chMax val="0"/>
          <dgm:chPref val="0"/>
        </dgm:presLayoutVars>
      </dgm:prSet>
      <dgm:spPr/>
    </dgm:pt>
  </dgm:ptLst>
  <dgm:cxnLst>
    <dgm:cxn modelId="{3D8F8866-8328-49C1-81AE-8F591F259B99}" srcId="{98197D1C-C8C7-4B7D-A14A-F8DDC3A6DCEA}" destId="{862F3A91-D739-459C-AA59-ACC91F401002}" srcOrd="3" destOrd="0" parTransId="{921011F5-0208-4207-BF03-301150786E64}" sibTransId="{831DC015-3E12-4E16-A5EC-98A7F0C54591}"/>
    <dgm:cxn modelId="{7FF79680-C74E-4147-8765-BB0459743B26}" type="presOf" srcId="{0B198A1D-F0DF-4034-A8BC-B066E7FF3EDB}" destId="{D44C2E2F-D83F-4A52-A6C0-E2CA822CE068}" srcOrd="0" destOrd="0" presId="urn:microsoft.com/office/officeart/2018/2/layout/IconVerticalSolidList"/>
    <dgm:cxn modelId="{F2724193-C788-48B3-869C-44D64BE70F35}" type="presOf" srcId="{98197D1C-C8C7-4B7D-A14A-F8DDC3A6DCEA}" destId="{2536D237-47EA-4B37-A454-BB90BD199B6A}" srcOrd="0" destOrd="0" presId="urn:microsoft.com/office/officeart/2018/2/layout/IconVerticalSolidList"/>
    <dgm:cxn modelId="{4D6F67AE-90DC-485B-BE19-E2CDF252AE39}" type="presOf" srcId="{1E7A032A-16F1-46AF-8B22-86037CEB9DA0}" destId="{C859899F-9E11-47BC-ABD7-B1ADA39E6E4E}" srcOrd="0" destOrd="0" presId="urn:microsoft.com/office/officeart/2018/2/layout/IconVerticalSolidList"/>
    <dgm:cxn modelId="{5AC764CA-156A-405F-A245-8AE6D91B80B0}" srcId="{98197D1C-C8C7-4B7D-A14A-F8DDC3A6DCEA}" destId="{EEB38B72-A912-468A-BFC3-8EE4A0CB542B}" srcOrd="2" destOrd="0" parTransId="{740ADBB8-CDAC-40D3-99FE-E2752AA6F6F5}" sibTransId="{B2634535-4686-436F-A9EC-5C2A6D4668CD}"/>
    <dgm:cxn modelId="{3D6D94CC-9AFE-4BCD-A5DC-7F3DCEE6B33F}" srcId="{98197D1C-C8C7-4B7D-A14A-F8DDC3A6DCEA}" destId="{0B198A1D-F0DF-4034-A8BC-B066E7FF3EDB}" srcOrd="1" destOrd="0" parTransId="{134E97FE-7EA1-4ADC-83A6-E3D5A6596EBE}" sibTransId="{04E66C80-9E50-4D38-B67A-F4FA2D865CE3}"/>
    <dgm:cxn modelId="{90315EDD-841C-4C65-B532-5FDF41F45327}" type="presOf" srcId="{862F3A91-D739-459C-AA59-ACC91F401002}" destId="{C5518254-9836-41F1-BF89-7570967DD110}" srcOrd="0" destOrd="0" presId="urn:microsoft.com/office/officeart/2018/2/layout/IconVerticalSolidList"/>
    <dgm:cxn modelId="{0B1CC3F2-2869-45FB-B2DC-E7696F446ED2}" type="presOf" srcId="{EEB38B72-A912-468A-BFC3-8EE4A0CB542B}" destId="{CDF8F216-6DF1-4747-B11D-32515D5ADACC}" srcOrd="0" destOrd="0" presId="urn:microsoft.com/office/officeart/2018/2/layout/IconVerticalSolidList"/>
    <dgm:cxn modelId="{3320C3F2-A6CD-41CE-AF17-60423ED069A6}" srcId="{98197D1C-C8C7-4B7D-A14A-F8DDC3A6DCEA}" destId="{1E7A032A-16F1-46AF-8B22-86037CEB9DA0}" srcOrd="0" destOrd="0" parTransId="{F86E09F7-486D-4BEF-A923-F14FEC225C64}" sibTransId="{3FC4EF5E-B808-440A-9E2C-4F7831C8CE8C}"/>
    <dgm:cxn modelId="{A7E58C7C-9633-4835-8FF9-137585CDD281}" type="presParOf" srcId="{2536D237-47EA-4B37-A454-BB90BD199B6A}" destId="{379558B8-FE68-46C2-8D91-F37CFA5AF511}" srcOrd="0" destOrd="0" presId="urn:microsoft.com/office/officeart/2018/2/layout/IconVerticalSolidList"/>
    <dgm:cxn modelId="{D6839034-7F36-4C87-877D-BCEA1DF0AAE2}" type="presParOf" srcId="{379558B8-FE68-46C2-8D91-F37CFA5AF511}" destId="{F41D418F-7B3C-47CC-81B2-AE3147FC537D}" srcOrd="0" destOrd="0" presId="urn:microsoft.com/office/officeart/2018/2/layout/IconVerticalSolidList"/>
    <dgm:cxn modelId="{C772F475-AEC7-4165-8E78-CA78B73AC580}" type="presParOf" srcId="{379558B8-FE68-46C2-8D91-F37CFA5AF511}" destId="{8CBEF6DD-AA1D-47DF-9638-57CD9E704645}" srcOrd="1" destOrd="0" presId="urn:microsoft.com/office/officeart/2018/2/layout/IconVerticalSolidList"/>
    <dgm:cxn modelId="{B9C7E122-50C4-492F-BACB-FBF01BE7CFB4}" type="presParOf" srcId="{379558B8-FE68-46C2-8D91-F37CFA5AF511}" destId="{D399F639-EE39-4BCB-8E7E-86EA8EBD54FF}" srcOrd="2" destOrd="0" presId="urn:microsoft.com/office/officeart/2018/2/layout/IconVerticalSolidList"/>
    <dgm:cxn modelId="{F950B035-4802-415D-9C4D-9A0A42946510}" type="presParOf" srcId="{379558B8-FE68-46C2-8D91-F37CFA5AF511}" destId="{C859899F-9E11-47BC-ABD7-B1ADA39E6E4E}" srcOrd="3" destOrd="0" presId="urn:microsoft.com/office/officeart/2018/2/layout/IconVerticalSolidList"/>
    <dgm:cxn modelId="{A58F67E3-027C-4BB9-9E5D-14FE5448C7E7}" type="presParOf" srcId="{2536D237-47EA-4B37-A454-BB90BD199B6A}" destId="{90216848-D318-4661-B39E-EF10D6A71FA1}" srcOrd="1" destOrd="0" presId="urn:microsoft.com/office/officeart/2018/2/layout/IconVerticalSolidList"/>
    <dgm:cxn modelId="{AFF4472D-11E2-44EF-AEE9-BC46928775DB}" type="presParOf" srcId="{2536D237-47EA-4B37-A454-BB90BD199B6A}" destId="{F95D8AB0-6A9B-485A-BDE4-E4A68A9A505E}" srcOrd="2" destOrd="0" presId="urn:microsoft.com/office/officeart/2018/2/layout/IconVerticalSolidList"/>
    <dgm:cxn modelId="{16EBCC3C-736D-4D2A-8013-62BA698A83A1}" type="presParOf" srcId="{F95D8AB0-6A9B-485A-BDE4-E4A68A9A505E}" destId="{C012FC80-3824-4EFE-9F5A-114D1483AA54}" srcOrd="0" destOrd="0" presId="urn:microsoft.com/office/officeart/2018/2/layout/IconVerticalSolidList"/>
    <dgm:cxn modelId="{1C3F6AF7-4688-4FE7-BBAF-6D6D009A92C1}" type="presParOf" srcId="{F95D8AB0-6A9B-485A-BDE4-E4A68A9A505E}" destId="{B4D3A1C4-4BA4-4014-841A-6B71C45548B0}" srcOrd="1" destOrd="0" presId="urn:microsoft.com/office/officeart/2018/2/layout/IconVerticalSolidList"/>
    <dgm:cxn modelId="{741DDDD6-1A7A-49A0-A205-695A360CD3D5}" type="presParOf" srcId="{F95D8AB0-6A9B-485A-BDE4-E4A68A9A505E}" destId="{7EBC6868-9C28-4991-8CF1-9D70A6D813FC}" srcOrd="2" destOrd="0" presId="urn:microsoft.com/office/officeart/2018/2/layout/IconVerticalSolidList"/>
    <dgm:cxn modelId="{473E02D5-9413-4752-9FD7-748EB0176B1B}" type="presParOf" srcId="{F95D8AB0-6A9B-485A-BDE4-E4A68A9A505E}" destId="{D44C2E2F-D83F-4A52-A6C0-E2CA822CE068}" srcOrd="3" destOrd="0" presId="urn:microsoft.com/office/officeart/2018/2/layout/IconVerticalSolidList"/>
    <dgm:cxn modelId="{2D14FF92-2CE5-48DF-BA8A-3D26E76DB63F}" type="presParOf" srcId="{2536D237-47EA-4B37-A454-BB90BD199B6A}" destId="{B24887C3-295A-4F94-953B-202027765959}" srcOrd="3" destOrd="0" presId="urn:microsoft.com/office/officeart/2018/2/layout/IconVerticalSolidList"/>
    <dgm:cxn modelId="{C6437333-FA7E-49ED-B122-6D318377C414}" type="presParOf" srcId="{2536D237-47EA-4B37-A454-BB90BD199B6A}" destId="{9E014CA1-8CB7-4B47-837C-FDA9CD13B899}" srcOrd="4" destOrd="0" presId="urn:microsoft.com/office/officeart/2018/2/layout/IconVerticalSolidList"/>
    <dgm:cxn modelId="{EC635338-9943-4F64-9AD4-47109EE7231A}" type="presParOf" srcId="{9E014CA1-8CB7-4B47-837C-FDA9CD13B899}" destId="{1AE007B7-B3F8-4079-A7C6-8FECDDD7FCAC}" srcOrd="0" destOrd="0" presId="urn:microsoft.com/office/officeart/2018/2/layout/IconVerticalSolidList"/>
    <dgm:cxn modelId="{5B4BE7A5-A3D9-4F81-A48A-C883D324BD01}" type="presParOf" srcId="{9E014CA1-8CB7-4B47-837C-FDA9CD13B899}" destId="{78CE3D94-A17F-4373-8F94-FFA0F916D308}" srcOrd="1" destOrd="0" presId="urn:microsoft.com/office/officeart/2018/2/layout/IconVerticalSolidList"/>
    <dgm:cxn modelId="{6AFFA396-8C5F-4D9A-91DA-B320C31EEB85}" type="presParOf" srcId="{9E014CA1-8CB7-4B47-837C-FDA9CD13B899}" destId="{2320A3BD-2636-4C64-8E3B-441C52220EBB}" srcOrd="2" destOrd="0" presId="urn:microsoft.com/office/officeart/2018/2/layout/IconVerticalSolidList"/>
    <dgm:cxn modelId="{B68984CC-3A55-4DD2-9B98-E4509ED4CE58}" type="presParOf" srcId="{9E014CA1-8CB7-4B47-837C-FDA9CD13B899}" destId="{CDF8F216-6DF1-4747-B11D-32515D5ADACC}" srcOrd="3" destOrd="0" presId="urn:microsoft.com/office/officeart/2018/2/layout/IconVerticalSolidList"/>
    <dgm:cxn modelId="{92C9A28A-550C-473E-9379-C3ECA8579662}" type="presParOf" srcId="{2536D237-47EA-4B37-A454-BB90BD199B6A}" destId="{CD869F62-C8BC-47A1-9B89-E65DF783C3B1}" srcOrd="5" destOrd="0" presId="urn:microsoft.com/office/officeart/2018/2/layout/IconVerticalSolidList"/>
    <dgm:cxn modelId="{01CA2A13-DD93-4DA8-AA24-124810860048}" type="presParOf" srcId="{2536D237-47EA-4B37-A454-BB90BD199B6A}" destId="{F41339C3-1E4E-4314-A8CA-390171776897}" srcOrd="6" destOrd="0" presId="urn:microsoft.com/office/officeart/2018/2/layout/IconVerticalSolidList"/>
    <dgm:cxn modelId="{7D57C925-29C7-474F-BF3E-5E31B5E7207F}" type="presParOf" srcId="{F41339C3-1E4E-4314-A8CA-390171776897}" destId="{9CC8D97A-242E-4192-9D22-094C754722C1}" srcOrd="0" destOrd="0" presId="urn:microsoft.com/office/officeart/2018/2/layout/IconVerticalSolidList"/>
    <dgm:cxn modelId="{E9CDB2B8-0FDC-4228-85DE-7DD2C23DD343}" type="presParOf" srcId="{F41339C3-1E4E-4314-A8CA-390171776897}" destId="{E3801F28-382D-48CB-999F-D64AC321BFEA}" srcOrd="1" destOrd="0" presId="urn:microsoft.com/office/officeart/2018/2/layout/IconVerticalSolidList"/>
    <dgm:cxn modelId="{72612AEB-4519-4A62-9E83-A46F32ED653C}" type="presParOf" srcId="{F41339C3-1E4E-4314-A8CA-390171776897}" destId="{0EA0F913-274C-4385-B0AF-55AA690A1A7F}" srcOrd="2" destOrd="0" presId="urn:microsoft.com/office/officeart/2018/2/layout/IconVerticalSolidList"/>
    <dgm:cxn modelId="{814CA231-7D7A-489D-861E-E27CB4DE072E}" type="presParOf" srcId="{F41339C3-1E4E-4314-A8CA-390171776897}" destId="{C5518254-9836-41F1-BF89-7570967DD11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1D418F-7B3C-47CC-81B2-AE3147FC537D}">
      <dsp:nvSpPr>
        <dsp:cNvPr id="0" name=""/>
        <dsp:cNvSpPr/>
      </dsp:nvSpPr>
      <dsp:spPr>
        <a:xfrm>
          <a:off x="0" y="3314"/>
          <a:ext cx="4381571" cy="1146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BEF6DD-AA1D-47DF-9638-57CD9E704645}">
      <dsp:nvSpPr>
        <dsp:cNvPr id="0" name=""/>
        <dsp:cNvSpPr/>
      </dsp:nvSpPr>
      <dsp:spPr>
        <a:xfrm>
          <a:off x="346792" y="261259"/>
          <a:ext cx="631148" cy="6305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59899F-9E11-47BC-ABD7-B1ADA39E6E4E}">
      <dsp:nvSpPr>
        <dsp:cNvPr id="0" name=""/>
        <dsp:cNvSpPr/>
      </dsp:nvSpPr>
      <dsp:spPr>
        <a:xfrm>
          <a:off x="1324733" y="3314"/>
          <a:ext cx="2762446" cy="114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48" tIns="121448" rIns="121448" bIns="121448" numCol="1" spcCol="1270" anchor="ctr" anchorCtr="0">
          <a:noAutofit/>
        </a:bodyPr>
        <a:lstStyle/>
        <a:p>
          <a:pPr marL="0" lvl="0" indent="0" algn="l" defTabSz="622300">
            <a:lnSpc>
              <a:spcPct val="100000"/>
            </a:lnSpc>
            <a:spcBef>
              <a:spcPct val="0"/>
            </a:spcBef>
            <a:spcAft>
              <a:spcPct val="35000"/>
            </a:spcAft>
            <a:buNone/>
          </a:pPr>
          <a:r>
            <a:rPr lang="en-IN" sz="1400" b="1" kern="1200" dirty="0"/>
            <a:t>CO1: </a:t>
          </a:r>
          <a:r>
            <a:rPr lang="en-US" sz="1400" b="1" kern="1200" dirty="0"/>
            <a:t>Understand</a:t>
          </a:r>
          <a:r>
            <a:rPr lang="en-US" sz="1400" kern="1200" dirty="0"/>
            <a:t> the methods for water hardness and the basics of boiler water treatment and analyze fuel calorific values and battery.</a:t>
          </a:r>
        </a:p>
      </dsp:txBody>
      <dsp:txXfrm>
        <a:off x="1324733" y="3314"/>
        <a:ext cx="2762446" cy="1147542"/>
      </dsp:txXfrm>
    </dsp:sp>
    <dsp:sp modelId="{C012FC80-3824-4EFE-9F5A-114D1483AA54}">
      <dsp:nvSpPr>
        <dsp:cNvPr id="0" name=""/>
        <dsp:cNvSpPr/>
      </dsp:nvSpPr>
      <dsp:spPr>
        <a:xfrm>
          <a:off x="0" y="1429049"/>
          <a:ext cx="4381571" cy="1146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D3A1C4-4BA4-4014-841A-6B71C45548B0}">
      <dsp:nvSpPr>
        <dsp:cNvPr id="0" name=""/>
        <dsp:cNvSpPr/>
      </dsp:nvSpPr>
      <dsp:spPr>
        <a:xfrm>
          <a:off x="346792" y="1686994"/>
          <a:ext cx="631148" cy="6305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4C2E2F-D83F-4A52-A6C0-E2CA822CE068}">
      <dsp:nvSpPr>
        <dsp:cNvPr id="0" name=""/>
        <dsp:cNvSpPr/>
      </dsp:nvSpPr>
      <dsp:spPr>
        <a:xfrm>
          <a:off x="1324733" y="1429049"/>
          <a:ext cx="2762446" cy="114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48" tIns="121448" rIns="121448" bIns="121448" numCol="1" spcCol="1270" anchor="ctr" anchorCtr="0">
          <a:noAutofit/>
        </a:bodyPr>
        <a:lstStyle/>
        <a:p>
          <a:pPr marL="0" lvl="0" indent="0" algn="l" defTabSz="622300">
            <a:lnSpc>
              <a:spcPct val="100000"/>
            </a:lnSpc>
            <a:spcBef>
              <a:spcPct val="0"/>
            </a:spcBef>
            <a:spcAft>
              <a:spcPct val="35000"/>
            </a:spcAft>
            <a:buNone/>
          </a:pPr>
          <a:r>
            <a:rPr lang="en-IN" sz="1400" b="1" kern="1200" dirty="0"/>
            <a:t>CO2: </a:t>
          </a:r>
          <a:r>
            <a:rPr lang="en-US" sz="1400" b="1" kern="1200" dirty="0"/>
            <a:t>Explain</a:t>
          </a:r>
          <a:r>
            <a:rPr lang="en-US" sz="1400" kern="1200" dirty="0"/>
            <a:t> the characteristics and working principles of different battery types and types of fuels. </a:t>
          </a:r>
          <a:endParaRPr lang="en-IN" sz="1400" kern="1200" dirty="0"/>
        </a:p>
      </dsp:txBody>
      <dsp:txXfrm>
        <a:off x="1324733" y="1429049"/>
        <a:ext cx="2762446" cy="1147542"/>
      </dsp:txXfrm>
    </dsp:sp>
    <dsp:sp modelId="{1AE007B7-B3F8-4079-A7C6-8FECDDD7FCAC}">
      <dsp:nvSpPr>
        <dsp:cNvPr id="0" name=""/>
        <dsp:cNvSpPr/>
      </dsp:nvSpPr>
      <dsp:spPr>
        <a:xfrm>
          <a:off x="0" y="2854784"/>
          <a:ext cx="4381571" cy="1146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CE3D94-A17F-4373-8F94-FFA0F916D308}">
      <dsp:nvSpPr>
        <dsp:cNvPr id="0" name=""/>
        <dsp:cNvSpPr/>
      </dsp:nvSpPr>
      <dsp:spPr>
        <a:xfrm>
          <a:off x="346792" y="3112729"/>
          <a:ext cx="631148" cy="6305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F8F216-6DF1-4747-B11D-32515D5ADACC}">
      <dsp:nvSpPr>
        <dsp:cNvPr id="0" name=""/>
        <dsp:cNvSpPr/>
      </dsp:nvSpPr>
      <dsp:spPr>
        <a:xfrm>
          <a:off x="1324733" y="2854784"/>
          <a:ext cx="2762446" cy="114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48" tIns="121448" rIns="121448" bIns="121448" numCol="1" spcCol="1270" anchor="ctr" anchorCtr="0">
          <a:noAutofit/>
        </a:bodyPr>
        <a:lstStyle/>
        <a:p>
          <a:pPr marL="0" lvl="0" indent="0" algn="l" defTabSz="622300">
            <a:lnSpc>
              <a:spcPct val="100000"/>
            </a:lnSpc>
            <a:spcBef>
              <a:spcPct val="0"/>
            </a:spcBef>
            <a:spcAft>
              <a:spcPct val="35000"/>
            </a:spcAft>
            <a:buNone/>
          </a:pPr>
          <a:r>
            <a:rPr lang="en-IN" sz="1400" b="1" kern="1200" dirty="0"/>
            <a:t>CO3: </a:t>
          </a:r>
          <a:r>
            <a:rPr lang="en-US" sz="1400" b="1" kern="1200" dirty="0"/>
            <a:t>Determine</a:t>
          </a:r>
          <a:r>
            <a:rPr lang="en-US" sz="1400" kern="1200" dirty="0"/>
            <a:t> the differences between batteries and fuel cells and classify fuel cell types based on their components.</a:t>
          </a:r>
          <a:r>
            <a:rPr lang="en-IN" sz="1400" kern="1200" dirty="0"/>
            <a:t>. </a:t>
          </a:r>
        </a:p>
      </dsp:txBody>
      <dsp:txXfrm>
        <a:off x="1324733" y="2854784"/>
        <a:ext cx="2762446" cy="1147542"/>
      </dsp:txXfrm>
    </dsp:sp>
    <dsp:sp modelId="{9CC8D97A-242E-4192-9D22-094C754722C1}">
      <dsp:nvSpPr>
        <dsp:cNvPr id="0" name=""/>
        <dsp:cNvSpPr/>
      </dsp:nvSpPr>
      <dsp:spPr>
        <a:xfrm>
          <a:off x="0" y="4280518"/>
          <a:ext cx="4381571" cy="11464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801F28-382D-48CB-999F-D64AC321BFEA}">
      <dsp:nvSpPr>
        <dsp:cNvPr id="0" name=""/>
        <dsp:cNvSpPr/>
      </dsp:nvSpPr>
      <dsp:spPr>
        <a:xfrm>
          <a:off x="346792" y="4538463"/>
          <a:ext cx="631148" cy="63053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518254-9836-41F1-BF89-7570967DD110}">
      <dsp:nvSpPr>
        <dsp:cNvPr id="0" name=""/>
        <dsp:cNvSpPr/>
      </dsp:nvSpPr>
      <dsp:spPr>
        <a:xfrm>
          <a:off x="1324733" y="4280518"/>
          <a:ext cx="2762446" cy="1147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48" tIns="121448" rIns="121448" bIns="121448" numCol="1" spcCol="1270" anchor="ctr" anchorCtr="0">
          <a:noAutofit/>
        </a:bodyPr>
        <a:lstStyle/>
        <a:p>
          <a:pPr marL="0" lvl="0" indent="0" algn="l" defTabSz="622300">
            <a:lnSpc>
              <a:spcPct val="100000"/>
            </a:lnSpc>
            <a:spcBef>
              <a:spcPct val="0"/>
            </a:spcBef>
            <a:spcAft>
              <a:spcPct val="35000"/>
            </a:spcAft>
            <a:buNone/>
          </a:pPr>
          <a:r>
            <a:rPr lang="en-IN" sz="1400" b="1" kern="1200" dirty="0"/>
            <a:t>CO4: </a:t>
          </a:r>
          <a:r>
            <a:rPr lang="en-US" sz="1400" b="1" kern="1200" dirty="0"/>
            <a:t>Identify</a:t>
          </a:r>
          <a:r>
            <a:rPr lang="en-US" sz="1400" kern="1200" dirty="0"/>
            <a:t> between hard and soft water, solve the related numerical problems on water purification and emf and its significance in industry and daily life.</a:t>
          </a:r>
          <a:endParaRPr lang="en-IN" sz="1400" kern="1200" dirty="0"/>
        </a:p>
      </dsp:txBody>
      <dsp:txXfrm>
        <a:off x="1324733" y="4280518"/>
        <a:ext cx="2762446" cy="11475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DB5BF3-7A73-4D1E-B908-9E4A7792EA09}" type="datetimeFigureOut">
              <a:t>10/26/2025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00FA27-C7E5-46D1-ACAB-11BE8AE3B939}" type="slidenum">
              <a:t>‹#›</a:t>
            </a:fld>
            <a:endParaRPr lang="en-US"/>
          </a:p>
        </p:txBody>
      </p:sp>
    </p:spTree>
    <p:extLst>
      <p:ext uri="{BB962C8B-B14F-4D97-AF65-F5344CB8AC3E}">
        <p14:creationId xmlns:p14="http://schemas.microsoft.com/office/powerpoint/2010/main" val="3192735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9F4C811-DA96-46FA-BC8F-4500A40C51F1}" type="slidenum">
              <a:rPr lang="en-IN" smtClean="0"/>
              <a:t>1</a:t>
            </a:fld>
            <a:endParaRPr lang="en-IN"/>
          </a:p>
        </p:txBody>
      </p:sp>
    </p:spTree>
    <p:extLst>
      <p:ext uri="{BB962C8B-B14F-4D97-AF65-F5344CB8AC3E}">
        <p14:creationId xmlns:p14="http://schemas.microsoft.com/office/powerpoint/2010/main" val="3242234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D1113-0199-D8C6-B1EC-543C98DC76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9439C65-9632-7355-083C-908DBD4A86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1C099CC-27ED-C944-4BE0-364EFD4DE435}"/>
              </a:ext>
            </a:extLst>
          </p:cNvPr>
          <p:cNvSpPr>
            <a:spLocks noGrp="1"/>
          </p:cNvSpPr>
          <p:nvPr>
            <p:ph type="dt" sz="half" idx="10"/>
          </p:nvPr>
        </p:nvSpPr>
        <p:spPr/>
        <p:txBody>
          <a:bodyPr/>
          <a:lstStyle/>
          <a:p>
            <a:fld id="{AC508F03-0C09-4408-A626-6F5F2667280D}" type="datetimeFigureOut">
              <a:rPr lang="en-IN" smtClean="0"/>
              <a:t>26-10-2025</a:t>
            </a:fld>
            <a:endParaRPr lang="en-IN"/>
          </a:p>
        </p:txBody>
      </p:sp>
      <p:sp>
        <p:nvSpPr>
          <p:cNvPr id="5" name="Footer Placeholder 4">
            <a:extLst>
              <a:ext uri="{FF2B5EF4-FFF2-40B4-BE49-F238E27FC236}">
                <a16:creationId xmlns:a16="http://schemas.microsoft.com/office/drawing/2014/main" id="{E78C4006-13D4-E39F-CFF7-402112C335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316D15-41E3-B2A5-9D00-3D3D1E60C233}"/>
              </a:ext>
            </a:extLst>
          </p:cNvPr>
          <p:cNvSpPr>
            <a:spLocks noGrp="1"/>
          </p:cNvSpPr>
          <p:nvPr>
            <p:ph type="sldNum" sz="quarter" idx="12"/>
          </p:nvPr>
        </p:nvSpPr>
        <p:spPr/>
        <p:txBody>
          <a:bodyPr/>
          <a:lstStyle/>
          <a:p>
            <a:fld id="{74DC5DFF-9BDA-4B05-AC52-A28D9CC701C3}" type="slidenum">
              <a:rPr lang="en-IN" smtClean="0"/>
              <a:t>‹#›</a:t>
            </a:fld>
            <a:endParaRPr lang="en-IN"/>
          </a:p>
        </p:txBody>
      </p:sp>
    </p:spTree>
    <p:extLst>
      <p:ext uri="{BB962C8B-B14F-4D97-AF65-F5344CB8AC3E}">
        <p14:creationId xmlns:p14="http://schemas.microsoft.com/office/powerpoint/2010/main" val="2769912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0BE14-D667-A0BD-7301-9F2A6614C1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541172-CFF8-0F63-78C8-5BA0E98037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9D91C9-4388-81B3-F88D-FA7946DABB2B}"/>
              </a:ext>
            </a:extLst>
          </p:cNvPr>
          <p:cNvSpPr>
            <a:spLocks noGrp="1"/>
          </p:cNvSpPr>
          <p:nvPr>
            <p:ph type="dt" sz="half" idx="10"/>
          </p:nvPr>
        </p:nvSpPr>
        <p:spPr/>
        <p:txBody>
          <a:bodyPr/>
          <a:lstStyle/>
          <a:p>
            <a:fld id="{AC508F03-0C09-4408-A626-6F5F2667280D}" type="datetimeFigureOut">
              <a:rPr lang="en-IN" smtClean="0"/>
              <a:t>26-10-2025</a:t>
            </a:fld>
            <a:endParaRPr lang="en-IN"/>
          </a:p>
        </p:txBody>
      </p:sp>
      <p:sp>
        <p:nvSpPr>
          <p:cNvPr id="5" name="Footer Placeholder 4">
            <a:extLst>
              <a:ext uri="{FF2B5EF4-FFF2-40B4-BE49-F238E27FC236}">
                <a16:creationId xmlns:a16="http://schemas.microsoft.com/office/drawing/2014/main" id="{9A90B9A2-05F2-0EDB-9D47-EFD021A812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E98923-E0F0-B6B7-30E9-448679775687}"/>
              </a:ext>
            </a:extLst>
          </p:cNvPr>
          <p:cNvSpPr>
            <a:spLocks noGrp="1"/>
          </p:cNvSpPr>
          <p:nvPr>
            <p:ph type="sldNum" sz="quarter" idx="12"/>
          </p:nvPr>
        </p:nvSpPr>
        <p:spPr/>
        <p:txBody>
          <a:bodyPr/>
          <a:lstStyle/>
          <a:p>
            <a:fld id="{74DC5DFF-9BDA-4B05-AC52-A28D9CC701C3}" type="slidenum">
              <a:rPr lang="en-IN" smtClean="0"/>
              <a:t>‹#›</a:t>
            </a:fld>
            <a:endParaRPr lang="en-IN"/>
          </a:p>
        </p:txBody>
      </p:sp>
    </p:spTree>
    <p:extLst>
      <p:ext uri="{BB962C8B-B14F-4D97-AF65-F5344CB8AC3E}">
        <p14:creationId xmlns:p14="http://schemas.microsoft.com/office/powerpoint/2010/main" val="3265493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B933B-7516-1E08-714F-0B72F58AC4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1450783-15C5-31A8-F6B3-635C8D3B4F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1507BF-54D1-11FF-B156-EDDA58D2B0E2}"/>
              </a:ext>
            </a:extLst>
          </p:cNvPr>
          <p:cNvSpPr>
            <a:spLocks noGrp="1"/>
          </p:cNvSpPr>
          <p:nvPr>
            <p:ph type="dt" sz="half" idx="10"/>
          </p:nvPr>
        </p:nvSpPr>
        <p:spPr/>
        <p:txBody>
          <a:bodyPr/>
          <a:lstStyle/>
          <a:p>
            <a:fld id="{AC508F03-0C09-4408-A626-6F5F2667280D}" type="datetimeFigureOut">
              <a:rPr lang="en-IN" smtClean="0"/>
              <a:t>26-10-2025</a:t>
            </a:fld>
            <a:endParaRPr lang="en-IN"/>
          </a:p>
        </p:txBody>
      </p:sp>
      <p:sp>
        <p:nvSpPr>
          <p:cNvPr id="5" name="Footer Placeholder 4">
            <a:extLst>
              <a:ext uri="{FF2B5EF4-FFF2-40B4-BE49-F238E27FC236}">
                <a16:creationId xmlns:a16="http://schemas.microsoft.com/office/drawing/2014/main" id="{B4441749-9D63-5A97-B7C2-D22FD8260A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A75D78-C118-9C31-1BDD-718C8E3A1C81}"/>
              </a:ext>
            </a:extLst>
          </p:cNvPr>
          <p:cNvSpPr>
            <a:spLocks noGrp="1"/>
          </p:cNvSpPr>
          <p:nvPr>
            <p:ph type="sldNum" sz="quarter" idx="12"/>
          </p:nvPr>
        </p:nvSpPr>
        <p:spPr/>
        <p:txBody>
          <a:bodyPr/>
          <a:lstStyle/>
          <a:p>
            <a:fld id="{74DC5DFF-9BDA-4B05-AC52-A28D9CC701C3}" type="slidenum">
              <a:rPr lang="en-IN" smtClean="0"/>
              <a:t>‹#›</a:t>
            </a:fld>
            <a:endParaRPr lang="en-IN"/>
          </a:p>
        </p:txBody>
      </p:sp>
    </p:spTree>
    <p:extLst>
      <p:ext uri="{BB962C8B-B14F-4D97-AF65-F5344CB8AC3E}">
        <p14:creationId xmlns:p14="http://schemas.microsoft.com/office/powerpoint/2010/main" val="2932392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805A5-B249-CC55-54A0-8FA5DB5797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A0F0F4-9A50-1948-789E-19C0723E11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7BDFDC9-1D1C-FF35-964B-B48A314A74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F9E53C5-0984-F801-B03F-65CC613C19F6}"/>
              </a:ext>
            </a:extLst>
          </p:cNvPr>
          <p:cNvSpPr>
            <a:spLocks noGrp="1"/>
          </p:cNvSpPr>
          <p:nvPr>
            <p:ph type="dt" sz="half" idx="10"/>
          </p:nvPr>
        </p:nvSpPr>
        <p:spPr/>
        <p:txBody>
          <a:bodyPr/>
          <a:lstStyle/>
          <a:p>
            <a:fld id="{AC508F03-0C09-4408-A626-6F5F2667280D}" type="datetimeFigureOut">
              <a:rPr lang="en-IN" smtClean="0"/>
              <a:t>26-10-2025</a:t>
            </a:fld>
            <a:endParaRPr lang="en-IN"/>
          </a:p>
        </p:txBody>
      </p:sp>
      <p:sp>
        <p:nvSpPr>
          <p:cNvPr id="6" name="Footer Placeholder 5">
            <a:extLst>
              <a:ext uri="{FF2B5EF4-FFF2-40B4-BE49-F238E27FC236}">
                <a16:creationId xmlns:a16="http://schemas.microsoft.com/office/drawing/2014/main" id="{2D14FF6D-CF26-E99F-8B1C-FF310624DC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98763E-5EE3-DFEE-8348-32778446DCF5}"/>
              </a:ext>
            </a:extLst>
          </p:cNvPr>
          <p:cNvSpPr>
            <a:spLocks noGrp="1"/>
          </p:cNvSpPr>
          <p:nvPr>
            <p:ph type="sldNum" sz="quarter" idx="12"/>
          </p:nvPr>
        </p:nvSpPr>
        <p:spPr/>
        <p:txBody>
          <a:bodyPr/>
          <a:lstStyle/>
          <a:p>
            <a:fld id="{74DC5DFF-9BDA-4B05-AC52-A28D9CC701C3}" type="slidenum">
              <a:rPr lang="en-IN" smtClean="0"/>
              <a:t>‹#›</a:t>
            </a:fld>
            <a:endParaRPr lang="en-IN"/>
          </a:p>
        </p:txBody>
      </p:sp>
    </p:spTree>
    <p:extLst>
      <p:ext uri="{BB962C8B-B14F-4D97-AF65-F5344CB8AC3E}">
        <p14:creationId xmlns:p14="http://schemas.microsoft.com/office/powerpoint/2010/main" val="3073789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2B6B8-AEAA-15C0-F153-E720E82A99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6E3F553-4048-30E1-B022-00195FB972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5A705C-CA4C-B61C-25C7-4350006F56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E07DCE0-A13F-85F5-478D-4F9F455E78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AC20A1-8DDB-AB3A-3C87-E25B6CD05F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7FB774D-D6FD-F8CF-F7A8-DA03549C18EB}"/>
              </a:ext>
            </a:extLst>
          </p:cNvPr>
          <p:cNvSpPr>
            <a:spLocks noGrp="1"/>
          </p:cNvSpPr>
          <p:nvPr>
            <p:ph type="dt" sz="half" idx="10"/>
          </p:nvPr>
        </p:nvSpPr>
        <p:spPr/>
        <p:txBody>
          <a:bodyPr/>
          <a:lstStyle/>
          <a:p>
            <a:fld id="{AC508F03-0C09-4408-A626-6F5F2667280D}" type="datetimeFigureOut">
              <a:rPr lang="en-IN" smtClean="0"/>
              <a:t>26-10-2025</a:t>
            </a:fld>
            <a:endParaRPr lang="en-IN"/>
          </a:p>
        </p:txBody>
      </p:sp>
      <p:sp>
        <p:nvSpPr>
          <p:cNvPr id="8" name="Footer Placeholder 7">
            <a:extLst>
              <a:ext uri="{FF2B5EF4-FFF2-40B4-BE49-F238E27FC236}">
                <a16:creationId xmlns:a16="http://schemas.microsoft.com/office/drawing/2014/main" id="{CF7169E3-4B7F-E2EE-C5C0-4166B337629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DD1B8E2-7820-BF83-8FEE-DFF562EEF075}"/>
              </a:ext>
            </a:extLst>
          </p:cNvPr>
          <p:cNvSpPr>
            <a:spLocks noGrp="1"/>
          </p:cNvSpPr>
          <p:nvPr>
            <p:ph type="sldNum" sz="quarter" idx="12"/>
          </p:nvPr>
        </p:nvSpPr>
        <p:spPr/>
        <p:txBody>
          <a:bodyPr/>
          <a:lstStyle/>
          <a:p>
            <a:fld id="{74DC5DFF-9BDA-4B05-AC52-A28D9CC701C3}" type="slidenum">
              <a:rPr lang="en-IN" smtClean="0"/>
              <a:t>‹#›</a:t>
            </a:fld>
            <a:endParaRPr lang="en-IN"/>
          </a:p>
        </p:txBody>
      </p:sp>
    </p:spTree>
    <p:extLst>
      <p:ext uri="{BB962C8B-B14F-4D97-AF65-F5344CB8AC3E}">
        <p14:creationId xmlns:p14="http://schemas.microsoft.com/office/powerpoint/2010/main" val="3767004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08E40-0B6F-84F6-CCF1-6824599886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1A74DE9-698D-A8F0-EE56-C556D3F472D7}"/>
              </a:ext>
            </a:extLst>
          </p:cNvPr>
          <p:cNvSpPr>
            <a:spLocks noGrp="1"/>
          </p:cNvSpPr>
          <p:nvPr>
            <p:ph type="dt" sz="half" idx="10"/>
          </p:nvPr>
        </p:nvSpPr>
        <p:spPr/>
        <p:txBody>
          <a:bodyPr/>
          <a:lstStyle/>
          <a:p>
            <a:fld id="{AC508F03-0C09-4408-A626-6F5F2667280D}" type="datetimeFigureOut">
              <a:rPr lang="en-IN" smtClean="0"/>
              <a:t>26-10-2025</a:t>
            </a:fld>
            <a:endParaRPr lang="en-IN"/>
          </a:p>
        </p:txBody>
      </p:sp>
      <p:sp>
        <p:nvSpPr>
          <p:cNvPr id="4" name="Footer Placeholder 3">
            <a:extLst>
              <a:ext uri="{FF2B5EF4-FFF2-40B4-BE49-F238E27FC236}">
                <a16:creationId xmlns:a16="http://schemas.microsoft.com/office/drawing/2014/main" id="{C47EA644-7E5F-8044-ADE3-AEECF6489B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22ED07A-B58F-E08C-3619-1BAF2B574D94}"/>
              </a:ext>
            </a:extLst>
          </p:cNvPr>
          <p:cNvSpPr>
            <a:spLocks noGrp="1"/>
          </p:cNvSpPr>
          <p:nvPr>
            <p:ph type="sldNum" sz="quarter" idx="12"/>
          </p:nvPr>
        </p:nvSpPr>
        <p:spPr/>
        <p:txBody>
          <a:bodyPr/>
          <a:lstStyle/>
          <a:p>
            <a:fld id="{74DC5DFF-9BDA-4B05-AC52-A28D9CC701C3}" type="slidenum">
              <a:rPr lang="en-IN" smtClean="0"/>
              <a:t>‹#›</a:t>
            </a:fld>
            <a:endParaRPr lang="en-IN"/>
          </a:p>
        </p:txBody>
      </p:sp>
    </p:spTree>
    <p:extLst>
      <p:ext uri="{BB962C8B-B14F-4D97-AF65-F5344CB8AC3E}">
        <p14:creationId xmlns:p14="http://schemas.microsoft.com/office/powerpoint/2010/main" val="2245837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801B2F-C262-7251-B025-1F4E74FB8592}"/>
              </a:ext>
            </a:extLst>
          </p:cNvPr>
          <p:cNvSpPr>
            <a:spLocks noGrp="1"/>
          </p:cNvSpPr>
          <p:nvPr>
            <p:ph type="dt" sz="half" idx="10"/>
          </p:nvPr>
        </p:nvSpPr>
        <p:spPr/>
        <p:txBody>
          <a:bodyPr/>
          <a:lstStyle/>
          <a:p>
            <a:fld id="{AC508F03-0C09-4408-A626-6F5F2667280D}" type="datetimeFigureOut">
              <a:rPr lang="en-IN" smtClean="0"/>
              <a:t>26-10-2025</a:t>
            </a:fld>
            <a:endParaRPr lang="en-IN"/>
          </a:p>
        </p:txBody>
      </p:sp>
      <p:sp>
        <p:nvSpPr>
          <p:cNvPr id="3" name="Footer Placeholder 2">
            <a:extLst>
              <a:ext uri="{FF2B5EF4-FFF2-40B4-BE49-F238E27FC236}">
                <a16:creationId xmlns:a16="http://schemas.microsoft.com/office/drawing/2014/main" id="{DDD21061-2EA5-00DE-380F-FC0B5779B2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30B4D9-D89C-E394-DF9B-0C089CC1F4C0}"/>
              </a:ext>
            </a:extLst>
          </p:cNvPr>
          <p:cNvSpPr>
            <a:spLocks noGrp="1"/>
          </p:cNvSpPr>
          <p:nvPr>
            <p:ph type="sldNum" sz="quarter" idx="12"/>
          </p:nvPr>
        </p:nvSpPr>
        <p:spPr/>
        <p:txBody>
          <a:bodyPr/>
          <a:lstStyle/>
          <a:p>
            <a:fld id="{74DC5DFF-9BDA-4B05-AC52-A28D9CC701C3}" type="slidenum">
              <a:rPr lang="en-IN" smtClean="0"/>
              <a:t>‹#›</a:t>
            </a:fld>
            <a:endParaRPr lang="en-IN"/>
          </a:p>
        </p:txBody>
      </p:sp>
    </p:spTree>
    <p:extLst>
      <p:ext uri="{BB962C8B-B14F-4D97-AF65-F5344CB8AC3E}">
        <p14:creationId xmlns:p14="http://schemas.microsoft.com/office/powerpoint/2010/main" val="3931488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11983-0B44-A894-6495-05490276EC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5D3963-E92F-28BD-5311-D03CD769ED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C4056F4-19B6-E1EE-73C4-A92E16268F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BF22EE-CF2F-DE0A-0892-9844657C8126}"/>
              </a:ext>
            </a:extLst>
          </p:cNvPr>
          <p:cNvSpPr>
            <a:spLocks noGrp="1"/>
          </p:cNvSpPr>
          <p:nvPr>
            <p:ph type="dt" sz="half" idx="10"/>
          </p:nvPr>
        </p:nvSpPr>
        <p:spPr/>
        <p:txBody>
          <a:bodyPr/>
          <a:lstStyle/>
          <a:p>
            <a:fld id="{AC508F03-0C09-4408-A626-6F5F2667280D}" type="datetimeFigureOut">
              <a:rPr lang="en-IN" smtClean="0"/>
              <a:t>26-10-2025</a:t>
            </a:fld>
            <a:endParaRPr lang="en-IN"/>
          </a:p>
        </p:txBody>
      </p:sp>
      <p:sp>
        <p:nvSpPr>
          <p:cNvPr id="6" name="Footer Placeholder 5">
            <a:extLst>
              <a:ext uri="{FF2B5EF4-FFF2-40B4-BE49-F238E27FC236}">
                <a16:creationId xmlns:a16="http://schemas.microsoft.com/office/drawing/2014/main" id="{3DF1BFC2-3FAA-0C7F-BAC6-00985CB0D3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1454AB-EA15-A6D1-A322-C6B27DC5B920}"/>
              </a:ext>
            </a:extLst>
          </p:cNvPr>
          <p:cNvSpPr>
            <a:spLocks noGrp="1"/>
          </p:cNvSpPr>
          <p:nvPr>
            <p:ph type="sldNum" sz="quarter" idx="12"/>
          </p:nvPr>
        </p:nvSpPr>
        <p:spPr/>
        <p:txBody>
          <a:bodyPr/>
          <a:lstStyle/>
          <a:p>
            <a:fld id="{74DC5DFF-9BDA-4B05-AC52-A28D9CC701C3}" type="slidenum">
              <a:rPr lang="en-IN" smtClean="0"/>
              <a:t>‹#›</a:t>
            </a:fld>
            <a:endParaRPr lang="en-IN"/>
          </a:p>
        </p:txBody>
      </p:sp>
    </p:spTree>
    <p:extLst>
      <p:ext uri="{BB962C8B-B14F-4D97-AF65-F5344CB8AC3E}">
        <p14:creationId xmlns:p14="http://schemas.microsoft.com/office/powerpoint/2010/main" val="1929604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9ED7C-785E-BF46-B447-9444558FE7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3543501-DF2C-9CC3-8214-79E889C953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9636DD6-3F5E-5C65-B39E-78AA5526BD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3ECD41-E75A-5DB7-B692-A6DABE021F47}"/>
              </a:ext>
            </a:extLst>
          </p:cNvPr>
          <p:cNvSpPr>
            <a:spLocks noGrp="1"/>
          </p:cNvSpPr>
          <p:nvPr>
            <p:ph type="dt" sz="half" idx="10"/>
          </p:nvPr>
        </p:nvSpPr>
        <p:spPr/>
        <p:txBody>
          <a:bodyPr/>
          <a:lstStyle/>
          <a:p>
            <a:fld id="{AC508F03-0C09-4408-A626-6F5F2667280D}" type="datetimeFigureOut">
              <a:rPr lang="en-IN" smtClean="0"/>
              <a:t>26-10-2025</a:t>
            </a:fld>
            <a:endParaRPr lang="en-IN"/>
          </a:p>
        </p:txBody>
      </p:sp>
      <p:sp>
        <p:nvSpPr>
          <p:cNvPr id="6" name="Footer Placeholder 5">
            <a:extLst>
              <a:ext uri="{FF2B5EF4-FFF2-40B4-BE49-F238E27FC236}">
                <a16:creationId xmlns:a16="http://schemas.microsoft.com/office/drawing/2014/main" id="{4A2EF78E-37DC-400B-20FC-1101120057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CE7871-60CD-98EE-66AC-B3F4E090556E}"/>
              </a:ext>
            </a:extLst>
          </p:cNvPr>
          <p:cNvSpPr>
            <a:spLocks noGrp="1"/>
          </p:cNvSpPr>
          <p:nvPr>
            <p:ph type="sldNum" sz="quarter" idx="12"/>
          </p:nvPr>
        </p:nvSpPr>
        <p:spPr/>
        <p:txBody>
          <a:bodyPr/>
          <a:lstStyle/>
          <a:p>
            <a:fld id="{74DC5DFF-9BDA-4B05-AC52-A28D9CC701C3}" type="slidenum">
              <a:rPr lang="en-IN" smtClean="0"/>
              <a:t>‹#›</a:t>
            </a:fld>
            <a:endParaRPr lang="en-IN"/>
          </a:p>
        </p:txBody>
      </p:sp>
    </p:spTree>
    <p:extLst>
      <p:ext uri="{BB962C8B-B14F-4D97-AF65-F5344CB8AC3E}">
        <p14:creationId xmlns:p14="http://schemas.microsoft.com/office/powerpoint/2010/main" val="146270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05F88-2AA7-1ED3-9828-EF40402D58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7DFF13-96BF-772D-C12A-CEEC292A2D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F4BC8D-4495-F0FE-B315-E7D80DFD11E4}"/>
              </a:ext>
            </a:extLst>
          </p:cNvPr>
          <p:cNvSpPr>
            <a:spLocks noGrp="1"/>
          </p:cNvSpPr>
          <p:nvPr>
            <p:ph type="dt" sz="half" idx="10"/>
          </p:nvPr>
        </p:nvSpPr>
        <p:spPr/>
        <p:txBody>
          <a:bodyPr/>
          <a:lstStyle/>
          <a:p>
            <a:fld id="{AC508F03-0C09-4408-A626-6F5F2667280D}" type="datetimeFigureOut">
              <a:rPr lang="en-IN" smtClean="0"/>
              <a:t>26-10-2025</a:t>
            </a:fld>
            <a:endParaRPr lang="en-IN"/>
          </a:p>
        </p:txBody>
      </p:sp>
      <p:sp>
        <p:nvSpPr>
          <p:cNvPr id="5" name="Footer Placeholder 4">
            <a:extLst>
              <a:ext uri="{FF2B5EF4-FFF2-40B4-BE49-F238E27FC236}">
                <a16:creationId xmlns:a16="http://schemas.microsoft.com/office/drawing/2014/main" id="{9C0162BB-F626-2216-E1F6-0EBC2A4FFB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DD1023-FB42-2342-F728-3034E0F632CC}"/>
              </a:ext>
            </a:extLst>
          </p:cNvPr>
          <p:cNvSpPr>
            <a:spLocks noGrp="1"/>
          </p:cNvSpPr>
          <p:nvPr>
            <p:ph type="sldNum" sz="quarter" idx="12"/>
          </p:nvPr>
        </p:nvSpPr>
        <p:spPr/>
        <p:txBody>
          <a:bodyPr/>
          <a:lstStyle/>
          <a:p>
            <a:fld id="{74DC5DFF-9BDA-4B05-AC52-A28D9CC701C3}" type="slidenum">
              <a:rPr lang="en-IN" smtClean="0"/>
              <a:t>‹#›</a:t>
            </a:fld>
            <a:endParaRPr lang="en-IN"/>
          </a:p>
        </p:txBody>
      </p:sp>
    </p:spTree>
    <p:extLst>
      <p:ext uri="{BB962C8B-B14F-4D97-AF65-F5344CB8AC3E}">
        <p14:creationId xmlns:p14="http://schemas.microsoft.com/office/powerpoint/2010/main" val="3341963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3AD8EC-6F4E-2646-A844-13F0B1FB0F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FFBD39-52EF-AD8C-6B69-36E0586EDF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22B5F7-7466-4078-83E5-32E220A24498}"/>
              </a:ext>
            </a:extLst>
          </p:cNvPr>
          <p:cNvSpPr>
            <a:spLocks noGrp="1"/>
          </p:cNvSpPr>
          <p:nvPr>
            <p:ph type="dt" sz="half" idx="10"/>
          </p:nvPr>
        </p:nvSpPr>
        <p:spPr/>
        <p:txBody>
          <a:bodyPr/>
          <a:lstStyle/>
          <a:p>
            <a:fld id="{AC508F03-0C09-4408-A626-6F5F2667280D}" type="datetimeFigureOut">
              <a:rPr lang="en-IN" smtClean="0"/>
              <a:t>26-10-2025</a:t>
            </a:fld>
            <a:endParaRPr lang="en-IN"/>
          </a:p>
        </p:txBody>
      </p:sp>
      <p:sp>
        <p:nvSpPr>
          <p:cNvPr id="5" name="Footer Placeholder 4">
            <a:extLst>
              <a:ext uri="{FF2B5EF4-FFF2-40B4-BE49-F238E27FC236}">
                <a16:creationId xmlns:a16="http://schemas.microsoft.com/office/drawing/2014/main" id="{AEAD50AC-FC82-C69B-6B01-7337EBB171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A12DF8-E2B1-8C22-1B3E-CBD937CF7E2F}"/>
              </a:ext>
            </a:extLst>
          </p:cNvPr>
          <p:cNvSpPr>
            <a:spLocks noGrp="1"/>
          </p:cNvSpPr>
          <p:nvPr>
            <p:ph type="sldNum" sz="quarter" idx="12"/>
          </p:nvPr>
        </p:nvSpPr>
        <p:spPr/>
        <p:txBody>
          <a:bodyPr/>
          <a:lstStyle/>
          <a:p>
            <a:fld id="{74DC5DFF-9BDA-4B05-AC52-A28D9CC701C3}" type="slidenum">
              <a:rPr lang="en-IN" smtClean="0"/>
              <a:t>‹#›</a:t>
            </a:fld>
            <a:endParaRPr lang="en-IN"/>
          </a:p>
        </p:txBody>
      </p:sp>
    </p:spTree>
    <p:extLst>
      <p:ext uri="{BB962C8B-B14F-4D97-AF65-F5344CB8AC3E}">
        <p14:creationId xmlns:p14="http://schemas.microsoft.com/office/powerpoint/2010/main" val="3271777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BFF794-CFC7-0B9B-8EA6-4FDCAFF3F3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F5CC8E-16F8-FFE0-6F30-3727CF3623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F5FBD9-3F8C-5BE3-AC2A-DA81F28777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508F03-0C09-4408-A626-6F5F2667280D}" type="datetimeFigureOut">
              <a:rPr lang="en-IN" smtClean="0"/>
              <a:t>26-10-2025</a:t>
            </a:fld>
            <a:endParaRPr lang="en-IN"/>
          </a:p>
        </p:txBody>
      </p:sp>
      <p:sp>
        <p:nvSpPr>
          <p:cNvPr id="5" name="Footer Placeholder 4">
            <a:extLst>
              <a:ext uri="{FF2B5EF4-FFF2-40B4-BE49-F238E27FC236}">
                <a16:creationId xmlns:a16="http://schemas.microsoft.com/office/drawing/2014/main" id="{E7404920-3975-7AE3-6C69-8BE72A6908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0E220BE-BF67-6EA2-2E70-1F5F09F274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DC5DFF-9BDA-4B05-AC52-A28D9CC701C3}" type="slidenum">
              <a:rPr lang="en-IN" smtClean="0"/>
              <a:t>‹#›</a:t>
            </a:fld>
            <a:endParaRPr lang="en-IN"/>
          </a:p>
        </p:txBody>
      </p:sp>
    </p:spTree>
    <p:extLst>
      <p:ext uri="{BB962C8B-B14F-4D97-AF65-F5344CB8AC3E}">
        <p14:creationId xmlns:p14="http://schemas.microsoft.com/office/powerpoint/2010/main" val="271077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8.jpe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8.jpe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EB6A25-0621-10C8-9539-F4E23EC1891E}"/>
              </a:ext>
            </a:extLst>
          </p:cNvPr>
          <p:cNvSpPr/>
          <p:nvPr/>
        </p:nvSpPr>
        <p:spPr>
          <a:xfrm>
            <a:off x="1508786" y="1251438"/>
            <a:ext cx="9159214" cy="5297705"/>
          </a:xfrm>
          <a:prstGeom prst="rect">
            <a:avLst/>
          </a:prstGeom>
          <a:blipFill dpi="0" rotWithShape="1">
            <a:blip r:embed="rId3">
              <a:alphaModFix amt="50000"/>
            </a:blip>
            <a:srcRect/>
            <a:stretch>
              <a:fillRect t="-3862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dirty="0">
              <a:solidFill>
                <a:prstClr val="white"/>
              </a:solidFill>
              <a:latin typeface="Aptos" panose="02110004020202020204"/>
            </a:endParaRPr>
          </a:p>
        </p:txBody>
      </p:sp>
      <p:grpSp>
        <p:nvGrpSpPr>
          <p:cNvPr id="2" name="Group 1">
            <a:extLst>
              <a:ext uri="{FF2B5EF4-FFF2-40B4-BE49-F238E27FC236}">
                <a16:creationId xmlns:a16="http://schemas.microsoft.com/office/drawing/2014/main" id="{7910B384-7E13-233A-9F37-02109640C973}"/>
              </a:ext>
            </a:extLst>
          </p:cNvPr>
          <p:cNvGrpSpPr/>
          <p:nvPr/>
        </p:nvGrpSpPr>
        <p:grpSpPr>
          <a:xfrm>
            <a:off x="1508787" y="0"/>
            <a:ext cx="9159213" cy="304800"/>
            <a:chOff x="1143000" y="857250"/>
            <a:chExt cx="6858000" cy="162000"/>
          </a:xfrm>
        </p:grpSpPr>
        <p:sp>
          <p:nvSpPr>
            <p:cNvPr id="5" name="Rectangle 4">
              <a:extLst>
                <a:ext uri="{FF2B5EF4-FFF2-40B4-BE49-F238E27FC236}">
                  <a16:creationId xmlns:a16="http://schemas.microsoft.com/office/drawing/2014/main" id="{DA3C5C49-EEE1-635D-59E5-7808D54395A4}"/>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7" name="Rectangle 6">
              <a:extLst>
                <a:ext uri="{FF2B5EF4-FFF2-40B4-BE49-F238E27FC236}">
                  <a16:creationId xmlns:a16="http://schemas.microsoft.com/office/drawing/2014/main" id="{526EC0BF-23F7-8D74-28AC-EB3330F5685B}"/>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
        <p:nvSpPr>
          <p:cNvPr id="10" name="TextBox 9">
            <a:extLst>
              <a:ext uri="{FF2B5EF4-FFF2-40B4-BE49-F238E27FC236}">
                <a16:creationId xmlns:a16="http://schemas.microsoft.com/office/drawing/2014/main" id="{54417709-EA2B-EEB2-0124-DBC679B75F59}"/>
              </a:ext>
            </a:extLst>
          </p:cNvPr>
          <p:cNvSpPr txBox="1"/>
          <p:nvPr/>
        </p:nvSpPr>
        <p:spPr>
          <a:xfrm>
            <a:off x="3280081" y="4894133"/>
            <a:ext cx="5616624" cy="1446550"/>
          </a:xfrm>
          <a:prstGeom prst="rect">
            <a:avLst/>
          </a:prstGeom>
          <a:noFill/>
        </p:spPr>
        <p:txBody>
          <a:bodyPr wrap="square">
            <a:spAutoFit/>
          </a:bodyPr>
          <a:lstStyle/>
          <a:p>
            <a:pPr algn="ctr">
              <a:defRPr/>
            </a:pPr>
            <a:r>
              <a:rPr lang="en-GB" sz="2000" b="1" dirty="0">
                <a:solidFill>
                  <a:srgbClr val="7030A0"/>
                </a:solidFill>
                <a:latin typeface="Times New Roman" panose="02020603050405020304" pitchFamily="18" charset="0"/>
                <a:cs typeface="Times New Roman" panose="02020603050405020304" pitchFamily="18" charset="0"/>
              </a:rPr>
              <a:t>Dr. Mehak Ahuja</a:t>
            </a:r>
          </a:p>
          <a:p>
            <a:pPr algn="ctr">
              <a:defRPr/>
            </a:pPr>
            <a:r>
              <a:rPr lang="en-GB" sz="2000" b="1" dirty="0">
                <a:solidFill>
                  <a:srgbClr val="7030A0"/>
                </a:solidFill>
                <a:latin typeface="Times New Roman" panose="02020603050405020304" pitchFamily="18" charset="0"/>
                <a:cs typeface="Times New Roman" panose="02020603050405020304" pitchFamily="18" charset="0"/>
              </a:rPr>
              <a:t>Assistant Professor, </a:t>
            </a:r>
            <a:r>
              <a:rPr lang="en-US" sz="1600" b="1" dirty="0">
                <a:solidFill>
                  <a:srgbClr val="7030A0"/>
                </a:solidFill>
                <a:latin typeface="Times New Roman" panose="02020603050405020304" pitchFamily="18" charset="0"/>
                <a:cs typeface="Times New Roman" panose="02020603050405020304" pitchFamily="18" charset="0"/>
              </a:rPr>
              <a:t>Department of Chemistry </a:t>
            </a:r>
          </a:p>
          <a:p>
            <a:pPr algn="ctr">
              <a:defRPr/>
            </a:pPr>
            <a:r>
              <a:rPr lang="en-US" sz="1600" b="1" dirty="0">
                <a:solidFill>
                  <a:srgbClr val="7030A0"/>
                </a:solidFill>
                <a:latin typeface="Times New Roman" panose="02020603050405020304" pitchFamily="18" charset="0"/>
                <a:cs typeface="Times New Roman" panose="02020603050405020304" pitchFamily="18" charset="0"/>
              </a:rPr>
              <a:t> School of Basic and Applied Sciences</a:t>
            </a:r>
          </a:p>
          <a:p>
            <a:pPr algn="ctr" defTabSz="342900">
              <a:defRPr/>
            </a:pPr>
            <a:r>
              <a:rPr lang="en-US" sz="1600" b="1" dirty="0">
                <a:solidFill>
                  <a:srgbClr val="7030A0"/>
                </a:solidFill>
                <a:latin typeface="Times New Roman" panose="02020603050405020304" pitchFamily="18" charset="0"/>
                <a:cs typeface="Times New Roman" panose="02020603050405020304" pitchFamily="18" charset="0"/>
              </a:rPr>
              <a:t>K.R. Mangalam University</a:t>
            </a:r>
          </a:p>
          <a:p>
            <a:pPr algn="ctr" defTabSz="342900">
              <a:defRPr/>
            </a:pPr>
            <a:r>
              <a:rPr lang="en-US" sz="1600" b="1" dirty="0">
                <a:solidFill>
                  <a:srgbClr val="7030A0"/>
                </a:solidFill>
                <a:latin typeface="Times New Roman" panose="02020603050405020304" pitchFamily="18" charset="0"/>
                <a:cs typeface="Times New Roman" panose="02020603050405020304" pitchFamily="18" charset="0"/>
              </a:rPr>
              <a:t>Sohna Road, Gurugram</a:t>
            </a:r>
            <a:endParaRPr lang="en-IN" sz="1600" b="1" dirty="0">
              <a:solidFill>
                <a:srgbClr val="7030A0"/>
              </a:solidFill>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21708C23-8D0C-B7D6-5018-8B0190278737}"/>
              </a:ext>
            </a:extLst>
          </p:cNvPr>
          <p:cNvPicPr>
            <a:picLocks noChangeAspect="1"/>
          </p:cNvPicPr>
          <p:nvPr/>
        </p:nvPicPr>
        <p:blipFill>
          <a:blip r:embed="rId4"/>
          <a:stretch>
            <a:fillRect/>
          </a:stretch>
        </p:blipFill>
        <p:spPr>
          <a:xfrm>
            <a:off x="1819275" y="308857"/>
            <a:ext cx="8572501" cy="927678"/>
          </a:xfrm>
          <a:prstGeom prst="rect">
            <a:avLst/>
          </a:prstGeom>
        </p:spPr>
      </p:pic>
      <p:sp>
        <p:nvSpPr>
          <p:cNvPr id="4" name="TextBox 3">
            <a:extLst>
              <a:ext uri="{FF2B5EF4-FFF2-40B4-BE49-F238E27FC236}">
                <a16:creationId xmlns:a16="http://schemas.microsoft.com/office/drawing/2014/main" id="{B644A3F9-E1EE-5DBD-6D95-67CF95DACB77}"/>
              </a:ext>
            </a:extLst>
          </p:cNvPr>
          <p:cNvSpPr txBox="1"/>
          <p:nvPr/>
        </p:nvSpPr>
        <p:spPr>
          <a:xfrm>
            <a:off x="1524000" y="1960483"/>
            <a:ext cx="9159214" cy="2918748"/>
          </a:xfrm>
          <a:prstGeom prst="rect">
            <a:avLst/>
          </a:prstGeom>
          <a:noFill/>
        </p:spPr>
        <p:txBody>
          <a:bodyPr wrap="square" lIns="91440" tIns="45720" rIns="91440" bIns="45720" anchor="t">
            <a:spAutoFit/>
          </a:bodyPr>
          <a:lstStyle/>
          <a:p>
            <a:pPr marR="27305" algn="ctr">
              <a:spcBef>
                <a:spcPts val="75"/>
              </a:spcBef>
            </a:pPr>
            <a:r>
              <a:rPr lang="en-US" sz="3200" b="1" dirty="0">
                <a:solidFill>
                  <a:schemeClr val="accent5">
                    <a:lumMod val="75000"/>
                  </a:schemeClr>
                </a:solidFill>
              </a:rPr>
              <a:t>Introduction to Water Chemistry &amp; Hardness </a:t>
            </a:r>
            <a:endParaRPr lang="en-US"/>
          </a:p>
          <a:p>
            <a:pPr marR="27305" algn="ctr">
              <a:spcBef>
                <a:spcPts val="75"/>
              </a:spcBef>
            </a:pPr>
            <a:r>
              <a:rPr lang="en-US" sz="3000" b="1" dirty="0">
                <a:latin typeface="Times New Roman"/>
                <a:cs typeface="Times New Roman"/>
              </a:rPr>
              <a:t>Course</a:t>
            </a:r>
            <a:r>
              <a:rPr lang="en-US" sz="3000" b="1" spc="-38" dirty="0">
                <a:latin typeface="Times New Roman"/>
                <a:cs typeface="Times New Roman"/>
              </a:rPr>
              <a:t> </a:t>
            </a:r>
            <a:r>
              <a:rPr lang="en-US" sz="3000" b="1" dirty="0">
                <a:latin typeface="Times New Roman"/>
                <a:cs typeface="Times New Roman"/>
              </a:rPr>
              <a:t>Code:</a:t>
            </a:r>
            <a:r>
              <a:rPr lang="en-US" sz="3000" b="1" spc="-38" dirty="0">
                <a:latin typeface="Times New Roman"/>
                <a:cs typeface="Times New Roman"/>
              </a:rPr>
              <a:t> </a:t>
            </a:r>
            <a:r>
              <a:rPr lang="en-US" sz="3000" spc="-8" dirty="0">
                <a:latin typeface="Times New Roman"/>
                <a:cs typeface="Times New Roman"/>
              </a:rPr>
              <a:t>ETMLCH104</a:t>
            </a:r>
            <a:endParaRPr lang="en-US" sz="3000" spc="-8" dirty="0">
              <a:latin typeface="Times New Roman" panose="02020603050405020304" pitchFamily="18" charset="0"/>
              <a:ea typeface="Times New Roman" panose="02020603050405020304" pitchFamily="18" charset="0"/>
              <a:cs typeface="Times New Roman"/>
            </a:endParaRPr>
          </a:p>
          <a:p>
            <a:pPr marR="27305" algn="ctr">
              <a:spcBef>
                <a:spcPts val="75"/>
              </a:spcBef>
            </a:pPr>
            <a:r>
              <a:rPr lang="en-US" sz="3000" b="1" dirty="0">
                <a:latin typeface="Times New Roman"/>
                <a:cs typeface="Times New Roman"/>
              </a:rPr>
              <a:t>Course</a:t>
            </a:r>
            <a:r>
              <a:rPr lang="en-US" sz="3000" b="1" spc="-4" dirty="0">
                <a:latin typeface="Times New Roman"/>
                <a:cs typeface="Times New Roman"/>
              </a:rPr>
              <a:t> </a:t>
            </a:r>
            <a:r>
              <a:rPr lang="en-US" sz="3000" b="1" dirty="0">
                <a:latin typeface="Times New Roman"/>
                <a:cs typeface="Times New Roman"/>
              </a:rPr>
              <a:t>Name: </a:t>
            </a:r>
            <a:r>
              <a:rPr lang="en-GB" sz="3000" spc="-8" dirty="0">
                <a:latin typeface="Times New Roman" panose="02020603050405020304" pitchFamily="18" charset="0"/>
                <a:ea typeface="Times New Roman" panose="02020603050405020304" pitchFamily="18" charset="0"/>
              </a:rPr>
              <a:t>Engineering Chemistry</a:t>
            </a:r>
            <a:endParaRPr lang="en-US" sz="3000" dirty="0">
              <a:latin typeface="Times New Roman"/>
              <a:cs typeface="Times New Roman"/>
            </a:endParaRPr>
          </a:p>
          <a:p>
            <a:pPr marR="27305" algn="ctr"/>
            <a:r>
              <a:rPr lang="en-US" sz="3000" b="1" dirty="0">
                <a:latin typeface="Times New Roman"/>
                <a:cs typeface="Times New Roman"/>
              </a:rPr>
              <a:t>Program:</a:t>
            </a:r>
            <a:r>
              <a:rPr lang="en-US" sz="3000" b="1" spc="-34" dirty="0">
                <a:latin typeface="Times New Roman"/>
                <a:cs typeface="Times New Roman"/>
              </a:rPr>
              <a:t> </a:t>
            </a:r>
            <a:r>
              <a:rPr lang="en-US" sz="3000" dirty="0">
                <a:latin typeface="Times New Roman"/>
                <a:cs typeface="Times New Roman"/>
              </a:rPr>
              <a:t>B.Tech. (AI/ML)</a:t>
            </a:r>
            <a:endParaRPr lang="en-US" sz="3000" b="1" dirty="0">
              <a:latin typeface="Times New Roman"/>
              <a:cs typeface="Times New Roman"/>
            </a:endParaRPr>
          </a:p>
          <a:p>
            <a:pPr algn="ctr"/>
            <a:r>
              <a:rPr lang="en-GB" sz="3000" b="1" dirty="0">
                <a:latin typeface="Times New Roman" panose="02020603050405020304" pitchFamily="18" charset="0"/>
                <a:cs typeface="Times New Roman" panose="02020603050405020304" pitchFamily="18" charset="0"/>
              </a:rPr>
              <a:t>Unit 2: </a:t>
            </a:r>
            <a:r>
              <a:rPr lang="en-GB" sz="3000" dirty="0">
                <a:latin typeface="Times New Roman" panose="02020603050405020304" pitchFamily="18" charset="0"/>
                <a:cs typeface="Times New Roman" panose="02020603050405020304" pitchFamily="18" charset="0"/>
              </a:rPr>
              <a:t>Chemical Fuels</a:t>
            </a:r>
          </a:p>
          <a:p>
            <a:pPr algn="ctr"/>
            <a:endParaRPr lang="en-GB" sz="3000" b="1" dirty="0">
              <a:solidFill>
                <a:srgbClr val="7030A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36AFDA2C-02FC-7805-B01D-415947BDEB3A}"/>
              </a:ext>
            </a:extLst>
          </p:cNvPr>
          <p:cNvGrpSpPr/>
          <p:nvPr/>
        </p:nvGrpSpPr>
        <p:grpSpPr>
          <a:xfrm>
            <a:off x="1524001" y="6549143"/>
            <a:ext cx="9159213" cy="304800"/>
            <a:chOff x="1143000" y="857250"/>
            <a:chExt cx="6858000" cy="162000"/>
          </a:xfrm>
        </p:grpSpPr>
        <p:sp>
          <p:nvSpPr>
            <p:cNvPr id="11" name="Rectangle 10">
              <a:extLst>
                <a:ext uri="{FF2B5EF4-FFF2-40B4-BE49-F238E27FC236}">
                  <a16:creationId xmlns:a16="http://schemas.microsoft.com/office/drawing/2014/main" id="{973F716C-7323-768B-D8E3-06127E29334B}"/>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12" name="Rectangle 11">
              <a:extLst>
                <a:ext uri="{FF2B5EF4-FFF2-40B4-BE49-F238E27FC236}">
                  <a16:creationId xmlns:a16="http://schemas.microsoft.com/office/drawing/2014/main" id="{4426B9DC-430E-BCAA-1219-94197EAAEDFD}"/>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Tree>
    <p:extLst>
      <p:ext uri="{BB962C8B-B14F-4D97-AF65-F5344CB8AC3E}">
        <p14:creationId xmlns:p14="http://schemas.microsoft.com/office/powerpoint/2010/main" val="1223824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D4566-EF07-295A-8614-F69B473B0E35}"/>
              </a:ext>
            </a:extLst>
          </p:cNvPr>
          <p:cNvSpPr>
            <a:spLocks noGrp="1"/>
          </p:cNvSpPr>
          <p:nvPr>
            <p:ph type="title"/>
          </p:nvPr>
        </p:nvSpPr>
        <p:spPr>
          <a:xfrm>
            <a:off x="3379684" y="405565"/>
            <a:ext cx="5605629" cy="994172"/>
          </a:xfrm>
        </p:spPr>
        <p:txBody>
          <a:bodyPr>
            <a:normAutofit/>
          </a:bodyPr>
          <a:lstStyle/>
          <a:p>
            <a:r>
              <a:rPr lang="en-GB" sz="3850" b="1" dirty="0"/>
              <a:t>Course Overview</a:t>
            </a:r>
            <a:endParaRPr lang="en-IN" sz="3850" b="1" dirty="0"/>
          </a:p>
        </p:txBody>
      </p:sp>
      <p:pic>
        <p:nvPicPr>
          <p:cNvPr id="16" name="Graphic 15" descr="Light Bulb and Gear">
            <a:extLst>
              <a:ext uri="{FF2B5EF4-FFF2-40B4-BE49-F238E27FC236}">
                <a16:creationId xmlns:a16="http://schemas.microsoft.com/office/drawing/2014/main" id="{FCFFB6F3-DA0B-3412-C8A2-1BE79E7120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7623" y="409574"/>
            <a:ext cx="1143455" cy="1143455"/>
          </a:xfrm>
          <a:prstGeom prst="rect">
            <a:avLst/>
          </a:prstGeom>
        </p:spPr>
      </p:pic>
      <p:grpSp>
        <p:nvGrpSpPr>
          <p:cNvPr id="6" name="Group 5">
            <a:extLst>
              <a:ext uri="{FF2B5EF4-FFF2-40B4-BE49-F238E27FC236}">
                <a16:creationId xmlns:a16="http://schemas.microsoft.com/office/drawing/2014/main" id="{40C2CCBA-4E1D-3A3B-542F-B4ACC7D7DBAD}"/>
              </a:ext>
            </a:extLst>
          </p:cNvPr>
          <p:cNvGrpSpPr/>
          <p:nvPr/>
        </p:nvGrpSpPr>
        <p:grpSpPr>
          <a:xfrm>
            <a:off x="1508787" y="0"/>
            <a:ext cx="9159213" cy="304800"/>
            <a:chOff x="1143000" y="857250"/>
            <a:chExt cx="6858000" cy="162000"/>
          </a:xfrm>
        </p:grpSpPr>
        <p:sp>
          <p:nvSpPr>
            <p:cNvPr id="7" name="Rectangle 6">
              <a:extLst>
                <a:ext uri="{FF2B5EF4-FFF2-40B4-BE49-F238E27FC236}">
                  <a16:creationId xmlns:a16="http://schemas.microsoft.com/office/drawing/2014/main" id="{A1815C64-3024-75F8-6AC5-869F89444FDE}"/>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8" name="Rectangle 7">
              <a:extLst>
                <a:ext uri="{FF2B5EF4-FFF2-40B4-BE49-F238E27FC236}">
                  <a16:creationId xmlns:a16="http://schemas.microsoft.com/office/drawing/2014/main" id="{44ADBD06-79D6-2925-3AF8-7D0CF6747C7B}"/>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pSp>
        <p:nvGrpSpPr>
          <p:cNvPr id="9" name="Group 8">
            <a:extLst>
              <a:ext uri="{FF2B5EF4-FFF2-40B4-BE49-F238E27FC236}">
                <a16:creationId xmlns:a16="http://schemas.microsoft.com/office/drawing/2014/main" id="{106CFBC4-5F21-F275-9EBD-9D9241AC9F11}"/>
              </a:ext>
            </a:extLst>
          </p:cNvPr>
          <p:cNvGrpSpPr/>
          <p:nvPr/>
        </p:nvGrpSpPr>
        <p:grpSpPr>
          <a:xfrm>
            <a:off x="1506502" y="6556237"/>
            <a:ext cx="9159213" cy="304800"/>
            <a:chOff x="1143000" y="857250"/>
            <a:chExt cx="6858000" cy="162000"/>
          </a:xfrm>
        </p:grpSpPr>
        <p:sp>
          <p:nvSpPr>
            <p:cNvPr id="10" name="Rectangle 9">
              <a:extLst>
                <a:ext uri="{FF2B5EF4-FFF2-40B4-BE49-F238E27FC236}">
                  <a16:creationId xmlns:a16="http://schemas.microsoft.com/office/drawing/2014/main" id="{B2948CE7-0FC8-1E4D-141E-056A81D5DA70}"/>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11" name="Rectangle 10">
              <a:extLst>
                <a:ext uri="{FF2B5EF4-FFF2-40B4-BE49-F238E27FC236}">
                  <a16:creationId xmlns:a16="http://schemas.microsoft.com/office/drawing/2014/main" id="{F0C2A5FB-F07D-39FF-D06E-537DECD7D789}"/>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aphicFrame>
        <p:nvGraphicFramePr>
          <p:cNvPr id="3" name="Table 2">
            <a:extLst>
              <a:ext uri="{FF2B5EF4-FFF2-40B4-BE49-F238E27FC236}">
                <a16:creationId xmlns:a16="http://schemas.microsoft.com/office/drawing/2014/main" id="{06EA6C8D-DEFA-479E-9806-B7813619F94C}"/>
              </a:ext>
            </a:extLst>
          </p:cNvPr>
          <p:cNvGraphicFramePr>
            <a:graphicFrameLocks noGrp="1"/>
          </p:cNvGraphicFramePr>
          <p:nvPr>
            <p:extLst>
              <p:ext uri="{D42A27DB-BD31-4B8C-83A1-F6EECF244321}">
                <p14:modId xmlns:p14="http://schemas.microsoft.com/office/powerpoint/2010/main" val="2409318690"/>
              </p:ext>
            </p:extLst>
          </p:nvPr>
        </p:nvGraphicFramePr>
        <p:xfrm>
          <a:off x="1223764" y="1246142"/>
          <a:ext cx="8742434" cy="4966604"/>
        </p:xfrm>
        <a:graphic>
          <a:graphicData uri="http://schemas.openxmlformats.org/drawingml/2006/table">
            <a:tbl>
              <a:tblPr/>
              <a:tblGrid>
                <a:gridCol w="2507520">
                  <a:extLst>
                    <a:ext uri="{9D8B030D-6E8A-4147-A177-3AD203B41FA5}">
                      <a16:colId xmlns:a16="http://schemas.microsoft.com/office/drawing/2014/main" val="3259460763"/>
                    </a:ext>
                  </a:extLst>
                </a:gridCol>
                <a:gridCol w="3117457">
                  <a:extLst>
                    <a:ext uri="{9D8B030D-6E8A-4147-A177-3AD203B41FA5}">
                      <a16:colId xmlns:a16="http://schemas.microsoft.com/office/drawing/2014/main" val="4056401643"/>
                    </a:ext>
                  </a:extLst>
                </a:gridCol>
                <a:gridCol w="3117457">
                  <a:extLst>
                    <a:ext uri="{9D8B030D-6E8A-4147-A177-3AD203B41FA5}">
                      <a16:colId xmlns:a16="http://schemas.microsoft.com/office/drawing/2014/main" val="903905466"/>
                    </a:ext>
                  </a:extLst>
                </a:gridCol>
              </a:tblGrid>
              <a:tr h="521835">
                <a:tc gridSpan="3">
                  <a:txBody>
                    <a:bodyPr/>
                    <a:lstStyle/>
                    <a:p>
                      <a:pPr algn="l" fontAlgn="base">
                        <a:lnSpc>
                          <a:spcPts val="1275"/>
                        </a:lnSpc>
                        <a:buNone/>
                      </a:pPr>
                      <a:r>
                        <a:rPr lang="en-US" sz="1100" b="1" i="0" dirty="0">
                          <a:solidFill>
                            <a:srgbClr val="000000"/>
                          </a:solidFill>
                          <a:effectLst/>
                          <a:latin typeface="Times New Roman" panose="02020603050405020304" pitchFamily="18" charset="0"/>
                        </a:rPr>
                        <a:t>UNIT WISE DETAILS</a:t>
                      </a:r>
                      <a:r>
                        <a:rPr lang="en-US" sz="1100" b="0" i="0" dirty="0">
                          <a:solidFill>
                            <a:srgbClr val="000000"/>
                          </a:solidFill>
                          <a:effectLst/>
                          <a:latin typeface="Times New Roman" panose="02020603050405020304" pitchFamily="18" charset="0"/>
                        </a:rPr>
                        <a:t> ​</a:t>
                      </a:r>
                      <a:endParaRPr lang="en-US" sz="2000" b="0" i="0" dirty="0">
                        <a:solidFill>
                          <a:srgbClr val="000000"/>
                        </a:solidFill>
                        <a:effectLst/>
                      </a:endParaRPr>
                    </a:p>
                    <a:p>
                      <a:pPr algn="l" fontAlgn="base">
                        <a:lnSpc>
                          <a:spcPts val="1275"/>
                        </a:lnSpc>
                        <a:buNone/>
                      </a:pPr>
                      <a:r>
                        <a:rPr lang="en-US" sz="1100" b="0" i="0" dirty="0">
                          <a:solidFill>
                            <a:srgbClr val="000000"/>
                          </a:solidFill>
                          <a:effectLst/>
                          <a:latin typeface="Times New Roman" panose="02020603050405020304" pitchFamily="18" charset="0"/>
                        </a:rPr>
                        <a:t>​</a:t>
                      </a:r>
                      <a:endParaRPr lang="en-US" sz="2000" b="0" i="0" dirty="0">
                        <a:solidFill>
                          <a:srgbClr val="000000"/>
                        </a:solidFill>
                        <a:effectLst/>
                      </a:endParaRPr>
                    </a:p>
                    <a:p>
                      <a:pPr algn="l" fontAlgn="base">
                        <a:lnSpc>
                          <a:spcPts val="1275"/>
                        </a:lnSpc>
                        <a:buNone/>
                      </a:pPr>
                      <a:r>
                        <a:rPr lang="en-US" sz="1100" b="0" i="0" dirty="0">
                          <a:solidFill>
                            <a:srgbClr val="000000"/>
                          </a:solidFill>
                          <a:effectLst/>
                          <a:latin typeface="Times New Roman" panose="02020603050405020304" pitchFamily="18" charset="0"/>
                        </a:rPr>
                        <a:t>​</a:t>
                      </a:r>
                      <a:endParaRPr lang="en-US" sz="2000" b="0" i="0" dirty="0">
                        <a:solidFill>
                          <a:srgbClr val="000000"/>
                        </a:solidFill>
                        <a:effectLst/>
                      </a:endParaRPr>
                    </a:p>
                  </a:txBody>
                  <a:tcPr marL="81325" marR="81325" marT="40662" marB="40662"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09482948"/>
                  </a:ext>
                </a:extLst>
              </a:tr>
              <a:tr h="228162">
                <a:tc>
                  <a:txBody>
                    <a:bodyPr/>
                    <a:lstStyle/>
                    <a:p>
                      <a:pPr algn="ctr" fontAlgn="base">
                        <a:lnSpc>
                          <a:spcPts val="1275"/>
                        </a:lnSpc>
                        <a:buNone/>
                      </a:pPr>
                      <a:r>
                        <a:rPr lang="en-US" sz="1100" b="1" i="0">
                          <a:solidFill>
                            <a:srgbClr val="000000"/>
                          </a:solidFill>
                          <a:effectLst/>
                          <a:latin typeface="Times New Roman" panose="02020603050405020304" pitchFamily="18" charset="0"/>
                        </a:rPr>
                        <a:t>Unit Number: 1</a:t>
                      </a:r>
                      <a:r>
                        <a:rPr lang="en-US" sz="1100" b="0" i="0">
                          <a:solidFill>
                            <a:srgbClr val="000000"/>
                          </a:solidFill>
                          <a:effectLst/>
                          <a:latin typeface="Times New Roman" panose="02020603050405020304" pitchFamily="18" charset="0"/>
                        </a:rPr>
                        <a:t> ​</a:t>
                      </a:r>
                      <a:endParaRPr lang="en-US" sz="2000" b="0" i="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tc>
                  <a:txBody>
                    <a:bodyPr/>
                    <a:lstStyle/>
                    <a:p>
                      <a:pPr algn="l" fontAlgn="base">
                        <a:lnSpc>
                          <a:spcPts val="1275"/>
                        </a:lnSpc>
                        <a:buNone/>
                      </a:pPr>
                      <a:r>
                        <a:rPr lang="en-US" sz="1100" b="1" i="0">
                          <a:solidFill>
                            <a:srgbClr val="000000"/>
                          </a:solidFill>
                          <a:effectLst/>
                          <a:latin typeface="Times New Roman" panose="02020603050405020304" pitchFamily="18" charset="0"/>
                        </a:rPr>
                        <a:t>Title:   Water technology</a:t>
                      </a:r>
                      <a:r>
                        <a:rPr lang="en-US" sz="1100" b="0" i="0">
                          <a:solidFill>
                            <a:srgbClr val="000000"/>
                          </a:solidFill>
                          <a:effectLst/>
                          <a:latin typeface="Times New Roman" panose="02020603050405020304" pitchFamily="18" charset="0"/>
                        </a:rPr>
                        <a:t> ​</a:t>
                      </a:r>
                      <a:endParaRPr lang="en-US" sz="2000" b="0" i="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tc>
                  <a:txBody>
                    <a:bodyPr/>
                    <a:lstStyle/>
                    <a:p>
                      <a:pPr algn="l" fontAlgn="base">
                        <a:lnSpc>
                          <a:spcPts val="1275"/>
                        </a:lnSpc>
                        <a:buNone/>
                      </a:pPr>
                      <a:r>
                        <a:rPr lang="en-US" sz="1100" b="1" i="0">
                          <a:solidFill>
                            <a:srgbClr val="000000"/>
                          </a:solidFill>
                          <a:effectLst/>
                          <a:latin typeface="Times New Roman" panose="02020603050405020304" pitchFamily="18" charset="0"/>
                        </a:rPr>
                        <a:t>No. of hours:  6  </a:t>
                      </a:r>
                      <a:r>
                        <a:rPr lang="en-US" sz="1100" b="0" i="0">
                          <a:solidFill>
                            <a:srgbClr val="000000"/>
                          </a:solidFill>
                          <a:effectLst/>
                          <a:latin typeface="Times New Roman" panose="02020603050405020304" pitchFamily="18" charset="0"/>
                        </a:rPr>
                        <a:t> ​</a:t>
                      </a:r>
                      <a:endParaRPr lang="en-US" sz="2000" b="0" i="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70022993"/>
                  </a:ext>
                </a:extLst>
              </a:tr>
              <a:tr h="668672">
                <a:tc gridSpan="3">
                  <a:txBody>
                    <a:bodyPr/>
                    <a:lstStyle/>
                    <a:p>
                      <a:pPr algn="just" fontAlgn="base">
                        <a:lnSpc>
                          <a:spcPts val="1275"/>
                        </a:lnSpc>
                        <a:buNone/>
                      </a:pPr>
                      <a:r>
                        <a:rPr lang="en-US" sz="1100" b="1" i="0" dirty="0">
                          <a:solidFill>
                            <a:srgbClr val="000000"/>
                          </a:solidFill>
                          <a:effectLst/>
                          <a:latin typeface="Times New Roman" panose="02020603050405020304" pitchFamily="18" charset="0"/>
                        </a:rPr>
                        <a:t>Content Summary: </a:t>
                      </a:r>
                      <a:r>
                        <a:rPr lang="en-US" sz="1100" b="0" i="0" dirty="0">
                          <a:solidFill>
                            <a:srgbClr val="000000"/>
                          </a:solidFill>
                          <a:effectLst/>
                          <a:latin typeface="Times New Roman" panose="02020603050405020304" pitchFamily="18" charset="0"/>
                        </a:rPr>
                        <a:t> ​</a:t>
                      </a:r>
                      <a:endParaRPr lang="en-US" sz="2000" b="0" i="0" dirty="0">
                        <a:solidFill>
                          <a:srgbClr val="000000"/>
                        </a:solidFill>
                        <a:effectLst/>
                      </a:endParaRPr>
                    </a:p>
                    <a:p>
                      <a:pPr algn="just" fontAlgn="base">
                        <a:lnSpc>
                          <a:spcPts val="1275"/>
                        </a:lnSpc>
                        <a:buNone/>
                      </a:pPr>
                      <a:r>
                        <a:rPr lang="en-US" sz="1100" b="0" i="0" dirty="0">
                          <a:solidFill>
                            <a:srgbClr val="000000"/>
                          </a:solidFill>
                          <a:effectLst/>
                          <a:latin typeface="Times New Roman" panose="02020603050405020304" pitchFamily="18" charset="0"/>
                        </a:rPr>
                        <a:t>Introduction, water analysis: Hardness-determination by EDTA method, Treatment of boiler feed water: Internal treatment (Phosphate, Colloidal and Calgon conditioning). External treatments: Ion exchange and lime-soda process, Zeolite processes. Boiler scales formation and ill effects, methods of prevention of scales. Numerical problems ​</a:t>
                      </a:r>
                      <a:endParaRPr lang="en-US" sz="2000" b="0" i="0" dirty="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658543698"/>
                  </a:ext>
                </a:extLst>
              </a:tr>
              <a:tr h="228162">
                <a:tc>
                  <a:txBody>
                    <a:bodyPr/>
                    <a:lstStyle/>
                    <a:p>
                      <a:pPr algn="ctr" fontAlgn="base">
                        <a:lnSpc>
                          <a:spcPts val="1275"/>
                        </a:lnSpc>
                        <a:buNone/>
                      </a:pPr>
                      <a:r>
                        <a:rPr lang="en-US" sz="1100" b="1" i="0">
                          <a:solidFill>
                            <a:srgbClr val="000000"/>
                          </a:solidFill>
                          <a:effectLst/>
                          <a:latin typeface="Times New Roman" panose="02020603050405020304" pitchFamily="18" charset="0"/>
                        </a:rPr>
                        <a:t>Unit Number: 2</a:t>
                      </a:r>
                      <a:r>
                        <a:rPr lang="en-US" sz="1100" b="0" i="0">
                          <a:solidFill>
                            <a:srgbClr val="000000"/>
                          </a:solidFill>
                          <a:effectLst/>
                          <a:latin typeface="Times New Roman" panose="02020603050405020304" pitchFamily="18" charset="0"/>
                        </a:rPr>
                        <a:t> ​</a:t>
                      </a:r>
                      <a:endParaRPr lang="en-US" sz="2000" b="0" i="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tc>
                  <a:txBody>
                    <a:bodyPr/>
                    <a:lstStyle/>
                    <a:p>
                      <a:pPr algn="l" fontAlgn="base">
                        <a:lnSpc>
                          <a:spcPts val="1275"/>
                        </a:lnSpc>
                        <a:buNone/>
                      </a:pPr>
                      <a:r>
                        <a:rPr lang="en-US" sz="1100" b="1" i="0">
                          <a:solidFill>
                            <a:srgbClr val="000000"/>
                          </a:solidFill>
                          <a:effectLst/>
                          <a:latin typeface="Times New Roman" panose="02020603050405020304" pitchFamily="18" charset="0"/>
                        </a:rPr>
                        <a:t>Title:   Chemical Fuels</a:t>
                      </a:r>
                      <a:r>
                        <a:rPr lang="en-US" sz="1100" b="0" i="0">
                          <a:solidFill>
                            <a:srgbClr val="000000"/>
                          </a:solidFill>
                          <a:effectLst/>
                          <a:latin typeface="Times New Roman" panose="02020603050405020304" pitchFamily="18" charset="0"/>
                        </a:rPr>
                        <a:t> ​</a:t>
                      </a:r>
                      <a:endParaRPr lang="en-US" sz="2000" b="0" i="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tc>
                  <a:txBody>
                    <a:bodyPr/>
                    <a:lstStyle/>
                    <a:p>
                      <a:pPr algn="l" fontAlgn="base">
                        <a:lnSpc>
                          <a:spcPts val="1275"/>
                        </a:lnSpc>
                        <a:buNone/>
                      </a:pPr>
                      <a:r>
                        <a:rPr lang="en-US" sz="1100" b="1" i="0">
                          <a:solidFill>
                            <a:srgbClr val="000000"/>
                          </a:solidFill>
                          <a:effectLst/>
                          <a:latin typeface="Times New Roman" panose="02020603050405020304" pitchFamily="18" charset="0"/>
                        </a:rPr>
                        <a:t>No. of hours:  9</a:t>
                      </a:r>
                      <a:r>
                        <a:rPr lang="en-US" sz="1100" b="0" i="0">
                          <a:solidFill>
                            <a:srgbClr val="000000"/>
                          </a:solidFill>
                          <a:effectLst/>
                          <a:latin typeface="Times New Roman" panose="02020603050405020304" pitchFamily="18" charset="0"/>
                        </a:rPr>
                        <a:t> ​</a:t>
                      </a:r>
                      <a:endParaRPr lang="en-US" sz="2000" b="0" i="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199078671"/>
                  </a:ext>
                </a:extLst>
              </a:tr>
              <a:tr h="962345">
                <a:tc gridSpan="3">
                  <a:txBody>
                    <a:bodyPr/>
                    <a:lstStyle/>
                    <a:p>
                      <a:pPr algn="just" fontAlgn="base">
                        <a:lnSpc>
                          <a:spcPts val="1275"/>
                        </a:lnSpc>
                        <a:buNone/>
                      </a:pPr>
                      <a:r>
                        <a:rPr lang="en-US" sz="1100" b="1" i="0" dirty="0">
                          <a:solidFill>
                            <a:srgbClr val="000000"/>
                          </a:solidFill>
                          <a:effectLst/>
                          <a:latin typeface="Times New Roman" panose="02020603050405020304" pitchFamily="18" charset="0"/>
                        </a:rPr>
                        <a:t>Content Summary: </a:t>
                      </a:r>
                      <a:r>
                        <a:rPr lang="en-US" sz="1100" b="0" i="0" dirty="0">
                          <a:solidFill>
                            <a:srgbClr val="000000"/>
                          </a:solidFill>
                          <a:effectLst/>
                          <a:latin typeface="Times New Roman" panose="02020603050405020304" pitchFamily="18" charset="0"/>
                        </a:rPr>
                        <a:t> ​</a:t>
                      </a:r>
                      <a:endParaRPr lang="en-US" sz="2000" b="0" i="0" dirty="0">
                        <a:solidFill>
                          <a:srgbClr val="000000"/>
                        </a:solidFill>
                        <a:effectLst/>
                      </a:endParaRPr>
                    </a:p>
                    <a:p>
                      <a:pPr algn="just" fontAlgn="base">
                        <a:lnSpc>
                          <a:spcPts val="1275"/>
                        </a:lnSpc>
                        <a:buNone/>
                      </a:pPr>
                      <a:r>
                        <a:rPr lang="en-US" sz="1100" b="0" i="0" dirty="0">
                          <a:solidFill>
                            <a:srgbClr val="000000"/>
                          </a:solidFill>
                          <a:effectLst/>
                          <a:latin typeface="Times New Roman" panose="02020603050405020304" pitchFamily="18" charset="0"/>
                        </a:rPr>
                        <a:t>Fuels: Introduction, classification, calorific value (HCV &amp; LCV), Determination of calorific value of fuel using Bomb calorimeter.  ​</a:t>
                      </a:r>
                      <a:endParaRPr lang="en-US" sz="2000" b="0" i="0" dirty="0">
                        <a:solidFill>
                          <a:srgbClr val="000000"/>
                        </a:solidFill>
                        <a:effectLst/>
                      </a:endParaRPr>
                    </a:p>
                    <a:p>
                      <a:pPr algn="just" fontAlgn="base">
                        <a:lnSpc>
                          <a:spcPts val="1275"/>
                        </a:lnSpc>
                        <a:buNone/>
                      </a:pPr>
                      <a:r>
                        <a:rPr lang="en-US" sz="1100" b="0" i="0" dirty="0">
                          <a:solidFill>
                            <a:srgbClr val="000000"/>
                          </a:solidFill>
                          <a:effectLst/>
                          <a:latin typeface="Times New Roman" panose="02020603050405020304" pitchFamily="18" charset="0"/>
                        </a:rPr>
                        <a:t>Solid fuel: Coal- its analysis by proximate and ultimate analysis, Numerical problems. ​</a:t>
                      </a:r>
                      <a:endParaRPr lang="en-US" sz="2000" b="0" i="0" dirty="0">
                        <a:solidFill>
                          <a:srgbClr val="000000"/>
                        </a:solidFill>
                        <a:effectLst/>
                      </a:endParaRPr>
                    </a:p>
                    <a:p>
                      <a:pPr algn="just" fontAlgn="base">
                        <a:lnSpc>
                          <a:spcPts val="1275"/>
                        </a:lnSpc>
                        <a:buNone/>
                      </a:pPr>
                      <a:r>
                        <a:rPr lang="en-US" sz="1100" b="0" i="0" dirty="0">
                          <a:solidFill>
                            <a:srgbClr val="000000"/>
                          </a:solidFill>
                          <a:effectLst/>
                          <a:latin typeface="Times New Roman" panose="02020603050405020304" pitchFamily="18" charset="0"/>
                        </a:rPr>
                        <a:t>Liquid fuels: Refining of petroleum, Petroleum cracking, Knocking in IC engine, its ill effects and prevention of knocking. Anti-knocking agent: Leaded and unleaded petrol.  ​</a:t>
                      </a:r>
                      <a:endParaRPr lang="en-US" sz="2000" b="0" i="0" dirty="0">
                        <a:solidFill>
                          <a:srgbClr val="000000"/>
                        </a:solidFill>
                        <a:effectLst/>
                      </a:endParaRPr>
                    </a:p>
                    <a:p>
                      <a:pPr algn="just" fontAlgn="base">
                        <a:lnSpc>
                          <a:spcPts val="1275"/>
                        </a:lnSpc>
                        <a:buNone/>
                      </a:pPr>
                      <a:r>
                        <a:rPr lang="en-US" sz="1100" b="0" i="0" dirty="0">
                          <a:solidFill>
                            <a:srgbClr val="000000"/>
                          </a:solidFill>
                          <a:effectLst/>
                          <a:latin typeface="Times New Roman" panose="02020603050405020304" pitchFamily="18" charset="0"/>
                        </a:rPr>
                        <a:t>Gaseous fuels: LPG, CNG and their applications. ​</a:t>
                      </a:r>
                      <a:endParaRPr lang="en-US" sz="2000" b="0" i="0" dirty="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416600121"/>
                  </a:ext>
                </a:extLst>
              </a:tr>
              <a:tr h="228162">
                <a:tc>
                  <a:txBody>
                    <a:bodyPr/>
                    <a:lstStyle/>
                    <a:p>
                      <a:pPr algn="ctr" fontAlgn="base">
                        <a:lnSpc>
                          <a:spcPts val="1275"/>
                        </a:lnSpc>
                        <a:buNone/>
                      </a:pPr>
                      <a:r>
                        <a:rPr lang="en-US" sz="1100" b="1" i="0">
                          <a:solidFill>
                            <a:srgbClr val="000000"/>
                          </a:solidFill>
                          <a:effectLst/>
                          <a:latin typeface="Times New Roman" panose="02020603050405020304" pitchFamily="18" charset="0"/>
                        </a:rPr>
                        <a:t>Unit Number: 3</a:t>
                      </a:r>
                      <a:r>
                        <a:rPr lang="en-US" sz="1100" b="0" i="0">
                          <a:solidFill>
                            <a:srgbClr val="000000"/>
                          </a:solidFill>
                          <a:effectLst/>
                          <a:latin typeface="Times New Roman" panose="02020603050405020304" pitchFamily="18" charset="0"/>
                        </a:rPr>
                        <a:t> ​</a:t>
                      </a:r>
                      <a:endParaRPr lang="en-US" sz="2000" b="0" i="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tc>
                  <a:txBody>
                    <a:bodyPr/>
                    <a:lstStyle/>
                    <a:p>
                      <a:pPr algn="l" fontAlgn="base">
                        <a:lnSpc>
                          <a:spcPts val="1275"/>
                        </a:lnSpc>
                        <a:buNone/>
                      </a:pPr>
                      <a:r>
                        <a:rPr lang="en-US" sz="1100" b="1" i="0">
                          <a:solidFill>
                            <a:srgbClr val="000000"/>
                          </a:solidFill>
                          <a:effectLst/>
                          <a:latin typeface="Times New Roman" panose="02020603050405020304" pitchFamily="18" charset="0"/>
                        </a:rPr>
                        <a:t>Title:   Battery Technology</a:t>
                      </a:r>
                      <a:r>
                        <a:rPr lang="en-US" sz="1100" b="0" i="0">
                          <a:solidFill>
                            <a:srgbClr val="000000"/>
                          </a:solidFill>
                          <a:effectLst/>
                          <a:latin typeface="Times New Roman" panose="02020603050405020304" pitchFamily="18" charset="0"/>
                        </a:rPr>
                        <a:t> ​</a:t>
                      </a:r>
                      <a:endParaRPr lang="en-US" sz="2000" b="0" i="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tc>
                  <a:txBody>
                    <a:bodyPr/>
                    <a:lstStyle/>
                    <a:p>
                      <a:pPr algn="l" fontAlgn="base">
                        <a:lnSpc>
                          <a:spcPts val="1275"/>
                        </a:lnSpc>
                        <a:buNone/>
                      </a:pPr>
                      <a:r>
                        <a:rPr lang="en-US" sz="1100" b="1" i="0">
                          <a:solidFill>
                            <a:srgbClr val="000000"/>
                          </a:solidFill>
                          <a:effectLst/>
                          <a:latin typeface="Times New Roman" panose="02020603050405020304" pitchFamily="18" charset="0"/>
                        </a:rPr>
                        <a:t>No. of hours:  10</a:t>
                      </a:r>
                      <a:r>
                        <a:rPr lang="en-US" sz="1100" b="0" i="0">
                          <a:solidFill>
                            <a:srgbClr val="000000"/>
                          </a:solidFill>
                          <a:effectLst/>
                          <a:latin typeface="Times New Roman" panose="02020603050405020304" pitchFamily="18" charset="0"/>
                        </a:rPr>
                        <a:t> ​</a:t>
                      </a:r>
                      <a:endParaRPr lang="en-US" sz="2000" b="0" i="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28997081"/>
                  </a:ext>
                </a:extLst>
              </a:tr>
              <a:tr h="668672">
                <a:tc gridSpan="3">
                  <a:txBody>
                    <a:bodyPr/>
                    <a:lstStyle/>
                    <a:p>
                      <a:pPr algn="l" fontAlgn="base">
                        <a:lnSpc>
                          <a:spcPts val="1275"/>
                        </a:lnSpc>
                        <a:buNone/>
                      </a:pPr>
                      <a:r>
                        <a:rPr lang="en-US" sz="1100" b="1" i="0">
                          <a:solidFill>
                            <a:srgbClr val="000000"/>
                          </a:solidFill>
                          <a:effectLst/>
                          <a:latin typeface="Times New Roman" panose="02020603050405020304" pitchFamily="18" charset="0"/>
                        </a:rPr>
                        <a:t>Content Summary: </a:t>
                      </a:r>
                      <a:r>
                        <a:rPr lang="en-US" sz="1100" b="0" i="0">
                          <a:solidFill>
                            <a:srgbClr val="000000"/>
                          </a:solidFill>
                          <a:effectLst/>
                          <a:latin typeface="Times New Roman" panose="02020603050405020304" pitchFamily="18" charset="0"/>
                        </a:rPr>
                        <a:t> ​</a:t>
                      </a:r>
                      <a:endParaRPr lang="en-US" sz="2000" b="0" i="0">
                        <a:solidFill>
                          <a:srgbClr val="000000"/>
                        </a:solidFill>
                        <a:effectLst/>
                      </a:endParaRPr>
                    </a:p>
                    <a:p>
                      <a:pPr algn="just" fontAlgn="base">
                        <a:lnSpc>
                          <a:spcPts val="1275"/>
                        </a:lnSpc>
                        <a:buNone/>
                      </a:pPr>
                      <a:r>
                        <a:rPr lang="en-US" sz="1100" b="0" i="0">
                          <a:solidFill>
                            <a:srgbClr val="000000"/>
                          </a:solidFill>
                          <a:effectLst/>
                          <a:latin typeface="Times New Roman" panose="02020603050405020304" pitchFamily="18" charset="0"/>
                        </a:rPr>
                        <a:t>Introduction - Galvanic cell, electrode potential, EMF of the cell and cell representation. Batteries and their importance, Classification of batteries- primary, secondary and reserve batteries with examples. Battery characteristics - voltage, capacity, energy density, power density, energy efficiency, cycle life and shelf life. ​</a:t>
                      </a:r>
                      <a:endParaRPr lang="en-US" sz="2000" b="0" i="0">
                        <a:solidFill>
                          <a:srgbClr val="000000"/>
                        </a:solidFill>
                        <a:effectLst/>
                      </a:endParaRPr>
                    </a:p>
                    <a:p>
                      <a:pPr algn="just" fontAlgn="base">
                        <a:lnSpc>
                          <a:spcPts val="1275"/>
                        </a:lnSpc>
                        <a:buNone/>
                      </a:pPr>
                      <a:r>
                        <a:rPr lang="en-US" sz="1100" b="0" i="0">
                          <a:solidFill>
                            <a:srgbClr val="000000"/>
                          </a:solidFill>
                          <a:effectLst/>
                          <a:latin typeface="Times New Roman" panose="02020603050405020304" pitchFamily="18" charset="0"/>
                        </a:rPr>
                        <a:t>Construction, working and applications of: Ni-Cd, and Lithium-ion battery. Working principle of an electric vehicle. ​</a:t>
                      </a:r>
                      <a:endParaRPr lang="en-US" sz="2000" b="0" i="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704770376"/>
                  </a:ext>
                </a:extLst>
              </a:tr>
              <a:tr h="228162">
                <a:tc>
                  <a:txBody>
                    <a:bodyPr/>
                    <a:lstStyle/>
                    <a:p>
                      <a:pPr algn="ctr" fontAlgn="base">
                        <a:lnSpc>
                          <a:spcPts val="1275"/>
                        </a:lnSpc>
                        <a:buNone/>
                      </a:pPr>
                      <a:r>
                        <a:rPr lang="en-US" sz="1100" b="1" i="0">
                          <a:solidFill>
                            <a:srgbClr val="000000"/>
                          </a:solidFill>
                          <a:effectLst/>
                          <a:latin typeface="Times New Roman" panose="02020603050405020304" pitchFamily="18" charset="0"/>
                        </a:rPr>
                        <a:t>Unit Number: 4</a:t>
                      </a:r>
                      <a:r>
                        <a:rPr lang="en-US" sz="1100" b="0" i="0">
                          <a:solidFill>
                            <a:srgbClr val="000000"/>
                          </a:solidFill>
                          <a:effectLst/>
                          <a:latin typeface="Times New Roman" panose="02020603050405020304" pitchFamily="18" charset="0"/>
                        </a:rPr>
                        <a:t> ​</a:t>
                      </a:r>
                      <a:endParaRPr lang="en-US" sz="2000" b="0" i="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tc>
                  <a:txBody>
                    <a:bodyPr/>
                    <a:lstStyle/>
                    <a:p>
                      <a:pPr algn="l" fontAlgn="base">
                        <a:lnSpc>
                          <a:spcPts val="1275"/>
                        </a:lnSpc>
                        <a:buNone/>
                      </a:pPr>
                      <a:r>
                        <a:rPr lang="en-US" sz="1100" b="1" i="0">
                          <a:solidFill>
                            <a:srgbClr val="000000"/>
                          </a:solidFill>
                          <a:effectLst/>
                          <a:latin typeface="Times New Roman" panose="02020603050405020304" pitchFamily="18" charset="0"/>
                        </a:rPr>
                        <a:t>Title:   Polymer</a:t>
                      </a:r>
                      <a:r>
                        <a:rPr lang="en-US" sz="1100" b="0" i="0">
                          <a:solidFill>
                            <a:srgbClr val="000000"/>
                          </a:solidFill>
                          <a:effectLst/>
                          <a:latin typeface="Times New Roman" panose="02020603050405020304" pitchFamily="18" charset="0"/>
                        </a:rPr>
                        <a:t> ​</a:t>
                      </a:r>
                      <a:endParaRPr lang="en-US" sz="2000" b="0" i="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tc>
                  <a:txBody>
                    <a:bodyPr/>
                    <a:lstStyle/>
                    <a:p>
                      <a:pPr algn="r" fontAlgn="base">
                        <a:lnSpc>
                          <a:spcPts val="1275"/>
                        </a:lnSpc>
                        <a:buNone/>
                      </a:pPr>
                      <a:r>
                        <a:rPr lang="en-US" sz="1100" b="1" i="0">
                          <a:solidFill>
                            <a:srgbClr val="000000"/>
                          </a:solidFill>
                          <a:effectLst/>
                          <a:latin typeface="Times New Roman" panose="02020603050405020304" pitchFamily="18" charset="0"/>
                        </a:rPr>
                        <a:t>No. of hours:  5</a:t>
                      </a:r>
                      <a:r>
                        <a:rPr lang="en-US" sz="1100" b="0" i="0">
                          <a:solidFill>
                            <a:srgbClr val="000000"/>
                          </a:solidFill>
                          <a:effectLst/>
                          <a:latin typeface="Times New Roman" panose="02020603050405020304" pitchFamily="18" charset="0"/>
                        </a:rPr>
                        <a:t> ​</a:t>
                      </a:r>
                      <a:endParaRPr lang="en-US" sz="2000" b="0" i="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16421614"/>
                  </a:ext>
                </a:extLst>
              </a:tr>
              <a:tr h="617166">
                <a:tc gridSpan="3">
                  <a:txBody>
                    <a:bodyPr/>
                    <a:lstStyle/>
                    <a:p>
                      <a:pPr algn="just" fontAlgn="base">
                        <a:lnSpc>
                          <a:spcPts val="1275"/>
                        </a:lnSpc>
                        <a:buNone/>
                      </a:pPr>
                      <a:r>
                        <a:rPr lang="en-US" sz="1100" b="1" i="0" dirty="0">
                          <a:solidFill>
                            <a:srgbClr val="000000"/>
                          </a:solidFill>
                          <a:effectLst/>
                          <a:latin typeface="Times New Roman" panose="02020603050405020304" pitchFamily="18" charset="0"/>
                        </a:rPr>
                        <a:t>Content Summary:</a:t>
                      </a:r>
                      <a:r>
                        <a:rPr lang="en-US" sz="1100" b="0" i="0" dirty="0">
                          <a:solidFill>
                            <a:srgbClr val="000000"/>
                          </a:solidFill>
                          <a:effectLst/>
                          <a:latin typeface="Times New Roman" panose="02020603050405020304" pitchFamily="18" charset="0"/>
                        </a:rPr>
                        <a:t> ​</a:t>
                      </a:r>
                      <a:endParaRPr lang="en-US" sz="2000" b="0" i="0" dirty="0">
                        <a:solidFill>
                          <a:srgbClr val="000000"/>
                        </a:solidFill>
                        <a:effectLst/>
                      </a:endParaRPr>
                    </a:p>
                    <a:p>
                      <a:pPr algn="just" fontAlgn="base">
                        <a:lnSpc>
                          <a:spcPts val="1800"/>
                        </a:lnSpc>
                        <a:buNone/>
                      </a:pPr>
                      <a:r>
                        <a:rPr lang="en-US" sz="1100" b="0" i="0" dirty="0">
                          <a:solidFill>
                            <a:srgbClr val="000000"/>
                          </a:solidFill>
                          <a:effectLst/>
                          <a:latin typeface="Times New Roman" panose="02020603050405020304" pitchFamily="18" charset="0"/>
                        </a:rPr>
                        <a:t>Basic concepts of polymer, Types of polymers, Thermoplastic &amp; thermosetting plastics, Preparation and application of some industrially important polymers (Natural rubber, Buna S, Buna-N, Neoprene, Isoprene, Nylon-6, nylon-6,6 , </a:t>
                      </a:r>
                      <a:r>
                        <a:rPr lang="en-US" sz="1100" b="0" i="0" dirty="0" err="1">
                          <a:solidFill>
                            <a:srgbClr val="000000"/>
                          </a:solidFill>
                          <a:effectLst/>
                          <a:latin typeface="Times New Roman" panose="02020603050405020304" pitchFamily="18" charset="0"/>
                        </a:rPr>
                        <a:t>Decron</a:t>
                      </a:r>
                      <a:r>
                        <a:rPr lang="en-US" sz="1100" b="0" i="0" dirty="0">
                          <a:solidFill>
                            <a:srgbClr val="000000"/>
                          </a:solidFill>
                          <a:effectLst/>
                          <a:latin typeface="Times New Roman" panose="02020603050405020304" pitchFamily="18" charset="0"/>
                        </a:rPr>
                        <a:t> and Terylene). Conducting and biodegradable polymers. ​</a:t>
                      </a:r>
                      <a:endParaRPr lang="en-US" sz="2000" b="0" i="0" dirty="0">
                        <a:solidFill>
                          <a:srgbClr val="000000"/>
                        </a:solidFill>
                        <a:effectLst/>
                      </a:endParaRPr>
                    </a:p>
                  </a:txBody>
                  <a:tcPr marL="81325" marR="81325" marT="40662" marB="40662"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663353316"/>
                  </a:ext>
                </a:extLst>
              </a:tr>
            </a:tbl>
          </a:graphicData>
        </a:graphic>
      </p:graphicFrame>
    </p:spTree>
    <p:extLst>
      <p:ext uri="{BB962C8B-B14F-4D97-AF65-F5344CB8AC3E}">
        <p14:creationId xmlns:p14="http://schemas.microsoft.com/office/powerpoint/2010/main" val="1007366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F95288-229F-A949-3EFC-A483F9FC7EE6}"/>
              </a:ext>
            </a:extLst>
          </p:cNvPr>
          <p:cNvSpPr txBox="1"/>
          <p:nvPr/>
        </p:nvSpPr>
        <p:spPr>
          <a:xfrm>
            <a:off x="2152650" y="713312"/>
            <a:ext cx="3101521" cy="5431376"/>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4400" b="1" dirty="0">
                <a:latin typeface="+mj-lt"/>
                <a:ea typeface="+mj-ea"/>
                <a:cs typeface="+mj-cs"/>
              </a:rPr>
              <a:t>COURSE OUTCOMES</a:t>
            </a:r>
          </a:p>
        </p:txBody>
      </p:sp>
      <p:graphicFrame>
        <p:nvGraphicFramePr>
          <p:cNvPr id="6" name="TextBox 3">
            <a:extLst>
              <a:ext uri="{FF2B5EF4-FFF2-40B4-BE49-F238E27FC236}">
                <a16:creationId xmlns:a16="http://schemas.microsoft.com/office/drawing/2014/main" id="{590F0FE0-AFB9-64D4-CDDB-4AB43EF06A63}"/>
              </a:ext>
            </a:extLst>
          </p:cNvPr>
          <p:cNvGraphicFramePr/>
          <p:nvPr/>
        </p:nvGraphicFramePr>
        <p:xfrm>
          <a:off x="5657779" y="713313"/>
          <a:ext cx="4381571" cy="5431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 name="Group 1">
            <a:extLst>
              <a:ext uri="{FF2B5EF4-FFF2-40B4-BE49-F238E27FC236}">
                <a16:creationId xmlns:a16="http://schemas.microsoft.com/office/drawing/2014/main" id="{F2BEED39-1873-8320-3237-352C01D0983E}"/>
              </a:ext>
            </a:extLst>
          </p:cNvPr>
          <p:cNvGrpSpPr/>
          <p:nvPr/>
        </p:nvGrpSpPr>
        <p:grpSpPr>
          <a:xfrm>
            <a:off x="1508787" y="0"/>
            <a:ext cx="9159213" cy="304800"/>
            <a:chOff x="1143000" y="857250"/>
            <a:chExt cx="6858000" cy="162000"/>
          </a:xfrm>
        </p:grpSpPr>
        <p:sp>
          <p:nvSpPr>
            <p:cNvPr id="4" name="Rectangle 3">
              <a:extLst>
                <a:ext uri="{FF2B5EF4-FFF2-40B4-BE49-F238E27FC236}">
                  <a16:creationId xmlns:a16="http://schemas.microsoft.com/office/drawing/2014/main" id="{31B28577-A4D6-304B-CF13-E7CCEB82CEE0}"/>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5" name="Rectangle 4">
              <a:extLst>
                <a:ext uri="{FF2B5EF4-FFF2-40B4-BE49-F238E27FC236}">
                  <a16:creationId xmlns:a16="http://schemas.microsoft.com/office/drawing/2014/main" id="{C48CD291-A2CA-817A-0BDA-D3418F495547}"/>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pSp>
        <p:nvGrpSpPr>
          <p:cNvPr id="7" name="Group 6">
            <a:extLst>
              <a:ext uri="{FF2B5EF4-FFF2-40B4-BE49-F238E27FC236}">
                <a16:creationId xmlns:a16="http://schemas.microsoft.com/office/drawing/2014/main" id="{19CD19E6-5178-14BF-548C-E2A51E27DDD5}"/>
              </a:ext>
            </a:extLst>
          </p:cNvPr>
          <p:cNvGrpSpPr/>
          <p:nvPr/>
        </p:nvGrpSpPr>
        <p:grpSpPr>
          <a:xfrm>
            <a:off x="1515251" y="6553200"/>
            <a:ext cx="9159213" cy="304800"/>
            <a:chOff x="1143000" y="857250"/>
            <a:chExt cx="6858000" cy="162000"/>
          </a:xfrm>
        </p:grpSpPr>
        <p:sp>
          <p:nvSpPr>
            <p:cNvPr id="8" name="Rectangle 7">
              <a:extLst>
                <a:ext uri="{FF2B5EF4-FFF2-40B4-BE49-F238E27FC236}">
                  <a16:creationId xmlns:a16="http://schemas.microsoft.com/office/drawing/2014/main" id="{ED6B6FFC-0D2C-1B24-61CC-DC64D7CC7F2D}"/>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9" name="Rectangle 8">
              <a:extLst>
                <a:ext uri="{FF2B5EF4-FFF2-40B4-BE49-F238E27FC236}">
                  <a16:creationId xmlns:a16="http://schemas.microsoft.com/office/drawing/2014/main" id="{A23BDCF2-3060-4C52-0D5D-49737F871AF5}"/>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Tree>
    <p:extLst>
      <p:ext uri="{BB962C8B-B14F-4D97-AF65-F5344CB8AC3E}">
        <p14:creationId xmlns:p14="http://schemas.microsoft.com/office/powerpoint/2010/main" val="925143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A8318DC-B207-F44B-0F51-8D1628054F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40066"/>
            <a:ext cx="9180512" cy="6885384"/>
          </a:xfrm>
          <a:prstGeom prst="rect">
            <a:avLst/>
          </a:prstGeom>
        </p:spPr>
      </p:pic>
      <p:pic>
        <p:nvPicPr>
          <p:cNvPr id="5" name="Picture 4">
            <a:extLst>
              <a:ext uri="{FF2B5EF4-FFF2-40B4-BE49-F238E27FC236}">
                <a16:creationId xmlns:a16="http://schemas.microsoft.com/office/drawing/2014/main" id="{AE7109AA-6037-407A-E055-98FBBCB855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pic>
        <p:nvPicPr>
          <p:cNvPr id="3" name="Picture 2">
            <a:extLst>
              <a:ext uri="{FF2B5EF4-FFF2-40B4-BE49-F238E27FC236}">
                <a16:creationId xmlns:a16="http://schemas.microsoft.com/office/drawing/2014/main" id="{4682AC7B-6CE1-E3E9-E4ED-BC4D51DE17D5}"/>
              </a:ext>
            </a:extLst>
          </p:cNvPr>
          <p:cNvPicPr>
            <a:picLocks noChangeAspect="1"/>
          </p:cNvPicPr>
          <p:nvPr/>
        </p:nvPicPr>
        <p:blipFill>
          <a:blip r:embed="rId4"/>
          <a:stretch>
            <a:fillRect/>
          </a:stretch>
        </p:blipFill>
        <p:spPr>
          <a:xfrm>
            <a:off x="2733205" y="814022"/>
            <a:ext cx="6725589" cy="5229955"/>
          </a:xfrm>
          <a:prstGeom prst="rect">
            <a:avLst/>
          </a:prstGeom>
        </p:spPr>
      </p:pic>
    </p:spTree>
    <p:extLst>
      <p:ext uri="{BB962C8B-B14F-4D97-AF65-F5344CB8AC3E}">
        <p14:creationId xmlns:p14="http://schemas.microsoft.com/office/powerpoint/2010/main" val="1348741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7A75317-B175-A16A-3149-FEF0D6B1EE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40066"/>
            <a:ext cx="9180512" cy="6885384"/>
          </a:xfrm>
          <a:prstGeom prst="rect">
            <a:avLst/>
          </a:prstGeom>
        </p:spPr>
      </p:pic>
      <p:pic>
        <p:nvPicPr>
          <p:cNvPr id="5" name="Picture 4">
            <a:extLst>
              <a:ext uri="{FF2B5EF4-FFF2-40B4-BE49-F238E27FC236}">
                <a16:creationId xmlns:a16="http://schemas.microsoft.com/office/drawing/2014/main" id="{F3C667F4-5D01-68B0-2BCC-F7329621AD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pic>
        <p:nvPicPr>
          <p:cNvPr id="3" name="Picture 2">
            <a:extLst>
              <a:ext uri="{FF2B5EF4-FFF2-40B4-BE49-F238E27FC236}">
                <a16:creationId xmlns:a16="http://schemas.microsoft.com/office/drawing/2014/main" id="{93F429F9-AEEB-F197-D96A-67E46506DA21}"/>
              </a:ext>
            </a:extLst>
          </p:cNvPr>
          <p:cNvPicPr>
            <a:picLocks noChangeAspect="1"/>
          </p:cNvPicPr>
          <p:nvPr/>
        </p:nvPicPr>
        <p:blipFill>
          <a:blip r:embed="rId4"/>
          <a:stretch>
            <a:fillRect/>
          </a:stretch>
        </p:blipFill>
        <p:spPr>
          <a:xfrm>
            <a:off x="2899916" y="1218891"/>
            <a:ext cx="6392167" cy="4420217"/>
          </a:xfrm>
          <a:prstGeom prst="rect">
            <a:avLst/>
          </a:prstGeom>
        </p:spPr>
      </p:pic>
    </p:spTree>
    <p:extLst>
      <p:ext uri="{BB962C8B-B14F-4D97-AF65-F5344CB8AC3E}">
        <p14:creationId xmlns:p14="http://schemas.microsoft.com/office/powerpoint/2010/main" val="1026067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A23262B-F14A-34F8-A821-3FC0DC6DCE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40066"/>
            <a:ext cx="9180512" cy="6885384"/>
          </a:xfrm>
          <a:prstGeom prst="rect">
            <a:avLst/>
          </a:prstGeom>
        </p:spPr>
      </p:pic>
      <p:pic>
        <p:nvPicPr>
          <p:cNvPr id="5" name="Picture 4">
            <a:extLst>
              <a:ext uri="{FF2B5EF4-FFF2-40B4-BE49-F238E27FC236}">
                <a16:creationId xmlns:a16="http://schemas.microsoft.com/office/drawing/2014/main" id="{004868BE-0D75-94EA-B491-500BB586C4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pic>
        <p:nvPicPr>
          <p:cNvPr id="3" name="Picture 2">
            <a:extLst>
              <a:ext uri="{FF2B5EF4-FFF2-40B4-BE49-F238E27FC236}">
                <a16:creationId xmlns:a16="http://schemas.microsoft.com/office/drawing/2014/main" id="{3341E922-B0CF-FB98-A3F5-A6C55B1FE6DC}"/>
              </a:ext>
            </a:extLst>
          </p:cNvPr>
          <p:cNvPicPr>
            <a:picLocks noChangeAspect="1"/>
          </p:cNvPicPr>
          <p:nvPr/>
        </p:nvPicPr>
        <p:blipFill>
          <a:blip r:embed="rId4"/>
          <a:stretch>
            <a:fillRect/>
          </a:stretch>
        </p:blipFill>
        <p:spPr>
          <a:xfrm>
            <a:off x="2050181" y="609187"/>
            <a:ext cx="7892716" cy="5500984"/>
          </a:xfrm>
          <a:prstGeom prst="rect">
            <a:avLst/>
          </a:prstGeom>
        </p:spPr>
      </p:pic>
    </p:spTree>
    <p:extLst>
      <p:ext uri="{BB962C8B-B14F-4D97-AF65-F5344CB8AC3E}">
        <p14:creationId xmlns:p14="http://schemas.microsoft.com/office/powerpoint/2010/main" val="2452997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DD44AC0-2AAC-6819-8BAF-87B42AB0CD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40066"/>
            <a:ext cx="9180512" cy="6885384"/>
          </a:xfrm>
          <a:prstGeom prst="rect">
            <a:avLst/>
          </a:prstGeom>
        </p:spPr>
      </p:pic>
      <p:pic>
        <p:nvPicPr>
          <p:cNvPr id="5" name="Picture 4">
            <a:extLst>
              <a:ext uri="{FF2B5EF4-FFF2-40B4-BE49-F238E27FC236}">
                <a16:creationId xmlns:a16="http://schemas.microsoft.com/office/drawing/2014/main" id="{0B99B50E-AA3B-179F-A372-6DD54602C6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pic>
        <p:nvPicPr>
          <p:cNvPr id="3" name="Picture 2">
            <a:extLst>
              <a:ext uri="{FF2B5EF4-FFF2-40B4-BE49-F238E27FC236}">
                <a16:creationId xmlns:a16="http://schemas.microsoft.com/office/drawing/2014/main" id="{11502340-698F-AD9E-0741-FCD8B432E16B}"/>
              </a:ext>
            </a:extLst>
          </p:cNvPr>
          <p:cNvPicPr>
            <a:picLocks noChangeAspect="1"/>
          </p:cNvPicPr>
          <p:nvPr/>
        </p:nvPicPr>
        <p:blipFill>
          <a:blip r:embed="rId4"/>
          <a:stretch>
            <a:fillRect/>
          </a:stretch>
        </p:blipFill>
        <p:spPr>
          <a:xfrm>
            <a:off x="2837995" y="1056944"/>
            <a:ext cx="6516009" cy="4744112"/>
          </a:xfrm>
          <a:prstGeom prst="rect">
            <a:avLst/>
          </a:prstGeom>
        </p:spPr>
      </p:pic>
    </p:spTree>
    <p:extLst>
      <p:ext uri="{BB962C8B-B14F-4D97-AF65-F5344CB8AC3E}">
        <p14:creationId xmlns:p14="http://schemas.microsoft.com/office/powerpoint/2010/main" val="489875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5F47DD0-C28E-1B26-B652-3F87AB7A3B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40066"/>
            <a:ext cx="9180512" cy="6885384"/>
          </a:xfrm>
          <a:prstGeom prst="rect">
            <a:avLst/>
          </a:prstGeom>
        </p:spPr>
      </p:pic>
      <p:pic>
        <p:nvPicPr>
          <p:cNvPr id="5" name="Picture 4">
            <a:extLst>
              <a:ext uri="{FF2B5EF4-FFF2-40B4-BE49-F238E27FC236}">
                <a16:creationId xmlns:a16="http://schemas.microsoft.com/office/drawing/2014/main" id="{616326A5-EE79-FBFD-8418-16C9E92AF0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pic>
        <p:nvPicPr>
          <p:cNvPr id="3" name="Picture 2">
            <a:extLst>
              <a:ext uri="{FF2B5EF4-FFF2-40B4-BE49-F238E27FC236}">
                <a16:creationId xmlns:a16="http://schemas.microsoft.com/office/drawing/2014/main" id="{48D09747-84CB-68EE-69D5-FFE077979F9C}"/>
              </a:ext>
            </a:extLst>
          </p:cNvPr>
          <p:cNvPicPr>
            <a:picLocks noChangeAspect="1"/>
          </p:cNvPicPr>
          <p:nvPr/>
        </p:nvPicPr>
        <p:blipFill>
          <a:blip r:embed="rId4"/>
          <a:stretch>
            <a:fillRect/>
          </a:stretch>
        </p:blipFill>
        <p:spPr>
          <a:xfrm>
            <a:off x="2642705" y="1061707"/>
            <a:ext cx="6906589" cy="4734586"/>
          </a:xfrm>
          <a:prstGeom prst="rect">
            <a:avLst/>
          </a:prstGeom>
        </p:spPr>
      </p:pic>
    </p:spTree>
    <p:extLst>
      <p:ext uri="{BB962C8B-B14F-4D97-AF65-F5344CB8AC3E}">
        <p14:creationId xmlns:p14="http://schemas.microsoft.com/office/powerpoint/2010/main" val="481554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3">
            <a:extLst>
              <a:ext uri="{FF2B5EF4-FFF2-40B4-BE49-F238E27FC236}">
                <a16:creationId xmlns:a16="http://schemas.microsoft.com/office/drawing/2014/main" id="{F413EFC3-BE99-7C15-1EDC-969259206D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40066"/>
            <a:ext cx="9180512" cy="6885384"/>
          </a:xfrm>
          <a:prstGeom prst="rect">
            <a:avLst/>
          </a:prstGeom>
        </p:spPr>
      </p:pic>
      <p:pic>
        <p:nvPicPr>
          <p:cNvPr id="7" name="Picture 6">
            <a:extLst>
              <a:ext uri="{FF2B5EF4-FFF2-40B4-BE49-F238E27FC236}">
                <a16:creationId xmlns:a16="http://schemas.microsoft.com/office/drawing/2014/main" id="{C0B345FA-D4A6-2845-A80F-67DEE57B60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pic>
        <p:nvPicPr>
          <p:cNvPr id="3" name="Picture 2">
            <a:extLst>
              <a:ext uri="{FF2B5EF4-FFF2-40B4-BE49-F238E27FC236}">
                <a16:creationId xmlns:a16="http://schemas.microsoft.com/office/drawing/2014/main" id="{02840838-C7A9-EA0D-4FF1-28CA97B0A3EE}"/>
              </a:ext>
            </a:extLst>
          </p:cNvPr>
          <p:cNvPicPr>
            <a:picLocks noChangeAspect="1"/>
          </p:cNvPicPr>
          <p:nvPr/>
        </p:nvPicPr>
        <p:blipFill>
          <a:blip r:embed="rId4"/>
          <a:stretch>
            <a:fillRect/>
          </a:stretch>
        </p:blipFill>
        <p:spPr>
          <a:xfrm>
            <a:off x="3666458" y="557956"/>
            <a:ext cx="5520409" cy="3857259"/>
          </a:xfrm>
          <a:prstGeom prst="rect">
            <a:avLst/>
          </a:prstGeom>
        </p:spPr>
      </p:pic>
      <p:pic>
        <p:nvPicPr>
          <p:cNvPr id="5" name="Picture 4">
            <a:extLst>
              <a:ext uri="{FF2B5EF4-FFF2-40B4-BE49-F238E27FC236}">
                <a16:creationId xmlns:a16="http://schemas.microsoft.com/office/drawing/2014/main" id="{313C9232-06F2-CA82-D82C-C99A940621FD}"/>
              </a:ext>
            </a:extLst>
          </p:cNvPr>
          <p:cNvPicPr>
            <a:picLocks noChangeAspect="1"/>
          </p:cNvPicPr>
          <p:nvPr/>
        </p:nvPicPr>
        <p:blipFill>
          <a:blip r:embed="rId5"/>
          <a:srcRect t="7113" b="25936"/>
          <a:stretch>
            <a:fillRect/>
          </a:stretch>
        </p:blipFill>
        <p:spPr>
          <a:xfrm>
            <a:off x="3666458" y="4415215"/>
            <a:ext cx="5520409" cy="1667952"/>
          </a:xfrm>
          <a:prstGeom prst="rect">
            <a:avLst/>
          </a:prstGeom>
        </p:spPr>
      </p:pic>
    </p:spTree>
    <p:extLst>
      <p:ext uri="{BB962C8B-B14F-4D97-AF65-F5344CB8AC3E}">
        <p14:creationId xmlns:p14="http://schemas.microsoft.com/office/powerpoint/2010/main" val="946968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Content Placeholder 3">
            <a:extLst>
              <a:ext uri="{FF2B5EF4-FFF2-40B4-BE49-F238E27FC236}">
                <a16:creationId xmlns:a16="http://schemas.microsoft.com/office/drawing/2014/main" id="{4EA8FB67-6524-C8BB-708C-5CF58E6E6C5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40066"/>
            <a:ext cx="9180512" cy="6885384"/>
          </a:xfrm>
          <a:prstGeom prst="rect">
            <a:avLst/>
          </a:prstGeom>
        </p:spPr>
      </p:pic>
      <p:pic>
        <p:nvPicPr>
          <p:cNvPr id="4" name="Picture 3">
            <a:extLst>
              <a:ext uri="{FF2B5EF4-FFF2-40B4-BE49-F238E27FC236}">
                <a16:creationId xmlns:a16="http://schemas.microsoft.com/office/drawing/2014/main" id="{BA29BB38-BFA0-8444-91AB-EDD67EAE89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2" name="Title 1">
            <a:extLst>
              <a:ext uri="{FF2B5EF4-FFF2-40B4-BE49-F238E27FC236}">
                <a16:creationId xmlns:a16="http://schemas.microsoft.com/office/drawing/2014/main" id="{D89683A9-275B-7268-B6F1-167861DA701B}"/>
              </a:ext>
            </a:extLst>
          </p:cNvPr>
          <p:cNvSpPr>
            <a:spLocks noGrp="1"/>
          </p:cNvSpPr>
          <p:nvPr>
            <p:ph type="ctrTitle" idx="4294967295"/>
          </p:nvPr>
        </p:nvSpPr>
        <p:spPr>
          <a:xfrm>
            <a:off x="1366787" y="2437239"/>
            <a:ext cx="4978400" cy="3165475"/>
          </a:xfrm>
        </p:spPr>
        <p:txBody>
          <a:bodyPr anchor="b">
            <a:normAutofit/>
          </a:bodyPr>
          <a:lstStyle/>
          <a:p>
            <a:pPr algn="l"/>
            <a:r>
              <a:rPr lang="en-GB" sz="5200" dirty="0"/>
              <a:t>Determination of calorific value of fuel using Bomb calorimeter</a:t>
            </a:r>
            <a:endParaRPr lang="en-IN" sz="5200" dirty="0"/>
          </a:p>
        </p:txBody>
      </p:sp>
      <p:pic>
        <p:nvPicPr>
          <p:cNvPr id="7" name="Graphic 6" descr="Beaker">
            <a:extLst>
              <a:ext uri="{FF2B5EF4-FFF2-40B4-BE49-F238E27FC236}">
                <a16:creationId xmlns:a16="http://schemas.microsoft.com/office/drawing/2014/main" id="{6980311B-92AC-D785-DEAC-51D084339A0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96166" y="2216671"/>
            <a:ext cx="3606613" cy="3606613"/>
          </a:xfrm>
          <a:prstGeom prst="rect">
            <a:avLst/>
          </a:prstGeom>
        </p:spPr>
      </p:pic>
      <p:sp>
        <p:nvSpPr>
          <p:cNvPr id="5" name="TextBox 4">
            <a:extLst>
              <a:ext uri="{FF2B5EF4-FFF2-40B4-BE49-F238E27FC236}">
                <a16:creationId xmlns:a16="http://schemas.microsoft.com/office/drawing/2014/main" id="{F2A15BC2-401F-CBFC-F14B-166C5390B8EA}"/>
              </a:ext>
            </a:extLst>
          </p:cNvPr>
          <p:cNvSpPr txBox="1"/>
          <p:nvPr/>
        </p:nvSpPr>
        <p:spPr>
          <a:xfrm>
            <a:off x="1674277" y="730250"/>
            <a:ext cx="9527487" cy="646331"/>
          </a:xfrm>
          <a:prstGeom prst="rect">
            <a:avLst/>
          </a:prstGeom>
          <a:noFill/>
        </p:spPr>
        <p:txBody>
          <a:bodyPr wrap="square">
            <a:spAutoFit/>
          </a:bodyPr>
          <a:lstStyle/>
          <a:p>
            <a:r>
              <a:rPr lang="en-US" sz="3600" b="1" dirty="0">
                <a:solidFill>
                  <a:srgbClr val="FF0000"/>
                </a:solidFill>
                <a:effectLst/>
                <a:latin typeface="Times New Roman" panose="02020603050405020304" pitchFamily="18" charset="0"/>
                <a:ea typeface="Times New Roman" panose="02020603050405020304" pitchFamily="18" charset="0"/>
              </a:rPr>
              <a:t>Bomb Calorimeter: Construction &amp; Working</a:t>
            </a:r>
            <a:endParaRPr lang="en-IN" sz="3600" b="1" dirty="0">
              <a:solidFill>
                <a:srgbClr val="FF0000"/>
              </a:solidFill>
            </a:endParaRPr>
          </a:p>
        </p:txBody>
      </p:sp>
    </p:spTree>
    <p:extLst>
      <p:ext uri="{BB962C8B-B14F-4D97-AF65-F5344CB8AC3E}">
        <p14:creationId xmlns:p14="http://schemas.microsoft.com/office/powerpoint/2010/main" val="3703888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238F2089-D4B1-6A54-BFB7-1C76D9C72A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40066"/>
            <a:ext cx="9180512" cy="6885384"/>
          </a:xfrm>
          <a:prstGeom prst="rect">
            <a:avLst/>
          </a:prstGeom>
        </p:spPr>
      </p:pic>
      <p:pic>
        <p:nvPicPr>
          <p:cNvPr id="3" name="Picture 2">
            <a:extLst>
              <a:ext uri="{FF2B5EF4-FFF2-40B4-BE49-F238E27FC236}">
                <a16:creationId xmlns:a16="http://schemas.microsoft.com/office/drawing/2014/main" id="{7B89D94D-A9BD-F900-0235-9F05065328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pic>
        <p:nvPicPr>
          <p:cNvPr id="1026" name="Picture 2">
            <a:extLst>
              <a:ext uri="{FF2B5EF4-FFF2-40B4-BE49-F238E27FC236}">
                <a16:creationId xmlns:a16="http://schemas.microsoft.com/office/drawing/2014/main" id="{59BE9E43-B5E2-6DFE-78F6-BF67977DCB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5520" y="326055"/>
            <a:ext cx="8274518" cy="6205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335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CB16336-BAD8-6B00-7E8A-E5F55EA6EC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1" y="0"/>
            <a:ext cx="9180512" cy="6885384"/>
          </a:xfrm>
          <a:prstGeom prst="rect">
            <a:avLst/>
          </a:prstGeom>
        </p:spPr>
      </p:pic>
      <p:pic>
        <p:nvPicPr>
          <p:cNvPr id="5" name="Picture 4">
            <a:extLst>
              <a:ext uri="{FF2B5EF4-FFF2-40B4-BE49-F238E27FC236}">
                <a16:creationId xmlns:a16="http://schemas.microsoft.com/office/drawing/2014/main" id="{9094BCA0-6CA0-CA17-A2C4-83B26AAA3A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7" name="Rectangle 6"/>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dirty="0"/>
          </a:p>
        </p:txBody>
      </p:sp>
      <p:pic>
        <p:nvPicPr>
          <p:cNvPr id="10"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23717" t="20372" r="16209" b="17412"/>
          <a:stretch/>
        </p:blipFill>
        <p:spPr bwMode="auto">
          <a:xfrm>
            <a:off x="2235807" y="1052736"/>
            <a:ext cx="7720387" cy="4824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p:nvSpPr>
        <p:spPr>
          <a:xfrm>
            <a:off x="1524000" y="12682"/>
            <a:ext cx="9144000" cy="769441"/>
          </a:xfrm>
          <a:prstGeom prst="rect">
            <a:avLst/>
          </a:prstGeom>
        </p:spPr>
        <p:txBody>
          <a:bodyPr wrap="square">
            <a:spAutoFit/>
          </a:bodyPr>
          <a:lstStyle/>
          <a:p>
            <a:pPr algn="ctr"/>
            <a:r>
              <a:rPr lang="en-US" sz="4400" b="1" dirty="0"/>
              <a:t>Bomb Calorimeter</a:t>
            </a:r>
            <a:endParaRPr lang="en-IN" sz="4400" b="1" dirty="0"/>
          </a:p>
        </p:txBody>
      </p:sp>
    </p:spTree>
    <p:extLst>
      <p:ext uri="{BB962C8B-B14F-4D97-AF65-F5344CB8AC3E}">
        <p14:creationId xmlns:p14="http://schemas.microsoft.com/office/powerpoint/2010/main" val="4194459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CB16336-BAD8-6B00-7E8A-E5F55EA6EC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1" y="0"/>
            <a:ext cx="9180512" cy="6885384"/>
          </a:xfrm>
          <a:prstGeom prst="rect">
            <a:avLst/>
          </a:prstGeom>
        </p:spPr>
      </p:pic>
      <p:pic>
        <p:nvPicPr>
          <p:cNvPr id="5" name="Picture 4">
            <a:extLst>
              <a:ext uri="{FF2B5EF4-FFF2-40B4-BE49-F238E27FC236}">
                <a16:creationId xmlns:a16="http://schemas.microsoft.com/office/drawing/2014/main" id="{9094BCA0-6CA0-CA17-A2C4-83B26AAA3A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7" name="Rectangle 6"/>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dirty="0"/>
          </a:p>
        </p:txBody>
      </p:sp>
      <p:sp>
        <p:nvSpPr>
          <p:cNvPr id="9" name="TextBox 8"/>
          <p:cNvSpPr txBox="1"/>
          <p:nvPr/>
        </p:nvSpPr>
        <p:spPr>
          <a:xfrm>
            <a:off x="1981141" y="1041388"/>
            <a:ext cx="8496944" cy="707886"/>
          </a:xfrm>
          <a:prstGeom prst="rect">
            <a:avLst/>
          </a:prstGeom>
          <a:noFill/>
        </p:spPr>
        <p:txBody>
          <a:bodyPr wrap="square" rtlCol="0">
            <a:spAutoFit/>
          </a:bodyPr>
          <a:lstStyle/>
          <a:p>
            <a:endParaRPr lang="en-US" sz="2000" b="1" dirty="0"/>
          </a:p>
          <a:p>
            <a:pPr marL="342900" indent="-342900">
              <a:buFont typeface="Wingdings" panose="05000000000000000000" pitchFamily="2" charset="2"/>
              <a:buChar char="Ø"/>
            </a:pPr>
            <a:endParaRPr lang="en-US" sz="2000" dirty="0"/>
          </a:p>
        </p:txBody>
      </p:sp>
      <p:pic>
        <p:nvPicPr>
          <p:cNvPr id="11" name="Picture 2" descr="https://www.learnpick.in/files/pptimages/1182/68f316944f7b07cecd7a5bd41952d26e-14.jpg"/>
          <p:cNvPicPr>
            <a:picLocks noChangeAspect="1" noChangeArrowheads="1"/>
          </p:cNvPicPr>
          <p:nvPr/>
        </p:nvPicPr>
        <p:blipFill rotWithShape="1">
          <a:blip r:embed="rId4">
            <a:extLst>
              <a:ext uri="{28A0092B-C50C-407E-A947-70E740481C1C}">
                <a14:useLocalDpi xmlns:a14="http://schemas.microsoft.com/office/drawing/2010/main" val="0"/>
              </a:ext>
            </a:extLst>
          </a:blip>
          <a:srcRect l="6368" t="30604" r="4916" b="23538"/>
          <a:stretch/>
        </p:blipFill>
        <p:spPr bwMode="auto">
          <a:xfrm>
            <a:off x="2557204" y="1842831"/>
            <a:ext cx="7344817" cy="2948274"/>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1524000" y="12682"/>
            <a:ext cx="9144000" cy="769441"/>
          </a:xfrm>
          <a:prstGeom prst="rect">
            <a:avLst/>
          </a:prstGeom>
        </p:spPr>
        <p:txBody>
          <a:bodyPr wrap="square">
            <a:spAutoFit/>
          </a:bodyPr>
          <a:lstStyle/>
          <a:p>
            <a:pPr algn="ctr"/>
            <a:r>
              <a:rPr lang="en-US" sz="4400" b="1" dirty="0"/>
              <a:t>Principle of Bomb Calorimeter</a:t>
            </a:r>
            <a:endParaRPr lang="en-IN" sz="4400" b="1" dirty="0"/>
          </a:p>
        </p:txBody>
      </p:sp>
    </p:spTree>
    <p:extLst>
      <p:ext uri="{BB962C8B-B14F-4D97-AF65-F5344CB8AC3E}">
        <p14:creationId xmlns:p14="http://schemas.microsoft.com/office/powerpoint/2010/main" val="2698536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CB16336-BAD8-6B00-7E8A-E5F55EA6EC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40066"/>
            <a:ext cx="9180512" cy="6885384"/>
          </a:xfrm>
          <a:prstGeom prst="rect">
            <a:avLst/>
          </a:prstGeom>
        </p:spPr>
      </p:pic>
      <p:pic>
        <p:nvPicPr>
          <p:cNvPr id="5" name="Picture 4">
            <a:extLst>
              <a:ext uri="{FF2B5EF4-FFF2-40B4-BE49-F238E27FC236}">
                <a16:creationId xmlns:a16="http://schemas.microsoft.com/office/drawing/2014/main" id="{9094BCA0-6CA0-CA17-A2C4-83B26AAA3A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7" name="Rectangle 6"/>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dirty="0"/>
          </a:p>
        </p:txBody>
      </p:sp>
      <p:pic>
        <p:nvPicPr>
          <p:cNvPr id="1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2598" t="19118" r="6060" b="6587"/>
          <a:stretch/>
        </p:blipFill>
        <p:spPr bwMode="auto">
          <a:xfrm>
            <a:off x="2417972" y="1804070"/>
            <a:ext cx="7356057" cy="388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p:nvSpPr>
        <p:spPr>
          <a:xfrm>
            <a:off x="1524000" y="12682"/>
            <a:ext cx="9144000" cy="1323439"/>
          </a:xfrm>
          <a:prstGeom prst="rect">
            <a:avLst/>
          </a:prstGeom>
        </p:spPr>
        <p:txBody>
          <a:bodyPr wrap="square">
            <a:spAutoFit/>
          </a:bodyPr>
          <a:lstStyle/>
          <a:p>
            <a:pPr algn="ctr"/>
            <a:r>
              <a:rPr lang="en-US" sz="4000" b="1" dirty="0"/>
              <a:t>Construction and working of Bomb Calorimeter</a:t>
            </a:r>
            <a:endParaRPr lang="en-IN" sz="4000" b="1" dirty="0"/>
          </a:p>
        </p:txBody>
      </p:sp>
    </p:spTree>
    <p:extLst>
      <p:ext uri="{BB962C8B-B14F-4D97-AF65-F5344CB8AC3E}">
        <p14:creationId xmlns:p14="http://schemas.microsoft.com/office/powerpoint/2010/main" val="3043244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CB16336-BAD8-6B00-7E8A-E5F55EA6EC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1" y="0"/>
            <a:ext cx="9180512" cy="6885384"/>
          </a:xfrm>
          <a:prstGeom prst="rect">
            <a:avLst/>
          </a:prstGeom>
        </p:spPr>
      </p:pic>
      <p:pic>
        <p:nvPicPr>
          <p:cNvPr id="5" name="Picture 4">
            <a:extLst>
              <a:ext uri="{FF2B5EF4-FFF2-40B4-BE49-F238E27FC236}">
                <a16:creationId xmlns:a16="http://schemas.microsoft.com/office/drawing/2014/main" id="{9094BCA0-6CA0-CA17-A2C4-83B26AAA3A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7" name="Rectangle 6"/>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dirty="0"/>
          </a:p>
        </p:txBody>
      </p:sp>
      <p:sp>
        <p:nvSpPr>
          <p:cNvPr id="9" name="TextBox 8"/>
          <p:cNvSpPr txBox="1"/>
          <p:nvPr/>
        </p:nvSpPr>
        <p:spPr>
          <a:xfrm>
            <a:off x="1981141" y="1041388"/>
            <a:ext cx="8496944" cy="707886"/>
          </a:xfrm>
          <a:prstGeom prst="rect">
            <a:avLst/>
          </a:prstGeom>
          <a:noFill/>
        </p:spPr>
        <p:txBody>
          <a:bodyPr wrap="square" rtlCol="0">
            <a:spAutoFit/>
          </a:bodyPr>
          <a:lstStyle/>
          <a:p>
            <a:endParaRPr lang="en-US" sz="2000" b="1" dirty="0"/>
          </a:p>
          <a:p>
            <a:pPr marL="342900" indent="-342900">
              <a:buFont typeface="Wingdings" panose="05000000000000000000" pitchFamily="2" charset="2"/>
              <a:buChar char="Ø"/>
            </a:pPr>
            <a:endParaRPr lang="en-US" sz="2000" dirty="0"/>
          </a:p>
        </p:txBody>
      </p:sp>
      <p:pic>
        <p:nvPicPr>
          <p:cNvPr id="12" name="Picture 2" descr="https://www.learnpick.in/files/pptimages/1182/68f316944f7b07cecd7a5bd41952d26e-16.jpg"/>
          <p:cNvPicPr>
            <a:picLocks noChangeAspect="1" noChangeArrowheads="1"/>
          </p:cNvPicPr>
          <p:nvPr/>
        </p:nvPicPr>
        <p:blipFill rotWithShape="1">
          <a:blip r:embed="rId4">
            <a:extLst>
              <a:ext uri="{28A0092B-C50C-407E-A947-70E740481C1C}">
                <a14:useLocalDpi xmlns:a14="http://schemas.microsoft.com/office/drawing/2010/main" val="0"/>
              </a:ext>
            </a:extLst>
          </a:blip>
          <a:srcRect l="3881" t="19647" r="13014" b="9878"/>
          <a:stretch/>
        </p:blipFill>
        <p:spPr bwMode="auto">
          <a:xfrm>
            <a:off x="2230183" y="1642777"/>
            <a:ext cx="7776864" cy="4531057"/>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1524000" y="12681"/>
            <a:ext cx="9144000" cy="1446550"/>
          </a:xfrm>
          <a:prstGeom prst="rect">
            <a:avLst/>
          </a:prstGeom>
        </p:spPr>
        <p:txBody>
          <a:bodyPr wrap="square">
            <a:spAutoFit/>
          </a:bodyPr>
          <a:lstStyle/>
          <a:p>
            <a:pPr algn="ctr"/>
            <a:r>
              <a:rPr lang="en-US" sz="4400" b="1" dirty="0"/>
              <a:t>Calculations of CV of Bomb Calorimeter</a:t>
            </a:r>
            <a:endParaRPr lang="en-IN" sz="4400" b="1" dirty="0"/>
          </a:p>
        </p:txBody>
      </p:sp>
    </p:spTree>
    <p:extLst>
      <p:ext uri="{BB962C8B-B14F-4D97-AF65-F5344CB8AC3E}">
        <p14:creationId xmlns:p14="http://schemas.microsoft.com/office/powerpoint/2010/main" val="391520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CB16336-BAD8-6B00-7E8A-E5F55EA6EC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1" y="0"/>
            <a:ext cx="9180512" cy="6885384"/>
          </a:xfrm>
          <a:prstGeom prst="rect">
            <a:avLst/>
          </a:prstGeom>
        </p:spPr>
      </p:pic>
      <p:pic>
        <p:nvPicPr>
          <p:cNvPr id="5" name="Picture 4">
            <a:extLst>
              <a:ext uri="{FF2B5EF4-FFF2-40B4-BE49-F238E27FC236}">
                <a16:creationId xmlns:a16="http://schemas.microsoft.com/office/drawing/2014/main" id="{9094BCA0-6CA0-CA17-A2C4-83B26AAA3A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7" name="Rectangle 6"/>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dirty="0"/>
          </a:p>
        </p:txBody>
      </p:sp>
      <p:sp>
        <p:nvSpPr>
          <p:cNvPr id="10" name="Rectangle 9"/>
          <p:cNvSpPr/>
          <p:nvPr/>
        </p:nvSpPr>
        <p:spPr>
          <a:xfrm>
            <a:off x="2423593" y="1700809"/>
            <a:ext cx="7056783" cy="4247317"/>
          </a:xfrm>
          <a:prstGeom prst="rect">
            <a:avLst/>
          </a:prstGeom>
        </p:spPr>
        <p:txBody>
          <a:bodyPr wrap="square">
            <a:spAutoFit/>
          </a:bodyPr>
          <a:lstStyle/>
          <a:p>
            <a:r>
              <a:rPr lang="en-US" b="1" i="1" u="sng" dirty="0">
                <a:solidFill>
                  <a:schemeClr val="accent6">
                    <a:lumMod val="75000"/>
                  </a:schemeClr>
                </a:solidFill>
              </a:rPr>
              <a:t>Fuse wire corrections:</a:t>
            </a:r>
            <a:r>
              <a:rPr lang="en-US" b="1" dirty="0"/>
              <a:t> The measured heat includes the heat given out by ignition of fuse wire used.</a:t>
            </a:r>
          </a:p>
          <a:p>
            <a:endParaRPr lang="en-US" b="1" dirty="0"/>
          </a:p>
          <a:p>
            <a:r>
              <a:rPr lang="en-US" b="1" i="1" u="sng" dirty="0">
                <a:solidFill>
                  <a:schemeClr val="accent6">
                    <a:lumMod val="75000"/>
                  </a:schemeClr>
                </a:solidFill>
              </a:rPr>
              <a:t>Acid correction (</a:t>
            </a:r>
            <a:r>
              <a:rPr lang="en-US" b="1" i="1" u="sng" dirty="0" err="1">
                <a:solidFill>
                  <a:schemeClr val="accent6">
                    <a:lumMod val="75000"/>
                  </a:schemeClr>
                </a:solidFill>
              </a:rPr>
              <a:t>Ca</a:t>
            </a:r>
            <a:r>
              <a:rPr lang="en-US" b="1" i="1" u="sng" dirty="0">
                <a:solidFill>
                  <a:schemeClr val="accent6">
                    <a:lumMod val="75000"/>
                  </a:schemeClr>
                </a:solidFill>
              </a:rPr>
              <a:t>): </a:t>
            </a:r>
            <a:r>
              <a:rPr lang="en-US" b="1" dirty="0"/>
              <a:t>Under high pressure and temperature of ignition, N and S present in fuels are oxidized into HNO3 and H2SO4. In the exothermic reactions the heat thus liberated is not obtained by the use of fuel so the correction must be made for the heat liberated in the bomb by the formation of acids H2SO4 and HNO3.</a:t>
            </a:r>
          </a:p>
          <a:p>
            <a:r>
              <a:rPr lang="en-US" b="1" dirty="0"/>
              <a:t>            S + O2   gives SO2</a:t>
            </a:r>
          </a:p>
          <a:p>
            <a:r>
              <a:rPr lang="en-US" b="1" dirty="0"/>
              <a:t> </a:t>
            </a:r>
          </a:p>
          <a:p>
            <a:r>
              <a:rPr lang="en-US" b="1" dirty="0"/>
              <a:t>2SO2+ O2+ 2H2O        2H2SO4 + heat  </a:t>
            </a:r>
          </a:p>
          <a:p>
            <a:r>
              <a:rPr lang="en-US" b="1" dirty="0"/>
              <a:t>2N2+ 2H2+ 3O2            2HNO3 + heat</a:t>
            </a:r>
          </a:p>
          <a:p>
            <a:endParaRPr lang="en-US" b="1" dirty="0"/>
          </a:p>
          <a:p>
            <a:r>
              <a:rPr lang="en-US" b="1" dirty="0"/>
              <a:t> </a:t>
            </a:r>
          </a:p>
        </p:txBody>
      </p:sp>
      <p:sp>
        <p:nvSpPr>
          <p:cNvPr id="11" name="Rectangle 10"/>
          <p:cNvSpPr/>
          <p:nvPr/>
        </p:nvSpPr>
        <p:spPr>
          <a:xfrm>
            <a:off x="1524000" y="12682"/>
            <a:ext cx="9144000" cy="1200329"/>
          </a:xfrm>
          <a:prstGeom prst="rect">
            <a:avLst/>
          </a:prstGeom>
        </p:spPr>
        <p:txBody>
          <a:bodyPr wrap="square">
            <a:spAutoFit/>
          </a:bodyPr>
          <a:lstStyle/>
          <a:p>
            <a:pPr algn="ctr"/>
            <a:r>
              <a:rPr lang="en-US" sz="3600" b="1" dirty="0"/>
              <a:t>Corrections for Calculations of CV of Bomb Calorimeter</a:t>
            </a:r>
            <a:endParaRPr lang="en-IN" sz="3600" b="1" dirty="0"/>
          </a:p>
        </p:txBody>
      </p:sp>
      <p:cxnSp>
        <p:nvCxnSpPr>
          <p:cNvPr id="12" name="Straight Arrow Connector 11"/>
          <p:cNvCxnSpPr/>
          <p:nvPr/>
        </p:nvCxnSpPr>
        <p:spPr>
          <a:xfrm>
            <a:off x="4223792" y="4653136"/>
            <a:ext cx="216024"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Straight Arrow Connector 12"/>
          <p:cNvCxnSpPr/>
          <p:nvPr/>
        </p:nvCxnSpPr>
        <p:spPr>
          <a:xfrm>
            <a:off x="4115780" y="4941168"/>
            <a:ext cx="25202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3200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CB16336-BAD8-6B00-7E8A-E5F55EA6EC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1" y="0"/>
            <a:ext cx="9180512" cy="6885384"/>
          </a:xfrm>
          <a:prstGeom prst="rect">
            <a:avLst/>
          </a:prstGeom>
        </p:spPr>
      </p:pic>
      <p:pic>
        <p:nvPicPr>
          <p:cNvPr id="5" name="Picture 4">
            <a:extLst>
              <a:ext uri="{FF2B5EF4-FFF2-40B4-BE49-F238E27FC236}">
                <a16:creationId xmlns:a16="http://schemas.microsoft.com/office/drawing/2014/main" id="{9094BCA0-6CA0-CA17-A2C4-83B26AAA3A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7" name="Rectangle 6"/>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dirty="0"/>
          </a:p>
        </p:txBody>
      </p:sp>
      <p:sp>
        <p:nvSpPr>
          <p:cNvPr id="14" name="Rectangle 13"/>
          <p:cNvSpPr/>
          <p:nvPr/>
        </p:nvSpPr>
        <p:spPr>
          <a:xfrm>
            <a:off x="2474337" y="1484785"/>
            <a:ext cx="7128792" cy="5324535"/>
          </a:xfrm>
          <a:prstGeom prst="rect">
            <a:avLst/>
          </a:prstGeom>
        </p:spPr>
        <p:txBody>
          <a:bodyPr wrap="square">
            <a:spAutoFit/>
          </a:bodyPr>
          <a:lstStyle/>
          <a:p>
            <a:r>
              <a:rPr lang="en-US" sz="2000" b="1" i="1" u="sng" dirty="0">
                <a:solidFill>
                  <a:schemeClr val="accent6">
                    <a:lumMod val="75000"/>
                  </a:schemeClr>
                </a:solidFill>
              </a:rPr>
              <a:t>Cotton thread correction</a:t>
            </a:r>
            <a:r>
              <a:rPr lang="en-US" sz="2000" b="1" dirty="0"/>
              <a:t>: Cotton thread correction is made by the mass of the dry cotton thread used for firing which is added into acid and fuse wire correction.</a:t>
            </a:r>
          </a:p>
          <a:p>
            <a:endParaRPr lang="en-US" sz="2000" b="1" dirty="0"/>
          </a:p>
          <a:p>
            <a:r>
              <a:rPr lang="en-US" sz="2000" b="1" i="1" u="sng" dirty="0">
                <a:solidFill>
                  <a:schemeClr val="accent6">
                    <a:lumMod val="75000"/>
                  </a:schemeClr>
                </a:solidFill>
              </a:rPr>
              <a:t>Cooling correction : </a:t>
            </a:r>
            <a:r>
              <a:rPr lang="en-US" sz="2000" b="1" dirty="0"/>
              <a:t>The rate and time taken for cooling of water in calorimeter from maximum temp. attained to the room temp. is noted. If the rate of cooling is degree per minute and the actual time taken for cooling is x then cooling correction = x </a:t>
            </a:r>
            <a:r>
              <a:rPr lang="en-US" sz="2000" b="1" dirty="0" err="1"/>
              <a:t>Xdt</a:t>
            </a:r>
            <a:r>
              <a:rPr lang="en-US" sz="2000" b="1" dirty="0"/>
              <a:t>, must be added to the rise in temperature(t2-t1).</a:t>
            </a:r>
          </a:p>
          <a:p>
            <a:r>
              <a:rPr lang="en-US" sz="2000" b="1" dirty="0"/>
              <a:t> </a:t>
            </a:r>
          </a:p>
          <a:p>
            <a:r>
              <a:rPr lang="en-US" sz="2000" b="1" dirty="0">
                <a:solidFill>
                  <a:schemeClr val="accent6">
                    <a:lumMod val="75000"/>
                  </a:schemeClr>
                </a:solidFill>
              </a:rPr>
              <a:t>HCV = (W + w)(t2-t1+Cooling factor)-(Fuse wire corr. + Cotton thread corr. + Acid corr.)/mass of fuel</a:t>
            </a:r>
          </a:p>
          <a:p>
            <a:endParaRPr lang="en-US" sz="2000" b="1" dirty="0">
              <a:solidFill>
                <a:schemeClr val="accent6">
                  <a:lumMod val="75000"/>
                </a:schemeClr>
              </a:solidFill>
            </a:endParaRPr>
          </a:p>
          <a:p>
            <a:r>
              <a:rPr lang="en-US" sz="2000" b="1" dirty="0"/>
              <a:t>                         unit :   kcal/kg or </a:t>
            </a:r>
            <a:r>
              <a:rPr lang="en-US" sz="2000" b="1" dirty="0" err="1"/>
              <a:t>cal</a:t>
            </a:r>
            <a:r>
              <a:rPr lang="en-US" sz="2000" b="1" dirty="0"/>
              <a:t>/g</a:t>
            </a:r>
          </a:p>
          <a:p>
            <a:endParaRPr lang="en-US" sz="2000" b="1" dirty="0"/>
          </a:p>
          <a:p>
            <a:endParaRPr lang="en-US" sz="2000" b="1" dirty="0"/>
          </a:p>
        </p:txBody>
      </p:sp>
      <p:sp>
        <p:nvSpPr>
          <p:cNvPr id="15" name="Rectangle 14"/>
          <p:cNvSpPr/>
          <p:nvPr/>
        </p:nvSpPr>
        <p:spPr>
          <a:xfrm>
            <a:off x="1524000" y="12682"/>
            <a:ext cx="9144000" cy="1200329"/>
          </a:xfrm>
          <a:prstGeom prst="rect">
            <a:avLst/>
          </a:prstGeom>
        </p:spPr>
        <p:txBody>
          <a:bodyPr wrap="square">
            <a:spAutoFit/>
          </a:bodyPr>
          <a:lstStyle/>
          <a:p>
            <a:pPr algn="ctr"/>
            <a:r>
              <a:rPr lang="en-US" sz="3600" b="1" dirty="0"/>
              <a:t>Corrections for Calculations of CV of Bomb Calorimeter</a:t>
            </a:r>
            <a:endParaRPr lang="en-IN" sz="3600" b="1" dirty="0"/>
          </a:p>
        </p:txBody>
      </p:sp>
    </p:spTree>
    <p:extLst>
      <p:ext uri="{BB962C8B-B14F-4D97-AF65-F5344CB8AC3E}">
        <p14:creationId xmlns:p14="http://schemas.microsoft.com/office/powerpoint/2010/main" val="2819899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CB16336-BAD8-6B00-7E8A-E5F55EA6EC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6008" y="0"/>
            <a:ext cx="9180512" cy="6885384"/>
          </a:xfrm>
          <a:prstGeom prst="rect">
            <a:avLst/>
          </a:prstGeom>
        </p:spPr>
      </p:pic>
      <p:pic>
        <p:nvPicPr>
          <p:cNvPr id="5" name="Picture 4">
            <a:extLst>
              <a:ext uri="{FF2B5EF4-FFF2-40B4-BE49-F238E27FC236}">
                <a16:creationId xmlns:a16="http://schemas.microsoft.com/office/drawing/2014/main" id="{9094BCA0-6CA0-CA17-A2C4-83B26AAA3A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7" name="Rectangle 6"/>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dirty="0"/>
          </a:p>
        </p:txBody>
      </p:sp>
      <p:sp>
        <p:nvSpPr>
          <p:cNvPr id="10" name="Rectangle 9"/>
          <p:cNvSpPr/>
          <p:nvPr/>
        </p:nvSpPr>
        <p:spPr>
          <a:xfrm>
            <a:off x="1775520" y="12682"/>
            <a:ext cx="8064896" cy="646331"/>
          </a:xfrm>
          <a:prstGeom prst="rect">
            <a:avLst/>
          </a:prstGeom>
        </p:spPr>
        <p:txBody>
          <a:bodyPr wrap="square">
            <a:spAutoFit/>
          </a:bodyPr>
          <a:lstStyle/>
          <a:p>
            <a:pPr algn="ctr"/>
            <a:r>
              <a:rPr lang="en-US" sz="3600" b="1" dirty="0"/>
              <a:t>Practice </a:t>
            </a:r>
            <a:r>
              <a:rPr lang="en-US" sz="3600" b="1" dirty="0" err="1"/>
              <a:t>Numericals</a:t>
            </a:r>
            <a:endParaRPr lang="en-IN" sz="3600" b="1" dirty="0"/>
          </a:p>
        </p:txBody>
      </p:sp>
      <p:sp>
        <p:nvSpPr>
          <p:cNvPr id="11" name="Rectangle 10"/>
          <p:cNvSpPr/>
          <p:nvPr/>
        </p:nvSpPr>
        <p:spPr>
          <a:xfrm>
            <a:off x="2279576" y="692836"/>
            <a:ext cx="7416824" cy="2031325"/>
          </a:xfrm>
          <a:prstGeom prst="rect">
            <a:avLst/>
          </a:prstGeom>
        </p:spPr>
        <p:txBody>
          <a:bodyPr wrap="square">
            <a:spAutoFit/>
          </a:bodyPr>
          <a:lstStyle/>
          <a:p>
            <a:pPr algn="just"/>
            <a:r>
              <a:rPr lang="en-US" b="1" dirty="0"/>
              <a:t>A sample of coal contains: C = 83%, H = 6% and ash 1%. The following data were obtained when the above coal was tested in a bomb calorimeter: Weight of coal burnt = 0.92 g Weight of water taken = 550 g Water equivalent of calorimeter = 2,200 g Rise in temperature = 2.42</a:t>
            </a:r>
            <a:r>
              <a:rPr lang="en-US" b="1" baseline="30000" dirty="0"/>
              <a:t>o</a:t>
            </a:r>
            <a:r>
              <a:rPr lang="en-US" b="1" dirty="0"/>
              <a:t>C Fuse wire correction = 10.0 </a:t>
            </a:r>
            <a:r>
              <a:rPr lang="en-US" b="1" dirty="0" err="1"/>
              <a:t>cal</a:t>
            </a:r>
            <a:r>
              <a:rPr lang="en-US" b="1" dirty="0"/>
              <a:t> Acid correction = 50.0 </a:t>
            </a:r>
            <a:r>
              <a:rPr lang="en-US" b="1" dirty="0" err="1"/>
              <a:t>cal</a:t>
            </a:r>
            <a:r>
              <a:rPr lang="en-US" b="1" dirty="0"/>
              <a:t> Calculate the gross and net calorific values of coal, assuming that the latent heat of condensation of steam is 580 </a:t>
            </a:r>
            <a:r>
              <a:rPr lang="en-US" b="1" dirty="0" err="1"/>
              <a:t>cal</a:t>
            </a:r>
            <a:r>
              <a:rPr lang="en-US" b="1" dirty="0"/>
              <a:t>/g.</a:t>
            </a:r>
            <a:endParaRPr lang="en-IN" b="1" dirty="0"/>
          </a:p>
        </p:txBody>
      </p:sp>
      <p:sp>
        <p:nvSpPr>
          <p:cNvPr id="12" name="Rectangle 11"/>
          <p:cNvSpPr/>
          <p:nvPr/>
        </p:nvSpPr>
        <p:spPr>
          <a:xfrm>
            <a:off x="2189820" y="2724161"/>
            <a:ext cx="7992888" cy="3477875"/>
          </a:xfrm>
          <a:prstGeom prst="rect">
            <a:avLst/>
          </a:prstGeom>
        </p:spPr>
        <p:txBody>
          <a:bodyPr wrap="square">
            <a:spAutoFit/>
          </a:bodyPr>
          <a:lstStyle/>
          <a:p>
            <a:r>
              <a:rPr lang="en-US" sz="2000" b="1" dirty="0">
                <a:solidFill>
                  <a:srgbClr val="FF0000"/>
                </a:solidFill>
              </a:rPr>
              <a:t>Weight of coal sample (x) = 0.92 g, Weight of water (W) = 550 g</a:t>
            </a:r>
          </a:p>
          <a:p>
            <a:r>
              <a:rPr lang="en-US" sz="2000" b="1" dirty="0">
                <a:solidFill>
                  <a:srgbClr val="FF0000"/>
                </a:solidFill>
              </a:rPr>
              <a:t>Water equivalent of calorimeter = 2200 g</a:t>
            </a:r>
          </a:p>
          <a:p>
            <a:r>
              <a:rPr lang="en-US" sz="2000" b="1" dirty="0">
                <a:solidFill>
                  <a:srgbClr val="FF0000"/>
                </a:solidFill>
              </a:rPr>
              <a:t>Rise in temperature (T2-T1) = 2.42 </a:t>
            </a:r>
            <a:r>
              <a:rPr lang="en-US" sz="2000" b="1" baseline="30000" dirty="0" err="1">
                <a:solidFill>
                  <a:srgbClr val="FF0000"/>
                </a:solidFill>
              </a:rPr>
              <a:t>o</a:t>
            </a:r>
            <a:r>
              <a:rPr lang="en-US" sz="2000" b="1" dirty="0" err="1">
                <a:solidFill>
                  <a:srgbClr val="FF0000"/>
                </a:solidFill>
              </a:rPr>
              <a:t>C</a:t>
            </a:r>
            <a:endParaRPr lang="en-US" sz="2000" b="1" dirty="0">
              <a:solidFill>
                <a:srgbClr val="FF0000"/>
              </a:solidFill>
            </a:endParaRPr>
          </a:p>
          <a:p>
            <a:r>
              <a:rPr lang="en-US" sz="2000" b="1" dirty="0">
                <a:solidFill>
                  <a:srgbClr val="FF0000"/>
                </a:solidFill>
              </a:rPr>
              <a:t>Fuse wire correction = 10.0 </a:t>
            </a:r>
            <a:r>
              <a:rPr lang="en-US" sz="2000" b="1" dirty="0" err="1">
                <a:solidFill>
                  <a:srgbClr val="FF0000"/>
                </a:solidFill>
              </a:rPr>
              <a:t>cal</a:t>
            </a:r>
            <a:r>
              <a:rPr lang="en-US" sz="2000" b="1" dirty="0">
                <a:solidFill>
                  <a:srgbClr val="FF0000"/>
                </a:solidFill>
              </a:rPr>
              <a:t>, Acid correction = 50.0 </a:t>
            </a:r>
            <a:r>
              <a:rPr lang="en-US" sz="2000" b="1" dirty="0" err="1">
                <a:solidFill>
                  <a:srgbClr val="FF0000"/>
                </a:solidFill>
              </a:rPr>
              <a:t>cal</a:t>
            </a:r>
            <a:r>
              <a:rPr lang="en-US" sz="2000" b="1" dirty="0">
                <a:solidFill>
                  <a:srgbClr val="FF0000"/>
                </a:solidFill>
              </a:rPr>
              <a:t> </a:t>
            </a:r>
          </a:p>
          <a:p>
            <a:r>
              <a:rPr lang="en-US" sz="2000" b="1" dirty="0">
                <a:solidFill>
                  <a:srgbClr val="FF0000"/>
                </a:solidFill>
              </a:rPr>
              <a:t>Latent heat of steam = 580 </a:t>
            </a:r>
            <a:r>
              <a:rPr lang="en-US" sz="2000" b="1" dirty="0" err="1">
                <a:solidFill>
                  <a:srgbClr val="FF0000"/>
                </a:solidFill>
              </a:rPr>
              <a:t>cal</a:t>
            </a:r>
            <a:r>
              <a:rPr lang="en-US" sz="2000" b="1" dirty="0">
                <a:solidFill>
                  <a:srgbClr val="FF0000"/>
                </a:solidFill>
              </a:rPr>
              <a:t>/g</a:t>
            </a:r>
          </a:p>
          <a:p>
            <a:r>
              <a:rPr lang="en-US" sz="2000" b="1" dirty="0">
                <a:solidFill>
                  <a:srgbClr val="FF0000"/>
                </a:solidFill>
              </a:rPr>
              <a:t>% of H = 6 %</a:t>
            </a:r>
          </a:p>
          <a:p>
            <a:endParaRPr lang="en-US" sz="2000" b="1" dirty="0">
              <a:solidFill>
                <a:srgbClr val="FF0000"/>
              </a:solidFill>
            </a:endParaRPr>
          </a:p>
          <a:p>
            <a:endParaRPr lang="en-US" sz="2000" b="1" dirty="0">
              <a:solidFill>
                <a:srgbClr val="FF0000"/>
              </a:solidFill>
            </a:endParaRPr>
          </a:p>
          <a:p>
            <a:r>
              <a:rPr lang="en-US" sz="2000" b="1" dirty="0">
                <a:solidFill>
                  <a:srgbClr val="FF0000"/>
                </a:solidFill>
              </a:rPr>
              <a:t>HCV = (550 + 2200) × 2.42 / 0.92 = 7,168.5 </a:t>
            </a:r>
            <a:r>
              <a:rPr lang="en-US" sz="2000" b="1" dirty="0" err="1">
                <a:solidFill>
                  <a:srgbClr val="FF0000"/>
                </a:solidFill>
              </a:rPr>
              <a:t>cal</a:t>
            </a:r>
            <a:r>
              <a:rPr lang="en-US" sz="2000" b="1" dirty="0">
                <a:solidFill>
                  <a:srgbClr val="FF0000"/>
                </a:solidFill>
              </a:rPr>
              <a:t>/g </a:t>
            </a:r>
          </a:p>
          <a:p>
            <a:r>
              <a:rPr lang="en-US" sz="2000" b="1" dirty="0">
                <a:solidFill>
                  <a:srgbClr val="FF0000"/>
                </a:solidFill>
              </a:rPr>
              <a:t>N.C.V. = (G.C.V. – 0.09 H × latent heat of steam = (7,168.5 – 0.09 × 6 × 580) </a:t>
            </a:r>
            <a:r>
              <a:rPr lang="en-US" sz="2000" b="1" dirty="0" err="1">
                <a:solidFill>
                  <a:srgbClr val="FF0000"/>
                </a:solidFill>
              </a:rPr>
              <a:t>cal</a:t>
            </a:r>
            <a:r>
              <a:rPr lang="en-US" sz="2000" b="1" dirty="0">
                <a:solidFill>
                  <a:srgbClr val="FF0000"/>
                </a:solidFill>
              </a:rPr>
              <a:t>/g = 6,855.3 </a:t>
            </a:r>
            <a:r>
              <a:rPr lang="en-US" sz="2000" b="1" dirty="0" err="1">
                <a:solidFill>
                  <a:srgbClr val="FF0000"/>
                </a:solidFill>
              </a:rPr>
              <a:t>cal</a:t>
            </a:r>
            <a:r>
              <a:rPr lang="en-US" sz="2000" b="1" dirty="0">
                <a:solidFill>
                  <a:srgbClr val="FF0000"/>
                </a:solidFill>
              </a:rPr>
              <a:t>/g </a:t>
            </a:r>
            <a:endParaRPr lang="en-IN" sz="2000" b="1" dirty="0">
              <a:solidFill>
                <a:srgbClr val="FF0000"/>
              </a:solidFill>
            </a:endParaRPr>
          </a:p>
        </p:txBody>
      </p:sp>
      <p:pic>
        <p:nvPicPr>
          <p:cNvPr id="13" name="Picture 2" descr="https://www.learnpick.in/files/pptimages/1182/68f316944f7b07cecd7a5bd41952d26e-16.jpg"/>
          <p:cNvPicPr>
            <a:picLocks noChangeAspect="1" noChangeArrowheads="1"/>
          </p:cNvPicPr>
          <p:nvPr/>
        </p:nvPicPr>
        <p:blipFill rotWithShape="1">
          <a:blip r:embed="rId4">
            <a:extLst>
              <a:ext uri="{28A0092B-C50C-407E-A947-70E740481C1C}">
                <a14:useLocalDpi xmlns:a14="http://schemas.microsoft.com/office/drawing/2010/main" val="0"/>
              </a:ext>
            </a:extLst>
          </a:blip>
          <a:srcRect l="15204" t="80482" r="53844" b="11906"/>
          <a:stretch/>
        </p:blipFill>
        <p:spPr bwMode="auto">
          <a:xfrm>
            <a:off x="3289738" y="4825444"/>
            <a:ext cx="2896526" cy="489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133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CB16336-BAD8-6B00-7E8A-E5F55EA6EC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15480" y="0"/>
            <a:ext cx="9180512" cy="6885384"/>
          </a:xfrm>
          <a:prstGeom prst="rect">
            <a:avLst/>
          </a:prstGeom>
        </p:spPr>
      </p:pic>
      <p:pic>
        <p:nvPicPr>
          <p:cNvPr id="5" name="Picture 4">
            <a:extLst>
              <a:ext uri="{FF2B5EF4-FFF2-40B4-BE49-F238E27FC236}">
                <a16:creationId xmlns:a16="http://schemas.microsoft.com/office/drawing/2014/main" id="{9094BCA0-6CA0-CA17-A2C4-83B26AAA3A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7" name="Rectangle 6"/>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dirty="0"/>
          </a:p>
        </p:txBody>
      </p:sp>
      <p:sp>
        <p:nvSpPr>
          <p:cNvPr id="9" name="TextBox 8"/>
          <p:cNvSpPr txBox="1"/>
          <p:nvPr/>
        </p:nvSpPr>
        <p:spPr>
          <a:xfrm>
            <a:off x="1981141" y="1041388"/>
            <a:ext cx="8496944" cy="707886"/>
          </a:xfrm>
          <a:prstGeom prst="rect">
            <a:avLst/>
          </a:prstGeom>
          <a:noFill/>
        </p:spPr>
        <p:txBody>
          <a:bodyPr wrap="square" rtlCol="0">
            <a:spAutoFit/>
          </a:bodyPr>
          <a:lstStyle/>
          <a:p>
            <a:endParaRPr lang="en-US" sz="2000" b="1" dirty="0"/>
          </a:p>
          <a:p>
            <a:pPr marL="342900" indent="-342900">
              <a:buFont typeface="Wingdings" panose="05000000000000000000" pitchFamily="2" charset="2"/>
              <a:buChar char="Ø"/>
            </a:pPr>
            <a:endParaRPr lang="en-US" sz="2000" dirty="0"/>
          </a:p>
        </p:txBody>
      </p:sp>
      <p:sp>
        <p:nvSpPr>
          <p:cNvPr id="12" name="Rectangle 11"/>
          <p:cNvSpPr/>
          <p:nvPr/>
        </p:nvSpPr>
        <p:spPr>
          <a:xfrm>
            <a:off x="2082325" y="336365"/>
            <a:ext cx="7992888" cy="6186309"/>
          </a:xfrm>
          <a:prstGeom prst="rect">
            <a:avLst/>
          </a:prstGeom>
        </p:spPr>
        <p:txBody>
          <a:bodyPr wrap="square">
            <a:spAutoFit/>
          </a:bodyPr>
          <a:lstStyle/>
          <a:p>
            <a:r>
              <a:rPr lang="en-US" sz="2400" b="1" dirty="0"/>
              <a:t>In an experiment in a Bomb calorimeter, a solid fuel of 0.90 g is burnt. It is observed that increase of temperature is 3.8</a:t>
            </a:r>
            <a:r>
              <a:rPr lang="en-US" sz="2400" b="1" baseline="30000" dirty="0"/>
              <a:t>o</a:t>
            </a:r>
            <a:r>
              <a:rPr lang="en-US" sz="2400" b="1" dirty="0"/>
              <a:t>C of 4000 g of water. The fuel contains 1% of H. calculate the HCV and LCV value (equivalent weight of water = 385 g and latent heat of steam = 587 </a:t>
            </a:r>
            <a:r>
              <a:rPr lang="en-US" sz="2400" b="1" dirty="0" err="1"/>
              <a:t>cal</a:t>
            </a:r>
            <a:r>
              <a:rPr lang="en-US" sz="2400" b="1" dirty="0"/>
              <a:t>/g). </a:t>
            </a:r>
          </a:p>
          <a:p>
            <a:endParaRPr lang="en-US" dirty="0"/>
          </a:p>
          <a:p>
            <a:endParaRPr lang="en-US" dirty="0"/>
          </a:p>
          <a:p>
            <a:r>
              <a:rPr lang="en-US" sz="2400" b="1" dirty="0">
                <a:solidFill>
                  <a:srgbClr val="FF0000"/>
                </a:solidFill>
              </a:rPr>
              <a:t>Sol: Weight of fuel (x) = 0.90 g </a:t>
            </a:r>
          </a:p>
          <a:p>
            <a:r>
              <a:rPr lang="en-US" sz="2400" b="1" dirty="0">
                <a:solidFill>
                  <a:srgbClr val="FF0000"/>
                </a:solidFill>
              </a:rPr>
              <a:t>Weight of water (W) = 4000 g </a:t>
            </a:r>
          </a:p>
          <a:p>
            <a:r>
              <a:rPr lang="en-US" sz="2400" b="1" dirty="0">
                <a:solidFill>
                  <a:srgbClr val="FF0000"/>
                </a:solidFill>
              </a:rPr>
              <a:t>Equivalent weight of water (w) = 385 g </a:t>
            </a:r>
          </a:p>
          <a:p>
            <a:r>
              <a:rPr lang="en-US" sz="2400" b="1" dirty="0">
                <a:solidFill>
                  <a:srgbClr val="FF0000"/>
                </a:solidFill>
              </a:rPr>
              <a:t>Rise in temperature (T2-T1) = 3.8</a:t>
            </a:r>
            <a:r>
              <a:rPr lang="en-US" sz="2400" b="1" baseline="30000" dirty="0">
                <a:solidFill>
                  <a:srgbClr val="FF0000"/>
                </a:solidFill>
              </a:rPr>
              <a:t>o</a:t>
            </a:r>
            <a:r>
              <a:rPr lang="en-US" sz="2400" b="1" dirty="0">
                <a:solidFill>
                  <a:srgbClr val="FF0000"/>
                </a:solidFill>
              </a:rPr>
              <a:t>C </a:t>
            </a:r>
          </a:p>
          <a:p>
            <a:r>
              <a:rPr lang="en-US" sz="2400" b="1" dirty="0">
                <a:solidFill>
                  <a:srgbClr val="FF0000"/>
                </a:solidFill>
              </a:rPr>
              <a:t>Percentage of carbon = 1%, Latent heat of steam = 587 </a:t>
            </a:r>
            <a:r>
              <a:rPr lang="en-US" sz="2400" b="1" dirty="0" err="1">
                <a:solidFill>
                  <a:srgbClr val="FF0000"/>
                </a:solidFill>
              </a:rPr>
              <a:t>cal</a:t>
            </a:r>
            <a:r>
              <a:rPr lang="en-US" sz="2400" b="1" dirty="0">
                <a:solidFill>
                  <a:srgbClr val="FF0000"/>
                </a:solidFill>
              </a:rPr>
              <a:t>/g HCV = (W + w) (T2- T1) ÷ w  </a:t>
            </a:r>
            <a:r>
              <a:rPr lang="en-US" sz="2400" b="1" dirty="0" err="1">
                <a:solidFill>
                  <a:srgbClr val="FF0000"/>
                </a:solidFill>
              </a:rPr>
              <a:t>cal</a:t>
            </a:r>
            <a:r>
              <a:rPr lang="en-US" sz="2400" b="1" dirty="0">
                <a:solidFill>
                  <a:srgbClr val="FF0000"/>
                </a:solidFill>
              </a:rPr>
              <a:t>/g = (4000 + 385) (3.8) ÷ 0.90 </a:t>
            </a:r>
            <a:r>
              <a:rPr lang="en-US" sz="2400" b="1" dirty="0" err="1">
                <a:solidFill>
                  <a:srgbClr val="FF0000"/>
                </a:solidFill>
              </a:rPr>
              <a:t>cal</a:t>
            </a:r>
            <a:r>
              <a:rPr lang="en-US" sz="2400" b="1" dirty="0">
                <a:solidFill>
                  <a:srgbClr val="FF0000"/>
                </a:solidFill>
              </a:rPr>
              <a:t>/g = 18514.5 </a:t>
            </a:r>
            <a:r>
              <a:rPr lang="en-US" sz="2400" b="1" dirty="0" err="1">
                <a:solidFill>
                  <a:srgbClr val="FF0000"/>
                </a:solidFill>
              </a:rPr>
              <a:t>cal</a:t>
            </a:r>
            <a:r>
              <a:rPr lang="en-US" sz="2400" b="1" dirty="0">
                <a:solidFill>
                  <a:srgbClr val="FF0000"/>
                </a:solidFill>
              </a:rPr>
              <a:t>/g </a:t>
            </a:r>
          </a:p>
          <a:p>
            <a:r>
              <a:rPr lang="en-US" sz="2400" b="1" dirty="0">
                <a:solidFill>
                  <a:srgbClr val="FF0000"/>
                </a:solidFill>
              </a:rPr>
              <a:t>LCV = (HCV – 0.09 H × 587) = 18514.5 – 0.09 × 1 × 587 = 18461.6 </a:t>
            </a:r>
            <a:r>
              <a:rPr lang="en-US" sz="2400" b="1" dirty="0" err="1">
                <a:solidFill>
                  <a:srgbClr val="FF0000"/>
                </a:solidFill>
              </a:rPr>
              <a:t>cal</a:t>
            </a:r>
            <a:r>
              <a:rPr lang="en-US" sz="2400" b="1" dirty="0">
                <a:solidFill>
                  <a:srgbClr val="FF0000"/>
                </a:solidFill>
              </a:rPr>
              <a:t>/g </a:t>
            </a:r>
            <a:endParaRPr lang="en-IN" sz="2400" b="1" dirty="0">
              <a:solidFill>
                <a:srgbClr val="FF0000"/>
              </a:solidFill>
            </a:endParaRPr>
          </a:p>
        </p:txBody>
      </p:sp>
    </p:spTree>
    <p:extLst>
      <p:ext uri="{BB962C8B-B14F-4D97-AF65-F5344CB8AC3E}">
        <p14:creationId xmlns:p14="http://schemas.microsoft.com/office/powerpoint/2010/main" val="1990185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EF78417-225E-8667-90BF-E9DFDA2F7F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15480" y="0"/>
            <a:ext cx="9180512" cy="6885384"/>
          </a:xfrm>
          <a:prstGeom prst="rect">
            <a:avLst/>
          </a:prstGeom>
        </p:spPr>
      </p:pic>
      <p:pic>
        <p:nvPicPr>
          <p:cNvPr id="5" name="Picture 4">
            <a:extLst>
              <a:ext uri="{FF2B5EF4-FFF2-40B4-BE49-F238E27FC236}">
                <a16:creationId xmlns:a16="http://schemas.microsoft.com/office/drawing/2014/main" id="{B41E176E-C275-8427-AE5F-A861B00D3D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2" name="Title 1">
            <a:extLst>
              <a:ext uri="{FF2B5EF4-FFF2-40B4-BE49-F238E27FC236}">
                <a16:creationId xmlns:a16="http://schemas.microsoft.com/office/drawing/2014/main" id="{CD9FCD49-9941-C738-AD8F-209EF507D72E}"/>
              </a:ext>
            </a:extLst>
          </p:cNvPr>
          <p:cNvSpPr>
            <a:spLocks noGrp="1"/>
          </p:cNvSpPr>
          <p:nvPr>
            <p:ph type="title"/>
          </p:nvPr>
        </p:nvSpPr>
        <p:spPr/>
        <p:txBody>
          <a:bodyPr/>
          <a:lstStyle/>
          <a:p>
            <a:r>
              <a:rPr lang="en-GB" b="1"/>
              <a:t>Take away of the session</a:t>
            </a:r>
            <a:endParaRPr lang="en-US"/>
          </a:p>
        </p:txBody>
      </p:sp>
      <p:sp>
        <p:nvSpPr>
          <p:cNvPr id="3" name="Content Placeholder 2">
            <a:extLst>
              <a:ext uri="{FF2B5EF4-FFF2-40B4-BE49-F238E27FC236}">
                <a16:creationId xmlns:a16="http://schemas.microsoft.com/office/drawing/2014/main" id="{BA7AAC60-6C94-BE21-A17A-6CC0CDE963C5}"/>
              </a:ext>
            </a:extLst>
          </p:cNvPr>
          <p:cNvSpPr>
            <a:spLocks noGrp="1"/>
          </p:cNvSpPr>
          <p:nvPr>
            <p:ph idx="1"/>
          </p:nvPr>
        </p:nvSpPr>
        <p:spPr/>
        <p:txBody>
          <a:bodyPr vert="horz" lIns="91440" tIns="45720" rIns="91440" bIns="45720" rtlCol="0" anchor="t">
            <a:normAutofit fontScale="62500" lnSpcReduction="20000"/>
          </a:bodyPr>
          <a:lstStyle/>
          <a:p>
            <a:r>
              <a:rPr lang="en-US" b="1" dirty="0">
                <a:ea typeface="+mn-lt"/>
                <a:cs typeface="+mn-lt"/>
              </a:rPr>
              <a:t>Purpose:</a:t>
            </a:r>
            <a:r>
              <a:rPr lang="en-US" dirty="0">
                <a:ea typeface="+mn-lt"/>
                <a:cs typeface="+mn-lt"/>
              </a:rPr>
              <a:t> Used to </a:t>
            </a:r>
            <a:r>
              <a:rPr lang="en-US" b="1" dirty="0">
                <a:ea typeface="+mn-lt"/>
                <a:cs typeface="+mn-lt"/>
              </a:rPr>
              <a:t>accurately determine the calorific value</a:t>
            </a:r>
            <a:r>
              <a:rPr lang="en-US" dirty="0">
                <a:ea typeface="+mn-lt"/>
                <a:cs typeface="+mn-lt"/>
              </a:rPr>
              <a:t> of a solid or liquid fuel.</a:t>
            </a:r>
          </a:p>
          <a:p>
            <a:r>
              <a:rPr lang="en-US" b="1" dirty="0">
                <a:ea typeface="+mn-lt"/>
                <a:cs typeface="+mn-lt"/>
              </a:rPr>
              <a:t>Principle:</a:t>
            </a:r>
            <a:r>
              <a:rPr lang="en-US" dirty="0">
                <a:ea typeface="+mn-lt"/>
                <a:cs typeface="+mn-lt"/>
              </a:rPr>
              <a:t> A </a:t>
            </a:r>
            <a:r>
              <a:rPr lang="en-US" b="1" dirty="0">
                <a:ea typeface="+mn-lt"/>
                <a:cs typeface="+mn-lt"/>
              </a:rPr>
              <a:t>known mass of fuel</a:t>
            </a:r>
            <a:r>
              <a:rPr lang="en-US" dirty="0">
                <a:ea typeface="+mn-lt"/>
                <a:cs typeface="+mn-lt"/>
              </a:rPr>
              <a:t> is </a:t>
            </a:r>
            <a:r>
              <a:rPr lang="en-US" b="1" dirty="0">
                <a:ea typeface="+mn-lt"/>
                <a:cs typeface="+mn-lt"/>
              </a:rPr>
              <a:t>burnt in excess oxygen</a:t>
            </a:r>
            <a:r>
              <a:rPr lang="en-US" dirty="0">
                <a:ea typeface="+mn-lt"/>
                <a:cs typeface="+mn-lt"/>
              </a:rPr>
              <a:t> inside a </a:t>
            </a:r>
            <a:r>
              <a:rPr lang="en-US" b="1" dirty="0">
                <a:ea typeface="+mn-lt"/>
                <a:cs typeface="+mn-lt"/>
              </a:rPr>
              <a:t>strong steel bomb</a:t>
            </a:r>
            <a:r>
              <a:rPr lang="en-US" dirty="0">
                <a:ea typeface="+mn-lt"/>
                <a:cs typeface="+mn-lt"/>
              </a:rPr>
              <a:t>, surrounded by water.</a:t>
            </a:r>
          </a:p>
          <a:p>
            <a:r>
              <a:rPr lang="en-US" b="1" dirty="0">
                <a:ea typeface="+mn-lt"/>
                <a:cs typeface="+mn-lt"/>
              </a:rPr>
              <a:t>Measurement:</a:t>
            </a:r>
            <a:r>
              <a:rPr lang="en-US" dirty="0">
                <a:ea typeface="+mn-lt"/>
                <a:cs typeface="+mn-lt"/>
              </a:rPr>
              <a:t> The </a:t>
            </a:r>
            <a:r>
              <a:rPr lang="en-US" b="1" dirty="0">
                <a:ea typeface="+mn-lt"/>
                <a:cs typeface="+mn-lt"/>
              </a:rPr>
              <a:t>rise in water temperature</a:t>
            </a:r>
            <a:r>
              <a:rPr lang="en-US" dirty="0">
                <a:ea typeface="+mn-lt"/>
                <a:cs typeface="+mn-lt"/>
              </a:rPr>
              <a:t> is measured to calculate the heat released.</a:t>
            </a:r>
          </a:p>
          <a:p>
            <a:r>
              <a:rPr lang="en-US" b="1" dirty="0">
                <a:ea typeface="+mn-lt"/>
                <a:cs typeface="+mn-lt"/>
              </a:rPr>
              <a:t>Key Components:</a:t>
            </a:r>
            <a:r>
              <a:rPr lang="en-US" dirty="0">
                <a:ea typeface="+mn-lt"/>
                <a:cs typeface="+mn-lt"/>
              </a:rPr>
              <a:t> Bomb, ignition wire, oxygen supply, water jacket, thermometer, and stirrer.</a:t>
            </a:r>
          </a:p>
          <a:p>
            <a:r>
              <a:rPr lang="en-US" b="1" dirty="0">
                <a:ea typeface="+mn-lt"/>
                <a:cs typeface="+mn-lt"/>
              </a:rPr>
              <a:t>Formula Used:</a:t>
            </a:r>
            <a:endParaRPr lang="en-US" dirty="0">
              <a:ea typeface="+mn-lt"/>
              <a:cs typeface="+mn-lt"/>
            </a:endParaRPr>
          </a:p>
          <a:p>
            <a:r>
              <a:rPr lang="en-US" dirty="0">
                <a:ea typeface="+mn-lt"/>
                <a:cs typeface="+mn-lt"/>
              </a:rPr>
              <a:t>Gross Calorific Value (HCV)=(</a:t>
            </a:r>
            <a:r>
              <a:rPr lang="en-US" dirty="0" err="1">
                <a:ea typeface="+mn-lt"/>
                <a:cs typeface="+mn-lt"/>
              </a:rPr>
              <a:t>W+w</a:t>
            </a:r>
            <a:r>
              <a:rPr lang="en-US" dirty="0">
                <a:ea typeface="+mn-lt"/>
                <a:cs typeface="+mn-lt"/>
              </a:rPr>
              <a:t>)(T2−T1)+Ccm\text{Gross Calorific Value (HCV)} = \frac{(W + w)(T_2 - T_1) + </a:t>
            </a:r>
            <a:r>
              <a:rPr lang="en-US" dirty="0" err="1">
                <a:ea typeface="+mn-lt"/>
                <a:cs typeface="+mn-lt"/>
              </a:rPr>
              <a:t>C_c</a:t>
            </a:r>
            <a:r>
              <a:rPr lang="en-US" dirty="0">
                <a:ea typeface="+mn-lt"/>
                <a:cs typeface="+mn-lt"/>
              </a:rPr>
              <a:t>}{m}Gross Calorific Value (HCV)=m(</a:t>
            </a:r>
            <a:r>
              <a:rPr lang="en-US" dirty="0" err="1">
                <a:ea typeface="+mn-lt"/>
                <a:cs typeface="+mn-lt"/>
              </a:rPr>
              <a:t>W+w</a:t>
            </a:r>
            <a:r>
              <a:rPr lang="en-US" dirty="0">
                <a:ea typeface="+mn-lt"/>
                <a:cs typeface="+mn-lt"/>
              </a:rPr>
              <a:t>)(T2 −T1 )+Cc   </a:t>
            </a:r>
          </a:p>
          <a:p>
            <a:r>
              <a:rPr lang="en-US" dirty="0">
                <a:ea typeface="+mn-lt"/>
                <a:cs typeface="+mn-lt"/>
              </a:rPr>
              <a:t>Where:</a:t>
            </a:r>
          </a:p>
          <a:p>
            <a:pPr lvl="1"/>
            <a:r>
              <a:rPr lang="en-US" sz="2800" dirty="0">
                <a:ea typeface="+mn-lt"/>
                <a:cs typeface="+mn-lt"/>
              </a:rPr>
              <a:t>WWW = mass of water</a:t>
            </a:r>
          </a:p>
          <a:p>
            <a:pPr lvl="1"/>
            <a:r>
              <a:rPr lang="en-US" sz="2800" dirty="0">
                <a:ea typeface="+mn-lt"/>
                <a:cs typeface="+mn-lt"/>
              </a:rPr>
              <a:t>www = water equivalent of calorimeter</a:t>
            </a:r>
          </a:p>
          <a:p>
            <a:pPr lvl="1"/>
            <a:r>
              <a:rPr lang="en-US" sz="2800" dirty="0">
                <a:ea typeface="+mn-lt"/>
                <a:cs typeface="+mn-lt"/>
              </a:rPr>
              <a:t>T2−T1T_2 - T_1T2 −T1  = temperature rise</a:t>
            </a:r>
          </a:p>
          <a:p>
            <a:pPr lvl="1"/>
            <a:r>
              <a:rPr lang="en-US" sz="2800" dirty="0" err="1">
                <a:ea typeface="+mn-lt"/>
                <a:cs typeface="+mn-lt"/>
              </a:rPr>
              <a:t>CcC_cCc</a:t>
            </a:r>
            <a:r>
              <a:rPr lang="en-US" sz="2800" dirty="0">
                <a:ea typeface="+mn-lt"/>
                <a:cs typeface="+mn-lt"/>
              </a:rPr>
              <a:t>  = correction for fuse wire, cotton thread, etc.</a:t>
            </a:r>
          </a:p>
          <a:p>
            <a:pPr lvl="1"/>
            <a:r>
              <a:rPr lang="en-US" sz="2800" dirty="0">
                <a:ea typeface="+mn-lt"/>
                <a:cs typeface="+mn-lt"/>
              </a:rPr>
              <a:t>mmm = mass of fuel burned</a:t>
            </a:r>
          </a:p>
          <a:p>
            <a:endParaRPr lang="en-US" b="1" dirty="0"/>
          </a:p>
        </p:txBody>
      </p:sp>
    </p:spTree>
    <p:extLst>
      <p:ext uri="{BB962C8B-B14F-4D97-AF65-F5344CB8AC3E}">
        <p14:creationId xmlns:p14="http://schemas.microsoft.com/office/powerpoint/2010/main" val="2992620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A25D65A-76A6-9551-732E-8345779D01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15480" y="0"/>
            <a:ext cx="9180512" cy="6885384"/>
          </a:xfrm>
          <a:prstGeom prst="rect">
            <a:avLst/>
          </a:prstGeom>
        </p:spPr>
      </p:pic>
      <p:pic>
        <p:nvPicPr>
          <p:cNvPr id="5" name="Picture 4">
            <a:extLst>
              <a:ext uri="{FF2B5EF4-FFF2-40B4-BE49-F238E27FC236}">
                <a16:creationId xmlns:a16="http://schemas.microsoft.com/office/drawing/2014/main" id="{DBA1724B-1FB9-9497-C19C-7950C9FFAE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3" name="Content Placeholder 2">
            <a:extLst>
              <a:ext uri="{FF2B5EF4-FFF2-40B4-BE49-F238E27FC236}">
                <a16:creationId xmlns:a16="http://schemas.microsoft.com/office/drawing/2014/main" id="{CECA9C9F-C3B2-55F7-8FC7-29D69603438C}"/>
              </a:ext>
            </a:extLst>
          </p:cNvPr>
          <p:cNvSpPr>
            <a:spLocks noGrp="1"/>
          </p:cNvSpPr>
          <p:nvPr>
            <p:ph idx="1"/>
          </p:nvPr>
        </p:nvSpPr>
        <p:spPr>
          <a:xfrm>
            <a:off x="747936" y="654415"/>
            <a:ext cx="10515600" cy="4351338"/>
          </a:xfrm>
        </p:spPr>
        <p:txBody>
          <a:bodyPr vert="horz" lIns="91440" tIns="45720" rIns="91440" bIns="45720" rtlCol="0" anchor="t">
            <a:noAutofit/>
          </a:bodyPr>
          <a:lstStyle/>
          <a:p>
            <a:pPr>
              <a:spcBef>
                <a:spcPts val="0"/>
              </a:spcBef>
              <a:buNone/>
            </a:pPr>
            <a:r>
              <a:rPr lang="en-GB" sz="1400" b="1" dirty="0">
                <a:solidFill>
                  <a:schemeClr val="accent1"/>
                </a:solidFill>
                <a:ea typeface="+mn-lt"/>
                <a:cs typeface="+mn-lt"/>
              </a:rPr>
              <a:t>1. What is the main function of a bomb calorimeter?</a:t>
            </a:r>
            <a:br>
              <a:rPr lang="en-GB" sz="1400" b="1" dirty="0">
                <a:solidFill>
                  <a:schemeClr val="accent1"/>
                </a:solidFill>
                <a:ea typeface="+mn-lt"/>
                <a:cs typeface="+mn-lt"/>
              </a:rPr>
            </a:br>
            <a:r>
              <a:rPr lang="en-GB" sz="1400" b="1" dirty="0">
                <a:solidFill>
                  <a:schemeClr val="accent1"/>
                </a:solidFill>
                <a:ea typeface="+mn-lt"/>
                <a:cs typeface="+mn-lt"/>
              </a:rPr>
              <a:t> A. Measure fuel density</a:t>
            </a:r>
            <a:br>
              <a:rPr lang="en-GB" sz="1400" b="1" dirty="0">
                <a:solidFill>
                  <a:schemeClr val="accent1"/>
                </a:solidFill>
                <a:ea typeface="+mn-lt"/>
                <a:cs typeface="+mn-lt"/>
              </a:rPr>
            </a:br>
            <a:r>
              <a:rPr lang="en-GB" sz="1400" b="1" dirty="0">
                <a:solidFill>
                  <a:schemeClr val="accent1"/>
                </a:solidFill>
                <a:ea typeface="+mn-lt"/>
                <a:cs typeface="+mn-lt"/>
              </a:rPr>
              <a:t> B. Determine calorific value</a:t>
            </a:r>
            <a:br>
              <a:rPr lang="en-GB" sz="1400" b="1" dirty="0">
                <a:solidFill>
                  <a:schemeClr val="accent1"/>
                </a:solidFill>
                <a:ea typeface="+mn-lt"/>
                <a:cs typeface="+mn-lt"/>
              </a:rPr>
            </a:br>
            <a:r>
              <a:rPr lang="en-GB" sz="1400" b="1" dirty="0">
                <a:solidFill>
                  <a:schemeClr val="accent1"/>
                </a:solidFill>
                <a:ea typeface="+mn-lt"/>
                <a:cs typeface="+mn-lt"/>
              </a:rPr>
              <a:t> C. Test fuel viscosity</a:t>
            </a:r>
            <a:br>
              <a:rPr lang="en-GB" sz="1400" b="1" dirty="0">
                <a:solidFill>
                  <a:schemeClr val="accent1"/>
                </a:solidFill>
                <a:ea typeface="+mn-lt"/>
                <a:cs typeface="+mn-lt"/>
              </a:rPr>
            </a:br>
            <a:r>
              <a:rPr lang="en-GB" sz="1400" b="1" dirty="0">
                <a:solidFill>
                  <a:schemeClr val="accent1"/>
                </a:solidFill>
                <a:ea typeface="+mn-lt"/>
                <a:cs typeface="+mn-lt"/>
              </a:rPr>
              <a:t> D. Measure pH of fuel</a:t>
            </a:r>
            <a:br>
              <a:rPr lang="en-GB" sz="1400" b="1" dirty="0">
                <a:solidFill>
                  <a:schemeClr val="accent1"/>
                </a:solidFill>
                <a:ea typeface="+mn-lt"/>
                <a:cs typeface="+mn-lt"/>
              </a:rPr>
            </a:br>
            <a:r>
              <a:rPr lang="en-GB" sz="1400" b="1" dirty="0">
                <a:solidFill>
                  <a:schemeClr val="accent1"/>
                </a:solidFill>
                <a:ea typeface="+mn-lt"/>
                <a:cs typeface="+mn-lt"/>
              </a:rPr>
              <a:t> ✅ Answer: B</a:t>
            </a:r>
            <a:endParaRPr lang="en-US" sz="1400" dirty="0"/>
          </a:p>
          <a:p>
            <a:pPr>
              <a:spcBef>
                <a:spcPts val="0"/>
              </a:spcBef>
              <a:buNone/>
            </a:pPr>
            <a:r>
              <a:rPr lang="en-GB" sz="1400" b="1" dirty="0">
                <a:solidFill>
                  <a:schemeClr val="accent1"/>
                </a:solidFill>
                <a:ea typeface="+mn-lt"/>
                <a:cs typeface="+mn-lt"/>
              </a:rPr>
              <a:t>2. What surrounds the bomb in a bomb calorimeter?</a:t>
            </a:r>
            <a:br>
              <a:rPr lang="en-GB" sz="1400" b="1" dirty="0">
                <a:solidFill>
                  <a:schemeClr val="accent1"/>
                </a:solidFill>
                <a:ea typeface="+mn-lt"/>
                <a:cs typeface="+mn-lt"/>
              </a:rPr>
            </a:br>
            <a:r>
              <a:rPr lang="en-GB" sz="1400" b="1" dirty="0">
                <a:solidFill>
                  <a:schemeClr val="accent1"/>
                </a:solidFill>
                <a:ea typeface="+mn-lt"/>
                <a:cs typeface="+mn-lt"/>
              </a:rPr>
              <a:t> A. Mercury</a:t>
            </a:r>
            <a:br>
              <a:rPr lang="en-GB" sz="1400" b="1" dirty="0">
                <a:solidFill>
                  <a:schemeClr val="accent1"/>
                </a:solidFill>
                <a:ea typeface="+mn-lt"/>
                <a:cs typeface="+mn-lt"/>
              </a:rPr>
            </a:br>
            <a:r>
              <a:rPr lang="en-GB" sz="1400" b="1" dirty="0">
                <a:solidFill>
                  <a:schemeClr val="accent1"/>
                </a:solidFill>
                <a:ea typeface="+mn-lt"/>
                <a:cs typeface="+mn-lt"/>
              </a:rPr>
              <a:t> B. Alcohol</a:t>
            </a:r>
            <a:br>
              <a:rPr lang="en-GB" sz="1400" b="1" dirty="0">
                <a:solidFill>
                  <a:schemeClr val="accent1"/>
                </a:solidFill>
                <a:ea typeface="+mn-lt"/>
                <a:cs typeface="+mn-lt"/>
              </a:rPr>
            </a:br>
            <a:r>
              <a:rPr lang="en-GB" sz="1400" b="1" dirty="0">
                <a:solidFill>
                  <a:schemeClr val="accent1"/>
                </a:solidFill>
                <a:ea typeface="+mn-lt"/>
                <a:cs typeface="+mn-lt"/>
              </a:rPr>
              <a:t> C. Water</a:t>
            </a:r>
            <a:br>
              <a:rPr lang="en-GB" sz="1400" b="1" dirty="0">
                <a:solidFill>
                  <a:schemeClr val="accent1"/>
                </a:solidFill>
                <a:ea typeface="+mn-lt"/>
                <a:cs typeface="+mn-lt"/>
              </a:rPr>
            </a:br>
            <a:r>
              <a:rPr lang="en-GB" sz="1400" b="1" dirty="0">
                <a:solidFill>
                  <a:schemeClr val="accent1"/>
                </a:solidFill>
                <a:ea typeface="+mn-lt"/>
                <a:cs typeface="+mn-lt"/>
              </a:rPr>
              <a:t> D. Sand</a:t>
            </a:r>
            <a:br>
              <a:rPr lang="en-GB" sz="1400" b="1" dirty="0">
                <a:solidFill>
                  <a:schemeClr val="accent1"/>
                </a:solidFill>
                <a:ea typeface="+mn-lt"/>
                <a:cs typeface="+mn-lt"/>
              </a:rPr>
            </a:br>
            <a:r>
              <a:rPr lang="en-GB" sz="1400" b="1" dirty="0">
                <a:solidFill>
                  <a:schemeClr val="accent1"/>
                </a:solidFill>
                <a:ea typeface="+mn-lt"/>
                <a:cs typeface="+mn-lt"/>
              </a:rPr>
              <a:t> ✅ Answer: C</a:t>
            </a:r>
            <a:endParaRPr lang="en-US" sz="1400" dirty="0"/>
          </a:p>
          <a:p>
            <a:pPr>
              <a:spcBef>
                <a:spcPts val="0"/>
              </a:spcBef>
              <a:buNone/>
            </a:pPr>
            <a:r>
              <a:rPr lang="en-GB" sz="1400" b="1" dirty="0">
                <a:solidFill>
                  <a:schemeClr val="accent1"/>
                </a:solidFill>
                <a:ea typeface="+mn-lt"/>
                <a:cs typeface="+mn-lt"/>
              </a:rPr>
              <a:t>3. What is used to initiate combustion in the bomb calorimeter?</a:t>
            </a:r>
            <a:br>
              <a:rPr lang="en-GB" sz="1400" b="1" dirty="0">
                <a:solidFill>
                  <a:schemeClr val="accent1"/>
                </a:solidFill>
                <a:ea typeface="+mn-lt"/>
                <a:cs typeface="+mn-lt"/>
              </a:rPr>
            </a:br>
            <a:r>
              <a:rPr lang="en-GB" sz="1400" b="1" dirty="0">
                <a:solidFill>
                  <a:schemeClr val="accent1"/>
                </a:solidFill>
                <a:ea typeface="+mn-lt"/>
                <a:cs typeface="+mn-lt"/>
              </a:rPr>
              <a:t> A. Magnesium strip</a:t>
            </a:r>
            <a:br>
              <a:rPr lang="en-GB" sz="1400" b="1" dirty="0">
                <a:solidFill>
                  <a:schemeClr val="accent1"/>
                </a:solidFill>
                <a:ea typeface="+mn-lt"/>
                <a:cs typeface="+mn-lt"/>
              </a:rPr>
            </a:br>
            <a:r>
              <a:rPr lang="en-GB" sz="1400" b="1" dirty="0">
                <a:solidFill>
                  <a:schemeClr val="accent1"/>
                </a:solidFill>
                <a:ea typeface="+mn-lt"/>
                <a:cs typeface="+mn-lt"/>
              </a:rPr>
              <a:t> B. Matchstick</a:t>
            </a:r>
            <a:br>
              <a:rPr lang="en-GB" sz="1400" b="1" dirty="0">
                <a:solidFill>
                  <a:schemeClr val="accent1"/>
                </a:solidFill>
                <a:ea typeface="+mn-lt"/>
                <a:cs typeface="+mn-lt"/>
              </a:rPr>
            </a:br>
            <a:r>
              <a:rPr lang="en-GB" sz="1400" b="1" dirty="0">
                <a:solidFill>
                  <a:schemeClr val="accent1"/>
                </a:solidFill>
                <a:ea typeface="+mn-lt"/>
                <a:cs typeface="+mn-lt"/>
              </a:rPr>
              <a:t> C. Electric ignition wire</a:t>
            </a:r>
            <a:br>
              <a:rPr lang="en-GB" sz="1400" b="1" dirty="0">
                <a:solidFill>
                  <a:schemeClr val="accent1"/>
                </a:solidFill>
                <a:ea typeface="+mn-lt"/>
                <a:cs typeface="+mn-lt"/>
              </a:rPr>
            </a:br>
            <a:r>
              <a:rPr lang="en-GB" sz="1400" b="1" dirty="0">
                <a:solidFill>
                  <a:schemeClr val="accent1"/>
                </a:solidFill>
                <a:ea typeface="+mn-lt"/>
                <a:cs typeface="+mn-lt"/>
              </a:rPr>
              <a:t> D. Laser</a:t>
            </a:r>
            <a:br>
              <a:rPr lang="en-GB" sz="1400" b="1" dirty="0">
                <a:solidFill>
                  <a:schemeClr val="accent1"/>
                </a:solidFill>
                <a:ea typeface="+mn-lt"/>
                <a:cs typeface="+mn-lt"/>
              </a:rPr>
            </a:br>
            <a:r>
              <a:rPr lang="en-GB" sz="1400" b="1" dirty="0">
                <a:solidFill>
                  <a:schemeClr val="accent1"/>
                </a:solidFill>
                <a:ea typeface="+mn-lt"/>
                <a:cs typeface="+mn-lt"/>
              </a:rPr>
              <a:t> ✅ Answer: C</a:t>
            </a:r>
            <a:endParaRPr lang="en-US" sz="1400" dirty="0"/>
          </a:p>
          <a:p>
            <a:pPr>
              <a:spcBef>
                <a:spcPts val="0"/>
              </a:spcBef>
              <a:buNone/>
            </a:pPr>
            <a:r>
              <a:rPr lang="en-GB" sz="1400" b="1" dirty="0">
                <a:solidFill>
                  <a:schemeClr val="accent1"/>
                </a:solidFill>
                <a:ea typeface="+mn-lt"/>
                <a:cs typeface="+mn-lt"/>
              </a:rPr>
              <a:t>4. The calorific value obtained using a bomb calorimeter is usually:</a:t>
            </a:r>
            <a:br>
              <a:rPr lang="en-GB" sz="1400" b="1" dirty="0">
                <a:solidFill>
                  <a:schemeClr val="accent1"/>
                </a:solidFill>
                <a:ea typeface="+mn-lt"/>
                <a:cs typeface="+mn-lt"/>
              </a:rPr>
            </a:br>
            <a:r>
              <a:rPr lang="en-GB" sz="1400" b="1" dirty="0">
                <a:solidFill>
                  <a:schemeClr val="accent1"/>
                </a:solidFill>
                <a:ea typeface="+mn-lt"/>
                <a:cs typeface="+mn-lt"/>
              </a:rPr>
              <a:t> A. LCV (Lower Calorific Value)</a:t>
            </a:r>
            <a:br>
              <a:rPr lang="en-GB" sz="1400" b="1" dirty="0">
                <a:solidFill>
                  <a:schemeClr val="accent1"/>
                </a:solidFill>
                <a:ea typeface="+mn-lt"/>
                <a:cs typeface="+mn-lt"/>
              </a:rPr>
            </a:br>
            <a:r>
              <a:rPr lang="en-GB" sz="1400" b="1" dirty="0">
                <a:solidFill>
                  <a:schemeClr val="accent1"/>
                </a:solidFill>
                <a:ea typeface="+mn-lt"/>
                <a:cs typeface="+mn-lt"/>
              </a:rPr>
              <a:t> B. HCV (Higher Calorific Value)</a:t>
            </a:r>
            <a:br>
              <a:rPr lang="en-GB" sz="1400" b="1" dirty="0">
                <a:solidFill>
                  <a:schemeClr val="accent1"/>
                </a:solidFill>
                <a:ea typeface="+mn-lt"/>
                <a:cs typeface="+mn-lt"/>
              </a:rPr>
            </a:br>
            <a:r>
              <a:rPr lang="en-GB" sz="1400" b="1" dirty="0">
                <a:solidFill>
                  <a:schemeClr val="accent1"/>
                </a:solidFill>
                <a:ea typeface="+mn-lt"/>
                <a:cs typeface="+mn-lt"/>
              </a:rPr>
              <a:t> C. Average Calorific Value</a:t>
            </a:r>
            <a:br>
              <a:rPr lang="en-GB" sz="1400" b="1" dirty="0">
                <a:solidFill>
                  <a:schemeClr val="accent1"/>
                </a:solidFill>
                <a:ea typeface="+mn-lt"/>
                <a:cs typeface="+mn-lt"/>
              </a:rPr>
            </a:br>
            <a:r>
              <a:rPr lang="en-GB" sz="1400" b="1" dirty="0">
                <a:solidFill>
                  <a:schemeClr val="accent1"/>
                </a:solidFill>
                <a:ea typeface="+mn-lt"/>
                <a:cs typeface="+mn-lt"/>
              </a:rPr>
              <a:t> D. Theoretical Calorific Value</a:t>
            </a:r>
            <a:br>
              <a:rPr lang="en-GB" sz="1400" b="1" dirty="0">
                <a:solidFill>
                  <a:schemeClr val="accent1"/>
                </a:solidFill>
                <a:ea typeface="+mn-lt"/>
                <a:cs typeface="+mn-lt"/>
              </a:rPr>
            </a:br>
            <a:r>
              <a:rPr lang="en-GB" sz="1400" b="1" dirty="0">
                <a:solidFill>
                  <a:schemeClr val="accent1"/>
                </a:solidFill>
                <a:ea typeface="+mn-lt"/>
                <a:cs typeface="+mn-lt"/>
              </a:rPr>
              <a:t> ✅ Answer: B</a:t>
            </a:r>
            <a:endParaRPr lang="en-US" sz="1400" dirty="0"/>
          </a:p>
          <a:p>
            <a:pPr>
              <a:spcBef>
                <a:spcPts val="0"/>
              </a:spcBef>
              <a:buNone/>
            </a:pPr>
            <a:r>
              <a:rPr lang="en-GB" sz="1400" b="1" dirty="0">
                <a:solidFill>
                  <a:schemeClr val="accent1"/>
                </a:solidFill>
                <a:ea typeface="+mn-lt"/>
                <a:cs typeface="+mn-lt"/>
              </a:rPr>
              <a:t>5. Why is oxygen used in the bomb calorimeter?</a:t>
            </a:r>
            <a:br>
              <a:rPr lang="en-GB" sz="1400" b="1" dirty="0">
                <a:solidFill>
                  <a:schemeClr val="accent1"/>
                </a:solidFill>
                <a:ea typeface="+mn-lt"/>
                <a:cs typeface="+mn-lt"/>
              </a:rPr>
            </a:br>
            <a:r>
              <a:rPr lang="en-GB" sz="1400" b="1" dirty="0">
                <a:solidFill>
                  <a:schemeClr val="accent1"/>
                </a:solidFill>
                <a:ea typeface="+mn-lt"/>
                <a:cs typeface="+mn-lt"/>
              </a:rPr>
              <a:t> A. To maintain pressure</a:t>
            </a:r>
            <a:br>
              <a:rPr lang="en-GB" sz="1400" b="1" dirty="0">
                <a:solidFill>
                  <a:schemeClr val="accent1"/>
                </a:solidFill>
                <a:ea typeface="+mn-lt"/>
                <a:cs typeface="+mn-lt"/>
              </a:rPr>
            </a:br>
            <a:r>
              <a:rPr lang="en-GB" sz="1400" b="1" dirty="0">
                <a:solidFill>
                  <a:schemeClr val="accent1"/>
                </a:solidFill>
                <a:ea typeface="+mn-lt"/>
                <a:cs typeface="+mn-lt"/>
              </a:rPr>
              <a:t> B. To prevent rusting</a:t>
            </a:r>
            <a:br>
              <a:rPr lang="en-GB" sz="1400" b="1" dirty="0">
                <a:solidFill>
                  <a:schemeClr val="accent1"/>
                </a:solidFill>
                <a:ea typeface="+mn-lt"/>
                <a:cs typeface="+mn-lt"/>
              </a:rPr>
            </a:br>
            <a:r>
              <a:rPr lang="en-GB" sz="1400" b="1" dirty="0">
                <a:solidFill>
                  <a:schemeClr val="accent1"/>
                </a:solidFill>
                <a:ea typeface="+mn-lt"/>
                <a:cs typeface="+mn-lt"/>
              </a:rPr>
              <a:t> C. To ensure complete combustion</a:t>
            </a:r>
            <a:br>
              <a:rPr lang="en-GB" sz="1400" b="1" dirty="0">
                <a:solidFill>
                  <a:schemeClr val="accent1"/>
                </a:solidFill>
                <a:ea typeface="+mn-lt"/>
                <a:cs typeface="+mn-lt"/>
              </a:rPr>
            </a:br>
            <a:r>
              <a:rPr lang="en-GB" sz="1400" b="1" dirty="0">
                <a:solidFill>
                  <a:schemeClr val="accent1"/>
                </a:solidFill>
                <a:ea typeface="+mn-lt"/>
                <a:cs typeface="+mn-lt"/>
              </a:rPr>
              <a:t> D. To cool the system</a:t>
            </a:r>
            <a:br>
              <a:rPr lang="en-GB" sz="1400" b="1" dirty="0">
                <a:solidFill>
                  <a:schemeClr val="accent1"/>
                </a:solidFill>
                <a:ea typeface="+mn-lt"/>
                <a:cs typeface="+mn-lt"/>
              </a:rPr>
            </a:br>
            <a:r>
              <a:rPr lang="en-GB" sz="1400" b="1" dirty="0">
                <a:solidFill>
                  <a:schemeClr val="accent1"/>
                </a:solidFill>
                <a:ea typeface="+mn-lt"/>
                <a:cs typeface="+mn-lt"/>
              </a:rPr>
              <a:t> ✅ Answer: C</a:t>
            </a:r>
            <a:endParaRPr lang="en-GB" sz="1400" dirty="0">
              <a:solidFill>
                <a:schemeClr val="accent1"/>
              </a:solidFill>
              <a:ea typeface="+mn-lt"/>
              <a:cs typeface="+mn-lt"/>
            </a:endParaRPr>
          </a:p>
          <a:p>
            <a:pPr>
              <a:buNone/>
            </a:pPr>
            <a:endParaRPr lang="en-GB" sz="700" b="1" dirty="0">
              <a:solidFill>
                <a:schemeClr val="accent1"/>
              </a:solidFill>
            </a:endParaRPr>
          </a:p>
        </p:txBody>
      </p:sp>
      <p:sp>
        <p:nvSpPr>
          <p:cNvPr id="7" name="TextBox 6">
            <a:extLst>
              <a:ext uri="{FF2B5EF4-FFF2-40B4-BE49-F238E27FC236}">
                <a16:creationId xmlns:a16="http://schemas.microsoft.com/office/drawing/2014/main" id="{B7419A58-A422-BCBB-DF1C-C38F38D046BA}"/>
              </a:ext>
            </a:extLst>
          </p:cNvPr>
          <p:cNvSpPr txBox="1"/>
          <p:nvPr/>
        </p:nvSpPr>
        <p:spPr>
          <a:xfrm>
            <a:off x="0" y="131195"/>
            <a:ext cx="12192000" cy="523220"/>
          </a:xfrm>
          <a:prstGeom prst="rect">
            <a:avLst/>
          </a:prstGeom>
          <a:noFill/>
        </p:spPr>
        <p:txBody>
          <a:bodyPr wrap="square">
            <a:spAutoFit/>
          </a:bodyPr>
          <a:lstStyle/>
          <a:p>
            <a:pPr algn="ctr"/>
            <a:r>
              <a:rPr lang="en-GB" sz="2800" b="1" dirty="0"/>
              <a:t>Questions</a:t>
            </a:r>
            <a:endParaRPr lang="en-IN" sz="2800" dirty="0"/>
          </a:p>
        </p:txBody>
      </p:sp>
    </p:spTree>
    <p:extLst>
      <p:ext uri="{BB962C8B-B14F-4D97-AF65-F5344CB8AC3E}">
        <p14:creationId xmlns:p14="http://schemas.microsoft.com/office/powerpoint/2010/main" val="2430529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4611" y="376489"/>
            <a:ext cx="10515600" cy="1325563"/>
          </a:xfrm>
        </p:spPr>
        <p:txBody>
          <a:bodyPr/>
          <a:lstStyle/>
          <a:p>
            <a:r>
              <a:rPr b="1" dirty="0">
                <a:solidFill>
                  <a:schemeClr val="accent5"/>
                </a:solidFill>
              </a:rPr>
              <a:t>Learning Outcomes</a:t>
            </a:r>
          </a:p>
        </p:txBody>
      </p:sp>
      <p:sp>
        <p:nvSpPr>
          <p:cNvPr id="3" name="Content Placeholder 2"/>
          <p:cNvSpPr>
            <a:spLocks noGrp="1"/>
          </p:cNvSpPr>
          <p:nvPr>
            <p:ph idx="1"/>
          </p:nvPr>
        </p:nvSpPr>
        <p:spPr>
          <a:xfrm>
            <a:off x="994611" y="1916113"/>
            <a:ext cx="10515599" cy="4351338"/>
          </a:xfrm>
        </p:spPr>
        <p:txBody>
          <a:bodyPr>
            <a:normAutofit/>
          </a:bodyPr>
          <a:lstStyle/>
          <a:p>
            <a:pPr marL="0" indent="0">
              <a:buNone/>
            </a:pPr>
            <a:endParaRPr lang="en-IN" dirty="0"/>
          </a:p>
          <a:p>
            <a:endParaRPr lang="en-GB" dirty="0"/>
          </a:p>
          <a:p>
            <a:endParaRPr lang="en-GB" dirty="0"/>
          </a:p>
          <a:p>
            <a:pPr marL="0" indent="0">
              <a:buNone/>
            </a:pPr>
            <a:endParaRPr lang="en-GB" sz="2400" dirty="0"/>
          </a:p>
          <a:p>
            <a:pPr marL="0" indent="0">
              <a:buNone/>
            </a:pPr>
            <a:endParaRPr lang="en-GB" sz="2400" dirty="0"/>
          </a:p>
          <a:p>
            <a:pPr marL="0" indent="0">
              <a:buNone/>
            </a:pPr>
            <a:r>
              <a:rPr lang="en-GB" sz="2400" dirty="0"/>
              <a:t>CO1: </a:t>
            </a:r>
            <a:r>
              <a:rPr lang="en-US" sz="2400" dirty="0"/>
              <a:t>Understand the methods for water hardness and the basics of boiler water treatment and analyze fuel calorific values and battery.</a:t>
            </a:r>
          </a:p>
          <a:p>
            <a:pPr marL="0" indent="0">
              <a:buNone/>
            </a:pPr>
            <a:r>
              <a:rPr lang="en-GB" sz="2400" dirty="0"/>
              <a:t>CO2: </a:t>
            </a:r>
            <a:r>
              <a:rPr lang="en-US" sz="2400" dirty="0"/>
              <a:t>Explain the characteristics and working principles of different battery types and types of fuels.</a:t>
            </a:r>
            <a:endParaRPr lang="en-GB" sz="2400" dirty="0"/>
          </a:p>
          <a:p>
            <a:endParaRPr lang="en-IN" dirty="0"/>
          </a:p>
        </p:txBody>
      </p:sp>
      <p:sp>
        <p:nvSpPr>
          <p:cNvPr id="4" name="Title 1">
            <a:extLst>
              <a:ext uri="{FF2B5EF4-FFF2-40B4-BE49-F238E27FC236}">
                <a16:creationId xmlns:a16="http://schemas.microsoft.com/office/drawing/2014/main" id="{7C263E1C-814B-1AF4-B7F4-B4AEB0945408}"/>
              </a:ext>
            </a:extLst>
          </p:cNvPr>
          <p:cNvSpPr txBox="1">
            <a:spLocks/>
          </p:cNvSpPr>
          <p:nvPr/>
        </p:nvSpPr>
        <p:spPr>
          <a:xfrm>
            <a:off x="805113" y="3192323"/>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chemeClr val="accent5"/>
                </a:solidFill>
              </a:rPr>
              <a:t>Mapped Course Outcomes</a:t>
            </a:r>
          </a:p>
        </p:txBody>
      </p:sp>
      <p:grpSp>
        <p:nvGrpSpPr>
          <p:cNvPr id="5" name="Group 4">
            <a:extLst>
              <a:ext uri="{FF2B5EF4-FFF2-40B4-BE49-F238E27FC236}">
                <a16:creationId xmlns:a16="http://schemas.microsoft.com/office/drawing/2014/main" id="{7DA9837B-9412-6B18-7838-57D35A21EE76}"/>
              </a:ext>
            </a:extLst>
          </p:cNvPr>
          <p:cNvGrpSpPr/>
          <p:nvPr/>
        </p:nvGrpSpPr>
        <p:grpSpPr>
          <a:xfrm>
            <a:off x="1508787" y="0"/>
            <a:ext cx="9159213" cy="304800"/>
            <a:chOff x="1143000" y="857250"/>
            <a:chExt cx="6858000" cy="162000"/>
          </a:xfrm>
        </p:grpSpPr>
        <p:sp>
          <p:nvSpPr>
            <p:cNvPr id="6" name="Rectangle 5">
              <a:extLst>
                <a:ext uri="{FF2B5EF4-FFF2-40B4-BE49-F238E27FC236}">
                  <a16:creationId xmlns:a16="http://schemas.microsoft.com/office/drawing/2014/main" id="{F5ADEBA5-6E72-EC44-A640-AF97D4E5D792}"/>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7" name="Rectangle 6">
              <a:extLst>
                <a:ext uri="{FF2B5EF4-FFF2-40B4-BE49-F238E27FC236}">
                  <a16:creationId xmlns:a16="http://schemas.microsoft.com/office/drawing/2014/main" id="{DAAF2560-0AE3-44D1-B205-AC7E71FDD893}"/>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pSp>
        <p:nvGrpSpPr>
          <p:cNvPr id="8" name="Group 7">
            <a:extLst>
              <a:ext uri="{FF2B5EF4-FFF2-40B4-BE49-F238E27FC236}">
                <a16:creationId xmlns:a16="http://schemas.microsoft.com/office/drawing/2014/main" id="{F979D6B0-FFC6-A9D2-8A81-FD5DC1E6D76D}"/>
              </a:ext>
            </a:extLst>
          </p:cNvPr>
          <p:cNvGrpSpPr/>
          <p:nvPr/>
        </p:nvGrpSpPr>
        <p:grpSpPr>
          <a:xfrm>
            <a:off x="1515251" y="6553200"/>
            <a:ext cx="9159213" cy="304800"/>
            <a:chOff x="1143000" y="857250"/>
            <a:chExt cx="6858000" cy="162000"/>
          </a:xfrm>
        </p:grpSpPr>
        <p:sp>
          <p:nvSpPr>
            <p:cNvPr id="9" name="Rectangle 8">
              <a:extLst>
                <a:ext uri="{FF2B5EF4-FFF2-40B4-BE49-F238E27FC236}">
                  <a16:creationId xmlns:a16="http://schemas.microsoft.com/office/drawing/2014/main" id="{AA02959D-38B4-7D26-CC3F-BF4AD360344F}"/>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10" name="Rectangle 9">
              <a:extLst>
                <a:ext uri="{FF2B5EF4-FFF2-40B4-BE49-F238E27FC236}">
                  <a16:creationId xmlns:a16="http://schemas.microsoft.com/office/drawing/2014/main" id="{44C0538D-9319-C1E8-73C9-9C6981649CE6}"/>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
        <p:nvSpPr>
          <p:cNvPr id="13" name="Rectangle 3">
            <a:extLst>
              <a:ext uri="{FF2B5EF4-FFF2-40B4-BE49-F238E27FC236}">
                <a16:creationId xmlns:a16="http://schemas.microsoft.com/office/drawing/2014/main" id="{EC4DEF99-1714-B21A-673C-620C1AED7A63}"/>
              </a:ext>
            </a:extLst>
          </p:cNvPr>
          <p:cNvSpPr>
            <a:spLocks noChangeArrowheads="1"/>
          </p:cNvSpPr>
          <p:nvPr/>
        </p:nvSpPr>
        <p:spPr bwMode="auto">
          <a:xfrm>
            <a:off x="994611" y="1630364"/>
            <a:ext cx="933204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BTL-1</a:t>
            </a:r>
            <a:r>
              <a:rPr kumimoji="0" lang="en-US" altLang="en-US" sz="2400" b="0" i="0" u="none" strike="noStrike" cap="none" normalizeH="0" baseline="0" dirty="0">
                <a:ln>
                  <a:noFill/>
                </a:ln>
                <a:solidFill>
                  <a:schemeClr val="tx1"/>
                </a:solidFill>
                <a:effectLst/>
                <a:latin typeface="Arial" panose="020B0604020202020204" pitchFamily="34" charset="0"/>
              </a:rPr>
              <a:t>: Recall definitions and types of fuels (CO2)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BTL-2</a:t>
            </a:r>
            <a:r>
              <a:rPr kumimoji="0" lang="en-US" altLang="en-US" sz="2400" b="0" i="0" u="none" strike="noStrike" cap="none" normalizeH="0" baseline="0" dirty="0">
                <a:ln>
                  <a:noFill/>
                </a:ln>
                <a:solidFill>
                  <a:schemeClr val="tx1"/>
                </a:solidFill>
                <a:effectLst/>
                <a:latin typeface="Arial" panose="020B0604020202020204" pitchFamily="34" charset="0"/>
              </a:rPr>
              <a:t>: Explain characteristics of solid, liquid, and gaseous fuels;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define calorific value (CO1, CO2)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BTL-3</a:t>
            </a:r>
            <a:r>
              <a:rPr kumimoji="0" lang="en-US" altLang="en-US" sz="2400" b="0" i="0" u="none" strike="noStrike" cap="none" normalizeH="0" baseline="0" dirty="0">
                <a:ln>
                  <a:noFill/>
                </a:ln>
                <a:solidFill>
                  <a:schemeClr val="tx1"/>
                </a:solidFill>
                <a:effectLst/>
                <a:latin typeface="Arial" panose="020B0604020202020204" pitchFamily="34" charset="0"/>
              </a:rPr>
              <a:t>: Apply knowledge to identify ideal fuels and solve questions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related to fuel properties (CO1, CO2)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CB075-EB89-2E88-AF05-0A0D70FFA2BB}"/>
              </a:ext>
            </a:extLst>
          </p:cNvPr>
          <p:cNvSpPr>
            <a:spLocks noGrp="1"/>
          </p:cNvSpPr>
          <p:nvPr>
            <p:ph type="title"/>
          </p:nvPr>
        </p:nvSpPr>
        <p:spPr/>
        <p:txBody>
          <a:bodyPr/>
          <a:lstStyle/>
          <a:p>
            <a:r>
              <a:rPr lang="en-GB" b="1" dirty="0">
                <a:solidFill>
                  <a:schemeClr val="accent5"/>
                </a:solidFill>
              </a:rPr>
              <a:t>References</a:t>
            </a:r>
            <a:endParaRPr lang="en-IN" b="1" dirty="0">
              <a:solidFill>
                <a:schemeClr val="accent5"/>
              </a:solidFill>
            </a:endParaRPr>
          </a:p>
        </p:txBody>
      </p:sp>
      <p:sp>
        <p:nvSpPr>
          <p:cNvPr id="3" name="Content Placeholder 2">
            <a:extLst>
              <a:ext uri="{FF2B5EF4-FFF2-40B4-BE49-F238E27FC236}">
                <a16:creationId xmlns:a16="http://schemas.microsoft.com/office/drawing/2014/main" id="{665745FD-DF0D-8F43-EA79-B945895DD50A}"/>
              </a:ext>
            </a:extLst>
          </p:cNvPr>
          <p:cNvSpPr>
            <a:spLocks noGrp="1"/>
          </p:cNvSpPr>
          <p:nvPr>
            <p:ph idx="1"/>
          </p:nvPr>
        </p:nvSpPr>
        <p:spPr/>
        <p:txBody>
          <a:bodyPr/>
          <a:lstStyle/>
          <a:p>
            <a:r>
              <a:rPr lang="en-US" dirty="0"/>
              <a:t>Engineering Chemistry by Jain and Jain.</a:t>
            </a:r>
            <a:endParaRPr lang="en-IN" dirty="0"/>
          </a:p>
        </p:txBody>
      </p:sp>
      <p:grpSp>
        <p:nvGrpSpPr>
          <p:cNvPr id="4" name="Group 3">
            <a:extLst>
              <a:ext uri="{FF2B5EF4-FFF2-40B4-BE49-F238E27FC236}">
                <a16:creationId xmlns:a16="http://schemas.microsoft.com/office/drawing/2014/main" id="{2764DCA4-FD37-C2FC-1119-5C45808EF00B}"/>
              </a:ext>
            </a:extLst>
          </p:cNvPr>
          <p:cNvGrpSpPr/>
          <p:nvPr/>
        </p:nvGrpSpPr>
        <p:grpSpPr>
          <a:xfrm>
            <a:off x="1508787" y="0"/>
            <a:ext cx="9159213" cy="304800"/>
            <a:chOff x="1143000" y="857250"/>
            <a:chExt cx="6858000" cy="162000"/>
          </a:xfrm>
        </p:grpSpPr>
        <p:sp>
          <p:nvSpPr>
            <p:cNvPr id="5" name="Rectangle 4">
              <a:extLst>
                <a:ext uri="{FF2B5EF4-FFF2-40B4-BE49-F238E27FC236}">
                  <a16:creationId xmlns:a16="http://schemas.microsoft.com/office/drawing/2014/main" id="{FBA3CB68-5CE5-9A1C-A405-2895508686B4}"/>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6" name="Rectangle 5">
              <a:extLst>
                <a:ext uri="{FF2B5EF4-FFF2-40B4-BE49-F238E27FC236}">
                  <a16:creationId xmlns:a16="http://schemas.microsoft.com/office/drawing/2014/main" id="{B0766F54-A2AC-8A36-FCBA-75783A459621}"/>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pSp>
        <p:nvGrpSpPr>
          <p:cNvPr id="7" name="Group 6">
            <a:extLst>
              <a:ext uri="{FF2B5EF4-FFF2-40B4-BE49-F238E27FC236}">
                <a16:creationId xmlns:a16="http://schemas.microsoft.com/office/drawing/2014/main" id="{A93BA160-06B8-4131-B8B4-9311BD5B3757}"/>
              </a:ext>
            </a:extLst>
          </p:cNvPr>
          <p:cNvGrpSpPr/>
          <p:nvPr/>
        </p:nvGrpSpPr>
        <p:grpSpPr>
          <a:xfrm>
            <a:off x="1515251" y="6553200"/>
            <a:ext cx="9159213" cy="304800"/>
            <a:chOff x="1143000" y="857250"/>
            <a:chExt cx="6858000" cy="162000"/>
          </a:xfrm>
        </p:grpSpPr>
        <p:sp>
          <p:nvSpPr>
            <p:cNvPr id="8" name="Rectangle 7">
              <a:extLst>
                <a:ext uri="{FF2B5EF4-FFF2-40B4-BE49-F238E27FC236}">
                  <a16:creationId xmlns:a16="http://schemas.microsoft.com/office/drawing/2014/main" id="{164D3B3F-BF91-7EBC-2133-14B8E92D23CF}"/>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9" name="Rectangle 8">
              <a:extLst>
                <a:ext uri="{FF2B5EF4-FFF2-40B4-BE49-F238E27FC236}">
                  <a16:creationId xmlns:a16="http://schemas.microsoft.com/office/drawing/2014/main" id="{3FC7CBCB-34DC-95E3-9429-D8AF1AEA67E4}"/>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Tree>
    <p:extLst>
      <p:ext uri="{BB962C8B-B14F-4D97-AF65-F5344CB8AC3E}">
        <p14:creationId xmlns:p14="http://schemas.microsoft.com/office/powerpoint/2010/main" val="3995075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1710</Words>
  <Application>Microsoft Office PowerPoint</Application>
  <PresentationFormat>Widescreen</PresentationFormat>
  <Paragraphs>124</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Course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Determination of calorific value of fuel using Bomb calorimeter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Take away of the session</vt:lpstr>
      <vt:lpstr>PowerPoint Presentation</vt:lpstr>
      <vt:lpstr>Learning Outcomes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pratibha.s</dc:creator>
  <cp:lastModifiedBy>Dr. Mehak Ahuja</cp:lastModifiedBy>
  <cp:revision>14</cp:revision>
  <dcterms:created xsi:type="dcterms:W3CDTF">2024-10-29T10:01:38Z</dcterms:created>
  <dcterms:modified xsi:type="dcterms:W3CDTF">2025-10-27T04:24:06Z</dcterms:modified>
</cp:coreProperties>
</file>