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0"/>
  </p:notesMasterIdLst>
  <p:sldIdLst>
    <p:sldId id="575" r:id="rId2"/>
    <p:sldId id="565" r:id="rId3"/>
    <p:sldId id="576" r:id="rId4"/>
    <p:sldId id="535" r:id="rId5"/>
    <p:sldId id="525" r:id="rId6"/>
    <p:sldId id="593" r:id="rId7"/>
    <p:sldId id="528" r:id="rId8"/>
    <p:sldId id="529" r:id="rId9"/>
    <p:sldId id="589" r:id="rId10"/>
    <p:sldId id="594" r:id="rId11"/>
    <p:sldId id="530" r:id="rId12"/>
    <p:sldId id="506" r:id="rId13"/>
    <p:sldId id="502" r:id="rId14"/>
    <p:sldId id="595" r:id="rId15"/>
    <p:sldId id="596" r:id="rId16"/>
    <p:sldId id="531" r:id="rId17"/>
    <p:sldId id="597" r:id="rId18"/>
    <p:sldId id="598" r:id="rId19"/>
    <p:sldId id="532" r:id="rId20"/>
    <p:sldId id="533" r:id="rId21"/>
    <p:sldId id="534" r:id="rId22"/>
    <p:sldId id="500" r:id="rId23"/>
    <p:sldId id="590" r:id="rId24"/>
    <p:sldId id="591" r:id="rId25"/>
    <p:sldId id="572" r:id="rId26"/>
    <p:sldId id="573" r:id="rId27"/>
    <p:sldId id="285" r:id="rId28"/>
    <p:sldId id="588" r:id="rId2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9" d="100"/>
          <a:sy n="99" d="100"/>
        </p:scale>
        <p:origin x="108" y="2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8" Type="http://schemas.openxmlformats.org/officeDocument/2006/relationships/slide" Target="slides/slide7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svg"/><Relationship Id="rId1" Type="http://schemas.openxmlformats.org/officeDocument/2006/relationships/image" Target="../media/image5.png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4" Type="http://schemas.openxmlformats.org/officeDocument/2006/relationships/image" Target="../media/image8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svg"/><Relationship Id="rId1" Type="http://schemas.openxmlformats.org/officeDocument/2006/relationships/image" Target="../media/image5.png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4" Type="http://schemas.openxmlformats.org/officeDocument/2006/relationships/image" Target="../media/image8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8197D1C-C8C7-4B7D-A14A-F8DDC3A6DCEA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1E7A032A-16F1-46AF-8B22-86037CEB9DA0}">
      <dgm:prSet/>
      <dgm:spPr/>
      <dgm:t>
        <a:bodyPr/>
        <a:lstStyle/>
        <a:p>
          <a:pPr>
            <a:lnSpc>
              <a:spcPct val="100000"/>
            </a:lnSpc>
          </a:pPr>
          <a:r>
            <a:rPr lang="en-IN" b="1" dirty="0"/>
            <a:t>CO1: </a:t>
          </a:r>
          <a:r>
            <a:rPr lang="en-US" b="1" dirty="0"/>
            <a:t>Understand</a:t>
          </a:r>
          <a:r>
            <a:rPr lang="en-US" dirty="0"/>
            <a:t> the methods for water hardness and the basics of boiler water treatment and analyze fuel calorific values and battery.</a:t>
          </a:r>
        </a:p>
      </dgm:t>
    </dgm:pt>
    <dgm:pt modelId="{F86E09F7-486D-4BEF-A923-F14FEC225C64}" type="parTrans" cxnId="{3320C3F2-A6CD-41CE-AF17-60423ED069A6}">
      <dgm:prSet/>
      <dgm:spPr/>
      <dgm:t>
        <a:bodyPr/>
        <a:lstStyle/>
        <a:p>
          <a:endParaRPr lang="en-US"/>
        </a:p>
      </dgm:t>
    </dgm:pt>
    <dgm:pt modelId="{3FC4EF5E-B808-440A-9E2C-4F7831C8CE8C}" type="sibTrans" cxnId="{3320C3F2-A6CD-41CE-AF17-60423ED069A6}">
      <dgm:prSet/>
      <dgm:spPr/>
      <dgm:t>
        <a:bodyPr/>
        <a:lstStyle/>
        <a:p>
          <a:endParaRPr lang="en-US"/>
        </a:p>
      </dgm:t>
    </dgm:pt>
    <dgm:pt modelId="{0B198A1D-F0DF-4034-A8BC-B066E7FF3EDB}">
      <dgm:prSet/>
      <dgm:spPr/>
      <dgm:t>
        <a:bodyPr/>
        <a:lstStyle/>
        <a:p>
          <a:pPr>
            <a:lnSpc>
              <a:spcPct val="100000"/>
            </a:lnSpc>
          </a:pPr>
          <a:r>
            <a:rPr lang="en-IN" b="1" dirty="0"/>
            <a:t>CO2: </a:t>
          </a:r>
          <a:r>
            <a:rPr lang="en-US" b="1" dirty="0"/>
            <a:t>Explain</a:t>
          </a:r>
          <a:r>
            <a:rPr lang="en-US" dirty="0"/>
            <a:t> the characteristics and working principles of different battery types and types of fuels. </a:t>
          </a:r>
          <a:endParaRPr lang="en-IN" dirty="0"/>
        </a:p>
      </dgm:t>
    </dgm:pt>
    <dgm:pt modelId="{134E97FE-7EA1-4ADC-83A6-E3D5A6596EBE}" type="parTrans" cxnId="{3D6D94CC-9AFE-4BCD-A5DC-7F3DCEE6B33F}">
      <dgm:prSet/>
      <dgm:spPr/>
      <dgm:t>
        <a:bodyPr/>
        <a:lstStyle/>
        <a:p>
          <a:endParaRPr lang="en-IN"/>
        </a:p>
      </dgm:t>
    </dgm:pt>
    <dgm:pt modelId="{04E66C80-9E50-4D38-B67A-F4FA2D865CE3}" type="sibTrans" cxnId="{3D6D94CC-9AFE-4BCD-A5DC-7F3DCEE6B33F}">
      <dgm:prSet/>
      <dgm:spPr/>
      <dgm:t>
        <a:bodyPr/>
        <a:lstStyle/>
        <a:p>
          <a:endParaRPr lang="en-IN"/>
        </a:p>
      </dgm:t>
    </dgm:pt>
    <dgm:pt modelId="{EEB38B72-A912-468A-BFC3-8EE4A0CB542B}">
      <dgm:prSet/>
      <dgm:spPr/>
      <dgm:t>
        <a:bodyPr/>
        <a:lstStyle/>
        <a:p>
          <a:pPr>
            <a:lnSpc>
              <a:spcPct val="100000"/>
            </a:lnSpc>
          </a:pPr>
          <a:r>
            <a:rPr lang="en-IN" b="1" dirty="0"/>
            <a:t>CO3: </a:t>
          </a:r>
          <a:r>
            <a:rPr lang="en-US" b="1" dirty="0"/>
            <a:t>Determine</a:t>
          </a:r>
          <a:r>
            <a:rPr lang="en-US" dirty="0"/>
            <a:t> the differences between batteries and fuel cells and classify fuel cell types based on their components.</a:t>
          </a:r>
          <a:r>
            <a:rPr lang="en-IN" dirty="0"/>
            <a:t>. </a:t>
          </a:r>
        </a:p>
      </dgm:t>
    </dgm:pt>
    <dgm:pt modelId="{740ADBB8-CDAC-40D3-99FE-E2752AA6F6F5}" type="parTrans" cxnId="{5AC764CA-156A-405F-A245-8AE6D91B80B0}">
      <dgm:prSet/>
      <dgm:spPr/>
      <dgm:t>
        <a:bodyPr/>
        <a:lstStyle/>
        <a:p>
          <a:endParaRPr lang="en-IN"/>
        </a:p>
      </dgm:t>
    </dgm:pt>
    <dgm:pt modelId="{B2634535-4686-436F-A9EC-5C2A6D4668CD}" type="sibTrans" cxnId="{5AC764CA-156A-405F-A245-8AE6D91B80B0}">
      <dgm:prSet/>
      <dgm:spPr/>
      <dgm:t>
        <a:bodyPr/>
        <a:lstStyle/>
        <a:p>
          <a:endParaRPr lang="en-IN"/>
        </a:p>
      </dgm:t>
    </dgm:pt>
    <dgm:pt modelId="{862F3A91-D739-459C-AA59-ACC91F401002}">
      <dgm:prSet/>
      <dgm:spPr/>
      <dgm:t>
        <a:bodyPr/>
        <a:lstStyle/>
        <a:p>
          <a:pPr>
            <a:lnSpc>
              <a:spcPct val="100000"/>
            </a:lnSpc>
          </a:pPr>
          <a:r>
            <a:rPr lang="en-IN" b="1" dirty="0"/>
            <a:t>CO4: </a:t>
          </a:r>
          <a:r>
            <a:rPr lang="en-US" b="1" dirty="0"/>
            <a:t>Identify</a:t>
          </a:r>
          <a:r>
            <a:rPr lang="en-US" dirty="0"/>
            <a:t> between hard and soft water, solve the related numerical problems on water purification and emf and its significance in industry and daily life.</a:t>
          </a:r>
          <a:endParaRPr lang="en-IN" dirty="0"/>
        </a:p>
      </dgm:t>
    </dgm:pt>
    <dgm:pt modelId="{921011F5-0208-4207-BF03-301150786E64}" type="parTrans" cxnId="{3D8F8866-8328-49C1-81AE-8F591F259B99}">
      <dgm:prSet/>
      <dgm:spPr/>
      <dgm:t>
        <a:bodyPr/>
        <a:lstStyle/>
        <a:p>
          <a:endParaRPr lang="en-IN"/>
        </a:p>
      </dgm:t>
    </dgm:pt>
    <dgm:pt modelId="{831DC015-3E12-4E16-A5EC-98A7F0C54591}" type="sibTrans" cxnId="{3D8F8866-8328-49C1-81AE-8F591F259B99}">
      <dgm:prSet/>
      <dgm:spPr/>
      <dgm:t>
        <a:bodyPr/>
        <a:lstStyle/>
        <a:p>
          <a:endParaRPr lang="en-IN"/>
        </a:p>
      </dgm:t>
    </dgm:pt>
    <dgm:pt modelId="{2536D237-47EA-4B37-A454-BB90BD199B6A}" type="pres">
      <dgm:prSet presAssocID="{98197D1C-C8C7-4B7D-A14A-F8DDC3A6DCEA}" presName="root" presStyleCnt="0">
        <dgm:presLayoutVars>
          <dgm:dir/>
          <dgm:resizeHandles val="exact"/>
        </dgm:presLayoutVars>
      </dgm:prSet>
      <dgm:spPr/>
    </dgm:pt>
    <dgm:pt modelId="{379558B8-FE68-46C2-8D91-F37CFA5AF511}" type="pres">
      <dgm:prSet presAssocID="{1E7A032A-16F1-46AF-8B22-86037CEB9DA0}" presName="compNode" presStyleCnt="0"/>
      <dgm:spPr/>
    </dgm:pt>
    <dgm:pt modelId="{F41D418F-7B3C-47CC-81B2-AE3147FC537D}" type="pres">
      <dgm:prSet presAssocID="{1E7A032A-16F1-46AF-8B22-86037CEB9DA0}" presName="bgRect" presStyleLbl="bgShp" presStyleIdx="0" presStyleCnt="4"/>
      <dgm:spPr/>
    </dgm:pt>
    <dgm:pt modelId="{8CBEF6DD-AA1D-47DF-9638-57CD9E704645}" type="pres">
      <dgm:prSet presAssocID="{1E7A032A-16F1-46AF-8B22-86037CEB9DA0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icroscope"/>
        </a:ext>
      </dgm:extLst>
    </dgm:pt>
    <dgm:pt modelId="{D399F639-EE39-4BCB-8E7E-86EA8EBD54FF}" type="pres">
      <dgm:prSet presAssocID="{1E7A032A-16F1-46AF-8B22-86037CEB9DA0}" presName="spaceRect" presStyleCnt="0"/>
      <dgm:spPr/>
    </dgm:pt>
    <dgm:pt modelId="{C859899F-9E11-47BC-ABD7-B1ADA39E6E4E}" type="pres">
      <dgm:prSet presAssocID="{1E7A032A-16F1-46AF-8B22-86037CEB9DA0}" presName="parTx" presStyleLbl="revTx" presStyleIdx="0" presStyleCnt="4">
        <dgm:presLayoutVars>
          <dgm:chMax val="0"/>
          <dgm:chPref val="0"/>
        </dgm:presLayoutVars>
      </dgm:prSet>
      <dgm:spPr/>
    </dgm:pt>
    <dgm:pt modelId="{90216848-D318-4661-B39E-EF10D6A71FA1}" type="pres">
      <dgm:prSet presAssocID="{3FC4EF5E-B808-440A-9E2C-4F7831C8CE8C}" presName="sibTrans" presStyleCnt="0"/>
      <dgm:spPr/>
    </dgm:pt>
    <dgm:pt modelId="{F95D8AB0-6A9B-485A-BDE4-E4A68A9A505E}" type="pres">
      <dgm:prSet presAssocID="{0B198A1D-F0DF-4034-A8BC-B066E7FF3EDB}" presName="compNode" presStyleCnt="0"/>
      <dgm:spPr/>
    </dgm:pt>
    <dgm:pt modelId="{C012FC80-3824-4EFE-9F5A-114D1483AA54}" type="pres">
      <dgm:prSet presAssocID="{0B198A1D-F0DF-4034-A8BC-B066E7FF3EDB}" presName="bgRect" presStyleLbl="bgShp" presStyleIdx="1" presStyleCnt="4"/>
      <dgm:spPr/>
    </dgm:pt>
    <dgm:pt modelId="{B4D3A1C4-4BA4-4014-841A-6B71C45548B0}" type="pres">
      <dgm:prSet presAssocID="{0B198A1D-F0DF-4034-A8BC-B066E7FF3EDB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cientist"/>
        </a:ext>
      </dgm:extLst>
    </dgm:pt>
    <dgm:pt modelId="{7EBC6868-9C28-4991-8CF1-9D70A6D813FC}" type="pres">
      <dgm:prSet presAssocID="{0B198A1D-F0DF-4034-A8BC-B066E7FF3EDB}" presName="spaceRect" presStyleCnt="0"/>
      <dgm:spPr/>
    </dgm:pt>
    <dgm:pt modelId="{D44C2E2F-D83F-4A52-A6C0-E2CA822CE068}" type="pres">
      <dgm:prSet presAssocID="{0B198A1D-F0DF-4034-A8BC-B066E7FF3EDB}" presName="parTx" presStyleLbl="revTx" presStyleIdx="1" presStyleCnt="4">
        <dgm:presLayoutVars>
          <dgm:chMax val="0"/>
          <dgm:chPref val="0"/>
        </dgm:presLayoutVars>
      </dgm:prSet>
      <dgm:spPr/>
    </dgm:pt>
    <dgm:pt modelId="{B24887C3-295A-4F94-953B-202027765959}" type="pres">
      <dgm:prSet presAssocID="{04E66C80-9E50-4D38-B67A-F4FA2D865CE3}" presName="sibTrans" presStyleCnt="0"/>
      <dgm:spPr/>
    </dgm:pt>
    <dgm:pt modelId="{9E014CA1-8CB7-4B47-837C-FDA9CD13B899}" type="pres">
      <dgm:prSet presAssocID="{EEB38B72-A912-468A-BFC3-8EE4A0CB542B}" presName="compNode" presStyleCnt="0"/>
      <dgm:spPr/>
    </dgm:pt>
    <dgm:pt modelId="{1AE007B7-B3F8-4079-A7C6-8FECDDD7FCAC}" type="pres">
      <dgm:prSet presAssocID="{EEB38B72-A912-468A-BFC3-8EE4A0CB542B}" presName="bgRect" presStyleLbl="bgShp" presStyleIdx="2" presStyleCnt="4"/>
      <dgm:spPr/>
    </dgm:pt>
    <dgm:pt modelId="{78CE3D94-A17F-4373-8F94-FFA0F916D308}" type="pres">
      <dgm:prSet presAssocID="{EEB38B72-A912-468A-BFC3-8EE4A0CB542B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Atom"/>
        </a:ext>
      </dgm:extLst>
    </dgm:pt>
    <dgm:pt modelId="{2320A3BD-2636-4C64-8E3B-441C52220EBB}" type="pres">
      <dgm:prSet presAssocID="{EEB38B72-A912-468A-BFC3-8EE4A0CB542B}" presName="spaceRect" presStyleCnt="0"/>
      <dgm:spPr/>
    </dgm:pt>
    <dgm:pt modelId="{CDF8F216-6DF1-4747-B11D-32515D5ADACC}" type="pres">
      <dgm:prSet presAssocID="{EEB38B72-A912-468A-BFC3-8EE4A0CB542B}" presName="parTx" presStyleLbl="revTx" presStyleIdx="2" presStyleCnt="4">
        <dgm:presLayoutVars>
          <dgm:chMax val="0"/>
          <dgm:chPref val="0"/>
        </dgm:presLayoutVars>
      </dgm:prSet>
      <dgm:spPr/>
    </dgm:pt>
    <dgm:pt modelId="{CD869F62-C8BC-47A1-9B89-E65DF783C3B1}" type="pres">
      <dgm:prSet presAssocID="{B2634535-4686-436F-A9EC-5C2A6D4668CD}" presName="sibTrans" presStyleCnt="0"/>
      <dgm:spPr/>
    </dgm:pt>
    <dgm:pt modelId="{F41339C3-1E4E-4314-A8CA-390171776897}" type="pres">
      <dgm:prSet presAssocID="{862F3A91-D739-459C-AA59-ACC91F401002}" presName="compNode" presStyleCnt="0"/>
      <dgm:spPr/>
    </dgm:pt>
    <dgm:pt modelId="{9CC8D97A-242E-4192-9D22-094C754722C1}" type="pres">
      <dgm:prSet presAssocID="{862F3A91-D739-459C-AA59-ACC91F401002}" presName="bgRect" presStyleLbl="bgShp" presStyleIdx="3" presStyleCnt="4"/>
      <dgm:spPr/>
    </dgm:pt>
    <dgm:pt modelId="{E3801F28-382D-48CB-999F-D64AC321BFEA}" type="pres">
      <dgm:prSet presAssocID="{862F3A91-D739-459C-AA59-ACC91F401002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NA"/>
        </a:ext>
      </dgm:extLst>
    </dgm:pt>
    <dgm:pt modelId="{0EA0F913-274C-4385-B0AF-55AA690A1A7F}" type="pres">
      <dgm:prSet presAssocID="{862F3A91-D739-459C-AA59-ACC91F401002}" presName="spaceRect" presStyleCnt="0"/>
      <dgm:spPr/>
    </dgm:pt>
    <dgm:pt modelId="{C5518254-9836-41F1-BF89-7570967DD110}" type="pres">
      <dgm:prSet presAssocID="{862F3A91-D739-459C-AA59-ACC91F401002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3D8F8866-8328-49C1-81AE-8F591F259B99}" srcId="{98197D1C-C8C7-4B7D-A14A-F8DDC3A6DCEA}" destId="{862F3A91-D739-459C-AA59-ACC91F401002}" srcOrd="3" destOrd="0" parTransId="{921011F5-0208-4207-BF03-301150786E64}" sibTransId="{831DC015-3E12-4E16-A5EC-98A7F0C54591}"/>
    <dgm:cxn modelId="{7FF79680-C74E-4147-8765-BB0459743B26}" type="presOf" srcId="{0B198A1D-F0DF-4034-A8BC-B066E7FF3EDB}" destId="{D44C2E2F-D83F-4A52-A6C0-E2CA822CE068}" srcOrd="0" destOrd="0" presId="urn:microsoft.com/office/officeart/2018/2/layout/IconVerticalSolidList"/>
    <dgm:cxn modelId="{F2724193-C788-48B3-869C-44D64BE70F35}" type="presOf" srcId="{98197D1C-C8C7-4B7D-A14A-F8DDC3A6DCEA}" destId="{2536D237-47EA-4B37-A454-BB90BD199B6A}" srcOrd="0" destOrd="0" presId="urn:microsoft.com/office/officeart/2018/2/layout/IconVerticalSolidList"/>
    <dgm:cxn modelId="{4D6F67AE-90DC-485B-BE19-E2CDF252AE39}" type="presOf" srcId="{1E7A032A-16F1-46AF-8B22-86037CEB9DA0}" destId="{C859899F-9E11-47BC-ABD7-B1ADA39E6E4E}" srcOrd="0" destOrd="0" presId="urn:microsoft.com/office/officeart/2018/2/layout/IconVerticalSolidList"/>
    <dgm:cxn modelId="{5AC764CA-156A-405F-A245-8AE6D91B80B0}" srcId="{98197D1C-C8C7-4B7D-A14A-F8DDC3A6DCEA}" destId="{EEB38B72-A912-468A-BFC3-8EE4A0CB542B}" srcOrd="2" destOrd="0" parTransId="{740ADBB8-CDAC-40D3-99FE-E2752AA6F6F5}" sibTransId="{B2634535-4686-436F-A9EC-5C2A6D4668CD}"/>
    <dgm:cxn modelId="{3D6D94CC-9AFE-4BCD-A5DC-7F3DCEE6B33F}" srcId="{98197D1C-C8C7-4B7D-A14A-F8DDC3A6DCEA}" destId="{0B198A1D-F0DF-4034-A8BC-B066E7FF3EDB}" srcOrd="1" destOrd="0" parTransId="{134E97FE-7EA1-4ADC-83A6-E3D5A6596EBE}" sibTransId="{04E66C80-9E50-4D38-B67A-F4FA2D865CE3}"/>
    <dgm:cxn modelId="{90315EDD-841C-4C65-B532-5FDF41F45327}" type="presOf" srcId="{862F3A91-D739-459C-AA59-ACC91F401002}" destId="{C5518254-9836-41F1-BF89-7570967DD110}" srcOrd="0" destOrd="0" presId="urn:microsoft.com/office/officeart/2018/2/layout/IconVerticalSolidList"/>
    <dgm:cxn modelId="{0B1CC3F2-2869-45FB-B2DC-E7696F446ED2}" type="presOf" srcId="{EEB38B72-A912-468A-BFC3-8EE4A0CB542B}" destId="{CDF8F216-6DF1-4747-B11D-32515D5ADACC}" srcOrd="0" destOrd="0" presId="urn:microsoft.com/office/officeart/2018/2/layout/IconVerticalSolidList"/>
    <dgm:cxn modelId="{3320C3F2-A6CD-41CE-AF17-60423ED069A6}" srcId="{98197D1C-C8C7-4B7D-A14A-F8DDC3A6DCEA}" destId="{1E7A032A-16F1-46AF-8B22-86037CEB9DA0}" srcOrd="0" destOrd="0" parTransId="{F86E09F7-486D-4BEF-A923-F14FEC225C64}" sibTransId="{3FC4EF5E-B808-440A-9E2C-4F7831C8CE8C}"/>
    <dgm:cxn modelId="{A7E58C7C-9633-4835-8FF9-137585CDD281}" type="presParOf" srcId="{2536D237-47EA-4B37-A454-BB90BD199B6A}" destId="{379558B8-FE68-46C2-8D91-F37CFA5AF511}" srcOrd="0" destOrd="0" presId="urn:microsoft.com/office/officeart/2018/2/layout/IconVerticalSolidList"/>
    <dgm:cxn modelId="{D6839034-7F36-4C87-877D-BCEA1DF0AAE2}" type="presParOf" srcId="{379558B8-FE68-46C2-8D91-F37CFA5AF511}" destId="{F41D418F-7B3C-47CC-81B2-AE3147FC537D}" srcOrd="0" destOrd="0" presId="urn:microsoft.com/office/officeart/2018/2/layout/IconVerticalSolidList"/>
    <dgm:cxn modelId="{C772F475-AEC7-4165-8E78-CA78B73AC580}" type="presParOf" srcId="{379558B8-FE68-46C2-8D91-F37CFA5AF511}" destId="{8CBEF6DD-AA1D-47DF-9638-57CD9E704645}" srcOrd="1" destOrd="0" presId="urn:microsoft.com/office/officeart/2018/2/layout/IconVerticalSolidList"/>
    <dgm:cxn modelId="{B9C7E122-50C4-492F-BACB-FBF01BE7CFB4}" type="presParOf" srcId="{379558B8-FE68-46C2-8D91-F37CFA5AF511}" destId="{D399F639-EE39-4BCB-8E7E-86EA8EBD54FF}" srcOrd="2" destOrd="0" presId="urn:microsoft.com/office/officeart/2018/2/layout/IconVerticalSolidList"/>
    <dgm:cxn modelId="{F950B035-4802-415D-9C4D-9A0A42946510}" type="presParOf" srcId="{379558B8-FE68-46C2-8D91-F37CFA5AF511}" destId="{C859899F-9E11-47BC-ABD7-B1ADA39E6E4E}" srcOrd="3" destOrd="0" presId="urn:microsoft.com/office/officeart/2018/2/layout/IconVerticalSolidList"/>
    <dgm:cxn modelId="{A58F67E3-027C-4BB9-9E5D-14FE5448C7E7}" type="presParOf" srcId="{2536D237-47EA-4B37-A454-BB90BD199B6A}" destId="{90216848-D318-4661-B39E-EF10D6A71FA1}" srcOrd="1" destOrd="0" presId="urn:microsoft.com/office/officeart/2018/2/layout/IconVerticalSolidList"/>
    <dgm:cxn modelId="{AFF4472D-11E2-44EF-AEE9-BC46928775DB}" type="presParOf" srcId="{2536D237-47EA-4B37-A454-BB90BD199B6A}" destId="{F95D8AB0-6A9B-485A-BDE4-E4A68A9A505E}" srcOrd="2" destOrd="0" presId="urn:microsoft.com/office/officeart/2018/2/layout/IconVerticalSolidList"/>
    <dgm:cxn modelId="{16EBCC3C-736D-4D2A-8013-62BA698A83A1}" type="presParOf" srcId="{F95D8AB0-6A9B-485A-BDE4-E4A68A9A505E}" destId="{C012FC80-3824-4EFE-9F5A-114D1483AA54}" srcOrd="0" destOrd="0" presId="urn:microsoft.com/office/officeart/2018/2/layout/IconVerticalSolidList"/>
    <dgm:cxn modelId="{1C3F6AF7-4688-4FE7-BBAF-6D6D009A92C1}" type="presParOf" srcId="{F95D8AB0-6A9B-485A-BDE4-E4A68A9A505E}" destId="{B4D3A1C4-4BA4-4014-841A-6B71C45548B0}" srcOrd="1" destOrd="0" presId="urn:microsoft.com/office/officeart/2018/2/layout/IconVerticalSolidList"/>
    <dgm:cxn modelId="{741DDDD6-1A7A-49A0-A205-695A360CD3D5}" type="presParOf" srcId="{F95D8AB0-6A9B-485A-BDE4-E4A68A9A505E}" destId="{7EBC6868-9C28-4991-8CF1-9D70A6D813FC}" srcOrd="2" destOrd="0" presId="urn:microsoft.com/office/officeart/2018/2/layout/IconVerticalSolidList"/>
    <dgm:cxn modelId="{473E02D5-9413-4752-9FD7-748EB0176B1B}" type="presParOf" srcId="{F95D8AB0-6A9B-485A-BDE4-E4A68A9A505E}" destId="{D44C2E2F-D83F-4A52-A6C0-E2CA822CE068}" srcOrd="3" destOrd="0" presId="urn:microsoft.com/office/officeart/2018/2/layout/IconVerticalSolidList"/>
    <dgm:cxn modelId="{2D14FF92-2CE5-48DF-BA8A-3D26E76DB63F}" type="presParOf" srcId="{2536D237-47EA-4B37-A454-BB90BD199B6A}" destId="{B24887C3-295A-4F94-953B-202027765959}" srcOrd="3" destOrd="0" presId="urn:microsoft.com/office/officeart/2018/2/layout/IconVerticalSolidList"/>
    <dgm:cxn modelId="{C6437333-FA7E-49ED-B122-6D318377C414}" type="presParOf" srcId="{2536D237-47EA-4B37-A454-BB90BD199B6A}" destId="{9E014CA1-8CB7-4B47-837C-FDA9CD13B899}" srcOrd="4" destOrd="0" presId="urn:microsoft.com/office/officeart/2018/2/layout/IconVerticalSolidList"/>
    <dgm:cxn modelId="{EC635338-9943-4F64-9AD4-47109EE7231A}" type="presParOf" srcId="{9E014CA1-8CB7-4B47-837C-FDA9CD13B899}" destId="{1AE007B7-B3F8-4079-A7C6-8FECDDD7FCAC}" srcOrd="0" destOrd="0" presId="urn:microsoft.com/office/officeart/2018/2/layout/IconVerticalSolidList"/>
    <dgm:cxn modelId="{5B4BE7A5-A3D9-4F81-A48A-C883D324BD01}" type="presParOf" srcId="{9E014CA1-8CB7-4B47-837C-FDA9CD13B899}" destId="{78CE3D94-A17F-4373-8F94-FFA0F916D308}" srcOrd="1" destOrd="0" presId="urn:microsoft.com/office/officeart/2018/2/layout/IconVerticalSolidList"/>
    <dgm:cxn modelId="{6AFFA396-8C5F-4D9A-91DA-B320C31EEB85}" type="presParOf" srcId="{9E014CA1-8CB7-4B47-837C-FDA9CD13B899}" destId="{2320A3BD-2636-4C64-8E3B-441C52220EBB}" srcOrd="2" destOrd="0" presId="urn:microsoft.com/office/officeart/2018/2/layout/IconVerticalSolidList"/>
    <dgm:cxn modelId="{B68984CC-3A55-4DD2-9B98-E4509ED4CE58}" type="presParOf" srcId="{9E014CA1-8CB7-4B47-837C-FDA9CD13B899}" destId="{CDF8F216-6DF1-4747-B11D-32515D5ADACC}" srcOrd="3" destOrd="0" presId="urn:microsoft.com/office/officeart/2018/2/layout/IconVerticalSolidList"/>
    <dgm:cxn modelId="{92C9A28A-550C-473E-9379-C3ECA8579662}" type="presParOf" srcId="{2536D237-47EA-4B37-A454-BB90BD199B6A}" destId="{CD869F62-C8BC-47A1-9B89-E65DF783C3B1}" srcOrd="5" destOrd="0" presId="urn:microsoft.com/office/officeart/2018/2/layout/IconVerticalSolidList"/>
    <dgm:cxn modelId="{01CA2A13-DD93-4DA8-AA24-124810860048}" type="presParOf" srcId="{2536D237-47EA-4B37-A454-BB90BD199B6A}" destId="{F41339C3-1E4E-4314-A8CA-390171776897}" srcOrd="6" destOrd="0" presId="urn:microsoft.com/office/officeart/2018/2/layout/IconVerticalSolidList"/>
    <dgm:cxn modelId="{7D57C925-29C7-474F-BF3E-5E31B5E7207F}" type="presParOf" srcId="{F41339C3-1E4E-4314-A8CA-390171776897}" destId="{9CC8D97A-242E-4192-9D22-094C754722C1}" srcOrd="0" destOrd="0" presId="urn:microsoft.com/office/officeart/2018/2/layout/IconVerticalSolidList"/>
    <dgm:cxn modelId="{E9CDB2B8-0FDC-4228-85DE-7DD2C23DD343}" type="presParOf" srcId="{F41339C3-1E4E-4314-A8CA-390171776897}" destId="{E3801F28-382D-48CB-999F-D64AC321BFEA}" srcOrd="1" destOrd="0" presId="urn:microsoft.com/office/officeart/2018/2/layout/IconVerticalSolidList"/>
    <dgm:cxn modelId="{72612AEB-4519-4A62-9E83-A46F32ED653C}" type="presParOf" srcId="{F41339C3-1E4E-4314-A8CA-390171776897}" destId="{0EA0F913-274C-4385-B0AF-55AA690A1A7F}" srcOrd="2" destOrd="0" presId="urn:microsoft.com/office/officeart/2018/2/layout/IconVerticalSolidList"/>
    <dgm:cxn modelId="{814CA231-7D7A-489D-861E-E27CB4DE072E}" type="presParOf" srcId="{F41339C3-1E4E-4314-A8CA-390171776897}" destId="{C5518254-9836-41F1-BF89-7570967DD110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41D418F-7B3C-47CC-81B2-AE3147FC537D}">
      <dsp:nvSpPr>
        <dsp:cNvPr id="0" name=""/>
        <dsp:cNvSpPr/>
      </dsp:nvSpPr>
      <dsp:spPr>
        <a:xfrm>
          <a:off x="0" y="3314"/>
          <a:ext cx="4381571" cy="114642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CBEF6DD-AA1D-47DF-9638-57CD9E704645}">
      <dsp:nvSpPr>
        <dsp:cNvPr id="0" name=""/>
        <dsp:cNvSpPr/>
      </dsp:nvSpPr>
      <dsp:spPr>
        <a:xfrm>
          <a:off x="346792" y="261259"/>
          <a:ext cx="631148" cy="63053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859899F-9E11-47BC-ABD7-B1ADA39E6E4E}">
      <dsp:nvSpPr>
        <dsp:cNvPr id="0" name=""/>
        <dsp:cNvSpPr/>
      </dsp:nvSpPr>
      <dsp:spPr>
        <a:xfrm>
          <a:off x="1324733" y="3314"/>
          <a:ext cx="2762446" cy="114754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448" tIns="121448" rIns="121448" bIns="121448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b="1" kern="1200" dirty="0"/>
            <a:t>CO1: </a:t>
          </a:r>
          <a:r>
            <a:rPr lang="en-US" sz="1400" b="1" kern="1200" dirty="0"/>
            <a:t>Understand</a:t>
          </a:r>
          <a:r>
            <a:rPr lang="en-US" sz="1400" kern="1200" dirty="0"/>
            <a:t> the methods for water hardness and the basics of boiler water treatment and analyze fuel calorific values and battery.</a:t>
          </a:r>
        </a:p>
      </dsp:txBody>
      <dsp:txXfrm>
        <a:off x="1324733" y="3314"/>
        <a:ext cx="2762446" cy="1147542"/>
      </dsp:txXfrm>
    </dsp:sp>
    <dsp:sp modelId="{C012FC80-3824-4EFE-9F5A-114D1483AA54}">
      <dsp:nvSpPr>
        <dsp:cNvPr id="0" name=""/>
        <dsp:cNvSpPr/>
      </dsp:nvSpPr>
      <dsp:spPr>
        <a:xfrm>
          <a:off x="0" y="1429049"/>
          <a:ext cx="4381571" cy="114642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4D3A1C4-4BA4-4014-841A-6B71C45548B0}">
      <dsp:nvSpPr>
        <dsp:cNvPr id="0" name=""/>
        <dsp:cNvSpPr/>
      </dsp:nvSpPr>
      <dsp:spPr>
        <a:xfrm>
          <a:off x="346792" y="1686994"/>
          <a:ext cx="631148" cy="63053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44C2E2F-D83F-4A52-A6C0-E2CA822CE068}">
      <dsp:nvSpPr>
        <dsp:cNvPr id="0" name=""/>
        <dsp:cNvSpPr/>
      </dsp:nvSpPr>
      <dsp:spPr>
        <a:xfrm>
          <a:off x="1324733" y="1429049"/>
          <a:ext cx="2762446" cy="114754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448" tIns="121448" rIns="121448" bIns="121448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b="1" kern="1200" dirty="0"/>
            <a:t>CO2: </a:t>
          </a:r>
          <a:r>
            <a:rPr lang="en-US" sz="1400" b="1" kern="1200" dirty="0"/>
            <a:t>Explain</a:t>
          </a:r>
          <a:r>
            <a:rPr lang="en-US" sz="1400" kern="1200" dirty="0"/>
            <a:t> the characteristics and working principles of different battery types and types of fuels. </a:t>
          </a:r>
          <a:endParaRPr lang="en-IN" sz="1400" kern="1200" dirty="0"/>
        </a:p>
      </dsp:txBody>
      <dsp:txXfrm>
        <a:off x="1324733" y="1429049"/>
        <a:ext cx="2762446" cy="1147542"/>
      </dsp:txXfrm>
    </dsp:sp>
    <dsp:sp modelId="{1AE007B7-B3F8-4079-A7C6-8FECDDD7FCAC}">
      <dsp:nvSpPr>
        <dsp:cNvPr id="0" name=""/>
        <dsp:cNvSpPr/>
      </dsp:nvSpPr>
      <dsp:spPr>
        <a:xfrm>
          <a:off x="0" y="2854784"/>
          <a:ext cx="4381571" cy="114642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8CE3D94-A17F-4373-8F94-FFA0F916D308}">
      <dsp:nvSpPr>
        <dsp:cNvPr id="0" name=""/>
        <dsp:cNvSpPr/>
      </dsp:nvSpPr>
      <dsp:spPr>
        <a:xfrm>
          <a:off x="346792" y="3112729"/>
          <a:ext cx="631148" cy="63053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DF8F216-6DF1-4747-B11D-32515D5ADACC}">
      <dsp:nvSpPr>
        <dsp:cNvPr id="0" name=""/>
        <dsp:cNvSpPr/>
      </dsp:nvSpPr>
      <dsp:spPr>
        <a:xfrm>
          <a:off x="1324733" y="2854784"/>
          <a:ext cx="2762446" cy="114754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448" tIns="121448" rIns="121448" bIns="121448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b="1" kern="1200" dirty="0"/>
            <a:t>CO3: </a:t>
          </a:r>
          <a:r>
            <a:rPr lang="en-US" sz="1400" b="1" kern="1200" dirty="0"/>
            <a:t>Determine</a:t>
          </a:r>
          <a:r>
            <a:rPr lang="en-US" sz="1400" kern="1200" dirty="0"/>
            <a:t> the differences between batteries and fuel cells and classify fuel cell types based on their components.</a:t>
          </a:r>
          <a:r>
            <a:rPr lang="en-IN" sz="1400" kern="1200" dirty="0"/>
            <a:t>. </a:t>
          </a:r>
        </a:p>
      </dsp:txBody>
      <dsp:txXfrm>
        <a:off x="1324733" y="2854784"/>
        <a:ext cx="2762446" cy="1147542"/>
      </dsp:txXfrm>
    </dsp:sp>
    <dsp:sp modelId="{9CC8D97A-242E-4192-9D22-094C754722C1}">
      <dsp:nvSpPr>
        <dsp:cNvPr id="0" name=""/>
        <dsp:cNvSpPr/>
      </dsp:nvSpPr>
      <dsp:spPr>
        <a:xfrm>
          <a:off x="0" y="4280518"/>
          <a:ext cx="4381571" cy="114642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3801F28-382D-48CB-999F-D64AC321BFEA}">
      <dsp:nvSpPr>
        <dsp:cNvPr id="0" name=""/>
        <dsp:cNvSpPr/>
      </dsp:nvSpPr>
      <dsp:spPr>
        <a:xfrm>
          <a:off x="346792" y="4538463"/>
          <a:ext cx="631148" cy="630532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5518254-9836-41F1-BF89-7570967DD110}">
      <dsp:nvSpPr>
        <dsp:cNvPr id="0" name=""/>
        <dsp:cNvSpPr/>
      </dsp:nvSpPr>
      <dsp:spPr>
        <a:xfrm>
          <a:off x="1324733" y="4280518"/>
          <a:ext cx="2762446" cy="114754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448" tIns="121448" rIns="121448" bIns="121448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b="1" kern="1200" dirty="0"/>
            <a:t>CO4: </a:t>
          </a:r>
          <a:r>
            <a:rPr lang="en-US" sz="1400" b="1" kern="1200" dirty="0"/>
            <a:t>Identify</a:t>
          </a:r>
          <a:r>
            <a:rPr lang="en-US" sz="1400" kern="1200" dirty="0"/>
            <a:t> between hard and soft water, solve the related numerical problems on water purification and emf and its significance in industry and daily life.</a:t>
          </a:r>
          <a:endParaRPr lang="en-IN" sz="1400" kern="1200" dirty="0"/>
        </a:p>
      </dsp:txBody>
      <dsp:txXfrm>
        <a:off x="1324733" y="4280518"/>
        <a:ext cx="2762446" cy="114754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82A0AB3-04D7-4933-B8C9-A98F48EB301D}" type="datetimeFigureOut">
              <a:rPr lang="en-IN" smtClean="0"/>
              <a:t>23-08-2025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775D2BF-1B1F-4AF5-A9FE-317D41E8CC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064649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F4C811-DA96-46FA-BC8F-4500A40C51F1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4223428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A52C0A-5BAA-BF88-3455-F66752E515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B14B637-3722-E45C-B8ED-6C2496E107F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DCA0D78-B8C2-070C-A75D-39390A1F04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1FB704-FDF4-DE6A-D204-FC9442B687A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12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1932151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13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375441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16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9485553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19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135205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20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2459338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21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5399841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A90632-945D-7396-B0F4-D4E04B82A9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FFADF6B-CCF5-AD99-5B17-60C4948D6EF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91E8101-EC96-193F-D96C-0848DF8BAF9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040833-1744-29D7-DFB3-B7F2F057727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22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978880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AAA7D1-D162-C2B9-A186-6277760B64B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6417807-DC27-D333-C7F8-447E0AA8F16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634410-7D8A-2E1C-4523-55113EB39B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345D23-CF73-494B-94F0-40C71FE765F1}" type="datetimeFigureOut">
              <a:rPr lang="en-IN" smtClean="0"/>
              <a:t>23-08-2025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40260D-341D-36CF-79B6-2693AA1612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DCDF1A-3761-9DF0-4638-4F43DBCCAB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051508-AFAD-4117-A9BB-4805E5D20D9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059541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2D1AED-638E-3230-3284-08EC4E1943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D691E9-7D18-76C7-942B-D54BE51727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702597-B4C7-24BE-1C50-0C2D6ED23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345D23-CF73-494B-94F0-40C71FE765F1}" type="datetimeFigureOut">
              <a:rPr lang="en-IN" smtClean="0"/>
              <a:t>23-08-2025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620124-5990-7541-8D57-5012E05D7A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F016BE-9C09-573F-9444-72C36E0662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051508-AFAD-4117-A9BB-4805E5D20D9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201657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2E428F-AA8F-0333-9CCE-9268541E5C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28687C-AD2E-05CB-4378-62426AED3A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BFBD4D-5BBF-AF46-81BE-0B13A64E0B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345D23-CF73-494B-94F0-40C71FE765F1}" type="datetimeFigureOut">
              <a:rPr lang="en-IN" smtClean="0"/>
              <a:t>23-08-2025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17B0E5-2390-0542-4F3A-CD4405BA8F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17072F-8C49-BEF8-5EA4-669B84DE93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051508-AFAD-4117-A9BB-4805E5D20D9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228326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B6322C-5AB8-7F61-F4C7-A6089CA668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09CECB-ADE5-0C3C-BB9E-29781868D41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3321C92-5A5A-27C0-3F5B-9BDD865E52A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3780A2-9AC2-5131-CF6F-97E3D0CE79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345D23-CF73-494B-94F0-40C71FE765F1}" type="datetimeFigureOut">
              <a:rPr lang="en-IN" smtClean="0"/>
              <a:t>23-08-2025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63FC7FE-E6C0-437D-496A-DE07C83078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1C1AFB2-3CB2-4728-CDB0-40C73E877B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051508-AFAD-4117-A9BB-4805E5D20D9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739024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0B1EB4-0C77-DDB1-5D00-3C58522EA8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433598-1063-CC0C-B13C-F1BB87BB78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382FFDD-6D68-0CD3-927C-9A9CEBA04A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5B6226E-E0D8-C828-EF00-5633DBFF0FC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CC8D329-A42F-0C25-3C28-BC9227331A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B80339A-34AE-5B7D-F8C7-F99C0A5DE8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345D23-CF73-494B-94F0-40C71FE765F1}" type="datetimeFigureOut">
              <a:rPr lang="en-IN" smtClean="0"/>
              <a:t>23-08-2025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572442D-EF2F-D378-1ECD-5EDB6F1BAE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CB257A9-6A08-27CB-568D-EEC0054E57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051508-AFAD-4117-A9BB-4805E5D20D9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234085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F32344-73B1-B872-72CA-0600D575F0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BA122C1-6EED-5320-649D-F6800CC746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345D23-CF73-494B-94F0-40C71FE765F1}" type="datetimeFigureOut">
              <a:rPr lang="en-IN" smtClean="0"/>
              <a:t>23-08-2025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F80CDDA-637A-D398-0546-E588B953E3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FF0AB99-DFBC-BF0C-E7A3-AED1FE36DA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051508-AFAD-4117-A9BB-4805E5D20D9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627048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961BFB5-0E34-43CA-718F-98F5F75906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345D23-CF73-494B-94F0-40C71FE765F1}" type="datetimeFigureOut">
              <a:rPr lang="en-IN" smtClean="0"/>
              <a:t>23-08-2025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DCC7EE8-4EEB-49D0-6DFC-3E26E3D1E5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C1839F-80B4-ED3B-6729-2A78025E68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051508-AFAD-4117-A9BB-4805E5D20D9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977958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AAA747-9138-CD5A-4F0A-BF054FA8AC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9DD751-3F6F-F007-13B7-0C02764C43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7F14658-20F3-03B3-BE49-A632F475D32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BDEA7C1-BF03-239C-3FF4-46E1DA0C02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345D23-CF73-494B-94F0-40C71FE765F1}" type="datetimeFigureOut">
              <a:rPr lang="en-IN" smtClean="0"/>
              <a:t>23-08-2025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0684E46-EFE9-37EA-9869-CE5694090D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C250258-593D-77D5-E226-335ECBA22A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051508-AFAD-4117-A9BB-4805E5D20D9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792528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C96274-E33F-94D4-3B3C-A37C219A85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0200576-C115-BC92-FA5B-5EFF4EAAED9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7E163F-74BF-2669-4C1E-E14BE92482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18026A-93CA-75A4-F259-0278BBCF67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345D23-CF73-494B-94F0-40C71FE765F1}" type="datetimeFigureOut">
              <a:rPr lang="en-IN" smtClean="0"/>
              <a:t>23-08-2025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4099A0-866D-4B4F-43AD-B6B8502203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3C695DF-B7C4-4E09-F98A-216D4F5E25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051508-AFAD-4117-A9BB-4805E5D20D9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444550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6F7369-9FD1-8BA6-B80C-224D3CAA6F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B18D1F9-8C73-5F72-080E-54A374694C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7EE74C-4B48-2641-99C8-4DAAF91E01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345D23-CF73-494B-94F0-40C71FE765F1}" type="datetimeFigureOut">
              <a:rPr lang="en-IN" smtClean="0"/>
              <a:t>23-08-2025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81D24B-3139-2268-1544-5EE2AB71EC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9D3832-FCDB-5BA0-31E5-55CD4A17E4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051508-AFAD-4117-A9BB-4805E5D20D9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161202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2AAA042-D9A2-726F-EBD4-175C0FEB0C1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B02481F-BFB6-4414-E5CC-0BDB280D159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67F80B-F2CC-79CA-BBD7-3E2F5D10AF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345D23-CF73-494B-94F0-40C71FE765F1}" type="datetimeFigureOut">
              <a:rPr lang="en-IN" smtClean="0"/>
              <a:t>23-08-2025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5BD8D1-7BE3-850A-4EF9-85F9B9DD98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D40A45-5FF9-7BA2-E38F-4B0C0EB033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051508-AFAD-4117-A9BB-4805E5D20D9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207782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079317E-2A55-9EE2-20F9-D84B14CD4E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297CED-030E-6EB5-DF84-62850CA7B5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C998B9-9B8E-350B-5B13-71DC543EC51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5345D23-CF73-494B-94F0-40C71FE765F1}" type="datetimeFigureOut">
              <a:rPr lang="en-IN" smtClean="0"/>
              <a:t>23-08-2025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240D37-FE97-370B-3AEC-6318752BDD5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4D11BA-674C-E317-646E-8BB81C29B15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C051508-AFAD-4117-A9BB-4805E5D20D9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497993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5.png"/><Relationship Id="rId4" Type="http://schemas.openxmlformats.org/officeDocument/2006/relationships/image" Target="../media/image1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1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0.png"/><Relationship Id="rId4" Type="http://schemas.openxmlformats.org/officeDocument/2006/relationships/image" Target="../media/image1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3.png"/><Relationship Id="rId4" Type="http://schemas.openxmlformats.org/officeDocument/2006/relationships/image" Target="../media/image16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4.png"/><Relationship Id="rId4" Type="http://schemas.openxmlformats.org/officeDocument/2006/relationships/image" Target="../media/image16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16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7.png"/><Relationship Id="rId4" Type="http://schemas.openxmlformats.org/officeDocument/2006/relationships/image" Target="../media/image16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8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9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CEB6A25-0621-10C8-9539-F4E23EC1891E}"/>
              </a:ext>
            </a:extLst>
          </p:cNvPr>
          <p:cNvSpPr/>
          <p:nvPr/>
        </p:nvSpPr>
        <p:spPr>
          <a:xfrm>
            <a:off x="1508786" y="1251438"/>
            <a:ext cx="9159214" cy="5297705"/>
          </a:xfrm>
          <a:prstGeom prst="rect">
            <a:avLst/>
          </a:prstGeom>
          <a:blipFill dpi="0" rotWithShape="1">
            <a:blip r:embed="rId3">
              <a:alphaModFix amt="50000"/>
            </a:blip>
            <a:srcRect/>
            <a:stretch>
              <a:fillRect t="-38621"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42900">
              <a:defRPr/>
            </a:pPr>
            <a:endParaRPr lang="en-IN" sz="1350" dirty="0">
              <a:solidFill>
                <a:prstClr val="white"/>
              </a:solidFill>
              <a:latin typeface="Aptos" panose="02110004020202020204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7910B384-7E13-233A-9F37-02109640C973}"/>
              </a:ext>
            </a:extLst>
          </p:cNvPr>
          <p:cNvGrpSpPr/>
          <p:nvPr/>
        </p:nvGrpSpPr>
        <p:grpSpPr>
          <a:xfrm>
            <a:off x="1508787" y="0"/>
            <a:ext cx="9159213" cy="304800"/>
            <a:chOff x="1143000" y="857250"/>
            <a:chExt cx="6858000" cy="162000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DA3C5C49-EEE1-635D-59E5-7808D54395A4}"/>
                </a:ext>
              </a:extLst>
            </p:cNvPr>
            <p:cNvSpPr/>
            <p:nvPr/>
          </p:nvSpPr>
          <p:spPr>
            <a:xfrm>
              <a:off x="4572000" y="857250"/>
              <a:ext cx="3429000" cy="162000"/>
            </a:xfrm>
            <a:prstGeom prst="rect">
              <a:avLst/>
            </a:prstGeom>
            <a:solidFill>
              <a:srgbClr val="341BF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42900">
                <a:defRPr/>
              </a:pPr>
              <a:endParaRPr lang="en-IN" sz="1350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526EC0BF-23F7-8D74-28AC-EB3330F5685B}"/>
                </a:ext>
              </a:extLst>
            </p:cNvPr>
            <p:cNvSpPr/>
            <p:nvPr/>
          </p:nvSpPr>
          <p:spPr>
            <a:xfrm>
              <a:off x="1143000" y="857250"/>
              <a:ext cx="3429000" cy="16200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42900">
                <a:defRPr/>
              </a:pPr>
              <a:endParaRPr lang="en-IN" sz="1350">
                <a:solidFill>
                  <a:prstClr val="white"/>
                </a:solidFill>
                <a:latin typeface="Aptos" panose="02110004020202020204"/>
              </a:endParaRPr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54417709-EA2B-EEB2-0124-DBC679B75F59}"/>
              </a:ext>
            </a:extLst>
          </p:cNvPr>
          <p:cNvSpPr txBox="1"/>
          <p:nvPr/>
        </p:nvSpPr>
        <p:spPr>
          <a:xfrm>
            <a:off x="3280081" y="4894133"/>
            <a:ext cx="5616624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GB" sz="20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Dr. Mehak Ahuja</a:t>
            </a:r>
          </a:p>
          <a:p>
            <a:pPr algn="ctr">
              <a:defRPr/>
            </a:pPr>
            <a:r>
              <a:rPr lang="en-GB" sz="20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Assistant Professor, </a:t>
            </a:r>
            <a:r>
              <a:rPr lang="en-US" sz="16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Chemistry </a:t>
            </a:r>
          </a:p>
          <a:p>
            <a:pPr algn="ctr">
              <a:defRPr/>
            </a:pPr>
            <a:r>
              <a:rPr lang="en-US" sz="16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School of Basic and Applied Sciences</a:t>
            </a:r>
          </a:p>
          <a:p>
            <a:pPr algn="ctr" defTabSz="342900">
              <a:defRPr/>
            </a:pPr>
            <a:r>
              <a:rPr lang="en-US" sz="16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K.R. Mangalam University</a:t>
            </a:r>
          </a:p>
          <a:p>
            <a:pPr algn="ctr" defTabSz="342900">
              <a:defRPr/>
            </a:pPr>
            <a:r>
              <a:rPr lang="en-US" sz="16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Sohna Road, Gurugram</a:t>
            </a:r>
            <a:endParaRPr lang="en-IN" sz="1600" b="1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21708C23-8D0C-B7D6-5018-8B019027873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19275" y="308857"/>
            <a:ext cx="8572501" cy="92767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644A3F9-E1EE-5DBD-6D95-67CF95DACB77}"/>
              </a:ext>
            </a:extLst>
          </p:cNvPr>
          <p:cNvSpPr txBox="1"/>
          <p:nvPr/>
        </p:nvSpPr>
        <p:spPr>
          <a:xfrm>
            <a:off x="1524000" y="1960483"/>
            <a:ext cx="9159214" cy="29187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27623" algn="ctr">
              <a:spcBef>
                <a:spcPts val="75"/>
              </a:spcBef>
            </a:pPr>
            <a:r>
              <a:rPr lang="en-US" sz="3200" b="1" dirty="0">
                <a:solidFill>
                  <a:schemeClr val="accent5">
                    <a:lumMod val="75000"/>
                  </a:schemeClr>
                </a:solidFill>
              </a:rPr>
              <a:t>Introduction to Water Chemistry &amp; Hardness </a:t>
            </a:r>
          </a:p>
          <a:p>
            <a:pPr marR="27623" algn="ctr">
              <a:spcBef>
                <a:spcPts val="75"/>
              </a:spcBef>
            </a:pPr>
            <a:r>
              <a:rPr lang="en-US" sz="3000" b="1" dirty="0">
                <a:latin typeface="Times New Roman"/>
                <a:cs typeface="Times New Roman"/>
              </a:rPr>
              <a:t>Course</a:t>
            </a:r>
            <a:r>
              <a:rPr lang="en-US" sz="3000" b="1" spc="-38" dirty="0">
                <a:latin typeface="Times New Roman"/>
                <a:cs typeface="Times New Roman"/>
              </a:rPr>
              <a:t> </a:t>
            </a:r>
            <a:r>
              <a:rPr lang="en-US" sz="3000" b="1" dirty="0">
                <a:latin typeface="Times New Roman"/>
                <a:cs typeface="Times New Roman"/>
              </a:rPr>
              <a:t>Code:</a:t>
            </a:r>
            <a:r>
              <a:rPr lang="en-US" sz="3000" b="1" spc="-38" dirty="0">
                <a:latin typeface="Times New Roman"/>
                <a:cs typeface="Times New Roman"/>
              </a:rPr>
              <a:t> </a:t>
            </a:r>
            <a:r>
              <a:rPr lang="en-US" sz="3000" spc="-8" dirty="0">
                <a:latin typeface="Times New Roman" panose="02020603050405020304" pitchFamily="18" charset="0"/>
                <a:ea typeface="Times New Roman" panose="02020603050405020304" pitchFamily="18" charset="0"/>
              </a:rPr>
              <a:t>ETMLCH104</a:t>
            </a:r>
          </a:p>
          <a:p>
            <a:pPr marR="27623" algn="ctr">
              <a:spcBef>
                <a:spcPts val="75"/>
              </a:spcBef>
            </a:pPr>
            <a:r>
              <a:rPr lang="en-US" sz="3000" b="1" dirty="0">
                <a:latin typeface="Times New Roman"/>
                <a:cs typeface="Times New Roman"/>
              </a:rPr>
              <a:t>Course</a:t>
            </a:r>
            <a:r>
              <a:rPr lang="en-US" sz="3000" b="1" spc="-4" dirty="0">
                <a:latin typeface="Times New Roman"/>
                <a:cs typeface="Times New Roman"/>
              </a:rPr>
              <a:t> </a:t>
            </a:r>
            <a:r>
              <a:rPr lang="en-US" sz="3000" b="1" dirty="0">
                <a:latin typeface="Times New Roman"/>
                <a:cs typeface="Times New Roman"/>
              </a:rPr>
              <a:t>Name: </a:t>
            </a:r>
            <a:r>
              <a:rPr lang="en-GB" sz="3000" spc="-8" dirty="0">
                <a:latin typeface="Times New Roman" panose="02020603050405020304" pitchFamily="18" charset="0"/>
                <a:ea typeface="Times New Roman" panose="02020603050405020304" pitchFamily="18" charset="0"/>
              </a:rPr>
              <a:t>Engineering Chemistry</a:t>
            </a:r>
            <a:endParaRPr lang="en-US" sz="3000" dirty="0">
              <a:latin typeface="Times New Roman"/>
              <a:cs typeface="Times New Roman"/>
            </a:endParaRPr>
          </a:p>
          <a:p>
            <a:pPr marR="27623" algn="ctr"/>
            <a:r>
              <a:rPr lang="en-US" sz="3000" b="1" dirty="0">
                <a:latin typeface="Times New Roman"/>
                <a:cs typeface="Times New Roman"/>
              </a:rPr>
              <a:t>Program:</a:t>
            </a:r>
            <a:r>
              <a:rPr lang="en-US" sz="3000" b="1" spc="-34" dirty="0">
                <a:latin typeface="Times New Roman"/>
                <a:cs typeface="Times New Roman"/>
              </a:rPr>
              <a:t> </a:t>
            </a:r>
            <a:r>
              <a:rPr lang="en-US" sz="3000" dirty="0">
                <a:latin typeface="Times New Roman"/>
                <a:cs typeface="Times New Roman"/>
              </a:rPr>
              <a:t>B.Tech. (AI/ML)</a:t>
            </a:r>
            <a:endParaRPr lang="en-US" sz="3000" b="1" dirty="0">
              <a:latin typeface="Times New Roman"/>
              <a:cs typeface="Times New Roman"/>
            </a:endParaRPr>
          </a:p>
          <a:p>
            <a:pPr algn="ctr"/>
            <a:r>
              <a:rPr lang="en-GB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Unit 2: </a:t>
            </a:r>
            <a:r>
              <a:rPr lang="en-GB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Chemical Fuels</a:t>
            </a:r>
          </a:p>
          <a:p>
            <a:pPr algn="ctr"/>
            <a:endParaRPr lang="en-GB" sz="3000" b="1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36AFDA2C-02FC-7805-B01D-415947BDEB3A}"/>
              </a:ext>
            </a:extLst>
          </p:cNvPr>
          <p:cNvGrpSpPr/>
          <p:nvPr/>
        </p:nvGrpSpPr>
        <p:grpSpPr>
          <a:xfrm>
            <a:off x="1524001" y="6549143"/>
            <a:ext cx="9159213" cy="304800"/>
            <a:chOff x="1143000" y="857250"/>
            <a:chExt cx="6858000" cy="162000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973F716C-7323-768B-D8E3-06127E29334B}"/>
                </a:ext>
              </a:extLst>
            </p:cNvPr>
            <p:cNvSpPr/>
            <p:nvPr/>
          </p:nvSpPr>
          <p:spPr>
            <a:xfrm>
              <a:off x="4572000" y="857250"/>
              <a:ext cx="3429000" cy="162000"/>
            </a:xfrm>
            <a:prstGeom prst="rect">
              <a:avLst/>
            </a:prstGeom>
            <a:solidFill>
              <a:srgbClr val="341BF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42900">
                <a:defRPr/>
              </a:pPr>
              <a:endParaRPr lang="en-IN" sz="1350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4426B9DC-430E-BCAA-1219-94197EAAEDFD}"/>
                </a:ext>
              </a:extLst>
            </p:cNvPr>
            <p:cNvSpPr/>
            <p:nvPr/>
          </p:nvSpPr>
          <p:spPr>
            <a:xfrm>
              <a:off x="1143000" y="857250"/>
              <a:ext cx="3429000" cy="16200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42900">
                <a:defRPr/>
              </a:pPr>
              <a:endParaRPr lang="en-IN" sz="1350">
                <a:solidFill>
                  <a:prstClr val="white"/>
                </a:solidFill>
                <a:latin typeface="Aptos" panose="02110004020202020204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2238245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1D4566-EF07-295A-8614-F69B473B0E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64700" y="413160"/>
            <a:ext cx="5605629" cy="994172"/>
          </a:xfrm>
        </p:spPr>
        <p:txBody>
          <a:bodyPr>
            <a:normAutofit/>
          </a:bodyPr>
          <a:lstStyle/>
          <a:p>
            <a:r>
              <a:rPr lang="en-GB" sz="3850" b="1" dirty="0"/>
              <a:t>Course Overview</a:t>
            </a:r>
            <a:endParaRPr lang="en-IN" sz="3850" b="1" dirty="0"/>
          </a:p>
        </p:txBody>
      </p:sp>
      <p:pic>
        <p:nvPicPr>
          <p:cNvPr id="16" name="Graphic 15" descr="Light Bulb and Gear">
            <a:extLst>
              <a:ext uri="{FF2B5EF4-FFF2-40B4-BE49-F238E27FC236}">
                <a16:creationId xmlns:a16="http://schemas.microsoft.com/office/drawing/2014/main" id="{FCFFB6F3-DA0B-3412-C8A2-1BE79E71200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467623" y="409574"/>
            <a:ext cx="1143455" cy="1143455"/>
          </a:xfrm>
          <a:prstGeom prst="rect">
            <a:avLst/>
          </a:prstGeom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40C2CCBA-4E1D-3A3B-542F-B4ACC7D7DBAD}"/>
              </a:ext>
            </a:extLst>
          </p:cNvPr>
          <p:cNvGrpSpPr/>
          <p:nvPr/>
        </p:nvGrpSpPr>
        <p:grpSpPr>
          <a:xfrm>
            <a:off x="1508787" y="0"/>
            <a:ext cx="9159213" cy="304800"/>
            <a:chOff x="1143000" y="857250"/>
            <a:chExt cx="6858000" cy="162000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A1815C64-3024-75F8-6AC5-869F89444FDE}"/>
                </a:ext>
              </a:extLst>
            </p:cNvPr>
            <p:cNvSpPr/>
            <p:nvPr/>
          </p:nvSpPr>
          <p:spPr>
            <a:xfrm>
              <a:off x="4572000" y="857250"/>
              <a:ext cx="3429000" cy="162000"/>
            </a:xfrm>
            <a:prstGeom prst="rect">
              <a:avLst/>
            </a:prstGeom>
            <a:solidFill>
              <a:srgbClr val="341BF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42900">
                <a:defRPr/>
              </a:pPr>
              <a:endParaRPr lang="en-IN" sz="1350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44ADBD06-79D6-2925-3AF8-7D0CF6747C7B}"/>
                </a:ext>
              </a:extLst>
            </p:cNvPr>
            <p:cNvSpPr/>
            <p:nvPr/>
          </p:nvSpPr>
          <p:spPr>
            <a:xfrm>
              <a:off x="1143000" y="857250"/>
              <a:ext cx="3429000" cy="16200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42900">
                <a:defRPr/>
              </a:pPr>
              <a:endParaRPr lang="en-IN" sz="1350">
                <a:solidFill>
                  <a:prstClr val="white"/>
                </a:solidFill>
                <a:latin typeface="Aptos" panose="02110004020202020204"/>
              </a:endParaRP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106CFBC4-5F21-F275-9EBD-9D9241AC9F11}"/>
              </a:ext>
            </a:extLst>
          </p:cNvPr>
          <p:cNvGrpSpPr/>
          <p:nvPr/>
        </p:nvGrpSpPr>
        <p:grpSpPr>
          <a:xfrm>
            <a:off x="1506502" y="6556237"/>
            <a:ext cx="9159213" cy="304800"/>
            <a:chOff x="1143000" y="857250"/>
            <a:chExt cx="6858000" cy="162000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B2948CE7-0FC8-1E4D-141E-056A81D5DA70}"/>
                </a:ext>
              </a:extLst>
            </p:cNvPr>
            <p:cNvSpPr/>
            <p:nvPr/>
          </p:nvSpPr>
          <p:spPr>
            <a:xfrm>
              <a:off x="4572000" y="857250"/>
              <a:ext cx="3429000" cy="162000"/>
            </a:xfrm>
            <a:prstGeom prst="rect">
              <a:avLst/>
            </a:prstGeom>
            <a:solidFill>
              <a:srgbClr val="341BF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42900">
                <a:defRPr/>
              </a:pPr>
              <a:endParaRPr lang="en-IN" sz="1350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F0C2A5FB-F07D-39FF-D06E-537DECD7D789}"/>
                </a:ext>
              </a:extLst>
            </p:cNvPr>
            <p:cNvSpPr/>
            <p:nvPr/>
          </p:nvSpPr>
          <p:spPr>
            <a:xfrm>
              <a:off x="1143000" y="857250"/>
              <a:ext cx="3429000" cy="16200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42900">
                <a:defRPr/>
              </a:pPr>
              <a:endParaRPr lang="en-IN" sz="1350">
                <a:solidFill>
                  <a:prstClr val="white"/>
                </a:solidFill>
                <a:latin typeface="Aptos" panose="02110004020202020204"/>
              </a:endParaRPr>
            </a:p>
          </p:txBody>
        </p:sp>
      </p:grp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B52F8087-46DF-0F35-8A5E-49FD091129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80006813"/>
              </p:ext>
            </p:extLst>
          </p:nvPr>
        </p:nvGraphicFramePr>
        <p:xfrm>
          <a:off x="1223764" y="1246142"/>
          <a:ext cx="8742434" cy="4966604"/>
        </p:xfrm>
        <a:graphic>
          <a:graphicData uri="http://schemas.openxmlformats.org/drawingml/2006/table">
            <a:tbl>
              <a:tblPr/>
              <a:tblGrid>
                <a:gridCol w="2507520">
                  <a:extLst>
                    <a:ext uri="{9D8B030D-6E8A-4147-A177-3AD203B41FA5}">
                      <a16:colId xmlns:a16="http://schemas.microsoft.com/office/drawing/2014/main" val="3259460763"/>
                    </a:ext>
                  </a:extLst>
                </a:gridCol>
                <a:gridCol w="3117457">
                  <a:extLst>
                    <a:ext uri="{9D8B030D-6E8A-4147-A177-3AD203B41FA5}">
                      <a16:colId xmlns:a16="http://schemas.microsoft.com/office/drawing/2014/main" val="4056401643"/>
                    </a:ext>
                  </a:extLst>
                </a:gridCol>
                <a:gridCol w="3117457">
                  <a:extLst>
                    <a:ext uri="{9D8B030D-6E8A-4147-A177-3AD203B41FA5}">
                      <a16:colId xmlns:a16="http://schemas.microsoft.com/office/drawing/2014/main" val="903905466"/>
                    </a:ext>
                  </a:extLst>
                </a:gridCol>
              </a:tblGrid>
              <a:tr h="521835">
                <a:tc gridSpan="3">
                  <a:txBody>
                    <a:bodyPr/>
                    <a:lstStyle/>
                    <a:p>
                      <a:pPr algn="l" fontAlgn="base">
                        <a:lnSpc>
                          <a:spcPts val="1275"/>
                        </a:lnSpc>
                        <a:buNone/>
                      </a:pPr>
                      <a:r>
                        <a:rPr lang="en-US" sz="1100" b="1" i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UNIT WISE DETAILS</a:t>
                      </a:r>
                      <a:r>
                        <a:rPr lang="en-US" sz="1100" b="0" i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​</a:t>
                      </a:r>
                      <a:endParaRPr lang="en-US" sz="2000" b="0" i="0" dirty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algn="l" fontAlgn="base">
                        <a:lnSpc>
                          <a:spcPts val="1275"/>
                        </a:lnSpc>
                        <a:buNone/>
                      </a:pPr>
                      <a:r>
                        <a:rPr lang="en-US" sz="1100" b="0" i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​</a:t>
                      </a:r>
                      <a:endParaRPr lang="en-US" sz="2000" b="0" i="0" dirty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algn="l" fontAlgn="base">
                        <a:lnSpc>
                          <a:spcPts val="1275"/>
                        </a:lnSpc>
                        <a:buNone/>
                      </a:pPr>
                      <a:r>
                        <a:rPr lang="en-US" sz="1100" b="0" i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​</a:t>
                      </a:r>
                      <a:endParaRPr lang="en-US" sz="2000" b="0" i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81325" marR="81325" marT="40662" marB="40662" anchor="b">
                    <a:lnL w="126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09482948"/>
                  </a:ext>
                </a:extLst>
              </a:tr>
              <a:tr h="228162">
                <a:tc>
                  <a:txBody>
                    <a:bodyPr/>
                    <a:lstStyle/>
                    <a:p>
                      <a:pPr algn="ctr" fontAlgn="base">
                        <a:lnSpc>
                          <a:spcPts val="1275"/>
                        </a:lnSpc>
                        <a:buNone/>
                      </a:pPr>
                      <a:r>
                        <a:rPr lang="en-US" sz="1100" b="1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Unit Number: 1</a:t>
                      </a:r>
                      <a:r>
                        <a:rPr lang="en-US" sz="11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​</a:t>
                      </a:r>
                      <a:endParaRPr lang="en-US" sz="20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81325" marR="81325" marT="40662" marB="40662" anchor="ctr">
                    <a:lnL w="126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1275"/>
                        </a:lnSpc>
                        <a:buNone/>
                      </a:pPr>
                      <a:r>
                        <a:rPr lang="en-US" sz="1100" b="1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Title:   Water technology</a:t>
                      </a:r>
                      <a:r>
                        <a:rPr lang="en-US" sz="11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​</a:t>
                      </a:r>
                      <a:endParaRPr lang="en-US" sz="20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81325" marR="81325" marT="40662" marB="40662" anchor="ctr">
                    <a:lnL w="126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1275"/>
                        </a:lnSpc>
                        <a:buNone/>
                      </a:pPr>
                      <a:r>
                        <a:rPr lang="en-US" sz="1100" b="1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No. of hours:  6  </a:t>
                      </a:r>
                      <a:r>
                        <a:rPr lang="en-US" sz="11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​</a:t>
                      </a:r>
                      <a:endParaRPr lang="en-US" sz="20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81325" marR="81325" marT="40662" marB="40662" anchor="ctr">
                    <a:lnL w="126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0022993"/>
                  </a:ext>
                </a:extLst>
              </a:tr>
              <a:tr h="668672">
                <a:tc gridSpan="3">
                  <a:txBody>
                    <a:bodyPr/>
                    <a:lstStyle/>
                    <a:p>
                      <a:pPr algn="just" fontAlgn="base">
                        <a:lnSpc>
                          <a:spcPts val="1275"/>
                        </a:lnSpc>
                        <a:buNone/>
                      </a:pPr>
                      <a:r>
                        <a:rPr lang="en-US" sz="1100" b="1" i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Content Summary: </a:t>
                      </a:r>
                      <a:r>
                        <a:rPr lang="en-US" sz="1100" b="0" i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​</a:t>
                      </a:r>
                      <a:endParaRPr lang="en-US" sz="2000" b="0" i="0" dirty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algn="just" fontAlgn="base">
                        <a:lnSpc>
                          <a:spcPts val="1275"/>
                        </a:lnSpc>
                        <a:buNone/>
                      </a:pPr>
                      <a:r>
                        <a:rPr lang="en-US" sz="1100" b="0" i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Introduction, water analysis: Hardness-determination by EDTA method, Treatment of boiler feed water: Internal treatment (Phosphate, Colloidal and Calgon conditioning). External treatments: Ion exchange and lime-soda process, Zeolite processes. Boiler scales formation and ill effects, methods of prevention of scales. Numerical problems ​</a:t>
                      </a:r>
                      <a:endParaRPr lang="en-US" sz="2000" b="0" i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81325" marR="81325" marT="40662" marB="40662" anchor="ctr">
                    <a:lnL w="126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8543698"/>
                  </a:ext>
                </a:extLst>
              </a:tr>
              <a:tr h="228162">
                <a:tc>
                  <a:txBody>
                    <a:bodyPr/>
                    <a:lstStyle/>
                    <a:p>
                      <a:pPr algn="ctr" fontAlgn="base">
                        <a:lnSpc>
                          <a:spcPts val="1275"/>
                        </a:lnSpc>
                        <a:buNone/>
                      </a:pPr>
                      <a:r>
                        <a:rPr lang="en-US" sz="1100" b="1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Unit Number: 2</a:t>
                      </a:r>
                      <a:r>
                        <a:rPr lang="en-US" sz="11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​</a:t>
                      </a:r>
                      <a:endParaRPr lang="en-US" sz="20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81325" marR="81325" marT="40662" marB="40662" anchor="ctr">
                    <a:lnL w="126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1275"/>
                        </a:lnSpc>
                        <a:buNone/>
                      </a:pPr>
                      <a:r>
                        <a:rPr lang="en-US" sz="1100" b="1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Title:   Chemical Fuels</a:t>
                      </a:r>
                      <a:r>
                        <a:rPr lang="en-US" sz="11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​</a:t>
                      </a:r>
                      <a:endParaRPr lang="en-US" sz="20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81325" marR="81325" marT="40662" marB="40662" anchor="ctr">
                    <a:lnL w="126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1275"/>
                        </a:lnSpc>
                        <a:buNone/>
                      </a:pPr>
                      <a:r>
                        <a:rPr lang="en-US" sz="1100" b="1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No. of hours:  9</a:t>
                      </a:r>
                      <a:r>
                        <a:rPr lang="en-US" sz="11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​</a:t>
                      </a:r>
                      <a:endParaRPr lang="en-US" sz="20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81325" marR="81325" marT="40662" marB="40662" anchor="ctr">
                    <a:lnL w="126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9078671"/>
                  </a:ext>
                </a:extLst>
              </a:tr>
              <a:tr h="962345">
                <a:tc gridSpan="3">
                  <a:txBody>
                    <a:bodyPr/>
                    <a:lstStyle/>
                    <a:p>
                      <a:pPr algn="just" fontAlgn="base">
                        <a:lnSpc>
                          <a:spcPts val="1275"/>
                        </a:lnSpc>
                        <a:buNone/>
                      </a:pPr>
                      <a:r>
                        <a:rPr lang="en-US" sz="1100" b="1" i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Content Summary: </a:t>
                      </a:r>
                      <a:r>
                        <a:rPr lang="en-US" sz="1100" b="0" i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​</a:t>
                      </a:r>
                      <a:endParaRPr lang="en-US" sz="2000" b="0" i="0" dirty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algn="just" fontAlgn="base">
                        <a:lnSpc>
                          <a:spcPts val="1275"/>
                        </a:lnSpc>
                        <a:buNone/>
                      </a:pPr>
                      <a:r>
                        <a:rPr lang="en-US" sz="1100" b="0" i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Fuels: Introduction, classification, calorific value (HCV &amp; LCV), Determination of calorific value of fuel using Bomb calorimeter.  ​</a:t>
                      </a:r>
                      <a:endParaRPr lang="en-US" sz="2000" b="0" i="0" dirty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algn="just" fontAlgn="base">
                        <a:lnSpc>
                          <a:spcPts val="1275"/>
                        </a:lnSpc>
                        <a:buNone/>
                      </a:pPr>
                      <a:r>
                        <a:rPr lang="en-US" sz="1100" b="0" i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Solid fuel: Coal- its analysis by proximate and ultimate analysis, Numerical problems. ​</a:t>
                      </a:r>
                      <a:endParaRPr lang="en-US" sz="2000" b="0" i="0" dirty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algn="just" fontAlgn="base">
                        <a:lnSpc>
                          <a:spcPts val="1275"/>
                        </a:lnSpc>
                        <a:buNone/>
                      </a:pPr>
                      <a:r>
                        <a:rPr lang="en-US" sz="1100" b="0" i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Liquid fuels: Refining of petroleum, Petroleum cracking, Knocking in IC engine, its ill effects and prevention of knocking. Anti-knocking agent: Leaded and unleaded petrol.  ​</a:t>
                      </a:r>
                      <a:endParaRPr lang="en-US" sz="2000" b="0" i="0" dirty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algn="just" fontAlgn="base">
                        <a:lnSpc>
                          <a:spcPts val="1275"/>
                        </a:lnSpc>
                        <a:buNone/>
                      </a:pPr>
                      <a:r>
                        <a:rPr lang="en-US" sz="1100" b="0" i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Gaseous fuels: LPG, CNG and their applications. ​</a:t>
                      </a:r>
                      <a:endParaRPr lang="en-US" sz="2000" b="0" i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81325" marR="81325" marT="40662" marB="40662" anchor="ctr">
                    <a:lnL w="126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16600121"/>
                  </a:ext>
                </a:extLst>
              </a:tr>
              <a:tr h="228162">
                <a:tc>
                  <a:txBody>
                    <a:bodyPr/>
                    <a:lstStyle/>
                    <a:p>
                      <a:pPr algn="ctr" fontAlgn="base">
                        <a:lnSpc>
                          <a:spcPts val="1275"/>
                        </a:lnSpc>
                        <a:buNone/>
                      </a:pPr>
                      <a:r>
                        <a:rPr lang="en-US" sz="1100" b="1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Unit Number: 3</a:t>
                      </a:r>
                      <a:r>
                        <a:rPr lang="en-US" sz="11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​</a:t>
                      </a:r>
                      <a:endParaRPr lang="en-US" sz="20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81325" marR="81325" marT="40662" marB="40662" anchor="ctr">
                    <a:lnL w="126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1275"/>
                        </a:lnSpc>
                        <a:buNone/>
                      </a:pPr>
                      <a:r>
                        <a:rPr lang="en-US" sz="1100" b="1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Title:   Battery Technology</a:t>
                      </a:r>
                      <a:r>
                        <a:rPr lang="en-US" sz="11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​</a:t>
                      </a:r>
                      <a:endParaRPr lang="en-US" sz="20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81325" marR="81325" marT="40662" marB="40662" anchor="ctr">
                    <a:lnL w="126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1275"/>
                        </a:lnSpc>
                        <a:buNone/>
                      </a:pPr>
                      <a:r>
                        <a:rPr lang="en-US" sz="1100" b="1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No. of hours:  10</a:t>
                      </a:r>
                      <a:r>
                        <a:rPr lang="en-US" sz="11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​</a:t>
                      </a:r>
                      <a:endParaRPr lang="en-US" sz="20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81325" marR="81325" marT="40662" marB="40662" anchor="ctr">
                    <a:lnL w="126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28997081"/>
                  </a:ext>
                </a:extLst>
              </a:tr>
              <a:tr h="668672">
                <a:tc gridSpan="3">
                  <a:txBody>
                    <a:bodyPr/>
                    <a:lstStyle/>
                    <a:p>
                      <a:pPr algn="l" fontAlgn="base">
                        <a:lnSpc>
                          <a:spcPts val="1275"/>
                        </a:lnSpc>
                        <a:buNone/>
                      </a:pPr>
                      <a:r>
                        <a:rPr lang="en-US" sz="1100" b="1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Content Summary: </a:t>
                      </a:r>
                      <a:r>
                        <a:rPr lang="en-US" sz="11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​</a:t>
                      </a:r>
                      <a:endParaRPr lang="en-US" sz="2000" b="0" i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algn="just" fontAlgn="base">
                        <a:lnSpc>
                          <a:spcPts val="1275"/>
                        </a:lnSpc>
                        <a:buNone/>
                      </a:pPr>
                      <a:r>
                        <a:rPr lang="en-US" sz="11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Introduction - Galvanic cell, electrode potential, EMF of the cell and cell representation. Batteries and their importance, Classification of batteries- primary, secondary and reserve batteries with examples. Battery characteristics - voltage, capacity, energy density, power density, energy efficiency, cycle life and shelf life. ​</a:t>
                      </a:r>
                      <a:endParaRPr lang="en-US" sz="2000" b="0" i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algn="just" fontAlgn="base">
                        <a:lnSpc>
                          <a:spcPts val="1275"/>
                        </a:lnSpc>
                        <a:buNone/>
                      </a:pPr>
                      <a:r>
                        <a:rPr lang="en-US" sz="11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Construction, working and applications of: Ni-Cd, and Lithium-ion battery. Working principle of an electric vehicle. ​</a:t>
                      </a:r>
                      <a:endParaRPr lang="en-US" sz="20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81325" marR="81325" marT="40662" marB="40662" anchor="ctr">
                    <a:lnL w="126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04770376"/>
                  </a:ext>
                </a:extLst>
              </a:tr>
              <a:tr h="228162">
                <a:tc>
                  <a:txBody>
                    <a:bodyPr/>
                    <a:lstStyle/>
                    <a:p>
                      <a:pPr algn="ctr" fontAlgn="base">
                        <a:lnSpc>
                          <a:spcPts val="1275"/>
                        </a:lnSpc>
                        <a:buNone/>
                      </a:pPr>
                      <a:r>
                        <a:rPr lang="en-US" sz="1100" b="1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Unit Number: 4</a:t>
                      </a:r>
                      <a:r>
                        <a:rPr lang="en-US" sz="11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​</a:t>
                      </a:r>
                      <a:endParaRPr lang="en-US" sz="20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81325" marR="81325" marT="40662" marB="40662" anchor="ctr">
                    <a:lnL w="126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1275"/>
                        </a:lnSpc>
                        <a:buNone/>
                      </a:pPr>
                      <a:r>
                        <a:rPr lang="en-US" sz="1100" b="1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Title:   Polymer</a:t>
                      </a:r>
                      <a:r>
                        <a:rPr lang="en-US" sz="11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​</a:t>
                      </a:r>
                      <a:endParaRPr lang="en-US" sz="20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81325" marR="81325" marT="40662" marB="40662" anchor="ctr">
                    <a:lnL w="126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ase">
                        <a:lnSpc>
                          <a:spcPts val="1275"/>
                        </a:lnSpc>
                        <a:buNone/>
                      </a:pPr>
                      <a:r>
                        <a:rPr lang="en-US" sz="1100" b="1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No. of hours:  5</a:t>
                      </a:r>
                      <a:r>
                        <a:rPr lang="en-US" sz="11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​</a:t>
                      </a:r>
                      <a:endParaRPr lang="en-US" sz="20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81325" marR="81325" marT="40662" marB="40662" anchor="ctr">
                    <a:lnL w="126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16421614"/>
                  </a:ext>
                </a:extLst>
              </a:tr>
              <a:tr h="617166">
                <a:tc gridSpan="3">
                  <a:txBody>
                    <a:bodyPr/>
                    <a:lstStyle/>
                    <a:p>
                      <a:pPr algn="just" fontAlgn="base">
                        <a:lnSpc>
                          <a:spcPts val="1275"/>
                        </a:lnSpc>
                        <a:buNone/>
                      </a:pPr>
                      <a:r>
                        <a:rPr lang="en-US" sz="1100" b="1" i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Content Summary:</a:t>
                      </a:r>
                      <a:r>
                        <a:rPr lang="en-US" sz="1100" b="0" i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​</a:t>
                      </a:r>
                      <a:endParaRPr lang="en-US" sz="2000" b="0" i="0" dirty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algn="just" fontAlgn="base">
                        <a:lnSpc>
                          <a:spcPts val="1800"/>
                        </a:lnSpc>
                        <a:buNone/>
                      </a:pPr>
                      <a:r>
                        <a:rPr lang="en-US" sz="1100" b="0" i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Basic concepts of polymer, Types of polymers, Thermoplastic &amp; thermosetting plastics, Preparation and application of some industrially important polymers (Natural rubber, Buna S, Buna-N, Neoprene, Isoprene, Nylon-6, nylon-6,6 , </a:t>
                      </a:r>
                      <a:r>
                        <a:rPr lang="en-US" sz="1100" b="0" i="0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Decron</a:t>
                      </a:r>
                      <a:r>
                        <a:rPr lang="en-US" sz="1100" b="0" i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and Terylene). Conducting and biodegradable polymers. ​</a:t>
                      </a:r>
                      <a:endParaRPr lang="en-US" sz="2000" b="0" i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81325" marR="81325" marT="40662" marB="40662" anchor="ctr">
                    <a:lnL w="126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6335331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073669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0F95288-229F-A949-3EFC-A483F9FC7EE6}"/>
              </a:ext>
            </a:extLst>
          </p:cNvPr>
          <p:cNvSpPr txBox="1"/>
          <p:nvPr/>
        </p:nvSpPr>
        <p:spPr>
          <a:xfrm>
            <a:off x="2152650" y="713312"/>
            <a:ext cx="3101521" cy="54313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/>
            </a:pPr>
            <a:r>
              <a:rPr lang="en-US" sz="4400" b="1" dirty="0">
                <a:latin typeface="+mj-lt"/>
                <a:ea typeface="+mj-ea"/>
                <a:cs typeface="+mj-cs"/>
              </a:rPr>
              <a:t>COURSE OUTCOMES</a:t>
            </a:r>
          </a:p>
        </p:txBody>
      </p:sp>
      <p:graphicFrame>
        <p:nvGraphicFramePr>
          <p:cNvPr id="6" name="TextBox 3">
            <a:extLst>
              <a:ext uri="{FF2B5EF4-FFF2-40B4-BE49-F238E27FC236}">
                <a16:creationId xmlns:a16="http://schemas.microsoft.com/office/drawing/2014/main" id="{590F0FE0-AFB9-64D4-CDDB-4AB43EF06A63}"/>
              </a:ext>
            </a:extLst>
          </p:cNvPr>
          <p:cNvGraphicFramePr/>
          <p:nvPr/>
        </p:nvGraphicFramePr>
        <p:xfrm>
          <a:off x="5657779" y="713313"/>
          <a:ext cx="4381571" cy="543137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pSp>
        <p:nvGrpSpPr>
          <p:cNvPr id="2" name="Group 1">
            <a:extLst>
              <a:ext uri="{FF2B5EF4-FFF2-40B4-BE49-F238E27FC236}">
                <a16:creationId xmlns:a16="http://schemas.microsoft.com/office/drawing/2014/main" id="{F2BEED39-1873-8320-3237-352C01D0983E}"/>
              </a:ext>
            </a:extLst>
          </p:cNvPr>
          <p:cNvGrpSpPr/>
          <p:nvPr/>
        </p:nvGrpSpPr>
        <p:grpSpPr>
          <a:xfrm>
            <a:off x="1508787" y="0"/>
            <a:ext cx="9159213" cy="304800"/>
            <a:chOff x="1143000" y="857250"/>
            <a:chExt cx="6858000" cy="162000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31B28577-A4D6-304B-CF13-E7CCEB82CEE0}"/>
                </a:ext>
              </a:extLst>
            </p:cNvPr>
            <p:cNvSpPr/>
            <p:nvPr/>
          </p:nvSpPr>
          <p:spPr>
            <a:xfrm>
              <a:off x="4572000" y="857250"/>
              <a:ext cx="3429000" cy="162000"/>
            </a:xfrm>
            <a:prstGeom prst="rect">
              <a:avLst/>
            </a:prstGeom>
            <a:solidFill>
              <a:srgbClr val="341BF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42900">
                <a:defRPr/>
              </a:pPr>
              <a:endParaRPr lang="en-IN" sz="1350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C48CD291-A2CA-817A-0BDA-D3418F495547}"/>
                </a:ext>
              </a:extLst>
            </p:cNvPr>
            <p:cNvSpPr/>
            <p:nvPr/>
          </p:nvSpPr>
          <p:spPr>
            <a:xfrm>
              <a:off x="1143000" y="857250"/>
              <a:ext cx="3429000" cy="16200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42900">
                <a:defRPr/>
              </a:pPr>
              <a:endParaRPr lang="en-IN" sz="1350">
                <a:solidFill>
                  <a:prstClr val="white"/>
                </a:solidFill>
                <a:latin typeface="Aptos" panose="02110004020202020204"/>
              </a:endParaRP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19CD19E6-5178-14BF-548C-E2A51E27DDD5}"/>
              </a:ext>
            </a:extLst>
          </p:cNvPr>
          <p:cNvGrpSpPr/>
          <p:nvPr/>
        </p:nvGrpSpPr>
        <p:grpSpPr>
          <a:xfrm>
            <a:off x="1515251" y="6553200"/>
            <a:ext cx="9159213" cy="304800"/>
            <a:chOff x="1143000" y="857250"/>
            <a:chExt cx="6858000" cy="162000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ED6B6FFC-0D2C-1B24-61CC-DC64D7CC7F2D}"/>
                </a:ext>
              </a:extLst>
            </p:cNvPr>
            <p:cNvSpPr/>
            <p:nvPr/>
          </p:nvSpPr>
          <p:spPr>
            <a:xfrm>
              <a:off x="4572000" y="857250"/>
              <a:ext cx="3429000" cy="162000"/>
            </a:xfrm>
            <a:prstGeom prst="rect">
              <a:avLst/>
            </a:prstGeom>
            <a:solidFill>
              <a:srgbClr val="341BF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42900">
                <a:defRPr/>
              </a:pPr>
              <a:endParaRPr lang="en-IN" sz="1350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A23BDCF2-3060-4C52-0D5D-49737F871AF5}"/>
                </a:ext>
              </a:extLst>
            </p:cNvPr>
            <p:cNvSpPr/>
            <p:nvPr/>
          </p:nvSpPr>
          <p:spPr>
            <a:xfrm>
              <a:off x="1143000" y="857250"/>
              <a:ext cx="3429000" cy="16200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42900">
                <a:defRPr/>
              </a:pPr>
              <a:endParaRPr lang="en-IN" sz="1350">
                <a:solidFill>
                  <a:prstClr val="white"/>
                </a:solidFill>
                <a:latin typeface="Aptos" panose="02110004020202020204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9251438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74751229-0244-4FBB-BED1-407467F4C9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8354D5B-63F8-E710-3A8C-4B16476B1DF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97101" y="735283"/>
            <a:ext cx="4978399" cy="3165045"/>
          </a:xfrm>
        </p:spPr>
        <p:txBody>
          <a:bodyPr anchor="b">
            <a:normAutofit/>
          </a:bodyPr>
          <a:lstStyle/>
          <a:p>
            <a:pPr algn="l"/>
            <a:r>
              <a:rPr lang="en-GB" sz="5200" dirty="0"/>
              <a:t>Solid fuel: Coal</a:t>
            </a:r>
            <a:endParaRPr lang="en-IN" sz="52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CDC1FF0-AE54-03A3-00E3-A498FADB4A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97101" y="4078423"/>
            <a:ext cx="4978399" cy="2058657"/>
          </a:xfrm>
        </p:spPr>
        <p:txBody>
          <a:bodyPr>
            <a:normAutofit/>
          </a:bodyPr>
          <a:lstStyle/>
          <a:p>
            <a:pPr algn="l"/>
            <a:r>
              <a:rPr lang="en-GB" dirty="0"/>
              <a:t>analysis by proximate and ultimate analysis</a:t>
            </a:r>
            <a:endParaRPr lang="en-IN" dirty="0"/>
          </a:p>
        </p:txBody>
      </p:sp>
      <p:pic>
        <p:nvPicPr>
          <p:cNvPr id="7" name="Graphic 6" descr="Fire">
            <a:extLst>
              <a:ext uri="{FF2B5EF4-FFF2-40B4-BE49-F238E27FC236}">
                <a16:creationId xmlns:a16="http://schemas.microsoft.com/office/drawing/2014/main" id="{C160A0C4-B3F3-E1F8-45BB-536D1DC37A2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17549" y="2776619"/>
            <a:ext cx="1289051" cy="1289051"/>
          </a:xfrm>
          <a:prstGeom prst="rect">
            <a:avLst/>
          </a:prstGeom>
        </p:spPr>
      </p:pic>
      <p:pic>
        <p:nvPicPr>
          <p:cNvPr id="19" name="Graphic 18" descr="Fire">
            <a:extLst>
              <a:ext uri="{FF2B5EF4-FFF2-40B4-BE49-F238E27FC236}">
                <a16:creationId xmlns:a16="http://schemas.microsoft.com/office/drawing/2014/main" id="{1ACE3C0F-A053-42C5-A2EF-6F2824CB3B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15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07815" y="716407"/>
            <a:ext cx="5411343" cy="54113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99329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7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0CB16336-BAD8-6B00-7E8A-E5F55EA6EC0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1" y="0"/>
            <a:ext cx="9180512" cy="688538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094BCA0-6CA0-CA17-A2C4-83B26AAA3AA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6008" y="6309321"/>
            <a:ext cx="2411760" cy="346691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1962434" y="1442721"/>
            <a:ext cx="8454046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endParaRPr lang="en-US" sz="2000" dirty="0"/>
          </a:p>
        </p:txBody>
      </p:sp>
      <p:pic>
        <p:nvPicPr>
          <p:cNvPr id="10" name="Picture 2"/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205" b="683"/>
          <a:stretch/>
        </p:blipFill>
        <p:spPr bwMode="auto">
          <a:xfrm>
            <a:off x="4439816" y="4213613"/>
            <a:ext cx="2160240" cy="216298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1" name="TextBox 10"/>
          <p:cNvSpPr txBox="1"/>
          <p:nvPr/>
        </p:nvSpPr>
        <p:spPr>
          <a:xfrm>
            <a:off x="4687424" y="182813"/>
            <a:ext cx="288931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COAL – SOLID FUEL</a:t>
            </a:r>
            <a:endParaRPr lang="en-IN" sz="2400" b="1" dirty="0"/>
          </a:p>
        </p:txBody>
      </p:sp>
      <p:sp>
        <p:nvSpPr>
          <p:cNvPr id="12" name="TextBox 11"/>
          <p:cNvSpPr txBox="1"/>
          <p:nvPr/>
        </p:nvSpPr>
        <p:spPr>
          <a:xfrm>
            <a:off x="2647643" y="692696"/>
            <a:ext cx="6624736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Coal is an organic rock as opposed to most other rocks in the earth’s crust such as clays and sandstone, which are inorganic.</a:t>
            </a:r>
          </a:p>
          <a:p>
            <a:endParaRPr lang="en-US" sz="2400" b="1" dirty="0"/>
          </a:p>
          <a:p>
            <a:pPr marL="342900" indent="-342900">
              <a:buFont typeface="Wingdings" pitchFamily="2" charset="2"/>
              <a:buChar char="Ø"/>
            </a:pPr>
            <a:r>
              <a:rPr lang="en-US" sz="2400" b="1" dirty="0"/>
              <a:t>It contains mostly carbon (C)</a:t>
            </a:r>
          </a:p>
          <a:p>
            <a:pPr marL="342900" indent="-342900">
              <a:buFont typeface="Wingdings" pitchFamily="2" charset="2"/>
              <a:buChar char="Ø"/>
            </a:pPr>
            <a:r>
              <a:rPr lang="en-US" sz="2400" b="1" dirty="0"/>
              <a:t>It also has Hydrogen, Oxygen, Sulfur and Nitrogen</a:t>
            </a:r>
          </a:p>
          <a:p>
            <a:pPr marL="342900" indent="-342900">
              <a:buFont typeface="Wingdings" pitchFamily="2" charset="2"/>
              <a:buChar char="Ø"/>
            </a:pPr>
            <a:r>
              <a:rPr lang="en-US" sz="2400" b="1" dirty="0"/>
              <a:t>It also has some inorganic constituents minerals and water.</a:t>
            </a:r>
            <a:endParaRPr lang="en-IN" sz="2400" b="1" dirty="0"/>
          </a:p>
        </p:txBody>
      </p:sp>
    </p:spTree>
    <p:extLst>
      <p:ext uri="{BB962C8B-B14F-4D97-AF65-F5344CB8AC3E}">
        <p14:creationId xmlns:p14="http://schemas.microsoft.com/office/powerpoint/2010/main" val="27921044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5F9DE8F-1AE7-1841-7C6A-92E550E6CC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8688" y="1118493"/>
            <a:ext cx="7668933" cy="51090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09216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0CB16336-BAD8-6B00-7E8A-E5F55EA6EC0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1" y="0"/>
            <a:ext cx="9180512" cy="688538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094BCA0-6CA0-CA17-A2C4-83B26AAA3AA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6008" y="6309321"/>
            <a:ext cx="2411760" cy="346691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1962434" y="1442721"/>
            <a:ext cx="8454046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endParaRPr lang="en-US" sz="2000" dirty="0"/>
          </a:p>
        </p:txBody>
      </p:sp>
      <p:pic>
        <p:nvPicPr>
          <p:cNvPr id="11" name="Picture 2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95" t="31705" r="13909" b="3498"/>
          <a:stretch/>
        </p:blipFill>
        <p:spPr bwMode="auto">
          <a:xfrm>
            <a:off x="2351584" y="548680"/>
            <a:ext cx="7272808" cy="52565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8763381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0CB16336-BAD8-6B00-7E8A-E5F55EA6EC0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1" y="0"/>
            <a:ext cx="9180512" cy="688538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094BCA0-6CA0-CA17-A2C4-83B26AAA3AA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6008" y="6309321"/>
            <a:ext cx="2411760" cy="346691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1962434" y="1442721"/>
            <a:ext cx="8454046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endParaRPr lang="en-US" sz="2000" dirty="0"/>
          </a:p>
        </p:txBody>
      </p:sp>
      <p:pic>
        <p:nvPicPr>
          <p:cNvPr id="11" name="Picture 2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435" r="3772" b="41164"/>
          <a:stretch/>
        </p:blipFill>
        <p:spPr bwMode="auto">
          <a:xfrm>
            <a:off x="2452143" y="1842831"/>
            <a:ext cx="7657045" cy="38072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2" name="TextBox 11"/>
          <p:cNvSpPr txBox="1"/>
          <p:nvPr/>
        </p:nvSpPr>
        <p:spPr>
          <a:xfrm>
            <a:off x="4295801" y="729910"/>
            <a:ext cx="354391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/>
              <a:t>Analysis of Coal</a:t>
            </a:r>
            <a:endParaRPr lang="en-IN" sz="3600" b="1" dirty="0"/>
          </a:p>
        </p:txBody>
      </p:sp>
    </p:spTree>
    <p:extLst>
      <p:ext uri="{BB962C8B-B14F-4D97-AF65-F5344CB8AC3E}">
        <p14:creationId xmlns:p14="http://schemas.microsoft.com/office/powerpoint/2010/main" val="31738203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3">
            <a:extLst>
              <a:ext uri="{FF2B5EF4-FFF2-40B4-BE49-F238E27FC236}">
                <a16:creationId xmlns:a16="http://schemas.microsoft.com/office/drawing/2014/main" id="{AF76EC13-BEC8-6A0D-6134-9F1DA9FE4BA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1" y="0"/>
            <a:ext cx="9180512" cy="688538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F1131DC-CAA3-EDFF-B508-E89E900D35F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6008" y="6309321"/>
            <a:ext cx="2411760" cy="34669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500B8DD1-CC89-9CB6-454E-1BD7FD35D8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11391" y="548076"/>
            <a:ext cx="6458851" cy="591585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8DFDF2A-DF3B-2BE5-27A9-C5840116D30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4364" y="1838425"/>
            <a:ext cx="5316703" cy="38085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94327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A96921FA-38C0-8F34-982B-CDEA41BD6FC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1" y="0"/>
            <a:ext cx="9180512" cy="688538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76D00AD-12F6-6831-B038-A520F743DE1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6008" y="6309321"/>
            <a:ext cx="2411760" cy="34669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DBEFCF0-6BB5-AF7E-C5C9-A8BFB464FAE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61758" y="1085523"/>
            <a:ext cx="6868484" cy="46869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9548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0CB16336-BAD8-6B00-7E8A-E5F55EA6EC0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1" y="0"/>
            <a:ext cx="9180512" cy="688538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094BCA0-6CA0-CA17-A2C4-83B26AAA3AA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6008" y="6309321"/>
            <a:ext cx="2411760" cy="346691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1962434" y="1442721"/>
            <a:ext cx="8454046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endParaRPr lang="en-US" sz="2000" dirty="0"/>
          </a:p>
        </p:txBody>
      </p:sp>
      <p:pic>
        <p:nvPicPr>
          <p:cNvPr id="12" name="Picture 2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49" t="17970" r="1661" b="8696"/>
          <a:stretch/>
        </p:blipFill>
        <p:spPr bwMode="auto">
          <a:xfrm>
            <a:off x="2477853" y="620689"/>
            <a:ext cx="7272808" cy="52935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49882811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AF8E17-3BF5-9751-942D-65A32277A9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BBD2D022-93FA-2A31-2E26-7E72B3C3CD69}"/>
              </a:ext>
            </a:extLst>
          </p:cNvPr>
          <p:cNvPicPr>
            <a:picLocks noGrp="1" noChangeAspect="1"/>
          </p:cNvPicPr>
          <p:nvPr>
            <p:ph idx="4294967295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5744" y="0"/>
            <a:ext cx="9180512" cy="6884988"/>
          </a:xfr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2F22722-7D99-9D55-209A-9C9256023D95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6008" y="6309321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42148AE-576B-FD01-C9AA-823C813591F2}"/>
              </a:ext>
            </a:extLst>
          </p:cNvPr>
          <p:cNvSpPr txBox="1"/>
          <p:nvPr/>
        </p:nvSpPr>
        <p:spPr>
          <a:xfrm>
            <a:off x="1703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fontAlgn="base">
              <a:lnSpc>
                <a:spcPct val="107000"/>
              </a:lnSpc>
            </a:pPr>
            <a:r>
              <a:rPr lang="en-US" kern="100" dirty="0">
                <a:solidFill>
                  <a:srgbClr val="000000"/>
                </a:solidFill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8" name="Picture 3"/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539" t="8368" r="5388" b="8980"/>
          <a:stretch/>
        </p:blipFill>
        <p:spPr bwMode="auto">
          <a:xfrm>
            <a:off x="2279577" y="945930"/>
            <a:ext cx="7693573" cy="493134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08608048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4294967295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03512" y="-13494"/>
            <a:ext cx="9180512" cy="6884988"/>
          </a:xfr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6008" y="6309321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E24D516-77C6-C96A-5F77-D099623448D8}"/>
              </a:ext>
            </a:extLst>
          </p:cNvPr>
          <p:cNvSpPr txBox="1"/>
          <p:nvPr/>
        </p:nvSpPr>
        <p:spPr>
          <a:xfrm>
            <a:off x="1703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fontAlgn="base">
              <a:lnSpc>
                <a:spcPct val="107000"/>
              </a:lnSpc>
            </a:pPr>
            <a:r>
              <a:rPr lang="en-US" kern="100" dirty="0">
                <a:solidFill>
                  <a:srgbClr val="000000"/>
                </a:solidFill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11" name="Picture 3"/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57" t="34635" r="15825" b="11444"/>
          <a:stretch/>
        </p:blipFill>
        <p:spPr bwMode="auto">
          <a:xfrm>
            <a:off x="548824" y="1109564"/>
            <a:ext cx="6917887" cy="4273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F2BBA4C4-E5EC-6645-1699-41968E38AAB5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16877" t="7070" r="22379" b="10803"/>
          <a:stretch>
            <a:fillRect/>
          </a:stretch>
        </p:blipFill>
        <p:spPr>
          <a:xfrm>
            <a:off x="7322119" y="1109564"/>
            <a:ext cx="4581849" cy="34844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581224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BCC65101-0EC9-3C49-840F-5D5687AB8F7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1" y="0"/>
            <a:ext cx="9180512" cy="688538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F1440C6-6DFE-D44D-FA5C-679E3E6A389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6008" y="6309321"/>
            <a:ext cx="2411760" cy="34669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8AC62A8-6B75-BB04-8252-AD674CCD7CE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7495" y="923575"/>
            <a:ext cx="6697010" cy="5010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839349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EE364391-4304-5FE3-E0E4-6976B5C5CBE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1" y="0"/>
            <a:ext cx="9180512" cy="688538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90760C8-A2E3-8F8B-C6D1-194C8A53190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6008" y="6309321"/>
            <a:ext cx="2411760" cy="34669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7E91BA5C-538E-6D30-ADEA-FF1EEAE9312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56995" y="761628"/>
            <a:ext cx="6878010" cy="53347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402746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4294967295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11488" y="0"/>
            <a:ext cx="9180512" cy="6884988"/>
          </a:xfrm>
        </p:spPr>
      </p:pic>
      <p:cxnSp>
        <p:nvCxnSpPr>
          <p:cNvPr id="7" name="Straight Connector 6"/>
          <p:cNvCxnSpPr/>
          <p:nvPr/>
        </p:nvCxnSpPr>
        <p:spPr>
          <a:xfrm>
            <a:off x="1524001" y="73110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6008" y="6309321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E24D516-77C6-C96A-5F77-D099623448D8}"/>
              </a:ext>
            </a:extLst>
          </p:cNvPr>
          <p:cNvSpPr txBox="1"/>
          <p:nvPr/>
        </p:nvSpPr>
        <p:spPr>
          <a:xfrm>
            <a:off x="1703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fontAlgn="base">
              <a:lnSpc>
                <a:spcPct val="107000"/>
              </a:lnSpc>
            </a:pPr>
            <a:r>
              <a:rPr lang="en-US" kern="100" dirty="0">
                <a:solidFill>
                  <a:srgbClr val="000000"/>
                </a:solidFill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10" name="Picture 3"/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861" t="31608" r="20550"/>
          <a:stretch/>
        </p:blipFill>
        <p:spPr bwMode="auto">
          <a:xfrm>
            <a:off x="2411810" y="1480232"/>
            <a:ext cx="7056784" cy="47293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53629293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2B6BB300-DAE2-0686-9DDC-F44BEA0058C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1" y="0"/>
            <a:ext cx="9180512" cy="688538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2F38D45-4846-0E03-68E2-FCCF6595054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6008" y="6309321"/>
            <a:ext cx="2411760" cy="34669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8D1692EF-0188-104C-0E8B-789ED39141B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24246" y="956917"/>
            <a:ext cx="6929732" cy="5424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622151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36DC4DD3-6BE9-23F2-2CC9-74FF6F75A9A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1" y="0"/>
            <a:ext cx="9180512" cy="688538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A00210B-5794-9ACE-E21A-9060625D3E0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6008" y="6309321"/>
            <a:ext cx="2411760" cy="34669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BBFAB72-72DB-9B67-6677-37CEA5518F9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71311" y="1080760"/>
            <a:ext cx="6649378" cy="4696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989925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4294967295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11488" y="0"/>
            <a:ext cx="9180512" cy="6884988"/>
          </a:xfr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6008" y="6309321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E24D516-77C6-C96A-5F77-D099623448D8}"/>
              </a:ext>
            </a:extLst>
          </p:cNvPr>
          <p:cNvSpPr txBox="1"/>
          <p:nvPr/>
        </p:nvSpPr>
        <p:spPr>
          <a:xfrm>
            <a:off x="1703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fontAlgn="base">
              <a:lnSpc>
                <a:spcPct val="107000"/>
              </a:lnSpc>
            </a:pPr>
            <a:r>
              <a:rPr lang="en-US" kern="100" dirty="0">
                <a:solidFill>
                  <a:srgbClr val="000000"/>
                </a:solidFill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10" name="Picture 2"/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825" t="7316" r="1075" b="12648"/>
          <a:stretch/>
        </p:blipFill>
        <p:spPr bwMode="auto">
          <a:xfrm>
            <a:off x="2019351" y="444548"/>
            <a:ext cx="7848872" cy="58647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07522250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4294967295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11488" y="0"/>
            <a:ext cx="9180512" cy="6884988"/>
          </a:xfr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6008" y="6309321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E24D516-77C6-C96A-5F77-D099623448D8}"/>
              </a:ext>
            </a:extLst>
          </p:cNvPr>
          <p:cNvSpPr txBox="1"/>
          <p:nvPr/>
        </p:nvSpPr>
        <p:spPr>
          <a:xfrm>
            <a:off x="1703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fontAlgn="base">
              <a:lnSpc>
                <a:spcPct val="107000"/>
              </a:lnSpc>
            </a:pPr>
            <a:r>
              <a:rPr lang="en-US" kern="100" dirty="0">
                <a:solidFill>
                  <a:srgbClr val="000000"/>
                </a:solidFill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10" name="Picture 2"/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2" t="8333" r="9779"/>
          <a:stretch/>
        </p:blipFill>
        <p:spPr bwMode="auto">
          <a:xfrm>
            <a:off x="2279576" y="808999"/>
            <a:ext cx="7560840" cy="53581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47507711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4294967295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11488" y="0"/>
            <a:ext cx="9180512" cy="6884988"/>
          </a:xfr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6008" y="6309321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E24D516-77C6-C96A-5F77-D099623448D8}"/>
              </a:ext>
            </a:extLst>
          </p:cNvPr>
          <p:cNvSpPr txBox="1"/>
          <p:nvPr/>
        </p:nvSpPr>
        <p:spPr>
          <a:xfrm>
            <a:off x="1703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fontAlgn="base">
              <a:lnSpc>
                <a:spcPct val="107000"/>
              </a:lnSpc>
            </a:pPr>
            <a:r>
              <a:rPr lang="en-US" kern="100" dirty="0">
                <a:solidFill>
                  <a:srgbClr val="000000"/>
                </a:solidFill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FEE1B99-B51C-4A5A-108B-8445DFED19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03512" y="151594"/>
            <a:ext cx="8424936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3200" b="1" kern="1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IN" sz="3200" b="1" dirty="0">
              <a:solidFill>
                <a:srgbClr val="E31E24"/>
              </a:solidFill>
              <a:latin typeface="Verdana" panose="020B0604030504040204" pitchFamily="34" charset="0"/>
              <a:ea typeface="Verdana" panose="020B0604030504040204" pitchFamily="34" charset="0"/>
              <a:cs typeface="Times New Roman" panose="02020603050405020304" pitchFamily="18" charset="0"/>
              <a:sym typeface="Arial"/>
            </a:endParaRPr>
          </a:p>
        </p:txBody>
      </p:sp>
      <p:pic>
        <p:nvPicPr>
          <p:cNvPr id="11" name="Picture 2"/>
          <p:cNvPicPr>
            <a:picLocks noChangeAspect="1" noChangeArrowheads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14" t="29907" r="10077" b="21807"/>
          <a:stretch/>
        </p:blipFill>
        <p:spPr bwMode="auto">
          <a:xfrm>
            <a:off x="2423592" y="1293834"/>
            <a:ext cx="7092788" cy="213439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2" name="Picture 2"/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14" t="31998" r="5567" b="30986"/>
          <a:stretch/>
        </p:blipFill>
        <p:spPr bwMode="auto">
          <a:xfrm>
            <a:off x="2000994" y="4210050"/>
            <a:ext cx="8109148" cy="18924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3" name="TextBox 12"/>
          <p:cNvSpPr txBox="1"/>
          <p:nvPr/>
        </p:nvSpPr>
        <p:spPr>
          <a:xfrm>
            <a:off x="3599770" y="443981"/>
            <a:ext cx="563506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/>
              <a:t>Determination of % Moisture:</a:t>
            </a:r>
            <a:endParaRPr lang="en-IN" sz="3200" b="1" dirty="0"/>
          </a:p>
        </p:txBody>
      </p:sp>
      <p:sp>
        <p:nvSpPr>
          <p:cNvPr id="14" name="TextBox 13"/>
          <p:cNvSpPr txBox="1"/>
          <p:nvPr/>
        </p:nvSpPr>
        <p:spPr>
          <a:xfrm>
            <a:off x="3599769" y="3483812"/>
            <a:ext cx="593143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/>
              <a:t>Determination of % Volatile matter:</a:t>
            </a:r>
            <a:endParaRPr lang="en-IN" sz="2800" b="1" dirty="0"/>
          </a:p>
        </p:txBody>
      </p:sp>
    </p:spTree>
    <p:extLst>
      <p:ext uri="{BB962C8B-B14F-4D97-AF65-F5344CB8AC3E}">
        <p14:creationId xmlns:p14="http://schemas.microsoft.com/office/powerpoint/2010/main" val="3868200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12A407-A970-387F-6CDF-D77CB543E8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85AB84C9-3B28-7916-53DA-DEAE19B4E4A1}"/>
              </a:ext>
            </a:extLst>
          </p:cNvPr>
          <p:cNvPicPr>
            <a:picLocks noGrp="1" noChangeAspect="1"/>
          </p:cNvPicPr>
          <p:nvPr>
            <p:ph idx="4294967295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11488" y="0"/>
            <a:ext cx="9180512" cy="6884988"/>
          </a:xfr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4291348-09B9-D6D5-CA37-65729790515D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6008" y="6309321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F514779-F3EE-3180-66B1-0259EA27292E}"/>
              </a:ext>
            </a:extLst>
          </p:cNvPr>
          <p:cNvSpPr txBox="1"/>
          <p:nvPr/>
        </p:nvSpPr>
        <p:spPr>
          <a:xfrm>
            <a:off x="1703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fontAlgn="base">
              <a:lnSpc>
                <a:spcPct val="107000"/>
              </a:lnSpc>
            </a:pPr>
            <a:r>
              <a:rPr lang="en-US" kern="100" dirty="0">
                <a:solidFill>
                  <a:srgbClr val="000000"/>
                </a:solidFill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8" name="Picture 2"/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26" t="10820" r="12971" b="14369"/>
          <a:stretch/>
        </p:blipFill>
        <p:spPr bwMode="auto">
          <a:xfrm>
            <a:off x="1996966" y="692697"/>
            <a:ext cx="8203490" cy="525658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43302057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C62235FE-A6F8-89ED-92DA-4CA9BAD954F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1" y="0"/>
            <a:ext cx="9180512" cy="688538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BC6559E-0CC9-6E16-ED63-F2EDF7ED173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6008" y="6309321"/>
            <a:ext cx="2411760" cy="34669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8E10009-CF29-C655-5D7B-BA09D867DD7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32540" y="866274"/>
            <a:ext cx="7973678" cy="4553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434835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8A8566A8-838E-D5EA-D63F-33548213F75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1" y="0"/>
            <a:ext cx="9180512" cy="688538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73EA7D0-568A-A274-9A1D-B6954DB223E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6008" y="6309321"/>
            <a:ext cx="2411760" cy="34669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3A16A0FC-90BF-B2FB-F2C6-62437F82EEF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58824" y="885525"/>
            <a:ext cx="8595091" cy="48607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681935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754281F8-E66B-3000-EA8A-AFFBC68A284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1" y="0"/>
            <a:ext cx="9180512" cy="688538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0EF8265-B478-81AF-96AF-85150CB252E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6008" y="6309321"/>
            <a:ext cx="2411760" cy="34669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D9FCD49-9941-C738-AD8F-209EF507D7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Take away of the session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7AAC60-6C94-BE21-A17A-6CC0CDE963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77500" lnSpcReduction="20000"/>
          </a:bodyPr>
          <a:lstStyle/>
          <a:p>
            <a:r>
              <a:rPr lang="en-US" b="1" dirty="0">
                <a:ea typeface="+mn-lt"/>
                <a:cs typeface="+mn-lt"/>
              </a:rPr>
              <a:t>Definition:</a:t>
            </a:r>
            <a:r>
              <a:rPr lang="en-US" dirty="0">
                <a:ea typeface="+mn-lt"/>
                <a:cs typeface="+mn-lt"/>
              </a:rPr>
              <a:t> Coal is a </a:t>
            </a:r>
            <a:r>
              <a:rPr lang="en-US" b="1" dirty="0">
                <a:ea typeface="+mn-lt"/>
                <a:cs typeface="+mn-lt"/>
              </a:rPr>
              <a:t>solid fossil fuel</a:t>
            </a:r>
            <a:r>
              <a:rPr lang="en-US" dirty="0">
                <a:ea typeface="+mn-lt"/>
                <a:cs typeface="+mn-lt"/>
              </a:rPr>
              <a:t> formed by the decomposition of plant material under heat and pressure over millions of years.</a:t>
            </a:r>
          </a:p>
          <a:p>
            <a:r>
              <a:rPr lang="en-US" b="1" dirty="0">
                <a:ea typeface="+mn-lt"/>
                <a:cs typeface="+mn-lt"/>
              </a:rPr>
              <a:t>Types of Coal:</a:t>
            </a:r>
            <a:endParaRPr lang="en-US" dirty="0">
              <a:ea typeface="+mn-lt"/>
              <a:cs typeface="+mn-lt"/>
            </a:endParaRPr>
          </a:p>
          <a:p>
            <a:r>
              <a:rPr lang="en-US" b="1" dirty="0">
                <a:ea typeface="+mn-lt"/>
                <a:cs typeface="+mn-lt"/>
              </a:rPr>
              <a:t>Peat</a:t>
            </a:r>
            <a:r>
              <a:rPr lang="en-US" dirty="0">
                <a:ea typeface="+mn-lt"/>
                <a:cs typeface="+mn-lt"/>
              </a:rPr>
              <a:t> (lowest grade)</a:t>
            </a:r>
          </a:p>
          <a:p>
            <a:r>
              <a:rPr lang="en-US" b="1" dirty="0">
                <a:ea typeface="+mn-lt"/>
                <a:cs typeface="+mn-lt"/>
              </a:rPr>
              <a:t>Lignite</a:t>
            </a:r>
            <a:r>
              <a:rPr lang="en-US" dirty="0">
                <a:ea typeface="+mn-lt"/>
                <a:cs typeface="+mn-lt"/>
              </a:rPr>
              <a:t> (brown coal)</a:t>
            </a:r>
            <a:endParaRPr lang="en-US" dirty="0"/>
          </a:p>
          <a:p>
            <a:r>
              <a:rPr lang="en-US" b="1" dirty="0">
                <a:ea typeface="+mn-lt"/>
                <a:cs typeface="+mn-lt"/>
              </a:rPr>
              <a:t>Bituminous</a:t>
            </a:r>
            <a:r>
              <a:rPr lang="en-US" dirty="0">
                <a:ea typeface="+mn-lt"/>
                <a:cs typeface="+mn-lt"/>
              </a:rPr>
              <a:t> (most widely used)</a:t>
            </a:r>
            <a:endParaRPr lang="en-US" dirty="0"/>
          </a:p>
          <a:p>
            <a:r>
              <a:rPr lang="en-US" b="1" dirty="0">
                <a:ea typeface="+mn-lt"/>
                <a:cs typeface="+mn-lt"/>
              </a:rPr>
              <a:t>Anthracite</a:t>
            </a:r>
            <a:r>
              <a:rPr lang="en-US" dirty="0">
                <a:ea typeface="+mn-lt"/>
                <a:cs typeface="+mn-lt"/>
              </a:rPr>
              <a:t> (highest carbon content, burns cleanly)</a:t>
            </a:r>
            <a:endParaRPr lang="en-US" dirty="0"/>
          </a:p>
          <a:p>
            <a:r>
              <a:rPr lang="en-US" b="1" dirty="0">
                <a:ea typeface="+mn-lt"/>
                <a:cs typeface="+mn-lt"/>
              </a:rPr>
              <a:t>Constituents:</a:t>
            </a:r>
            <a:r>
              <a:rPr lang="en-US" dirty="0">
                <a:ea typeface="+mn-lt"/>
                <a:cs typeface="+mn-lt"/>
              </a:rPr>
              <a:t> Mainly </a:t>
            </a:r>
            <a:r>
              <a:rPr lang="en-US" b="1" dirty="0">
                <a:ea typeface="+mn-lt"/>
                <a:cs typeface="+mn-lt"/>
              </a:rPr>
              <a:t>carbon</a:t>
            </a:r>
            <a:r>
              <a:rPr lang="en-US" dirty="0">
                <a:ea typeface="+mn-lt"/>
                <a:cs typeface="+mn-lt"/>
              </a:rPr>
              <a:t>, along with </a:t>
            </a:r>
            <a:r>
              <a:rPr lang="en-US" b="1" dirty="0">
                <a:ea typeface="+mn-lt"/>
                <a:cs typeface="+mn-lt"/>
              </a:rPr>
              <a:t>hydrogen, sulfur, nitrogen, ash</a:t>
            </a:r>
            <a:r>
              <a:rPr lang="en-US" dirty="0">
                <a:ea typeface="+mn-lt"/>
                <a:cs typeface="+mn-lt"/>
              </a:rPr>
              <a:t>, and </a:t>
            </a:r>
            <a:r>
              <a:rPr lang="en-US" b="1" dirty="0">
                <a:ea typeface="+mn-lt"/>
                <a:cs typeface="+mn-lt"/>
              </a:rPr>
              <a:t>moisture</a:t>
            </a:r>
            <a:r>
              <a:rPr lang="en-US" dirty="0">
                <a:ea typeface="+mn-lt"/>
                <a:cs typeface="+mn-lt"/>
              </a:rPr>
              <a:t>.</a:t>
            </a:r>
          </a:p>
          <a:p>
            <a:r>
              <a:rPr lang="en-US" b="1" dirty="0">
                <a:ea typeface="+mn-lt"/>
                <a:cs typeface="+mn-lt"/>
              </a:rPr>
              <a:t>Uses:</a:t>
            </a:r>
            <a:r>
              <a:rPr lang="en-US" dirty="0">
                <a:ea typeface="+mn-lt"/>
                <a:cs typeface="+mn-lt"/>
              </a:rPr>
              <a:t> Power generation, steel industry (coke), domestic fuel, chemical industries.</a:t>
            </a:r>
            <a:endParaRPr lang="en-US" dirty="0"/>
          </a:p>
          <a:p>
            <a:r>
              <a:rPr lang="en-US" b="1" dirty="0">
                <a:ea typeface="+mn-lt"/>
                <a:cs typeface="+mn-lt"/>
              </a:rPr>
              <a:t>Drawbacks:</a:t>
            </a:r>
            <a:r>
              <a:rPr lang="en-US" dirty="0">
                <a:ea typeface="+mn-lt"/>
                <a:cs typeface="+mn-lt"/>
              </a:rPr>
              <a:t> Causes </a:t>
            </a:r>
            <a:r>
              <a:rPr lang="en-US" b="1" dirty="0">
                <a:ea typeface="+mn-lt"/>
                <a:cs typeface="+mn-lt"/>
              </a:rPr>
              <a:t>pollution</a:t>
            </a:r>
            <a:r>
              <a:rPr lang="en-US" dirty="0">
                <a:ea typeface="+mn-lt"/>
                <a:cs typeface="+mn-lt"/>
              </a:rPr>
              <a:t>, </a:t>
            </a:r>
            <a:r>
              <a:rPr lang="en-US" b="1" dirty="0">
                <a:ea typeface="+mn-lt"/>
                <a:cs typeface="+mn-lt"/>
              </a:rPr>
              <a:t>ash disposal</a:t>
            </a:r>
            <a:r>
              <a:rPr lang="en-US" dirty="0">
                <a:ea typeface="+mn-lt"/>
                <a:cs typeface="+mn-lt"/>
              </a:rPr>
              <a:t> problems, and emits </a:t>
            </a:r>
            <a:r>
              <a:rPr lang="en-US" b="1" dirty="0">
                <a:ea typeface="+mn-lt"/>
                <a:cs typeface="+mn-lt"/>
              </a:rPr>
              <a:t>greenhouse gases</a:t>
            </a:r>
            <a:endParaRPr lang="en-US" dirty="0"/>
          </a:p>
          <a:p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99262061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ntent Placeholder 3">
            <a:extLst>
              <a:ext uri="{FF2B5EF4-FFF2-40B4-BE49-F238E27FC236}">
                <a16:creationId xmlns:a16="http://schemas.microsoft.com/office/drawing/2014/main" id="{70058608-11A6-6C89-0393-583CC706342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15480" y="4813"/>
            <a:ext cx="9180512" cy="688538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74EDD0E3-E295-B61A-F867-8E157B9E5BE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6008" y="6309321"/>
            <a:ext cx="2411760" cy="346691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CA9C9F-C3B2-55F7-8FC7-29D6960343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0334" y="877359"/>
            <a:ext cx="10515600" cy="4351338"/>
          </a:xfrm>
        </p:spPr>
        <p:txBody>
          <a:bodyPr vert="horz" lIns="91440" tIns="45720" rIns="91440" bIns="45720" rtlCol="0" anchor="t">
            <a:normAutofit fontScale="25000" lnSpcReduction="20000"/>
          </a:bodyPr>
          <a:lstStyle/>
          <a:p>
            <a:pPr>
              <a:buNone/>
            </a:pPr>
            <a:r>
              <a:rPr lang="en-GB" sz="6400" b="1" dirty="0">
                <a:solidFill>
                  <a:schemeClr val="accent1"/>
                </a:solidFill>
                <a:ea typeface="+mn-lt"/>
                <a:cs typeface="+mn-lt"/>
              </a:rPr>
              <a:t>1. Which type of coal has the highest carbon content?</a:t>
            </a:r>
            <a:br>
              <a:rPr lang="en-GB" sz="6400" b="1" dirty="0">
                <a:solidFill>
                  <a:schemeClr val="accent1"/>
                </a:solidFill>
                <a:ea typeface="+mn-lt"/>
                <a:cs typeface="+mn-lt"/>
              </a:rPr>
            </a:br>
            <a:r>
              <a:rPr lang="en-GB" sz="6400" b="1" dirty="0">
                <a:solidFill>
                  <a:schemeClr val="accent1"/>
                </a:solidFill>
                <a:ea typeface="+mn-lt"/>
                <a:cs typeface="+mn-lt"/>
              </a:rPr>
              <a:t> A. Peat</a:t>
            </a:r>
            <a:br>
              <a:rPr lang="en-GB" sz="6400" b="1" dirty="0">
                <a:solidFill>
                  <a:schemeClr val="accent1"/>
                </a:solidFill>
                <a:ea typeface="+mn-lt"/>
                <a:cs typeface="+mn-lt"/>
              </a:rPr>
            </a:br>
            <a:r>
              <a:rPr lang="en-GB" sz="6400" b="1" dirty="0">
                <a:solidFill>
                  <a:schemeClr val="accent1"/>
                </a:solidFill>
                <a:ea typeface="+mn-lt"/>
                <a:cs typeface="+mn-lt"/>
              </a:rPr>
              <a:t> B. Lignite</a:t>
            </a:r>
            <a:br>
              <a:rPr lang="en-GB" sz="6400" b="1" dirty="0">
                <a:solidFill>
                  <a:schemeClr val="accent1"/>
                </a:solidFill>
                <a:ea typeface="+mn-lt"/>
                <a:cs typeface="+mn-lt"/>
              </a:rPr>
            </a:br>
            <a:r>
              <a:rPr lang="en-GB" sz="6400" b="1" dirty="0">
                <a:solidFill>
                  <a:schemeClr val="accent1"/>
                </a:solidFill>
                <a:ea typeface="+mn-lt"/>
                <a:cs typeface="+mn-lt"/>
              </a:rPr>
              <a:t> C. Bituminous</a:t>
            </a:r>
            <a:br>
              <a:rPr lang="en-GB" sz="6400" b="1" dirty="0">
                <a:solidFill>
                  <a:schemeClr val="accent1"/>
                </a:solidFill>
                <a:ea typeface="+mn-lt"/>
                <a:cs typeface="+mn-lt"/>
              </a:rPr>
            </a:br>
            <a:r>
              <a:rPr lang="en-GB" sz="6400" b="1" dirty="0">
                <a:solidFill>
                  <a:schemeClr val="accent1"/>
                </a:solidFill>
                <a:ea typeface="+mn-lt"/>
                <a:cs typeface="+mn-lt"/>
              </a:rPr>
              <a:t> D. Anthracite</a:t>
            </a:r>
            <a:br>
              <a:rPr lang="en-GB" sz="6400" b="1" dirty="0">
                <a:solidFill>
                  <a:schemeClr val="accent1"/>
                </a:solidFill>
                <a:ea typeface="+mn-lt"/>
                <a:cs typeface="+mn-lt"/>
              </a:rPr>
            </a:br>
            <a:r>
              <a:rPr lang="en-GB" sz="6400" b="1" dirty="0">
                <a:solidFill>
                  <a:schemeClr val="accent1"/>
                </a:solidFill>
                <a:ea typeface="+mn-lt"/>
                <a:cs typeface="+mn-lt"/>
              </a:rPr>
              <a:t> ✅ Answer: D</a:t>
            </a:r>
            <a:endParaRPr lang="en-US" sz="6400" dirty="0"/>
          </a:p>
          <a:p>
            <a:pPr>
              <a:buNone/>
            </a:pPr>
            <a:r>
              <a:rPr lang="en-GB" sz="6400" b="1" dirty="0">
                <a:solidFill>
                  <a:schemeClr val="accent1"/>
                </a:solidFill>
                <a:ea typeface="+mn-lt"/>
                <a:cs typeface="+mn-lt"/>
              </a:rPr>
              <a:t>2. Which of the following is the lowest grade of coal?</a:t>
            </a:r>
            <a:br>
              <a:rPr lang="en-GB" sz="6400" b="1" dirty="0">
                <a:solidFill>
                  <a:schemeClr val="accent1"/>
                </a:solidFill>
                <a:ea typeface="+mn-lt"/>
                <a:cs typeface="+mn-lt"/>
              </a:rPr>
            </a:br>
            <a:r>
              <a:rPr lang="en-GB" sz="6400" b="1" dirty="0">
                <a:solidFill>
                  <a:schemeClr val="accent1"/>
                </a:solidFill>
                <a:ea typeface="+mn-lt"/>
                <a:cs typeface="+mn-lt"/>
              </a:rPr>
              <a:t> A. Anthracite</a:t>
            </a:r>
            <a:br>
              <a:rPr lang="en-GB" sz="6400" b="1" dirty="0">
                <a:solidFill>
                  <a:schemeClr val="accent1"/>
                </a:solidFill>
                <a:ea typeface="+mn-lt"/>
                <a:cs typeface="+mn-lt"/>
              </a:rPr>
            </a:br>
            <a:r>
              <a:rPr lang="en-GB" sz="6400" b="1" dirty="0">
                <a:solidFill>
                  <a:schemeClr val="accent1"/>
                </a:solidFill>
                <a:ea typeface="+mn-lt"/>
                <a:cs typeface="+mn-lt"/>
              </a:rPr>
              <a:t> B. Peat</a:t>
            </a:r>
            <a:br>
              <a:rPr lang="en-GB" sz="6400" b="1" dirty="0">
                <a:solidFill>
                  <a:schemeClr val="accent1"/>
                </a:solidFill>
                <a:ea typeface="+mn-lt"/>
                <a:cs typeface="+mn-lt"/>
              </a:rPr>
            </a:br>
            <a:r>
              <a:rPr lang="en-GB" sz="6400" b="1" dirty="0">
                <a:solidFill>
                  <a:schemeClr val="accent1"/>
                </a:solidFill>
                <a:ea typeface="+mn-lt"/>
                <a:cs typeface="+mn-lt"/>
              </a:rPr>
              <a:t> C. Bituminous</a:t>
            </a:r>
            <a:br>
              <a:rPr lang="en-GB" sz="6400" b="1" dirty="0">
                <a:solidFill>
                  <a:schemeClr val="accent1"/>
                </a:solidFill>
                <a:ea typeface="+mn-lt"/>
                <a:cs typeface="+mn-lt"/>
              </a:rPr>
            </a:br>
            <a:r>
              <a:rPr lang="en-GB" sz="6400" b="1" dirty="0">
                <a:solidFill>
                  <a:schemeClr val="accent1"/>
                </a:solidFill>
                <a:ea typeface="+mn-lt"/>
                <a:cs typeface="+mn-lt"/>
              </a:rPr>
              <a:t> D. Lignite</a:t>
            </a:r>
            <a:br>
              <a:rPr lang="en-GB" sz="6400" b="1" dirty="0">
                <a:solidFill>
                  <a:schemeClr val="accent1"/>
                </a:solidFill>
                <a:ea typeface="+mn-lt"/>
                <a:cs typeface="+mn-lt"/>
              </a:rPr>
            </a:br>
            <a:r>
              <a:rPr lang="en-GB" sz="6400" b="1" dirty="0">
                <a:solidFill>
                  <a:schemeClr val="accent1"/>
                </a:solidFill>
                <a:ea typeface="+mn-lt"/>
                <a:cs typeface="+mn-lt"/>
              </a:rPr>
              <a:t> ✅ Answer: B</a:t>
            </a:r>
            <a:endParaRPr lang="en-US" sz="6400" dirty="0"/>
          </a:p>
          <a:p>
            <a:pPr>
              <a:buNone/>
            </a:pPr>
            <a:r>
              <a:rPr lang="en-GB" sz="6400" b="1" dirty="0">
                <a:solidFill>
                  <a:schemeClr val="accent1"/>
                </a:solidFill>
                <a:ea typeface="+mn-lt"/>
                <a:cs typeface="+mn-lt"/>
              </a:rPr>
              <a:t>3. What is the primary element present in coal?</a:t>
            </a:r>
            <a:br>
              <a:rPr lang="en-GB" sz="6400" b="1" dirty="0">
                <a:solidFill>
                  <a:schemeClr val="accent1"/>
                </a:solidFill>
                <a:ea typeface="+mn-lt"/>
                <a:cs typeface="+mn-lt"/>
              </a:rPr>
            </a:br>
            <a:r>
              <a:rPr lang="en-GB" sz="6400" b="1" dirty="0">
                <a:solidFill>
                  <a:schemeClr val="accent1"/>
                </a:solidFill>
                <a:ea typeface="+mn-lt"/>
                <a:cs typeface="+mn-lt"/>
              </a:rPr>
              <a:t> A. </a:t>
            </a:r>
            <a:r>
              <a:rPr lang="en-GB" sz="6400" b="1" dirty="0" err="1">
                <a:solidFill>
                  <a:schemeClr val="accent1"/>
                </a:solidFill>
                <a:ea typeface="+mn-lt"/>
                <a:cs typeface="+mn-lt"/>
              </a:rPr>
              <a:t>Sulfur</a:t>
            </a:r>
            <a:br>
              <a:rPr lang="en-GB" sz="6400" b="1" dirty="0">
                <a:solidFill>
                  <a:schemeClr val="accent1"/>
                </a:solidFill>
                <a:ea typeface="+mn-lt"/>
                <a:cs typeface="+mn-lt"/>
              </a:rPr>
            </a:br>
            <a:r>
              <a:rPr lang="en-GB" sz="6400" b="1" dirty="0">
                <a:solidFill>
                  <a:schemeClr val="accent1"/>
                </a:solidFill>
                <a:ea typeface="+mn-lt"/>
                <a:cs typeface="+mn-lt"/>
              </a:rPr>
              <a:t> B. Oxygen</a:t>
            </a:r>
            <a:br>
              <a:rPr lang="en-GB" sz="6400" b="1" dirty="0">
                <a:solidFill>
                  <a:schemeClr val="accent1"/>
                </a:solidFill>
                <a:ea typeface="+mn-lt"/>
                <a:cs typeface="+mn-lt"/>
              </a:rPr>
            </a:br>
            <a:r>
              <a:rPr lang="en-GB" sz="6400" b="1" dirty="0">
                <a:solidFill>
                  <a:schemeClr val="accent1"/>
                </a:solidFill>
                <a:ea typeface="+mn-lt"/>
                <a:cs typeface="+mn-lt"/>
              </a:rPr>
              <a:t> C. Nitrogen</a:t>
            </a:r>
            <a:br>
              <a:rPr lang="en-GB" sz="6400" b="1" dirty="0">
                <a:solidFill>
                  <a:schemeClr val="accent1"/>
                </a:solidFill>
                <a:ea typeface="+mn-lt"/>
                <a:cs typeface="+mn-lt"/>
              </a:rPr>
            </a:br>
            <a:r>
              <a:rPr lang="en-GB" sz="6400" b="1" dirty="0">
                <a:solidFill>
                  <a:schemeClr val="accent1"/>
                </a:solidFill>
                <a:ea typeface="+mn-lt"/>
                <a:cs typeface="+mn-lt"/>
              </a:rPr>
              <a:t> D. Carbon</a:t>
            </a:r>
            <a:br>
              <a:rPr lang="en-GB" sz="6400" b="1" dirty="0">
                <a:solidFill>
                  <a:schemeClr val="accent1"/>
                </a:solidFill>
                <a:ea typeface="+mn-lt"/>
                <a:cs typeface="+mn-lt"/>
              </a:rPr>
            </a:br>
            <a:r>
              <a:rPr lang="en-GB" sz="6400" b="1" dirty="0">
                <a:solidFill>
                  <a:schemeClr val="accent1"/>
                </a:solidFill>
                <a:ea typeface="+mn-lt"/>
                <a:cs typeface="+mn-lt"/>
              </a:rPr>
              <a:t> ✅ Answer: D</a:t>
            </a:r>
            <a:endParaRPr lang="en-US" sz="6400" dirty="0"/>
          </a:p>
          <a:p>
            <a:pPr>
              <a:buNone/>
            </a:pPr>
            <a:r>
              <a:rPr lang="en-GB" sz="6400" b="1" dirty="0">
                <a:solidFill>
                  <a:schemeClr val="accent1"/>
                </a:solidFill>
                <a:ea typeface="+mn-lt"/>
                <a:cs typeface="+mn-lt"/>
              </a:rPr>
              <a:t>4. Which coal type is most commonly used for electricity generation?</a:t>
            </a:r>
            <a:br>
              <a:rPr lang="en-GB" sz="6400" b="1" dirty="0">
                <a:solidFill>
                  <a:schemeClr val="accent1"/>
                </a:solidFill>
                <a:ea typeface="+mn-lt"/>
                <a:cs typeface="+mn-lt"/>
              </a:rPr>
            </a:br>
            <a:r>
              <a:rPr lang="en-GB" sz="6400" b="1" dirty="0">
                <a:solidFill>
                  <a:schemeClr val="accent1"/>
                </a:solidFill>
                <a:ea typeface="+mn-lt"/>
                <a:cs typeface="+mn-lt"/>
              </a:rPr>
              <a:t> A. Anthracite</a:t>
            </a:r>
            <a:br>
              <a:rPr lang="en-GB" sz="6400" b="1" dirty="0">
                <a:solidFill>
                  <a:schemeClr val="accent1"/>
                </a:solidFill>
                <a:ea typeface="+mn-lt"/>
                <a:cs typeface="+mn-lt"/>
              </a:rPr>
            </a:br>
            <a:r>
              <a:rPr lang="en-GB" sz="6400" b="1" dirty="0">
                <a:solidFill>
                  <a:schemeClr val="accent1"/>
                </a:solidFill>
                <a:ea typeface="+mn-lt"/>
                <a:cs typeface="+mn-lt"/>
              </a:rPr>
              <a:t> B. Bituminous</a:t>
            </a:r>
            <a:br>
              <a:rPr lang="en-GB" sz="6400" b="1" dirty="0">
                <a:solidFill>
                  <a:schemeClr val="accent1"/>
                </a:solidFill>
                <a:ea typeface="+mn-lt"/>
                <a:cs typeface="+mn-lt"/>
              </a:rPr>
            </a:br>
            <a:r>
              <a:rPr lang="en-GB" sz="6400" b="1" dirty="0">
                <a:solidFill>
                  <a:schemeClr val="accent1"/>
                </a:solidFill>
                <a:ea typeface="+mn-lt"/>
                <a:cs typeface="+mn-lt"/>
              </a:rPr>
              <a:t> C. Peat</a:t>
            </a:r>
            <a:br>
              <a:rPr lang="en-GB" sz="6400" b="1" dirty="0">
                <a:solidFill>
                  <a:schemeClr val="accent1"/>
                </a:solidFill>
                <a:ea typeface="+mn-lt"/>
                <a:cs typeface="+mn-lt"/>
              </a:rPr>
            </a:br>
            <a:r>
              <a:rPr lang="en-GB" sz="6400" b="1" dirty="0">
                <a:solidFill>
                  <a:schemeClr val="accent1"/>
                </a:solidFill>
                <a:ea typeface="+mn-lt"/>
                <a:cs typeface="+mn-lt"/>
              </a:rPr>
              <a:t> D. Graphite</a:t>
            </a:r>
            <a:br>
              <a:rPr lang="en-GB" sz="6400" b="1" dirty="0">
                <a:solidFill>
                  <a:schemeClr val="accent1"/>
                </a:solidFill>
                <a:ea typeface="+mn-lt"/>
                <a:cs typeface="+mn-lt"/>
              </a:rPr>
            </a:br>
            <a:r>
              <a:rPr lang="en-GB" sz="6400" b="1" dirty="0">
                <a:solidFill>
                  <a:schemeClr val="accent1"/>
                </a:solidFill>
                <a:ea typeface="+mn-lt"/>
                <a:cs typeface="+mn-lt"/>
              </a:rPr>
              <a:t> ✅ Answer: B</a:t>
            </a:r>
            <a:endParaRPr lang="en-US" sz="6400" dirty="0"/>
          </a:p>
          <a:p>
            <a:pPr>
              <a:buNone/>
            </a:pPr>
            <a:r>
              <a:rPr lang="en-GB" sz="6400" b="1" dirty="0">
                <a:solidFill>
                  <a:schemeClr val="accent1"/>
                </a:solidFill>
                <a:ea typeface="+mn-lt"/>
                <a:cs typeface="+mn-lt"/>
              </a:rPr>
              <a:t>5. One major environmental concern of coal usage is:</a:t>
            </a:r>
            <a:br>
              <a:rPr lang="en-GB" sz="6400" b="1" dirty="0">
                <a:solidFill>
                  <a:schemeClr val="accent1"/>
                </a:solidFill>
                <a:ea typeface="+mn-lt"/>
                <a:cs typeface="+mn-lt"/>
              </a:rPr>
            </a:br>
            <a:r>
              <a:rPr lang="en-GB" sz="6400" b="1" dirty="0">
                <a:solidFill>
                  <a:schemeClr val="accent1"/>
                </a:solidFill>
                <a:ea typeface="+mn-lt"/>
                <a:cs typeface="+mn-lt"/>
              </a:rPr>
              <a:t> A. High energy efficiency</a:t>
            </a:r>
            <a:br>
              <a:rPr lang="en-GB" sz="6400" b="1" dirty="0">
                <a:solidFill>
                  <a:schemeClr val="accent1"/>
                </a:solidFill>
                <a:ea typeface="+mn-lt"/>
                <a:cs typeface="+mn-lt"/>
              </a:rPr>
            </a:br>
            <a:r>
              <a:rPr lang="en-GB" sz="6400" b="1" dirty="0">
                <a:solidFill>
                  <a:schemeClr val="accent1"/>
                </a:solidFill>
                <a:ea typeface="+mn-lt"/>
                <a:cs typeface="+mn-lt"/>
              </a:rPr>
              <a:t> B. Lack of availability</a:t>
            </a:r>
            <a:br>
              <a:rPr lang="en-GB" sz="6400" b="1" dirty="0">
                <a:solidFill>
                  <a:schemeClr val="accent1"/>
                </a:solidFill>
                <a:ea typeface="+mn-lt"/>
                <a:cs typeface="+mn-lt"/>
              </a:rPr>
            </a:br>
            <a:r>
              <a:rPr lang="en-GB" sz="6400" b="1" dirty="0">
                <a:solidFill>
                  <a:schemeClr val="accent1"/>
                </a:solidFill>
                <a:ea typeface="+mn-lt"/>
                <a:cs typeface="+mn-lt"/>
              </a:rPr>
              <a:t> C. Air pollution and CO₂ emissions</a:t>
            </a:r>
            <a:br>
              <a:rPr lang="en-GB" sz="6400" b="1" dirty="0">
                <a:solidFill>
                  <a:schemeClr val="accent1"/>
                </a:solidFill>
                <a:ea typeface="+mn-lt"/>
                <a:cs typeface="+mn-lt"/>
              </a:rPr>
            </a:br>
            <a:r>
              <a:rPr lang="en-GB" sz="6400" b="1" dirty="0">
                <a:solidFill>
                  <a:schemeClr val="accent1"/>
                </a:solidFill>
                <a:ea typeface="+mn-lt"/>
                <a:cs typeface="+mn-lt"/>
              </a:rPr>
              <a:t> D. Fuel spillage</a:t>
            </a:r>
            <a:br>
              <a:rPr lang="en-GB" sz="6400" b="1" dirty="0">
                <a:solidFill>
                  <a:schemeClr val="accent1"/>
                </a:solidFill>
                <a:ea typeface="+mn-lt"/>
                <a:cs typeface="+mn-lt"/>
              </a:rPr>
            </a:br>
            <a:r>
              <a:rPr lang="en-GB" sz="6400" b="1" dirty="0">
                <a:solidFill>
                  <a:schemeClr val="accent1"/>
                </a:solidFill>
                <a:ea typeface="+mn-lt"/>
                <a:cs typeface="+mn-lt"/>
              </a:rPr>
              <a:t> ✅ Answer: C</a:t>
            </a:r>
            <a:endParaRPr lang="en-GB" sz="6400" dirty="0">
              <a:solidFill>
                <a:schemeClr val="accent1"/>
              </a:solidFill>
              <a:ea typeface="+mn-lt"/>
              <a:cs typeface="+mn-lt"/>
            </a:endParaRPr>
          </a:p>
          <a:p>
            <a:pPr>
              <a:buNone/>
            </a:pPr>
            <a:endParaRPr lang="en-GB" b="1" dirty="0">
              <a:solidFill>
                <a:schemeClr val="accent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52580AA-0EB8-64C2-2177-054568B3B6A7}"/>
              </a:ext>
            </a:extLst>
          </p:cNvPr>
          <p:cNvSpPr txBox="1"/>
          <p:nvPr/>
        </p:nvSpPr>
        <p:spPr>
          <a:xfrm>
            <a:off x="0" y="-1"/>
            <a:ext cx="12192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2800" b="1" dirty="0"/>
              <a:t>Questions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243052913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4611" y="376489"/>
            <a:ext cx="10515600" cy="1325563"/>
          </a:xfrm>
        </p:spPr>
        <p:txBody>
          <a:bodyPr/>
          <a:lstStyle/>
          <a:p>
            <a:r>
              <a:rPr b="1" dirty="0">
                <a:solidFill>
                  <a:schemeClr val="accent5"/>
                </a:solidFill>
              </a:rPr>
              <a:t>Learning Outcomes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4611" y="1916113"/>
            <a:ext cx="10515599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IN" dirty="0"/>
          </a:p>
          <a:p>
            <a:endParaRPr lang="en-GB" dirty="0"/>
          </a:p>
          <a:p>
            <a:endParaRPr lang="en-GB" dirty="0"/>
          </a:p>
          <a:p>
            <a:pPr marL="0" indent="0">
              <a:buNone/>
            </a:pPr>
            <a:endParaRPr lang="en-GB" sz="2400" dirty="0"/>
          </a:p>
          <a:p>
            <a:pPr marL="0" indent="0">
              <a:buNone/>
            </a:pPr>
            <a:endParaRPr lang="en-GB" sz="2400" dirty="0"/>
          </a:p>
          <a:p>
            <a:pPr marL="0" indent="0">
              <a:buNone/>
            </a:pPr>
            <a:r>
              <a:rPr lang="en-GB" sz="2400" dirty="0"/>
              <a:t>CO1: </a:t>
            </a:r>
            <a:r>
              <a:rPr lang="en-US" sz="2400" dirty="0"/>
              <a:t>Understand the methods for water hardness and the basics of boiler water treatment and analyze fuel calorific values and battery.</a:t>
            </a:r>
          </a:p>
          <a:p>
            <a:pPr marL="0" indent="0">
              <a:buNone/>
            </a:pPr>
            <a:r>
              <a:rPr lang="en-GB" sz="2400" dirty="0"/>
              <a:t>CO2: </a:t>
            </a:r>
            <a:r>
              <a:rPr lang="en-US" sz="2400" dirty="0"/>
              <a:t>Explain the characteristics and working principles of different battery types and types of fuels.</a:t>
            </a:r>
            <a:endParaRPr lang="en-GB" sz="2400" dirty="0"/>
          </a:p>
          <a:p>
            <a:endParaRPr lang="en-IN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7C263E1C-814B-1AF4-B7F4-B4AEB0945408}"/>
              </a:ext>
            </a:extLst>
          </p:cNvPr>
          <p:cNvSpPr txBox="1">
            <a:spLocks/>
          </p:cNvSpPr>
          <p:nvPr/>
        </p:nvSpPr>
        <p:spPr>
          <a:xfrm>
            <a:off x="805113" y="3192323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b="1" dirty="0">
                <a:solidFill>
                  <a:schemeClr val="accent5"/>
                </a:solidFill>
              </a:rPr>
              <a:t>Mapped Course Outcomes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7DA9837B-9412-6B18-7838-57D35A21EE76}"/>
              </a:ext>
            </a:extLst>
          </p:cNvPr>
          <p:cNvGrpSpPr/>
          <p:nvPr/>
        </p:nvGrpSpPr>
        <p:grpSpPr>
          <a:xfrm>
            <a:off x="1508787" y="0"/>
            <a:ext cx="9159213" cy="304800"/>
            <a:chOff x="1143000" y="857250"/>
            <a:chExt cx="6858000" cy="162000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F5ADEBA5-6E72-EC44-A640-AF97D4E5D792}"/>
                </a:ext>
              </a:extLst>
            </p:cNvPr>
            <p:cNvSpPr/>
            <p:nvPr/>
          </p:nvSpPr>
          <p:spPr>
            <a:xfrm>
              <a:off x="4572000" y="857250"/>
              <a:ext cx="3429000" cy="162000"/>
            </a:xfrm>
            <a:prstGeom prst="rect">
              <a:avLst/>
            </a:prstGeom>
            <a:solidFill>
              <a:srgbClr val="341BF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42900">
                <a:defRPr/>
              </a:pPr>
              <a:endParaRPr lang="en-IN" sz="1350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DAAF2560-0AE3-44D1-B205-AC7E71FDD893}"/>
                </a:ext>
              </a:extLst>
            </p:cNvPr>
            <p:cNvSpPr/>
            <p:nvPr/>
          </p:nvSpPr>
          <p:spPr>
            <a:xfrm>
              <a:off x="1143000" y="857250"/>
              <a:ext cx="3429000" cy="16200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42900">
                <a:defRPr/>
              </a:pPr>
              <a:endParaRPr lang="en-IN" sz="1350">
                <a:solidFill>
                  <a:prstClr val="white"/>
                </a:solidFill>
                <a:latin typeface="Aptos" panose="02110004020202020204"/>
              </a:endParaRP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F979D6B0-FFC6-A9D2-8A81-FD5DC1E6D76D}"/>
              </a:ext>
            </a:extLst>
          </p:cNvPr>
          <p:cNvGrpSpPr/>
          <p:nvPr/>
        </p:nvGrpSpPr>
        <p:grpSpPr>
          <a:xfrm>
            <a:off x="1515251" y="6553200"/>
            <a:ext cx="9159213" cy="304800"/>
            <a:chOff x="1143000" y="857250"/>
            <a:chExt cx="6858000" cy="16200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AA02959D-38B4-7D26-CC3F-BF4AD360344F}"/>
                </a:ext>
              </a:extLst>
            </p:cNvPr>
            <p:cNvSpPr/>
            <p:nvPr/>
          </p:nvSpPr>
          <p:spPr>
            <a:xfrm>
              <a:off x="4572000" y="857250"/>
              <a:ext cx="3429000" cy="162000"/>
            </a:xfrm>
            <a:prstGeom prst="rect">
              <a:avLst/>
            </a:prstGeom>
            <a:solidFill>
              <a:srgbClr val="341BF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42900">
                <a:defRPr/>
              </a:pPr>
              <a:endParaRPr lang="en-IN" sz="1350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44C0538D-9319-C1E8-73C9-9C6981649CE6}"/>
                </a:ext>
              </a:extLst>
            </p:cNvPr>
            <p:cNvSpPr/>
            <p:nvPr/>
          </p:nvSpPr>
          <p:spPr>
            <a:xfrm>
              <a:off x="1143000" y="857250"/>
              <a:ext cx="3429000" cy="16200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42900">
                <a:defRPr/>
              </a:pPr>
              <a:endParaRPr lang="en-IN" sz="1350">
                <a:solidFill>
                  <a:prstClr val="white"/>
                </a:solidFill>
                <a:latin typeface="Aptos" panose="02110004020202020204"/>
              </a:endParaRPr>
            </a:p>
          </p:txBody>
        </p:sp>
      </p:grpSp>
      <p:sp>
        <p:nvSpPr>
          <p:cNvPr id="13" name="Rectangle 3">
            <a:extLst>
              <a:ext uri="{FF2B5EF4-FFF2-40B4-BE49-F238E27FC236}">
                <a16:creationId xmlns:a16="http://schemas.microsoft.com/office/drawing/2014/main" id="{EC4DEF99-1714-B21A-673C-620C1AED7A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4611" y="1630364"/>
            <a:ext cx="9332042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BTL-1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Recall definitions and types of fuels (CO2)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BTL-2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Explain characteristics of solid, liquid, and gaseous fuels;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define calorific value (CO1, CO2)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BTL-3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Apply knowledge to identify ideal fuels and solve questions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related to fuel properties (CO1, CO2)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ACB075-EB89-2E88-AF05-0A0D70FFA2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>
                <a:solidFill>
                  <a:schemeClr val="accent5"/>
                </a:solidFill>
              </a:rPr>
              <a:t>References</a:t>
            </a:r>
            <a:endParaRPr lang="en-IN" b="1" dirty="0">
              <a:solidFill>
                <a:schemeClr val="accent5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5745FD-DF0D-8F43-EA79-B945895DD5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Engineering Chemistry by Jain and Jain.</a:t>
            </a:r>
            <a:endParaRPr lang="en-IN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2764DCA4-FD37-C2FC-1119-5C45808EF00B}"/>
              </a:ext>
            </a:extLst>
          </p:cNvPr>
          <p:cNvGrpSpPr/>
          <p:nvPr/>
        </p:nvGrpSpPr>
        <p:grpSpPr>
          <a:xfrm>
            <a:off x="1508787" y="0"/>
            <a:ext cx="9159213" cy="304800"/>
            <a:chOff x="1143000" y="857250"/>
            <a:chExt cx="6858000" cy="162000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FBA3CB68-5CE5-9A1C-A405-2895508686B4}"/>
                </a:ext>
              </a:extLst>
            </p:cNvPr>
            <p:cNvSpPr/>
            <p:nvPr/>
          </p:nvSpPr>
          <p:spPr>
            <a:xfrm>
              <a:off x="4572000" y="857250"/>
              <a:ext cx="3429000" cy="162000"/>
            </a:xfrm>
            <a:prstGeom prst="rect">
              <a:avLst/>
            </a:prstGeom>
            <a:solidFill>
              <a:srgbClr val="341BF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42900">
                <a:defRPr/>
              </a:pPr>
              <a:endParaRPr lang="en-IN" sz="1350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B0766F54-A2AC-8A36-FCBA-75783A459621}"/>
                </a:ext>
              </a:extLst>
            </p:cNvPr>
            <p:cNvSpPr/>
            <p:nvPr/>
          </p:nvSpPr>
          <p:spPr>
            <a:xfrm>
              <a:off x="1143000" y="857250"/>
              <a:ext cx="3429000" cy="16200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42900">
                <a:defRPr/>
              </a:pPr>
              <a:endParaRPr lang="en-IN" sz="1350">
                <a:solidFill>
                  <a:prstClr val="white"/>
                </a:solidFill>
                <a:latin typeface="Aptos" panose="02110004020202020204"/>
              </a:endParaRP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A93BA160-06B8-4131-B8B4-9311BD5B3757}"/>
              </a:ext>
            </a:extLst>
          </p:cNvPr>
          <p:cNvGrpSpPr/>
          <p:nvPr/>
        </p:nvGrpSpPr>
        <p:grpSpPr>
          <a:xfrm>
            <a:off x="1515251" y="6553200"/>
            <a:ext cx="9159213" cy="304800"/>
            <a:chOff x="1143000" y="857250"/>
            <a:chExt cx="6858000" cy="162000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164D3B3F-BF91-7EBC-2133-14B8E92D23CF}"/>
                </a:ext>
              </a:extLst>
            </p:cNvPr>
            <p:cNvSpPr/>
            <p:nvPr/>
          </p:nvSpPr>
          <p:spPr>
            <a:xfrm>
              <a:off x="4572000" y="857250"/>
              <a:ext cx="3429000" cy="162000"/>
            </a:xfrm>
            <a:prstGeom prst="rect">
              <a:avLst/>
            </a:prstGeom>
            <a:solidFill>
              <a:srgbClr val="341BF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42900">
                <a:defRPr/>
              </a:pPr>
              <a:endParaRPr lang="en-IN" sz="1350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3FC7CBCB-34DC-95E3-9429-D8AF1AEA67E4}"/>
                </a:ext>
              </a:extLst>
            </p:cNvPr>
            <p:cNvSpPr/>
            <p:nvPr/>
          </p:nvSpPr>
          <p:spPr>
            <a:xfrm>
              <a:off x="1143000" y="857250"/>
              <a:ext cx="3429000" cy="16200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42900">
                <a:defRPr/>
              </a:pPr>
              <a:endParaRPr lang="en-IN" sz="1350">
                <a:solidFill>
                  <a:prstClr val="white"/>
                </a:solidFill>
                <a:latin typeface="Aptos" panose="02110004020202020204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9950751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81</TotalTime>
  <Words>1054</Words>
  <Application>Microsoft Office PowerPoint</Application>
  <PresentationFormat>Widescreen</PresentationFormat>
  <Paragraphs>109</Paragraphs>
  <Slides>28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5" baseType="lpstr">
      <vt:lpstr>Aptos</vt:lpstr>
      <vt:lpstr>Aptos Display</vt:lpstr>
      <vt:lpstr>Arial</vt:lpstr>
      <vt:lpstr>Times New Roman</vt:lpstr>
      <vt:lpstr>Verdana</vt:lpstr>
      <vt:lpstr>Wingdings</vt:lpstr>
      <vt:lpstr>Office Theme</vt:lpstr>
      <vt:lpstr>PowerPoint Presentation</vt:lpstr>
      <vt:lpstr>Course Overview</vt:lpstr>
      <vt:lpstr>PowerPoint Presentation</vt:lpstr>
      <vt:lpstr>Solid fuel: Coal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Take away of the session</vt:lpstr>
      <vt:lpstr>PowerPoint Presentation</vt:lpstr>
      <vt:lpstr>Learning Outcomes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pratibha.s</dc:creator>
  <cp:lastModifiedBy>Dr. Mehak Ahuja</cp:lastModifiedBy>
  <cp:revision>14</cp:revision>
  <dcterms:created xsi:type="dcterms:W3CDTF">2024-10-29T10:03:38Z</dcterms:created>
  <dcterms:modified xsi:type="dcterms:W3CDTF">2025-08-23T06:03:21Z</dcterms:modified>
</cp:coreProperties>
</file>