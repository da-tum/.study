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574" r:id="rId2"/>
    <p:sldId id="256" r:id="rId3"/>
    <p:sldId id="595" r:id="rId4"/>
    <p:sldId id="264" r:id="rId5"/>
    <p:sldId id="265" r:id="rId6"/>
    <p:sldId id="266" r:id="rId7"/>
    <p:sldId id="596" r:id="rId8"/>
    <p:sldId id="269" r:id="rId9"/>
    <p:sldId id="272" r:id="rId10"/>
    <p:sldId id="273" r:id="rId11"/>
    <p:sldId id="282" r:id="rId12"/>
    <p:sldId id="597" r:id="rId13"/>
    <p:sldId id="598" r:id="rId14"/>
    <p:sldId id="599" r:id="rId15"/>
    <p:sldId id="268" r:id="rId16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B4"/>
    <a:srgbClr val="0033CC"/>
    <a:srgbClr val="0060AA"/>
    <a:srgbClr val="E83030"/>
    <a:srgbClr val="0066B3"/>
    <a:srgbClr val="E31E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04425B-56E6-A832-113C-7398AB5AFD9B}" v="5" dt="2024-05-22T10:08:13.1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23" autoAdjust="0"/>
    <p:restoredTop sz="94660"/>
  </p:normalViewPr>
  <p:slideViewPr>
    <p:cSldViewPr>
      <p:cViewPr varScale="1">
        <p:scale>
          <a:sx n="83" d="100"/>
          <a:sy n="83" d="100"/>
        </p:scale>
        <p:origin x="111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Suman Srivastava" userId="S::suman.srivastava@krmangalam.edu.in::321c702a-c804-4ce8-865a-f4757d581534" providerId="AD" clId="Web-{3904425B-56E6-A832-113C-7398AB5AFD9B}"/>
    <pc:docChg chg="addSld delSld">
      <pc:chgData name="Dr. Suman Srivastava" userId="S::suman.srivastava@krmangalam.edu.in::321c702a-c804-4ce8-865a-f4757d581534" providerId="AD" clId="Web-{3904425B-56E6-A832-113C-7398AB5AFD9B}" dt="2024-05-22T10:08:13.107" v="4"/>
      <pc:docMkLst>
        <pc:docMk/>
      </pc:docMkLst>
      <pc:sldChg chg="add">
        <pc:chgData name="Dr. Suman Srivastava" userId="S::suman.srivastava@krmangalam.edu.in::321c702a-c804-4ce8-865a-f4757d581534" providerId="AD" clId="Web-{3904425B-56E6-A832-113C-7398AB5AFD9B}" dt="2024-05-22T10:08:03.404" v="0"/>
        <pc:sldMkLst>
          <pc:docMk/>
          <pc:sldMk cId="3746827906" sldId="257"/>
        </pc:sldMkLst>
      </pc:sldChg>
      <pc:sldChg chg="add">
        <pc:chgData name="Dr. Suman Srivastava" userId="S::suman.srivastava@krmangalam.edu.in::321c702a-c804-4ce8-865a-f4757d581534" providerId="AD" clId="Web-{3904425B-56E6-A832-113C-7398AB5AFD9B}" dt="2024-05-22T10:08:03.419" v="1"/>
        <pc:sldMkLst>
          <pc:docMk/>
          <pc:sldMk cId="974690139" sldId="274"/>
        </pc:sldMkLst>
      </pc:sldChg>
      <pc:sldChg chg="add">
        <pc:chgData name="Dr. Suman Srivastava" userId="S::suman.srivastava@krmangalam.edu.in::321c702a-c804-4ce8-865a-f4757d581534" providerId="AD" clId="Web-{3904425B-56E6-A832-113C-7398AB5AFD9B}" dt="2024-05-22T10:08:03.435" v="2"/>
        <pc:sldMkLst>
          <pc:docMk/>
          <pc:sldMk cId="94181138" sldId="294"/>
        </pc:sldMkLst>
      </pc:sldChg>
      <pc:sldChg chg="add">
        <pc:chgData name="Dr. Suman Srivastava" userId="S::suman.srivastava@krmangalam.edu.in::321c702a-c804-4ce8-865a-f4757d581534" providerId="AD" clId="Web-{3904425B-56E6-A832-113C-7398AB5AFD9B}" dt="2024-05-22T10:08:03.435" v="3"/>
        <pc:sldMkLst>
          <pc:docMk/>
          <pc:sldMk cId="4180511076" sldId="295"/>
        </pc:sldMkLst>
      </pc:sldChg>
      <pc:sldChg chg="del">
        <pc:chgData name="Dr. Suman Srivastava" userId="S::suman.srivastava@krmangalam.edu.in::321c702a-c804-4ce8-865a-f4757d581534" providerId="AD" clId="Web-{3904425B-56E6-A832-113C-7398AB5AFD9B}" dt="2024-05-22T10:08:13.107" v="4"/>
        <pc:sldMkLst>
          <pc:docMk/>
          <pc:sldMk cId="4142536426" sldId="49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29050" y="0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1A43C2-FD26-4205-8B58-0D50173C5807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4038"/>
            <a:ext cx="29305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2EA2D-108B-43F9-812C-D3637D3A16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2920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01-10-2025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F4C811-DA96-46FA-BC8F-4500A40C51F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234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18-07-2024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Intensive teaching workshop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18-07-2024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Intensive teaching workshop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267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18-07-2024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Intensive teaching workshop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F0E9723-CF1C-0850-738D-22FD9A21DACA}"/>
              </a:ext>
            </a:extLst>
          </p:cNvPr>
          <p:cNvGrpSpPr/>
          <p:nvPr userDrawn="1"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8226371-350B-FE36-FA8B-F6D3375CBB07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39619E1-7F05-951B-662F-8EB90A276A81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90E7708-6FC5-3E5C-5D8D-A89F7E7415A0}"/>
              </a:ext>
            </a:extLst>
          </p:cNvPr>
          <p:cNvGrpSpPr/>
          <p:nvPr userDrawn="1"/>
        </p:nvGrpSpPr>
        <p:grpSpPr>
          <a:xfrm>
            <a:off x="0" y="6549143"/>
            <a:ext cx="9159213" cy="304800"/>
            <a:chOff x="1143000" y="857250"/>
            <a:chExt cx="6858000" cy="162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9D255B-5F69-CB80-B55B-7D569EA897D8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BB55AC-724D-2049-5859-126F851D6A60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5" r:id="rId2"/>
    <p:sldLayoutId id="2147483656" r:id="rId3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EB6A25-0621-10C8-9539-F4E23EC1891E}"/>
              </a:ext>
            </a:extLst>
          </p:cNvPr>
          <p:cNvSpPr/>
          <p:nvPr/>
        </p:nvSpPr>
        <p:spPr>
          <a:xfrm>
            <a:off x="-15214" y="1251437"/>
            <a:ext cx="9159214" cy="5297705"/>
          </a:xfrm>
          <a:prstGeom prst="rect">
            <a:avLst/>
          </a:prstGeom>
          <a:blipFill dpi="0" rotWithShape="1">
            <a:blip r:embed="rId3">
              <a:alphaModFix amt="50000"/>
            </a:blip>
            <a:srcRect/>
            <a:stretch>
              <a:fillRect t="-3862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en-IN" sz="1350" dirty="0">
              <a:solidFill>
                <a:prstClr val="white"/>
              </a:solidFill>
              <a:latin typeface="Aptos" panose="0211000402020202020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910B384-7E13-233A-9F37-02109640C973}"/>
              </a:ext>
            </a:extLst>
          </p:cNvPr>
          <p:cNvGrpSpPr/>
          <p:nvPr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A3C5C49-EEE1-635D-59E5-7808D54395A4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26EC0BF-23F7-8D74-28AC-EB3330F5685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4417709-EA2B-EEB2-0124-DBC679B75F59}"/>
              </a:ext>
            </a:extLst>
          </p:cNvPr>
          <p:cNvSpPr txBox="1"/>
          <p:nvPr/>
        </p:nvSpPr>
        <p:spPr>
          <a:xfrm>
            <a:off x="1756081" y="4894133"/>
            <a:ext cx="561662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20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Deepak Yadav</a:t>
            </a:r>
          </a:p>
          <a:p>
            <a:pPr algn="ctr">
              <a:defRPr/>
            </a:pPr>
            <a:r>
              <a:rPr lang="en-GB" sz="20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</a:t>
            </a:r>
            <a:r>
              <a:rPr lang="en-US" sz="16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Chemistry </a:t>
            </a:r>
          </a:p>
          <a:p>
            <a:pPr algn="ctr">
              <a:defRPr/>
            </a:pPr>
            <a:r>
              <a:rPr lang="en-US" sz="16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School of Basic and Applied Sciences</a:t>
            </a:r>
          </a:p>
          <a:p>
            <a:pPr algn="ctr" defTabSz="342900">
              <a:defRPr/>
            </a:pPr>
            <a:r>
              <a:rPr lang="en-US" sz="16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K.R. Mangalam University</a:t>
            </a:r>
          </a:p>
          <a:p>
            <a:pPr algn="ctr" defTabSz="342900">
              <a:defRPr/>
            </a:pPr>
            <a:r>
              <a:rPr lang="en-US" sz="16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Sohna Road, Gurugram</a:t>
            </a:r>
            <a:endParaRPr lang="en-IN" sz="16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1708C23-8D0C-B7D6-5018-8B0190278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74" y="308857"/>
            <a:ext cx="8572501" cy="9276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44A3F9-E1EE-5DBD-6D95-67CF95DACB77}"/>
              </a:ext>
            </a:extLst>
          </p:cNvPr>
          <p:cNvSpPr txBox="1"/>
          <p:nvPr/>
        </p:nvSpPr>
        <p:spPr>
          <a:xfrm>
            <a:off x="0" y="1960483"/>
            <a:ext cx="9159214" cy="1582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27623" algn="ctr">
              <a:spcBef>
                <a:spcPts val="75"/>
              </a:spcBef>
            </a:pPr>
            <a:r>
              <a:rPr lang="en-US" sz="3000" b="1" dirty="0">
                <a:latin typeface="Times New Roman"/>
                <a:cs typeface="Times New Roman"/>
              </a:rPr>
              <a:t>Course</a:t>
            </a:r>
            <a:r>
              <a:rPr lang="en-US" sz="3000" b="1" spc="-38" dirty="0">
                <a:latin typeface="Times New Roman"/>
                <a:cs typeface="Times New Roman"/>
              </a:rPr>
              <a:t> </a:t>
            </a:r>
            <a:r>
              <a:rPr lang="en-US" sz="3000" b="1" dirty="0">
                <a:latin typeface="Times New Roman"/>
                <a:cs typeface="Times New Roman"/>
              </a:rPr>
              <a:t>Code:</a:t>
            </a:r>
            <a:r>
              <a:rPr lang="en-US" sz="3000" b="1" spc="-38" dirty="0">
                <a:latin typeface="Times New Roman"/>
                <a:cs typeface="Times New Roman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ETCCCH104</a:t>
            </a:r>
            <a:endParaRPr lang="en-US" sz="3000" spc="-8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27623" algn="ctr">
              <a:spcBef>
                <a:spcPts val="75"/>
              </a:spcBef>
            </a:pPr>
            <a:r>
              <a:rPr lang="en-US" sz="3000" b="1" dirty="0">
                <a:latin typeface="Times New Roman"/>
                <a:cs typeface="Times New Roman"/>
              </a:rPr>
              <a:t>Course</a:t>
            </a:r>
            <a:r>
              <a:rPr lang="en-US" sz="3000" b="1" spc="-4" dirty="0">
                <a:latin typeface="Times New Roman"/>
                <a:cs typeface="Times New Roman"/>
              </a:rPr>
              <a:t> </a:t>
            </a:r>
            <a:r>
              <a:rPr lang="en-US" sz="3000" b="1" dirty="0">
                <a:latin typeface="Times New Roman"/>
                <a:cs typeface="Times New Roman"/>
              </a:rPr>
              <a:t>Name: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Chemistry</a:t>
            </a:r>
            <a:endParaRPr lang="en-US" sz="3000" dirty="0">
              <a:latin typeface="Times New Roman"/>
              <a:cs typeface="Times New Roman"/>
            </a:endParaRPr>
          </a:p>
          <a:p>
            <a:pPr marR="27623" algn="ctr"/>
            <a:r>
              <a:rPr lang="en-US" sz="3000" b="1" dirty="0">
                <a:latin typeface="Times New Roman"/>
                <a:cs typeface="Times New Roman"/>
              </a:rPr>
              <a:t>Program:</a:t>
            </a:r>
            <a:r>
              <a:rPr lang="en-US" sz="3000" b="1" spc="-34" dirty="0">
                <a:latin typeface="Times New Roman"/>
                <a:cs typeface="Times New Roman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6AFDA2C-02FC-7805-B01D-415947BDEB3A}"/>
              </a:ext>
            </a:extLst>
          </p:cNvPr>
          <p:cNvGrpSpPr/>
          <p:nvPr/>
        </p:nvGrpSpPr>
        <p:grpSpPr>
          <a:xfrm>
            <a:off x="0" y="6549143"/>
            <a:ext cx="9159213" cy="304800"/>
            <a:chOff x="1143000" y="857250"/>
            <a:chExt cx="6858000" cy="162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3F716C-7323-768B-D8E3-06127E29334B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426B9DC-430E-BCAA-1219-94197EAAEDFD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3824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Neoprene, Isoprene, Nylon-6, Nylon-6,6 , </a:t>
            </a:r>
            <a:r>
              <a:rPr lang="en-US" dirty="0" err="1">
                <a:solidFill>
                  <a:srgbClr val="C00000"/>
                </a:solidFill>
              </a:rPr>
              <a:t>Decron</a:t>
            </a:r>
            <a:r>
              <a:rPr lang="en-US" dirty="0">
                <a:solidFill>
                  <a:srgbClr val="C00000"/>
                </a:solidFill>
              </a:rPr>
              <a:t> and Terylene </a:t>
            </a:r>
            <a:endParaRPr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Session Outcomes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BE1CB9-4E12-6ED8-32E1-8DE0981A9794}"/>
              </a:ext>
            </a:extLst>
          </p:cNvPr>
          <p:cNvSpPr txBox="1"/>
          <p:nvPr/>
        </p:nvSpPr>
        <p:spPr>
          <a:xfrm>
            <a:off x="491140" y="1228397"/>
            <a:ext cx="838842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Understand the preparation and properties of selected synthetic polymers.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Differentiate between various types of nylons and polyesters.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Identify key applications in textiles, engineering, and daily life.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Compare structural features and advantages.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75856" y="322798"/>
            <a:ext cx="15229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 Neoprene</a:t>
            </a:r>
            <a:endParaRPr lang="en-IN" sz="24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2" t="12166" r="10320" b="16691"/>
          <a:stretch/>
        </p:blipFill>
        <p:spPr bwMode="auto">
          <a:xfrm>
            <a:off x="827582" y="836712"/>
            <a:ext cx="7618275" cy="338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4504168"/>
            <a:ext cx="4968552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503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47864" y="275349"/>
            <a:ext cx="2403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Applications:</a:t>
            </a:r>
            <a:endParaRPr lang="en-IN" sz="3200" b="1" dirty="0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0" t="14321" r="10809" b="16183"/>
          <a:stretch/>
        </p:blipFill>
        <p:spPr bwMode="auto">
          <a:xfrm>
            <a:off x="971600" y="1484783"/>
            <a:ext cx="7454976" cy="4576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1091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35896" y="487482"/>
            <a:ext cx="1301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Isoprene</a:t>
            </a:r>
            <a:endParaRPr lang="en-IN" sz="2400" b="1" dirty="0"/>
          </a:p>
        </p:txBody>
      </p:sp>
      <p:sp>
        <p:nvSpPr>
          <p:cNvPr id="3" name="Rectangle 2"/>
          <p:cNvSpPr/>
          <p:nvPr/>
        </p:nvSpPr>
        <p:spPr>
          <a:xfrm>
            <a:off x="592059" y="4653136"/>
            <a:ext cx="806489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It is used mainly in the production of isoprene rubber (used in vehicle </a:t>
            </a:r>
            <a:r>
              <a:rPr lang="en-US" sz="2400" b="1" dirty="0" err="1"/>
              <a:t>tyres</a:t>
            </a:r>
            <a:r>
              <a:rPr lang="en-US" sz="2400" b="1" dirty="0"/>
              <a:t>), block polymers containing styrene (used as thermoplastic rubbers) and pressure-sensitive adhesives and in butyl rubber used for construction of hoses and </a:t>
            </a:r>
            <a:r>
              <a:rPr lang="en-US" sz="2400" b="1" dirty="0" err="1"/>
              <a:t>tyres</a:t>
            </a:r>
            <a:r>
              <a:rPr lang="en-US" sz="2400" b="1" dirty="0"/>
              <a:t>.</a:t>
            </a:r>
            <a:endParaRPr lang="en-IN" sz="24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907" y="2406706"/>
            <a:ext cx="6534683" cy="2269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592059" y="1191675"/>
            <a:ext cx="794038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Isoprene, a </a:t>
            </a:r>
            <a:r>
              <a:rPr lang="en-US" sz="2400" b="1" dirty="0" err="1"/>
              <a:t>colourless</a:t>
            </a:r>
            <a:r>
              <a:rPr lang="en-US" sz="2400" b="1" dirty="0"/>
              <a:t>, volatile liquid hydrocarbon obtained in processing petroleum or coal tar and used as a chemical raw material. The formula is C5H8.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179386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53447" y="366087"/>
            <a:ext cx="1423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Nylon-6,6</a:t>
            </a:r>
            <a:endParaRPr lang="en-IN" sz="2400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2" t="19781" r="12224" b="22225"/>
          <a:stretch/>
        </p:blipFill>
        <p:spPr bwMode="auto">
          <a:xfrm>
            <a:off x="1115617" y="836712"/>
            <a:ext cx="5899448" cy="3127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08" t="25090" r="6824" b="13397"/>
          <a:stretch/>
        </p:blipFill>
        <p:spPr bwMode="auto">
          <a:xfrm>
            <a:off x="1763688" y="3861048"/>
            <a:ext cx="4800404" cy="2640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1577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2" t="4034" r="4439" b="9813"/>
          <a:stretch/>
        </p:blipFill>
        <p:spPr bwMode="auto">
          <a:xfrm>
            <a:off x="251520" y="404664"/>
            <a:ext cx="5834433" cy="410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3" t="18180" r="9059" b="6228"/>
          <a:stretch/>
        </p:blipFill>
        <p:spPr bwMode="auto">
          <a:xfrm>
            <a:off x="5436096" y="4398579"/>
            <a:ext cx="3429603" cy="2191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9752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75856" y="332656"/>
            <a:ext cx="2454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Dacron / Terylene</a:t>
            </a:r>
            <a:endParaRPr lang="en-IN" sz="2400" b="1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5" t="26114" r="5378" b="19444"/>
          <a:stretch/>
        </p:blipFill>
        <p:spPr bwMode="auto">
          <a:xfrm>
            <a:off x="773903" y="1124744"/>
            <a:ext cx="7620387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2234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8" name="Picture 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96" b="11869"/>
          <a:stretch/>
        </p:blipFill>
        <p:spPr bwMode="auto">
          <a:xfrm>
            <a:off x="1619672" y="854422"/>
            <a:ext cx="6383072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9" name="Picture 9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5" t="38095" r="12832" b="30888"/>
          <a:stretch/>
        </p:blipFill>
        <p:spPr bwMode="auto">
          <a:xfrm>
            <a:off x="2410362" y="4581128"/>
            <a:ext cx="4635062" cy="1371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2834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5" t="24100" r="23170" b="15211"/>
          <a:stretch/>
        </p:blipFill>
        <p:spPr bwMode="auto">
          <a:xfrm>
            <a:off x="827584" y="1844823"/>
            <a:ext cx="4855779" cy="3373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70" t="19744" r="27263" b="14662"/>
          <a:stretch/>
        </p:blipFill>
        <p:spPr bwMode="auto">
          <a:xfrm>
            <a:off x="5665835" y="1844824"/>
            <a:ext cx="3042746" cy="3373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51920" y="260007"/>
            <a:ext cx="21268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chemeClr val="accent6"/>
                </a:solidFill>
              </a:rPr>
              <a:t>Applications:</a:t>
            </a:r>
            <a:endParaRPr lang="en-IN" sz="2800" b="1" u="sng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183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DC263C-C8E0-DC04-EF1F-FE0E8940D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18-07-2024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9A32D7-05D0-2ACB-680D-2FE814F2E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Intensive teaching workshop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08645-411E-E748-152F-A1233E072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12</a:t>
            </a:fld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55D9869-0546-2F05-EBD7-FDDB451246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209899"/>
              </p:ext>
            </p:extLst>
          </p:nvPr>
        </p:nvGraphicFramePr>
        <p:xfrm>
          <a:off x="457200" y="1805781"/>
          <a:ext cx="8229600" cy="41148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16976545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694189297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87872713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37620928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9153713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Polymer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Monomer(s)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Key Properties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Applications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653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Neoprene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Chloroprene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Addition (radical)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Oil, solvent resistant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Wetsuits, gaskets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85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Isoprene Rubber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Isoprene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Elastic, natural rubber substitute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Tyres, footwear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9115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Nylon-6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Caprolactam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Condensation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Strong, flexible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Fabrics, nets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639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Nylon-6,6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Hexamethylene diamine + Adipic acid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Condensation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Heat resistant, tough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Carpets, ropes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878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7030A0"/>
                          </a:solidFill>
                        </a:rPr>
                        <a:t>Dacron/Terylene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Ethylene glycol + Terephthalic acid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Condensation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Strong, wrinkle resistant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Textiles, bottles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426515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C584FF1A-4BDE-E205-8DEC-31A05182D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872" y="761369"/>
            <a:ext cx="3528392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Comparison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663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03FA3-F95E-1994-A30B-86BE8AA34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13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B41C22-B32C-5578-CECF-D2894F5BC959}"/>
              </a:ext>
            </a:extLst>
          </p:cNvPr>
          <p:cNvSpPr txBox="1"/>
          <p:nvPr/>
        </p:nvSpPr>
        <p:spPr>
          <a:xfrm>
            <a:off x="832412" y="980728"/>
            <a:ext cx="777203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b="1" dirty="0">
                <a:solidFill>
                  <a:srgbClr val="C00000"/>
                </a:solidFill>
              </a:rPr>
              <a:t>Takeaway of Session</a:t>
            </a:r>
          </a:p>
          <a:p>
            <a:pPr algn="ctr">
              <a:buNone/>
            </a:pPr>
            <a:endParaRPr lang="en-IN" sz="2000" b="1" dirty="0">
              <a:solidFill>
                <a:srgbClr val="C0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Synthetic polymers are designed to overcome limitations of natural ones.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Neoprene</a:t>
            </a:r>
            <a:r>
              <a:rPr lang="en-IN" sz="2400" dirty="0"/>
              <a:t>: resistant to oil &amp; solvents.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Isoprene Rubber</a:t>
            </a:r>
            <a:r>
              <a:rPr lang="en-IN" sz="2400" dirty="0"/>
              <a:t>: synthetic substitute for natural rubber.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Nylon-6 &amp; Nylon-6,6</a:t>
            </a:r>
            <a:r>
              <a:rPr lang="en-IN" sz="2400" dirty="0"/>
              <a:t>: strong </a:t>
            </a:r>
            <a:r>
              <a:rPr lang="en-IN" sz="2400" dirty="0" err="1"/>
              <a:t>fibers</a:t>
            </a:r>
            <a:r>
              <a:rPr lang="en-IN" sz="2400" dirty="0"/>
              <a:t>, engineering plastics.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Dacron/Terylene</a:t>
            </a:r>
            <a:r>
              <a:rPr lang="en-IN" sz="2400" dirty="0"/>
              <a:t>: polyester, widely used in textiles &amp; packaging.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65604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8EC71-78F8-F663-19EE-64CB9FD8C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14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5E3331-C055-B7E2-DB0B-64CD30B12456}"/>
              </a:ext>
            </a:extLst>
          </p:cNvPr>
          <p:cNvSpPr txBox="1"/>
          <p:nvPr/>
        </p:nvSpPr>
        <p:spPr>
          <a:xfrm>
            <a:off x="467544" y="476672"/>
            <a:ext cx="458357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MCQs for Practice</a:t>
            </a:r>
          </a:p>
          <a:p>
            <a:pPr>
              <a:buNone/>
            </a:pPr>
            <a:r>
              <a:rPr lang="en-IN" b="1" dirty="0"/>
              <a:t>Q1.</a:t>
            </a:r>
            <a:r>
              <a:rPr lang="en-IN" dirty="0"/>
              <a:t> Monomer of Nylon-6 is:</a:t>
            </a:r>
            <a:br>
              <a:rPr lang="en-IN" dirty="0"/>
            </a:br>
            <a:r>
              <a:rPr lang="en-IN" dirty="0"/>
              <a:t>a) Caprolactam </a:t>
            </a:r>
            <a:br>
              <a:rPr lang="en-IN" dirty="0"/>
            </a:br>
            <a:r>
              <a:rPr lang="en-IN" dirty="0"/>
              <a:t>b) Adipic acid</a:t>
            </a:r>
            <a:br>
              <a:rPr lang="en-IN" dirty="0"/>
            </a:br>
            <a:r>
              <a:rPr lang="en-IN" dirty="0"/>
              <a:t>c) Terephthalic acid</a:t>
            </a:r>
            <a:br>
              <a:rPr lang="en-IN" dirty="0"/>
            </a:br>
            <a:r>
              <a:rPr lang="en-IN" dirty="0"/>
              <a:t>d) Styrene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C31A2D-F617-91AD-EAB7-6D1C0C1CA877}"/>
              </a:ext>
            </a:extLst>
          </p:cNvPr>
          <p:cNvSpPr txBox="1"/>
          <p:nvPr/>
        </p:nvSpPr>
        <p:spPr>
          <a:xfrm>
            <a:off x="467544" y="2230998"/>
            <a:ext cx="45835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Q2.</a:t>
            </a:r>
            <a:r>
              <a:rPr lang="en-IN" dirty="0"/>
              <a:t> Nylon-6,6 is formed by condensation of:</a:t>
            </a:r>
            <a:br>
              <a:rPr lang="en-IN" dirty="0"/>
            </a:br>
            <a:r>
              <a:rPr lang="en-IN" dirty="0"/>
              <a:t>a) Caprolactam</a:t>
            </a:r>
            <a:br>
              <a:rPr lang="en-IN" dirty="0"/>
            </a:br>
            <a:r>
              <a:rPr lang="en-IN" dirty="0"/>
              <a:t>b) Hexamethylene diamine &amp; Adipic acid </a:t>
            </a:r>
            <a:br>
              <a:rPr lang="en-IN" dirty="0"/>
            </a:br>
            <a:r>
              <a:rPr lang="en-IN" dirty="0"/>
              <a:t>c) Terephthalic acid &amp; Ethylene glycol</a:t>
            </a:r>
            <a:br>
              <a:rPr lang="en-IN" dirty="0"/>
            </a:br>
            <a:r>
              <a:rPr lang="en-IN" dirty="0"/>
              <a:t>d) Butadiene &amp; Styrene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D6BD08-0B72-84F2-20C3-5D27448C6609}"/>
              </a:ext>
            </a:extLst>
          </p:cNvPr>
          <p:cNvSpPr txBox="1"/>
          <p:nvPr/>
        </p:nvSpPr>
        <p:spPr>
          <a:xfrm>
            <a:off x="463980" y="3708326"/>
            <a:ext cx="45835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Q3.</a:t>
            </a:r>
            <a:r>
              <a:rPr lang="en-IN" dirty="0"/>
              <a:t> Dacron/Terylene belongs to:</a:t>
            </a:r>
            <a:br>
              <a:rPr lang="en-IN" dirty="0"/>
            </a:br>
            <a:r>
              <a:rPr lang="en-IN" dirty="0"/>
              <a:t>a) Polyester </a:t>
            </a:r>
            <a:br>
              <a:rPr lang="en-IN" dirty="0"/>
            </a:br>
            <a:r>
              <a:rPr lang="en-IN" dirty="0"/>
              <a:t>b) Polyamide</a:t>
            </a:r>
            <a:br>
              <a:rPr lang="en-IN" dirty="0"/>
            </a:br>
            <a:r>
              <a:rPr lang="en-IN" dirty="0"/>
              <a:t>c) Polyisoprene</a:t>
            </a:r>
            <a:br>
              <a:rPr lang="en-IN" dirty="0"/>
            </a:br>
            <a:r>
              <a:rPr lang="en-IN" dirty="0"/>
              <a:t>d) Polyethylene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FDB512-EC9F-60AC-CC7B-D90E2D31DBEF}"/>
              </a:ext>
            </a:extLst>
          </p:cNvPr>
          <p:cNvSpPr txBox="1"/>
          <p:nvPr/>
        </p:nvSpPr>
        <p:spPr>
          <a:xfrm>
            <a:off x="457200" y="5066927"/>
            <a:ext cx="45835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Q4.</a:t>
            </a:r>
            <a:r>
              <a:rPr lang="en-IN" dirty="0"/>
              <a:t> Neoprene is obtained from:</a:t>
            </a:r>
            <a:br>
              <a:rPr lang="en-IN" dirty="0"/>
            </a:br>
            <a:r>
              <a:rPr lang="en-IN" dirty="0"/>
              <a:t>a) Isoprene</a:t>
            </a:r>
            <a:br>
              <a:rPr lang="en-IN" dirty="0"/>
            </a:br>
            <a:r>
              <a:rPr lang="en-IN" dirty="0"/>
              <a:t>b) Chloroprene </a:t>
            </a:r>
            <a:br>
              <a:rPr lang="en-IN" dirty="0"/>
            </a:br>
            <a:r>
              <a:rPr lang="en-IN" dirty="0"/>
              <a:t>c) Caprolactam</a:t>
            </a:r>
            <a:br>
              <a:rPr lang="en-IN" dirty="0"/>
            </a:br>
            <a:r>
              <a:rPr lang="en-IN" dirty="0"/>
              <a:t>d) Adipic acid</a:t>
            </a:r>
          </a:p>
        </p:txBody>
      </p:sp>
    </p:spTree>
    <p:extLst>
      <p:ext uri="{BB962C8B-B14F-4D97-AF65-F5344CB8AC3E}">
        <p14:creationId xmlns:p14="http://schemas.microsoft.com/office/powerpoint/2010/main" val="1444620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92896"/>
            <a:ext cx="8229600" cy="1143000"/>
          </a:xfrm>
        </p:spPr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8745</TotalTime>
  <Words>421</Words>
  <Application>Microsoft Office PowerPoint</Application>
  <PresentationFormat>On-screen Show (4:3)</PresentationFormat>
  <Paragraphs>80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Times New Roman</vt:lpstr>
      <vt:lpstr>Office Theme</vt:lpstr>
      <vt:lpstr>PowerPoint Presentation</vt:lpstr>
      <vt:lpstr>Neoprene, Isoprene, Nylon-6, Nylon-6,6 , Decron and Terylene </vt:lpstr>
      <vt:lpstr>Session Outcomes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deepak.y</cp:lastModifiedBy>
  <cp:revision>590</cp:revision>
  <cp:lastPrinted>2022-09-05T08:43:44Z</cp:lastPrinted>
  <dcterms:created xsi:type="dcterms:W3CDTF">2020-01-16T09:05:56Z</dcterms:created>
  <dcterms:modified xsi:type="dcterms:W3CDTF">2025-10-01T04:59:43Z</dcterms:modified>
</cp:coreProperties>
</file>