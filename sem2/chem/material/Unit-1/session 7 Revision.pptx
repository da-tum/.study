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574" r:id="rId2"/>
    <p:sldId id="565" r:id="rId3"/>
    <p:sldId id="575" r:id="rId4"/>
    <p:sldId id="589" r:id="rId5"/>
    <p:sldId id="590" r:id="rId6"/>
    <p:sldId id="591" r:id="rId7"/>
    <p:sldId id="592" r:id="rId8"/>
    <p:sldId id="593" r:id="rId9"/>
    <p:sldId id="430" r:id="rId10"/>
    <p:sldId id="431" r:id="rId11"/>
    <p:sldId id="432" r:id="rId12"/>
    <p:sldId id="433" r:id="rId13"/>
    <p:sldId id="58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16BD33-0853-9E6E-1DCD-D8752C3D2466}" v="20" dt="2025-04-07T08:44:01.7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8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ibha.s" userId="S::pratibha.s@krmangalam.edu.in::c81b94cf-77d6-4481-93e7-f045f6238cd8" providerId="AD" clId="Web-{C216BD33-0853-9E6E-1DCD-D8752C3D2466}"/>
    <pc:docChg chg="addSld delSld modSld">
      <pc:chgData name="pratibha.s" userId="S::pratibha.s@krmangalam.edu.in::c81b94cf-77d6-4481-93e7-f045f6238cd8" providerId="AD" clId="Web-{C216BD33-0853-9E6E-1DCD-D8752C3D2466}" dt="2025-04-07T08:41:45.946" v="10" actId="20577"/>
      <pc:docMkLst>
        <pc:docMk/>
      </pc:docMkLst>
      <pc:sldChg chg="del">
        <pc:chgData name="pratibha.s" userId="S::pratibha.s@krmangalam.edu.in::c81b94cf-77d6-4481-93e7-f045f6238cd8" providerId="AD" clId="Web-{C216BD33-0853-9E6E-1DCD-D8752C3D2466}" dt="2025-04-07T08:41:09.523" v="6"/>
        <pc:sldMkLst>
          <pc:docMk/>
          <pc:sldMk cId="1551643713" sldId="395"/>
        </pc:sldMkLst>
      </pc:sldChg>
      <pc:sldChg chg="add">
        <pc:chgData name="pratibha.s" userId="S::pratibha.s@krmangalam.edu.in::c81b94cf-77d6-4481-93e7-f045f6238cd8" providerId="AD" clId="Web-{C216BD33-0853-9E6E-1DCD-D8752C3D2466}" dt="2025-04-07T08:27:52.264" v="0"/>
        <pc:sldMkLst>
          <pc:docMk/>
          <pc:sldMk cId="1137161756" sldId="549"/>
        </pc:sldMkLst>
      </pc:sldChg>
      <pc:sldChg chg="add del">
        <pc:chgData name="pratibha.s" userId="S::pratibha.s@krmangalam.edu.in::c81b94cf-77d6-4481-93e7-f045f6238cd8" providerId="AD" clId="Web-{C216BD33-0853-9E6E-1DCD-D8752C3D2466}" dt="2025-04-07T08:29:40.721" v="4"/>
        <pc:sldMkLst>
          <pc:docMk/>
          <pc:sldMk cId="2742220809" sldId="560"/>
        </pc:sldMkLst>
      </pc:sldChg>
      <pc:sldChg chg="modSp add">
        <pc:chgData name="pratibha.s" userId="S::pratibha.s@krmangalam.edu.in::c81b94cf-77d6-4481-93e7-f045f6238cd8" providerId="AD" clId="Web-{C216BD33-0853-9E6E-1DCD-D8752C3D2466}" dt="2025-04-07T08:41:37.148" v="8" actId="20577"/>
        <pc:sldMkLst>
          <pc:docMk/>
          <pc:sldMk cId="2992620617" sldId="572"/>
        </pc:sldMkLst>
        <pc:spChg chg="mod">
          <ac:chgData name="pratibha.s" userId="S::pratibha.s@krmangalam.edu.in::c81b94cf-77d6-4481-93e7-f045f6238cd8" providerId="AD" clId="Web-{C216BD33-0853-9E6E-1DCD-D8752C3D2466}" dt="2025-04-07T08:41:37.148" v="8" actId="20577"/>
          <ac:spMkLst>
            <pc:docMk/>
            <pc:sldMk cId="2992620617" sldId="572"/>
            <ac:spMk id="3" creationId="{BA7AAC60-6C94-BE21-A17A-6CC0CDE963C5}"/>
          </ac:spMkLst>
        </pc:spChg>
      </pc:sldChg>
      <pc:sldChg chg="modSp add">
        <pc:chgData name="pratibha.s" userId="S::pratibha.s@krmangalam.edu.in::c81b94cf-77d6-4481-93e7-f045f6238cd8" providerId="AD" clId="Web-{C216BD33-0853-9E6E-1DCD-D8752C3D2466}" dt="2025-04-07T08:41:45.946" v="10" actId="20577"/>
        <pc:sldMkLst>
          <pc:docMk/>
          <pc:sldMk cId="2430529132" sldId="573"/>
        </pc:sldMkLst>
        <pc:spChg chg="mod">
          <ac:chgData name="pratibha.s" userId="S::pratibha.s@krmangalam.edu.in::c81b94cf-77d6-4481-93e7-f045f6238cd8" providerId="AD" clId="Web-{C216BD33-0853-9E6E-1DCD-D8752C3D2466}" dt="2025-04-07T08:41:45.946" v="10" actId="20577"/>
          <ac:spMkLst>
            <pc:docMk/>
            <pc:sldMk cId="2430529132" sldId="573"/>
            <ac:spMk id="3" creationId="{CECA9C9F-C3B2-55F7-8FC7-29D69603438C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197D1C-C8C7-4B7D-A14A-F8DDC3A6DCE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E7A032A-16F1-46AF-8B22-86037CEB9DA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CO1: </a:t>
          </a:r>
          <a:r>
            <a:rPr lang="en-US" b="1" dirty="0"/>
            <a:t>Understand</a:t>
          </a:r>
          <a:r>
            <a:rPr lang="en-US" dirty="0"/>
            <a:t> the methods for water hardness and the basics of boiler water treatment and analyze fuel calorific values and battery.</a:t>
          </a:r>
        </a:p>
      </dgm:t>
    </dgm:pt>
    <dgm:pt modelId="{F86E09F7-486D-4BEF-A923-F14FEC225C64}" type="parTrans" cxnId="{3320C3F2-A6CD-41CE-AF17-60423ED069A6}">
      <dgm:prSet/>
      <dgm:spPr/>
      <dgm:t>
        <a:bodyPr/>
        <a:lstStyle/>
        <a:p>
          <a:endParaRPr lang="en-US"/>
        </a:p>
      </dgm:t>
    </dgm:pt>
    <dgm:pt modelId="{3FC4EF5E-B808-440A-9E2C-4F7831C8CE8C}" type="sibTrans" cxnId="{3320C3F2-A6CD-41CE-AF17-60423ED069A6}">
      <dgm:prSet/>
      <dgm:spPr/>
      <dgm:t>
        <a:bodyPr/>
        <a:lstStyle/>
        <a:p>
          <a:endParaRPr lang="en-US"/>
        </a:p>
      </dgm:t>
    </dgm:pt>
    <dgm:pt modelId="{0B198A1D-F0DF-4034-A8BC-B066E7FF3ED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CO2: </a:t>
          </a:r>
          <a:r>
            <a:rPr lang="en-US" b="1" dirty="0"/>
            <a:t>Explain</a:t>
          </a:r>
          <a:r>
            <a:rPr lang="en-US" dirty="0"/>
            <a:t> the characteristics and working principles of different battery types and types of fuels. </a:t>
          </a:r>
          <a:endParaRPr lang="en-IN" dirty="0"/>
        </a:p>
      </dgm:t>
    </dgm:pt>
    <dgm:pt modelId="{134E97FE-7EA1-4ADC-83A6-E3D5A6596EBE}" type="parTrans" cxnId="{3D6D94CC-9AFE-4BCD-A5DC-7F3DCEE6B33F}">
      <dgm:prSet/>
      <dgm:spPr/>
      <dgm:t>
        <a:bodyPr/>
        <a:lstStyle/>
        <a:p>
          <a:endParaRPr lang="en-IN"/>
        </a:p>
      </dgm:t>
    </dgm:pt>
    <dgm:pt modelId="{04E66C80-9E50-4D38-B67A-F4FA2D865CE3}" type="sibTrans" cxnId="{3D6D94CC-9AFE-4BCD-A5DC-7F3DCEE6B33F}">
      <dgm:prSet/>
      <dgm:spPr/>
      <dgm:t>
        <a:bodyPr/>
        <a:lstStyle/>
        <a:p>
          <a:endParaRPr lang="en-IN"/>
        </a:p>
      </dgm:t>
    </dgm:pt>
    <dgm:pt modelId="{EEB38B72-A912-468A-BFC3-8EE4A0CB542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CO3: </a:t>
          </a:r>
          <a:r>
            <a:rPr lang="en-US" b="1" dirty="0"/>
            <a:t>Determine</a:t>
          </a:r>
          <a:r>
            <a:rPr lang="en-US" dirty="0"/>
            <a:t> the differences between batteries and fuel cells and classify fuel cell types based on their components.</a:t>
          </a:r>
          <a:r>
            <a:rPr lang="en-IN" dirty="0"/>
            <a:t>. </a:t>
          </a:r>
        </a:p>
      </dgm:t>
    </dgm:pt>
    <dgm:pt modelId="{740ADBB8-CDAC-40D3-99FE-E2752AA6F6F5}" type="parTrans" cxnId="{5AC764CA-156A-405F-A245-8AE6D91B80B0}">
      <dgm:prSet/>
      <dgm:spPr/>
      <dgm:t>
        <a:bodyPr/>
        <a:lstStyle/>
        <a:p>
          <a:endParaRPr lang="en-IN"/>
        </a:p>
      </dgm:t>
    </dgm:pt>
    <dgm:pt modelId="{B2634535-4686-436F-A9EC-5C2A6D4668CD}" type="sibTrans" cxnId="{5AC764CA-156A-405F-A245-8AE6D91B80B0}">
      <dgm:prSet/>
      <dgm:spPr/>
      <dgm:t>
        <a:bodyPr/>
        <a:lstStyle/>
        <a:p>
          <a:endParaRPr lang="en-IN"/>
        </a:p>
      </dgm:t>
    </dgm:pt>
    <dgm:pt modelId="{862F3A91-D739-459C-AA59-ACC91F401002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CO4: </a:t>
          </a:r>
          <a:r>
            <a:rPr lang="en-US" b="1" dirty="0"/>
            <a:t>Identify</a:t>
          </a:r>
          <a:r>
            <a:rPr lang="en-US" dirty="0"/>
            <a:t> between hard and soft water, solve the related numerical problems on water purification and emf and its significance in industry and daily life.</a:t>
          </a:r>
          <a:endParaRPr lang="en-IN" dirty="0"/>
        </a:p>
      </dgm:t>
    </dgm:pt>
    <dgm:pt modelId="{921011F5-0208-4207-BF03-301150786E64}" type="parTrans" cxnId="{3D8F8866-8328-49C1-81AE-8F591F259B99}">
      <dgm:prSet/>
      <dgm:spPr/>
      <dgm:t>
        <a:bodyPr/>
        <a:lstStyle/>
        <a:p>
          <a:endParaRPr lang="en-IN"/>
        </a:p>
      </dgm:t>
    </dgm:pt>
    <dgm:pt modelId="{831DC015-3E12-4E16-A5EC-98A7F0C54591}" type="sibTrans" cxnId="{3D8F8866-8328-49C1-81AE-8F591F259B99}">
      <dgm:prSet/>
      <dgm:spPr/>
      <dgm:t>
        <a:bodyPr/>
        <a:lstStyle/>
        <a:p>
          <a:endParaRPr lang="en-IN"/>
        </a:p>
      </dgm:t>
    </dgm:pt>
    <dgm:pt modelId="{2536D237-47EA-4B37-A454-BB90BD199B6A}" type="pres">
      <dgm:prSet presAssocID="{98197D1C-C8C7-4B7D-A14A-F8DDC3A6DCEA}" presName="root" presStyleCnt="0">
        <dgm:presLayoutVars>
          <dgm:dir/>
          <dgm:resizeHandles val="exact"/>
        </dgm:presLayoutVars>
      </dgm:prSet>
      <dgm:spPr/>
    </dgm:pt>
    <dgm:pt modelId="{379558B8-FE68-46C2-8D91-F37CFA5AF511}" type="pres">
      <dgm:prSet presAssocID="{1E7A032A-16F1-46AF-8B22-86037CEB9DA0}" presName="compNode" presStyleCnt="0"/>
      <dgm:spPr/>
    </dgm:pt>
    <dgm:pt modelId="{F41D418F-7B3C-47CC-81B2-AE3147FC537D}" type="pres">
      <dgm:prSet presAssocID="{1E7A032A-16F1-46AF-8B22-86037CEB9DA0}" presName="bgRect" presStyleLbl="bgShp" presStyleIdx="0" presStyleCnt="4"/>
      <dgm:spPr/>
    </dgm:pt>
    <dgm:pt modelId="{8CBEF6DD-AA1D-47DF-9638-57CD9E704645}" type="pres">
      <dgm:prSet presAssocID="{1E7A032A-16F1-46AF-8B22-86037CEB9DA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D399F639-EE39-4BCB-8E7E-86EA8EBD54FF}" type="pres">
      <dgm:prSet presAssocID="{1E7A032A-16F1-46AF-8B22-86037CEB9DA0}" presName="spaceRect" presStyleCnt="0"/>
      <dgm:spPr/>
    </dgm:pt>
    <dgm:pt modelId="{C859899F-9E11-47BC-ABD7-B1ADA39E6E4E}" type="pres">
      <dgm:prSet presAssocID="{1E7A032A-16F1-46AF-8B22-86037CEB9DA0}" presName="parTx" presStyleLbl="revTx" presStyleIdx="0" presStyleCnt="4">
        <dgm:presLayoutVars>
          <dgm:chMax val="0"/>
          <dgm:chPref val="0"/>
        </dgm:presLayoutVars>
      </dgm:prSet>
      <dgm:spPr/>
    </dgm:pt>
    <dgm:pt modelId="{90216848-D318-4661-B39E-EF10D6A71FA1}" type="pres">
      <dgm:prSet presAssocID="{3FC4EF5E-B808-440A-9E2C-4F7831C8CE8C}" presName="sibTrans" presStyleCnt="0"/>
      <dgm:spPr/>
    </dgm:pt>
    <dgm:pt modelId="{F95D8AB0-6A9B-485A-BDE4-E4A68A9A505E}" type="pres">
      <dgm:prSet presAssocID="{0B198A1D-F0DF-4034-A8BC-B066E7FF3EDB}" presName="compNode" presStyleCnt="0"/>
      <dgm:spPr/>
    </dgm:pt>
    <dgm:pt modelId="{C012FC80-3824-4EFE-9F5A-114D1483AA54}" type="pres">
      <dgm:prSet presAssocID="{0B198A1D-F0DF-4034-A8BC-B066E7FF3EDB}" presName="bgRect" presStyleLbl="bgShp" presStyleIdx="1" presStyleCnt="4"/>
      <dgm:spPr/>
    </dgm:pt>
    <dgm:pt modelId="{B4D3A1C4-4BA4-4014-841A-6B71C45548B0}" type="pres">
      <dgm:prSet presAssocID="{0B198A1D-F0DF-4034-A8BC-B066E7FF3ED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7EBC6868-9C28-4991-8CF1-9D70A6D813FC}" type="pres">
      <dgm:prSet presAssocID="{0B198A1D-F0DF-4034-A8BC-B066E7FF3EDB}" presName="spaceRect" presStyleCnt="0"/>
      <dgm:spPr/>
    </dgm:pt>
    <dgm:pt modelId="{D44C2E2F-D83F-4A52-A6C0-E2CA822CE068}" type="pres">
      <dgm:prSet presAssocID="{0B198A1D-F0DF-4034-A8BC-B066E7FF3EDB}" presName="parTx" presStyleLbl="revTx" presStyleIdx="1" presStyleCnt="4">
        <dgm:presLayoutVars>
          <dgm:chMax val="0"/>
          <dgm:chPref val="0"/>
        </dgm:presLayoutVars>
      </dgm:prSet>
      <dgm:spPr/>
    </dgm:pt>
    <dgm:pt modelId="{B24887C3-295A-4F94-953B-202027765959}" type="pres">
      <dgm:prSet presAssocID="{04E66C80-9E50-4D38-B67A-F4FA2D865CE3}" presName="sibTrans" presStyleCnt="0"/>
      <dgm:spPr/>
    </dgm:pt>
    <dgm:pt modelId="{9E014CA1-8CB7-4B47-837C-FDA9CD13B899}" type="pres">
      <dgm:prSet presAssocID="{EEB38B72-A912-468A-BFC3-8EE4A0CB542B}" presName="compNode" presStyleCnt="0"/>
      <dgm:spPr/>
    </dgm:pt>
    <dgm:pt modelId="{1AE007B7-B3F8-4079-A7C6-8FECDDD7FCAC}" type="pres">
      <dgm:prSet presAssocID="{EEB38B72-A912-468A-BFC3-8EE4A0CB542B}" presName="bgRect" presStyleLbl="bgShp" presStyleIdx="2" presStyleCnt="4"/>
      <dgm:spPr/>
    </dgm:pt>
    <dgm:pt modelId="{78CE3D94-A17F-4373-8F94-FFA0F916D308}" type="pres">
      <dgm:prSet presAssocID="{EEB38B72-A912-468A-BFC3-8EE4A0CB542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2320A3BD-2636-4C64-8E3B-441C52220EBB}" type="pres">
      <dgm:prSet presAssocID="{EEB38B72-A912-468A-BFC3-8EE4A0CB542B}" presName="spaceRect" presStyleCnt="0"/>
      <dgm:spPr/>
    </dgm:pt>
    <dgm:pt modelId="{CDF8F216-6DF1-4747-B11D-32515D5ADACC}" type="pres">
      <dgm:prSet presAssocID="{EEB38B72-A912-468A-BFC3-8EE4A0CB542B}" presName="parTx" presStyleLbl="revTx" presStyleIdx="2" presStyleCnt="4">
        <dgm:presLayoutVars>
          <dgm:chMax val="0"/>
          <dgm:chPref val="0"/>
        </dgm:presLayoutVars>
      </dgm:prSet>
      <dgm:spPr/>
    </dgm:pt>
    <dgm:pt modelId="{CD869F62-C8BC-47A1-9B89-E65DF783C3B1}" type="pres">
      <dgm:prSet presAssocID="{B2634535-4686-436F-A9EC-5C2A6D4668CD}" presName="sibTrans" presStyleCnt="0"/>
      <dgm:spPr/>
    </dgm:pt>
    <dgm:pt modelId="{F41339C3-1E4E-4314-A8CA-390171776897}" type="pres">
      <dgm:prSet presAssocID="{862F3A91-D739-459C-AA59-ACC91F401002}" presName="compNode" presStyleCnt="0"/>
      <dgm:spPr/>
    </dgm:pt>
    <dgm:pt modelId="{9CC8D97A-242E-4192-9D22-094C754722C1}" type="pres">
      <dgm:prSet presAssocID="{862F3A91-D739-459C-AA59-ACC91F401002}" presName="bgRect" presStyleLbl="bgShp" presStyleIdx="3" presStyleCnt="4"/>
      <dgm:spPr/>
    </dgm:pt>
    <dgm:pt modelId="{E3801F28-382D-48CB-999F-D64AC321BFEA}" type="pres">
      <dgm:prSet presAssocID="{862F3A91-D739-459C-AA59-ACC91F40100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0EA0F913-274C-4385-B0AF-55AA690A1A7F}" type="pres">
      <dgm:prSet presAssocID="{862F3A91-D739-459C-AA59-ACC91F401002}" presName="spaceRect" presStyleCnt="0"/>
      <dgm:spPr/>
    </dgm:pt>
    <dgm:pt modelId="{C5518254-9836-41F1-BF89-7570967DD110}" type="pres">
      <dgm:prSet presAssocID="{862F3A91-D739-459C-AA59-ACC91F40100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D8F8866-8328-49C1-81AE-8F591F259B99}" srcId="{98197D1C-C8C7-4B7D-A14A-F8DDC3A6DCEA}" destId="{862F3A91-D739-459C-AA59-ACC91F401002}" srcOrd="3" destOrd="0" parTransId="{921011F5-0208-4207-BF03-301150786E64}" sibTransId="{831DC015-3E12-4E16-A5EC-98A7F0C54591}"/>
    <dgm:cxn modelId="{7FF79680-C74E-4147-8765-BB0459743B26}" type="presOf" srcId="{0B198A1D-F0DF-4034-A8BC-B066E7FF3EDB}" destId="{D44C2E2F-D83F-4A52-A6C0-E2CA822CE068}" srcOrd="0" destOrd="0" presId="urn:microsoft.com/office/officeart/2018/2/layout/IconVerticalSolidList"/>
    <dgm:cxn modelId="{F2724193-C788-48B3-869C-44D64BE70F35}" type="presOf" srcId="{98197D1C-C8C7-4B7D-A14A-F8DDC3A6DCEA}" destId="{2536D237-47EA-4B37-A454-BB90BD199B6A}" srcOrd="0" destOrd="0" presId="urn:microsoft.com/office/officeart/2018/2/layout/IconVerticalSolidList"/>
    <dgm:cxn modelId="{4D6F67AE-90DC-485B-BE19-E2CDF252AE39}" type="presOf" srcId="{1E7A032A-16F1-46AF-8B22-86037CEB9DA0}" destId="{C859899F-9E11-47BC-ABD7-B1ADA39E6E4E}" srcOrd="0" destOrd="0" presId="urn:microsoft.com/office/officeart/2018/2/layout/IconVerticalSolidList"/>
    <dgm:cxn modelId="{5AC764CA-156A-405F-A245-8AE6D91B80B0}" srcId="{98197D1C-C8C7-4B7D-A14A-F8DDC3A6DCEA}" destId="{EEB38B72-A912-468A-BFC3-8EE4A0CB542B}" srcOrd="2" destOrd="0" parTransId="{740ADBB8-CDAC-40D3-99FE-E2752AA6F6F5}" sibTransId="{B2634535-4686-436F-A9EC-5C2A6D4668CD}"/>
    <dgm:cxn modelId="{3D6D94CC-9AFE-4BCD-A5DC-7F3DCEE6B33F}" srcId="{98197D1C-C8C7-4B7D-A14A-F8DDC3A6DCEA}" destId="{0B198A1D-F0DF-4034-A8BC-B066E7FF3EDB}" srcOrd="1" destOrd="0" parTransId="{134E97FE-7EA1-4ADC-83A6-E3D5A6596EBE}" sibTransId="{04E66C80-9E50-4D38-B67A-F4FA2D865CE3}"/>
    <dgm:cxn modelId="{90315EDD-841C-4C65-B532-5FDF41F45327}" type="presOf" srcId="{862F3A91-D739-459C-AA59-ACC91F401002}" destId="{C5518254-9836-41F1-BF89-7570967DD110}" srcOrd="0" destOrd="0" presId="urn:microsoft.com/office/officeart/2018/2/layout/IconVerticalSolidList"/>
    <dgm:cxn modelId="{0B1CC3F2-2869-45FB-B2DC-E7696F446ED2}" type="presOf" srcId="{EEB38B72-A912-468A-BFC3-8EE4A0CB542B}" destId="{CDF8F216-6DF1-4747-B11D-32515D5ADACC}" srcOrd="0" destOrd="0" presId="urn:microsoft.com/office/officeart/2018/2/layout/IconVerticalSolidList"/>
    <dgm:cxn modelId="{3320C3F2-A6CD-41CE-AF17-60423ED069A6}" srcId="{98197D1C-C8C7-4B7D-A14A-F8DDC3A6DCEA}" destId="{1E7A032A-16F1-46AF-8B22-86037CEB9DA0}" srcOrd="0" destOrd="0" parTransId="{F86E09F7-486D-4BEF-A923-F14FEC225C64}" sibTransId="{3FC4EF5E-B808-440A-9E2C-4F7831C8CE8C}"/>
    <dgm:cxn modelId="{A7E58C7C-9633-4835-8FF9-137585CDD281}" type="presParOf" srcId="{2536D237-47EA-4B37-A454-BB90BD199B6A}" destId="{379558B8-FE68-46C2-8D91-F37CFA5AF511}" srcOrd="0" destOrd="0" presId="urn:microsoft.com/office/officeart/2018/2/layout/IconVerticalSolidList"/>
    <dgm:cxn modelId="{D6839034-7F36-4C87-877D-BCEA1DF0AAE2}" type="presParOf" srcId="{379558B8-FE68-46C2-8D91-F37CFA5AF511}" destId="{F41D418F-7B3C-47CC-81B2-AE3147FC537D}" srcOrd="0" destOrd="0" presId="urn:microsoft.com/office/officeart/2018/2/layout/IconVerticalSolidList"/>
    <dgm:cxn modelId="{C772F475-AEC7-4165-8E78-CA78B73AC580}" type="presParOf" srcId="{379558B8-FE68-46C2-8D91-F37CFA5AF511}" destId="{8CBEF6DD-AA1D-47DF-9638-57CD9E704645}" srcOrd="1" destOrd="0" presId="urn:microsoft.com/office/officeart/2018/2/layout/IconVerticalSolidList"/>
    <dgm:cxn modelId="{B9C7E122-50C4-492F-BACB-FBF01BE7CFB4}" type="presParOf" srcId="{379558B8-FE68-46C2-8D91-F37CFA5AF511}" destId="{D399F639-EE39-4BCB-8E7E-86EA8EBD54FF}" srcOrd="2" destOrd="0" presId="urn:microsoft.com/office/officeart/2018/2/layout/IconVerticalSolidList"/>
    <dgm:cxn modelId="{F950B035-4802-415D-9C4D-9A0A42946510}" type="presParOf" srcId="{379558B8-FE68-46C2-8D91-F37CFA5AF511}" destId="{C859899F-9E11-47BC-ABD7-B1ADA39E6E4E}" srcOrd="3" destOrd="0" presId="urn:microsoft.com/office/officeart/2018/2/layout/IconVerticalSolidList"/>
    <dgm:cxn modelId="{A58F67E3-027C-4BB9-9E5D-14FE5448C7E7}" type="presParOf" srcId="{2536D237-47EA-4B37-A454-BB90BD199B6A}" destId="{90216848-D318-4661-B39E-EF10D6A71FA1}" srcOrd="1" destOrd="0" presId="urn:microsoft.com/office/officeart/2018/2/layout/IconVerticalSolidList"/>
    <dgm:cxn modelId="{AFF4472D-11E2-44EF-AEE9-BC46928775DB}" type="presParOf" srcId="{2536D237-47EA-4B37-A454-BB90BD199B6A}" destId="{F95D8AB0-6A9B-485A-BDE4-E4A68A9A505E}" srcOrd="2" destOrd="0" presId="urn:microsoft.com/office/officeart/2018/2/layout/IconVerticalSolidList"/>
    <dgm:cxn modelId="{16EBCC3C-736D-4D2A-8013-62BA698A83A1}" type="presParOf" srcId="{F95D8AB0-6A9B-485A-BDE4-E4A68A9A505E}" destId="{C012FC80-3824-4EFE-9F5A-114D1483AA54}" srcOrd="0" destOrd="0" presId="urn:microsoft.com/office/officeart/2018/2/layout/IconVerticalSolidList"/>
    <dgm:cxn modelId="{1C3F6AF7-4688-4FE7-BBAF-6D6D009A92C1}" type="presParOf" srcId="{F95D8AB0-6A9B-485A-BDE4-E4A68A9A505E}" destId="{B4D3A1C4-4BA4-4014-841A-6B71C45548B0}" srcOrd="1" destOrd="0" presId="urn:microsoft.com/office/officeart/2018/2/layout/IconVerticalSolidList"/>
    <dgm:cxn modelId="{741DDDD6-1A7A-49A0-A205-695A360CD3D5}" type="presParOf" srcId="{F95D8AB0-6A9B-485A-BDE4-E4A68A9A505E}" destId="{7EBC6868-9C28-4991-8CF1-9D70A6D813FC}" srcOrd="2" destOrd="0" presId="urn:microsoft.com/office/officeart/2018/2/layout/IconVerticalSolidList"/>
    <dgm:cxn modelId="{473E02D5-9413-4752-9FD7-748EB0176B1B}" type="presParOf" srcId="{F95D8AB0-6A9B-485A-BDE4-E4A68A9A505E}" destId="{D44C2E2F-D83F-4A52-A6C0-E2CA822CE068}" srcOrd="3" destOrd="0" presId="urn:microsoft.com/office/officeart/2018/2/layout/IconVerticalSolidList"/>
    <dgm:cxn modelId="{2D14FF92-2CE5-48DF-BA8A-3D26E76DB63F}" type="presParOf" srcId="{2536D237-47EA-4B37-A454-BB90BD199B6A}" destId="{B24887C3-295A-4F94-953B-202027765959}" srcOrd="3" destOrd="0" presId="urn:microsoft.com/office/officeart/2018/2/layout/IconVerticalSolidList"/>
    <dgm:cxn modelId="{C6437333-FA7E-49ED-B122-6D318377C414}" type="presParOf" srcId="{2536D237-47EA-4B37-A454-BB90BD199B6A}" destId="{9E014CA1-8CB7-4B47-837C-FDA9CD13B899}" srcOrd="4" destOrd="0" presId="urn:microsoft.com/office/officeart/2018/2/layout/IconVerticalSolidList"/>
    <dgm:cxn modelId="{EC635338-9943-4F64-9AD4-47109EE7231A}" type="presParOf" srcId="{9E014CA1-8CB7-4B47-837C-FDA9CD13B899}" destId="{1AE007B7-B3F8-4079-A7C6-8FECDDD7FCAC}" srcOrd="0" destOrd="0" presId="urn:microsoft.com/office/officeart/2018/2/layout/IconVerticalSolidList"/>
    <dgm:cxn modelId="{5B4BE7A5-A3D9-4F81-A48A-C883D324BD01}" type="presParOf" srcId="{9E014CA1-8CB7-4B47-837C-FDA9CD13B899}" destId="{78CE3D94-A17F-4373-8F94-FFA0F916D308}" srcOrd="1" destOrd="0" presId="urn:microsoft.com/office/officeart/2018/2/layout/IconVerticalSolidList"/>
    <dgm:cxn modelId="{6AFFA396-8C5F-4D9A-91DA-B320C31EEB85}" type="presParOf" srcId="{9E014CA1-8CB7-4B47-837C-FDA9CD13B899}" destId="{2320A3BD-2636-4C64-8E3B-441C52220EBB}" srcOrd="2" destOrd="0" presId="urn:microsoft.com/office/officeart/2018/2/layout/IconVerticalSolidList"/>
    <dgm:cxn modelId="{B68984CC-3A55-4DD2-9B98-E4509ED4CE58}" type="presParOf" srcId="{9E014CA1-8CB7-4B47-837C-FDA9CD13B899}" destId="{CDF8F216-6DF1-4747-B11D-32515D5ADACC}" srcOrd="3" destOrd="0" presId="urn:microsoft.com/office/officeart/2018/2/layout/IconVerticalSolidList"/>
    <dgm:cxn modelId="{92C9A28A-550C-473E-9379-C3ECA8579662}" type="presParOf" srcId="{2536D237-47EA-4B37-A454-BB90BD199B6A}" destId="{CD869F62-C8BC-47A1-9B89-E65DF783C3B1}" srcOrd="5" destOrd="0" presId="urn:microsoft.com/office/officeart/2018/2/layout/IconVerticalSolidList"/>
    <dgm:cxn modelId="{01CA2A13-DD93-4DA8-AA24-124810860048}" type="presParOf" srcId="{2536D237-47EA-4B37-A454-BB90BD199B6A}" destId="{F41339C3-1E4E-4314-A8CA-390171776897}" srcOrd="6" destOrd="0" presId="urn:microsoft.com/office/officeart/2018/2/layout/IconVerticalSolidList"/>
    <dgm:cxn modelId="{7D57C925-29C7-474F-BF3E-5E31B5E7207F}" type="presParOf" srcId="{F41339C3-1E4E-4314-A8CA-390171776897}" destId="{9CC8D97A-242E-4192-9D22-094C754722C1}" srcOrd="0" destOrd="0" presId="urn:microsoft.com/office/officeart/2018/2/layout/IconVerticalSolidList"/>
    <dgm:cxn modelId="{E9CDB2B8-0FDC-4228-85DE-7DD2C23DD343}" type="presParOf" srcId="{F41339C3-1E4E-4314-A8CA-390171776897}" destId="{E3801F28-382D-48CB-999F-D64AC321BFEA}" srcOrd="1" destOrd="0" presId="urn:microsoft.com/office/officeart/2018/2/layout/IconVerticalSolidList"/>
    <dgm:cxn modelId="{72612AEB-4519-4A62-9E83-A46F32ED653C}" type="presParOf" srcId="{F41339C3-1E4E-4314-A8CA-390171776897}" destId="{0EA0F913-274C-4385-B0AF-55AA690A1A7F}" srcOrd="2" destOrd="0" presId="urn:microsoft.com/office/officeart/2018/2/layout/IconVerticalSolidList"/>
    <dgm:cxn modelId="{814CA231-7D7A-489D-861E-E27CB4DE072E}" type="presParOf" srcId="{F41339C3-1E4E-4314-A8CA-390171776897}" destId="{C5518254-9836-41F1-BF89-7570967DD11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1D418F-7B3C-47CC-81B2-AE3147FC537D}">
      <dsp:nvSpPr>
        <dsp:cNvPr id="0" name=""/>
        <dsp:cNvSpPr/>
      </dsp:nvSpPr>
      <dsp:spPr>
        <a:xfrm>
          <a:off x="0" y="3314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BEF6DD-AA1D-47DF-9638-57CD9E704645}">
      <dsp:nvSpPr>
        <dsp:cNvPr id="0" name=""/>
        <dsp:cNvSpPr/>
      </dsp:nvSpPr>
      <dsp:spPr>
        <a:xfrm>
          <a:off x="346792" y="261259"/>
          <a:ext cx="631148" cy="6305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59899F-9E11-47BC-ABD7-B1ADA39E6E4E}">
      <dsp:nvSpPr>
        <dsp:cNvPr id="0" name=""/>
        <dsp:cNvSpPr/>
      </dsp:nvSpPr>
      <dsp:spPr>
        <a:xfrm>
          <a:off x="1324733" y="3314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CO1: </a:t>
          </a:r>
          <a:r>
            <a:rPr lang="en-US" sz="1400" b="1" kern="1200" dirty="0"/>
            <a:t>Understand</a:t>
          </a:r>
          <a:r>
            <a:rPr lang="en-US" sz="1400" kern="1200" dirty="0"/>
            <a:t> the methods for water hardness and the basics of boiler water treatment and analyze fuel calorific values and battery.</a:t>
          </a:r>
        </a:p>
      </dsp:txBody>
      <dsp:txXfrm>
        <a:off x="1324733" y="3314"/>
        <a:ext cx="2762446" cy="1147542"/>
      </dsp:txXfrm>
    </dsp:sp>
    <dsp:sp modelId="{C012FC80-3824-4EFE-9F5A-114D1483AA54}">
      <dsp:nvSpPr>
        <dsp:cNvPr id="0" name=""/>
        <dsp:cNvSpPr/>
      </dsp:nvSpPr>
      <dsp:spPr>
        <a:xfrm>
          <a:off x="0" y="1429049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D3A1C4-4BA4-4014-841A-6B71C45548B0}">
      <dsp:nvSpPr>
        <dsp:cNvPr id="0" name=""/>
        <dsp:cNvSpPr/>
      </dsp:nvSpPr>
      <dsp:spPr>
        <a:xfrm>
          <a:off x="346792" y="1686994"/>
          <a:ext cx="631148" cy="6305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4C2E2F-D83F-4A52-A6C0-E2CA822CE068}">
      <dsp:nvSpPr>
        <dsp:cNvPr id="0" name=""/>
        <dsp:cNvSpPr/>
      </dsp:nvSpPr>
      <dsp:spPr>
        <a:xfrm>
          <a:off x="1324733" y="1429049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CO2: </a:t>
          </a:r>
          <a:r>
            <a:rPr lang="en-US" sz="1400" b="1" kern="1200" dirty="0"/>
            <a:t>Explain</a:t>
          </a:r>
          <a:r>
            <a:rPr lang="en-US" sz="1400" kern="1200" dirty="0"/>
            <a:t> the characteristics and working principles of different battery types and types of fuels. </a:t>
          </a:r>
          <a:endParaRPr lang="en-IN" sz="1400" kern="1200" dirty="0"/>
        </a:p>
      </dsp:txBody>
      <dsp:txXfrm>
        <a:off x="1324733" y="1429049"/>
        <a:ext cx="2762446" cy="1147542"/>
      </dsp:txXfrm>
    </dsp:sp>
    <dsp:sp modelId="{1AE007B7-B3F8-4079-A7C6-8FECDDD7FCAC}">
      <dsp:nvSpPr>
        <dsp:cNvPr id="0" name=""/>
        <dsp:cNvSpPr/>
      </dsp:nvSpPr>
      <dsp:spPr>
        <a:xfrm>
          <a:off x="0" y="2854784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CE3D94-A17F-4373-8F94-FFA0F916D308}">
      <dsp:nvSpPr>
        <dsp:cNvPr id="0" name=""/>
        <dsp:cNvSpPr/>
      </dsp:nvSpPr>
      <dsp:spPr>
        <a:xfrm>
          <a:off x="346792" y="3112729"/>
          <a:ext cx="631148" cy="6305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F8F216-6DF1-4747-B11D-32515D5ADACC}">
      <dsp:nvSpPr>
        <dsp:cNvPr id="0" name=""/>
        <dsp:cNvSpPr/>
      </dsp:nvSpPr>
      <dsp:spPr>
        <a:xfrm>
          <a:off x="1324733" y="2854784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CO3: </a:t>
          </a:r>
          <a:r>
            <a:rPr lang="en-US" sz="1400" b="1" kern="1200" dirty="0"/>
            <a:t>Determine</a:t>
          </a:r>
          <a:r>
            <a:rPr lang="en-US" sz="1400" kern="1200" dirty="0"/>
            <a:t> the differences between batteries and fuel cells and classify fuel cell types based on their components.</a:t>
          </a:r>
          <a:r>
            <a:rPr lang="en-IN" sz="1400" kern="1200" dirty="0"/>
            <a:t>. </a:t>
          </a:r>
        </a:p>
      </dsp:txBody>
      <dsp:txXfrm>
        <a:off x="1324733" y="2854784"/>
        <a:ext cx="2762446" cy="1147542"/>
      </dsp:txXfrm>
    </dsp:sp>
    <dsp:sp modelId="{9CC8D97A-242E-4192-9D22-094C754722C1}">
      <dsp:nvSpPr>
        <dsp:cNvPr id="0" name=""/>
        <dsp:cNvSpPr/>
      </dsp:nvSpPr>
      <dsp:spPr>
        <a:xfrm>
          <a:off x="0" y="4280518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801F28-382D-48CB-999F-D64AC321BFEA}">
      <dsp:nvSpPr>
        <dsp:cNvPr id="0" name=""/>
        <dsp:cNvSpPr/>
      </dsp:nvSpPr>
      <dsp:spPr>
        <a:xfrm>
          <a:off x="346792" y="4538463"/>
          <a:ext cx="631148" cy="63053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518254-9836-41F1-BF89-7570967DD110}">
      <dsp:nvSpPr>
        <dsp:cNvPr id="0" name=""/>
        <dsp:cNvSpPr/>
      </dsp:nvSpPr>
      <dsp:spPr>
        <a:xfrm>
          <a:off x="1324733" y="4280518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CO4: </a:t>
          </a:r>
          <a:r>
            <a:rPr lang="en-US" sz="1400" b="1" kern="1200" dirty="0"/>
            <a:t>Identify</a:t>
          </a:r>
          <a:r>
            <a:rPr lang="en-US" sz="1400" kern="1200" dirty="0"/>
            <a:t> between hard and soft water, solve the related numerical problems on water purification and emf and its significance in industry and daily life.</a:t>
          </a:r>
          <a:endParaRPr lang="en-IN" sz="1400" kern="1200" dirty="0"/>
        </a:p>
      </dsp:txBody>
      <dsp:txXfrm>
        <a:off x="1324733" y="4280518"/>
        <a:ext cx="2762446" cy="11475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07F7F2-8066-4F2A-AE3A-77AF146FA82B}" type="datetimeFigureOut">
              <a:t>8/22/2025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E620E8-3042-4665-AFE6-0D4EFF4817F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264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F4C811-DA96-46FA-BC8F-4500A40C51F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234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574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221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896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209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C6ED315-77F4-C669-298E-231DEF66A9C9}"/>
              </a:ext>
            </a:extLst>
          </p:cNvPr>
          <p:cNvGrpSpPr/>
          <p:nvPr userDrawn="1"/>
        </p:nvGrpSpPr>
        <p:grpSpPr>
          <a:xfrm>
            <a:off x="-15214" y="0"/>
            <a:ext cx="9159213" cy="304800"/>
            <a:chOff x="1143000" y="857250"/>
            <a:chExt cx="6858000" cy="162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39EFDD7-7865-2C8A-1FE8-FCC0B6653658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ABDBCB0-8A8F-7DA1-1B86-3776AA10B2A0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87ED083-19F2-6E8B-9B04-FF6C4C4DF034}"/>
              </a:ext>
            </a:extLst>
          </p:cNvPr>
          <p:cNvGrpSpPr/>
          <p:nvPr userDrawn="1"/>
        </p:nvGrpSpPr>
        <p:grpSpPr>
          <a:xfrm>
            <a:off x="0" y="6549143"/>
            <a:ext cx="9159213" cy="304800"/>
            <a:chOff x="1143000" y="857250"/>
            <a:chExt cx="6858000" cy="162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C27BB24-8BAB-5DEA-9FC1-0C6A43D5BEE0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8F729C2-F173-0381-4353-1218FA78BDCC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6560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723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647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992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353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024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62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6902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2421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4517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0604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3493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2596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594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1206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664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8427CE-9252-4017-A2F1-7A5BA7469A5F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97DFB79-A579-B480-4552-AC3CA7847CE2}"/>
              </a:ext>
            </a:extLst>
          </p:cNvPr>
          <p:cNvGrpSpPr/>
          <p:nvPr userDrawn="1"/>
        </p:nvGrpSpPr>
        <p:grpSpPr>
          <a:xfrm>
            <a:off x="-15214" y="0"/>
            <a:ext cx="9159213" cy="304800"/>
            <a:chOff x="1143000" y="857250"/>
            <a:chExt cx="6858000" cy="16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1CCACE8-7A58-B659-67BE-FE0736BC68EF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B00BDB1-4E66-6E67-EC10-D694C3B17A0D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2C95144-A583-0E01-9071-3FC5145F3933}"/>
              </a:ext>
            </a:extLst>
          </p:cNvPr>
          <p:cNvGrpSpPr/>
          <p:nvPr userDrawn="1"/>
        </p:nvGrpSpPr>
        <p:grpSpPr>
          <a:xfrm>
            <a:off x="0" y="6549143"/>
            <a:ext cx="9159213" cy="304800"/>
            <a:chOff x="1143000" y="857250"/>
            <a:chExt cx="6858000" cy="162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D909CB5-39DD-3CBA-AE03-2431CF8C1266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E079DD2-F864-963B-624A-5F2175D62382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2944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WOJW4357Bg" TargetMode="External"/><Relationship Id="rId2" Type="http://schemas.openxmlformats.org/officeDocument/2006/relationships/hyperlink" Target="https://nptel.ac.in/courses/105106119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CEB6A25-0621-10C8-9539-F4E23EC1891E}"/>
              </a:ext>
            </a:extLst>
          </p:cNvPr>
          <p:cNvSpPr/>
          <p:nvPr/>
        </p:nvSpPr>
        <p:spPr>
          <a:xfrm>
            <a:off x="-15214" y="1251437"/>
            <a:ext cx="9159214" cy="5297705"/>
          </a:xfrm>
          <a:prstGeom prst="rect">
            <a:avLst/>
          </a:prstGeom>
          <a:blipFill dpi="0" rotWithShape="1">
            <a:blip r:embed="rId3">
              <a:alphaModFix amt="50000"/>
            </a:blip>
            <a:srcRect/>
            <a:stretch>
              <a:fillRect t="-38621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endParaRPr lang="en-IN" sz="1350" dirty="0">
              <a:solidFill>
                <a:prstClr val="white"/>
              </a:solidFill>
              <a:latin typeface="Aptos" panose="0211000402020202020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910B384-7E13-233A-9F37-02109640C973}"/>
              </a:ext>
            </a:extLst>
          </p:cNvPr>
          <p:cNvGrpSpPr/>
          <p:nvPr/>
        </p:nvGrpSpPr>
        <p:grpSpPr>
          <a:xfrm>
            <a:off x="-15214" y="0"/>
            <a:ext cx="9159213" cy="304800"/>
            <a:chOff x="1143000" y="857250"/>
            <a:chExt cx="6858000" cy="162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A3C5C49-EEE1-635D-59E5-7808D54395A4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26EC0BF-23F7-8D74-28AC-EB3330F5685B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4417709-EA2B-EEB2-0124-DBC679B75F59}"/>
              </a:ext>
            </a:extLst>
          </p:cNvPr>
          <p:cNvSpPr txBox="1"/>
          <p:nvPr/>
        </p:nvSpPr>
        <p:spPr>
          <a:xfrm>
            <a:off x="1756081" y="4894133"/>
            <a:ext cx="561662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Pratibha Sharma</a:t>
            </a:r>
          </a:p>
          <a:p>
            <a:pPr algn="ctr">
              <a:defRPr/>
            </a:pPr>
            <a:r>
              <a:rPr lang="en-GB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 </a:t>
            </a: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Chemistry </a:t>
            </a:r>
          </a:p>
          <a:p>
            <a:pPr algn="ctr">
              <a:defRPr/>
            </a:pP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School of Basic and Applied Sciences</a:t>
            </a:r>
          </a:p>
          <a:p>
            <a:pPr algn="ctr" defTabSz="342900">
              <a:defRPr/>
            </a:pP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K.R. Mangalam University</a:t>
            </a:r>
          </a:p>
          <a:p>
            <a:pPr algn="ctr" defTabSz="342900">
              <a:defRPr/>
            </a:pP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Sohna Road, Gurugram</a:t>
            </a:r>
            <a:endParaRPr lang="en-IN" sz="16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1708C23-8D0C-B7D6-5018-8B0190278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274" y="308857"/>
            <a:ext cx="8572501" cy="9276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44A3F9-E1EE-5DBD-6D95-67CF95DACB77}"/>
              </a:ext>
            </a:extLst>
          </p:cNvPr>
          <p:cNvSpPr txBox="1"/>
          <p:nvPr/>
        </p:nvSpPr>
        <p:spPr>
          <a:xfrm>
            <a:off x="0" y="1960483"/>
            <a:ext cx="9159214" cy="2918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27623" algn="ctr">
              <a:spcBef>
                <a:spcPts val="75"/>
              </a:spcBef>
            </a:pP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Introduction to Water Chemistry &amp; Hardness </a:t>
            </a:r>
          </a:p>
          <a:p>
            <a:pPr marR="27623" algn="ctr">
              <a:spcBef>
                <a:spcPts val="75"/>
              </a:spcBef>
            </a:pPr>
            <a:r>
              <a:rPr lang="en-US" sz="3000" b="1" dirty="0">
                <a:latin typeface="Times New Roman"/>
                <a:cs typeface="Times New Roman"/>
              </a:rPr>
              <a:t>Course</a:t>
            </a:r>
            <a:r>
              <a:rPr lang="en-US" sz="3000" b="1" spc="-38" dirty="0">
                <a:latin typeface="Times New Roman"/>
                <a:cs typeface="Times New Roman"/>
              </a:rPr>
              <a:t> </a:t>
            </a:r>
            <a:r>
              <a:rPr lang="en-US" sz="3000" b="1" dirty="0">
                <a:latin typeface="Times New Roman"/>
                <a:cs typeface="Times New Roman"/>
              </a:rPr>
              <a:t>Code:</a:t>
            </a:r>
            <a:r>
              <a:rPr lang="en-US" sz="3000" b="1" spc="-38" dirty="0">
                <a:latin typeface="Times New Roman"/>
                <a:cs typeface="Times New Roman"/>
              </a:rPr>
              <a:t> </a:t>
            </a:r>
            <a:r>
              <a:rPr lang="en-US" sz="3000" spc="-8" dirty="0">
                <a:latin typeface="Times New Roman" panose="02020603050405020304" pitchFamily="18" charset="0"/>
                <a:ea typeface="Times New Roman" panose="02020603050405020304" pitchFamily="18" charset="0"/>
              </a:rPr>
              <a:t>ETMLCH104</a:t>
            </a:r>
          </a:p>
          <a:p>
            <a:pPr marR="27623" algn="ctr">
              <a:spcBef>
                <a:spcPts val="75"/>
              </a:spcBef>
            </a:pPr>
            <a:r>
              <a:rPr lang="en-US" sz="3000" b="1" dirty="0">
                <a:latin typeface="Times New Roman"/>
                <a:cs typeface="Times New Roman"/>
              </a:rPr>
              <a:t>Course</a:t>
            </a:r>
            <a:r>
              <a:rPr lang="en-US" sz="3000" b="1" spc="-4" dirty="0">
                <a:latin typeface="Times New Roman"/>
                <a:cs typeface="Times New Roman"/>
              </a:rPr>
              <a:t> </a:t>
            </a:r>
            <a:r>
              <a:rPr lang="en-US" sz="3000" b="1" dirty="0">
                <a:latin typeface="Times New Roman"/>
                <a:cs typeface="Times New Roman"/>
              </a:rPr>
              <a:t>Name: </a:t>
            </a:r>
            <a:r>
              <a:rPr lang="en-GB" sz="3000" spc="-8" dirty="0">
                <a:latin typeface="Times New Roman" panose="02020603050405020304" pitchFamily="18" charset="0"/>
                <a:ea typeface="Times New Roman" panose="02020603050405020304" pitchFamily="18" charset="0"/>
              </a:rPr>
              <a:t>Engineering Chemistry</a:t>
            </a:r>
            <a:endParaRPr lang="en-US" sz="3000" dirty="0">
              <a:latin typeface="Times New Roman"/>
              <a:cs typeface="Times New Roman"/>
            </a:endParaRPr>
          </a:p>
          <a:p>
            <a:pPr marR="27623" algn="ctr"/>
            <a:r>
              <a:rPr lang="en-US" sz="3000" b="1" dirty="0">
                <a:latin typeface="Times New Roman"/>
                <a:cs typeface="Times New Roman"/>
              </a:rPr>
              <a:t>Program:</a:t>
            </a:r>
            <a:r>
              <a:rPr lang="en-US" sz="3000" b="1" spc="-34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B.Tech. (AI/ML)</a:t>
            </a:r>
            <a:endParaRPr lang="en-US" sz="3000" b="1" dirty="0">
              <a:latin typeface="Times New Roman"/>
              <a:cs typeface="Times New Roman"/>
            </a:endParaRPr>
          </a:p>
          <a:p>
            <a:pPr algn="ctr"/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Unit1: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technology &amp; Chemical Fuels</a:t>
            </a:r>
          </a:p>
          <a:p>
            <a:pPr algn="ctr"/>
            <a:endParaRPr lang="en-GB" sz="30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6AFDA2C-02FC-7805-B01D-415947BDEB3A}"/>
              </a:ext>
            </a:extLst>
          </p:cNvPr>
          <p:cNvGrpSpPr/>
          <p:nvPr/>
        </p:nvGrpSpPr>
        <p:grpSpPr>
          <a:xfrm>
            <a:off x="0" y="6549143"/>
            <a:ext cx="9159213" cy="304800"/>
            <a:chOff x="1143000" y="857250"/>
            <a:chExt cx="6858000" cy="162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3F716C-7323-768B-D8E3-06127E29334B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426B9DC-430E-BCAA-1219-94197EAAEDFD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3824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D4566-EF07-295A-8614-F69B473B0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413160"/>
            <a:ext cx="5605629" cy="994172"/>
          </a:xfrm>
        </p:spPr>
        <p:txBody>
          <a:bodyPr>
            <a:normAutofit/>
          </a:bodyPr>
          <a:lstStyle/>
          <a:p>
            <a:r>
              <a:rPr lang="en-GB" sz="3850" b="1" dirty="0"/>
              <a:t>Course Overview</a:t>
            </a:r>
            <a:endParaRPr lang="en-IN" sz="3850" b="1" dirty="0"/>
          </a:p>
        </p:txBody>
      </p:sp>
      <p:pic>
        <p:nvPicPr>
          <p:cNvPr id="16" name="Graphic 15" descr="Light Bulb and Gear">
            <a:extLst>
              <a:ext uri="{FF2B5EF4-FFF2-40B4-BE49-F238E27FC236}">
                <a16:creationId xmlns:a16="http://schemas.microsoft.com/office/drawing/2014/main" id="{FCFFB6F3-DA0B-3412-C8A2-1BE79E7120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43622" y="409573"/>
            <a:ext cx="1143455" cy="114345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0C2CCBA-4E1D-3A3B-542F-B4ACC7D7DBAD}"/>
              </a:ext>
            </a:extLst>
          </p:cNvPr>
          <p:cNvGrpSpPr/>
          <p:nvPr/>
        </p:nvGrpSpPr>
        <p:grpSpPr>
          <a:xfrm>
            <a:off x="-15214" y="0"/>
            <a:ext cx="9159213" cy="304800"/>
            <a:chOff x="1143000" y="857250"/>
            <a:chExt cx="6858000" cy="162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1815C64-3024-75F8-6AC5-869F89444FDE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4ADBD06-79D6-2925-3AF8-7D0CF6747C7B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06CFBC4-5F21-F275-9EBD-9D9241AC9F11}"/>
              </a:ext>
            </a:extLst>
          </p:cNvPr>
          <p:cNvGrpSpPr/>
          <p:nvPr/>
        </p:nvGrpSpPr>
        <p:grpSpPr>
          <a:xfrm>
            <a:off x="-17499" y="6556237"/>
            <a:ext cx="9159213" cy="304800"/>
            <a:chOff x="1143000" y="857250"/>
            <a:chExt cx="6858000" cy="162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2948CE7-0FC8-1E4D-141E-056A81D5DA70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0C2A5FB-F07D-39FF-D06E-537DECD7D789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555DB1E-B324-A912-9D44-FB42EF9AED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558796"/>
              </p:ext>
            </p:extLst>
          </p:nvPr>
        </p:nvGraphicFramePr>
        <p:xfrm>
          <a:off x="457200" y="1407332"/>
          <a:ext cx="7886700" cy="4859430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1465349">
                  <a:extLst>
                    <a:ext uri="{9D8B030D-6E8A-4147-A177-3AD203B41FA5}">
                      <a16:colId xmlns:a16="http://schemas.microsoft.com/office/drawing/2014/main" val="100830567"/>
                    </a:ext>
                  </a:extLst>
                </a:gridCol>
                <a:gridCol w="4410243">
                  <a:extLst>
                    <a:ext uri="{9D8B030D-6E8A-4147-A177-3AD203B41FA5}">
                      <a16:colId xmlns:a16="http://schemas.microsoft.com/office/drawing/2014/main" val="3169249643"/>
                    </a:ext>
                  </a:extLst>
                </a:gridCol>
                <a:gridCol w="2011108">
                  <a:extLst>
                    <a:ext uri="{9D8B030D-6E8A-4147-A177-3AD203B41FA5}">
                      <a16:colId xmlns:a16="http://schemas.microsoft.com/office/drawing/2014/main" val="3901358825"/>
                    </a:ext>
                  </a:extLst>
                </a:gridCol>
              </a:tblGrid>
              <a:tr h="3483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</a:rPr>
                        <a:t>Unit Number: 1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45" marR="62345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Title:   Water technology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45" marR="62345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No. of hours:  6  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45" marR="62345" marT="0" marB="0" anchor="ctr"/>
                </a:tc>
                <a:extLst>
                  <a:ext uri="{0D108BD9-81ED-4DB2-BD59-A6C34878D82A}">
                    <a16:rowId xmlns:a16="http://schemas.microsoft.com/office/drawing/2014/main" val="3816674816"/>
                  </a:ext>
                </a:extLst>
              </a:tr>
              <a:tr h="660393"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>
                          <a:effectLst/>
                        </a:rPr>
                        <a:t>Introduction, water analysis: Hardness-determination by EDTA method, Treatment of boiler feed water: Internal treatment (Phosphate, Colloidal and Calgon conditioning). External treatments: Ion exchange and lime-soda process, Zeolite processes. Boiler scales formation and ill effects, methods of prevention of scales. Numerical problems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45" marR="62345" marT="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782252"/>
                  </a:ext>
                </a:extLst>
              </a:tr>
              <a:tr h="34833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Unit Number: 2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Title:   Chemical Fuels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No. of hours:  9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453086"/>
                  </a:ext>
                </a:extLst>
              </a:tr>
              <a:tr h="990590"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>
                          <a:effectLst/>
                        </a:rPr>
                        <a:t>Fuels: Introduction, classification, calorific value (HCV &amp; LCV), Determination of calorific value of fuel using Bomb calorimeter. </a:t>
                      </a:r>
                      <a:endParaRPr lang="en-IN" sz="1200" dirty="0">
                        <a:effectLst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200" dirty="0">
                          <a:effectLst/>
                        </a:rPr>
                        <a:t>Solid fuel: Coal- its analysis by proximate and ultimate analysis, Numerical problems.</a:t>
                      </a:r>
                      <a:endParaRPr lang="en-IN" sz="1200" dirty="0">
                        <a:effectLst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200" dirty="0">
                          <a:effectLst/>
                        </a:rPr>
                        <a:t>Liquid fuels: Refining of petroleum, Petroleum cracking, Knocking in IC engine, its ill effects and prevention of knocking. Anti-knocking agent: Leaded and unleaded petrol. </a:t>
                      </a:r>
                      <a:endParaRPr lang="en-IN" sz="1200" dirty="0">
                        <a:effectLst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200" dirty="0">
                          <a:effectLst/>
                        </a:rPr>
                        <a:t>Gaseous fuels: LPG, CNG and their applications.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45" marR="62345" marT="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838703"/>
                  </a:ext>
                </a:extLst>
              </a:tr>
              <a:tr h="34833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Unit Number: 3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Title:   Battery Technology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No. of hours:  10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84328"/>
                  </a:ext>
                </a:extLst>
              </a:tr>
              <a:tr h="825492"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>
                          <a:effectLst/>
                        </a:rPr>
                        <a:t>Introduction - Galvanic cell, electrode potential, EMF of the cell and cell representation. Batteries and their importance, Classification of batteries- primary, secondary and reserve batteries with examples. Battery characteristics - voltage, capacity, energy density, power density, energy efficiency, cycle life and shelf life.</a:t>
                      </a:r>
                      <a:endParaRPr lang="en-IN" sz="1200" dirty="0">
                        <a:effectLst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200" dirty="0">
                          <a:effectLst/>
                        </a:rPr>
                        <a:t>Construction, working and applications of: Ni-Cd, and Lithium-ion battery. Working principle of an electric vehicle.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45" marR="62345" marT="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4673137"/>
                  </a:ext>
                </a:extLst>
              </a:tr>
              <a:tr h="34833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Unit Number: 4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Title:   Polymer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No. of hours:  5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407036"/>
                  </a:ext>
                </a:extLst>
              </a:tr>
              <a:tr h="882933">
                <a:tc gridSpan="3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Basic concepts of polymer, Types of polymers, Thermoplastic &amp; thermosetting plastics, Preparation and application of some industrially important polymers (Natural rubber, Buna S, Buna-N, Neoprene, Isoprene, Nylon-6, nylon-6,6 , </a:t>
                      </a:r>
                      <a:r>
                        <a:rPr lang="en-US" sz="1200" dirty="0" err="1">
                          <a:effectLst/>
                        </a:rPr>
                        <a:t>Decron</a:t>
                      </a:r>
                      <a:r>
                        <a:rPr lang="en-US" sz="1200" dirty="0">
                          <a:effectLst/>
                        </a:rPr>
                        <a:t> and Terylene). Conducting and biodegradable polymers.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45" marR="62345" marT="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632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7366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F95288-229F-A949-3EFC-A483F9FC7EE6}"/>
              </a:ext>
            </a:extLst>
          </p:cNvPr>
          <p:cNvSpPr txBox="1"/>
          <p:nvPr/>
        </p:nvSpPr>
        <p:spPr>
          <a:xfrm>
            <a:off x="628649" y="713312"/>
            <a:ext cx="3101521" cy="5431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COURSE OUTCOMES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590F0FE0-AFB9-64D4-CDDB-4AB43EF06A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059196"/>
              </p:ext>
            </p:extLst>
          </p:nvPr>
        </p:nvGraphicFramePr>
        <p:xfrm>
          <a:off x="4133778" y="713313"/>
          <a:ext cx="4381571" cy="54313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F2BEED39-1873-8320-3237-352C01D0983E}"/>
              </a:ext>
            </a:extLst>
          </p:cNvPr>
          <p:cNvGrpSpPr/>
          <p:nvPr/>
        </p:nvGrpSpPr>
        <p:grpSpPr>
          <a:xfrm>
            <a:off x="-15214" y="0"/>
            <a:ext cx="9159213" cy="304800"/>
            <a:chOff x="1143000" y="857250"/>
            <a:chExt cx="6858000" cy="162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1B28577-A4D6-304B-CF13-E7CCEB82CEE0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48CD291-A2CA-817A-0BDA-D3418F495547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9CD19E6-5178-14BF-548C-E2A51E27DDD5}"/>
              </a:ext>
            </a:extLst>
          </p:cNvPr>
          <p:cNvGrpSpPr/>
          <p:nvPr/>
        </p:nvGrpSpPr>
        <p:grpSpPr>
          <a:xfrm>
            <a:off x="-8750" y="6553200"/>
            <a:ext cx="9159213" cy="304800"/>
            <a:chOff x="1143000" y="857250"/>
            <a:chExt cx="6858000" cy="16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D6B6FFC-0D2C-1B24-61CC-DC64D7CC7F2D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23BDCF2-3060-4C52-0D5D-49737F871AF5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5143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5D0FE-24F5-52F0-41A9-B3CB1A90A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138239"/>
            <a:ext cx="7886700" cy="2852737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accent5">
                    <a:lumMod val="75000"/>
                  </a:schemeClr>
                </a:solidFill>
              </a:rPr>
              <a:t>Introduction to Water Chemistry &amp; Hardness </a:t>
            </a:r>
            <a:br>
              <a:rPr lang="en-US" sz="4800" b="1" dirty="0">
                <a:solidFill>
                  <a:schemeClr val="accent5">
                    <a:lumMod val="75000"/>
                  </a:schemeClr>
                </a:solidFill>
              </a:rPr>
            </a:br>
            <a:endParaRPr lang="en-IN" sz="4800" b="1" dirty="0">
              <a:solidFill>
                <a:schemeClr val="accent3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39DD55-232B-B8A7-259F-1A751EEBE7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Revision</a:t>
            </a:r>
            <a:endParaRPr lang="en-IN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0852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8F7E18-733A-F61A-8F8F-91D549180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Water Hardness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909359-8B56-7744-C20A-EC43FAC41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327460" cy="4351338"/>
          </a:xfrm>
        </p:spPr>
        <p:txBody>
          <a:bodyPr>
            <a:normAutofit fontScale="92500"/>
          </a:bodyPr>
          <a:lstStyle/>
          <a:p>
            <a:pPr algn="just"/>
            <a:r>
              <a:rPr lang="en-GB" sz="2400" b="1" dirty="0"/>
              <a:t>Definition: </a:t>
            </a:r>
            <a:r>
              <a:rPr lang="en-GB" sz="2400" dirty="0"/>
              <a:t>Hardness is the property of water that prevents lather formation with soap. It's caused by dissolved polyvalent metal ions, primarily calcium (Ca 2+ ) and magnesium (Mg 2+ ).</a:t>
            </a:r>
          </a:p>
          <a:p>
            <a:pPr algn="just"/>
            <a:r>
              <a:rPr lang="en-GB" sz="2400" b="1" dirty="0"/>
              <a:t>Determination</a:t>
            </a:r>
            <a:r>
              <a:rPr lang="en-GB" sz="2400" dirty="0"/>
              <a:t>: The EDTA (Ethylenediaminetetraacetic acid) method is used. EDTA forms a stable complex with the metal ions.</a:t>
            </a:r>
          </a:p>
          <a:p>
            <a:pPr algn="just"/>
            <a:r>
              <a:rPr lang="en-GB" sz="2400" b="1" dirty="0"/>
              <a:t>Indicator: </a:t>
            </a:r>
            <a:r>
              <a:rPr lang="en-GB" sz="2400" dirty="0"/>
              <a:t>Eriochrome Black T (EBT) is used.</a:t>
            </a:r>
          </a:p>
          <a:p>
            <a:pPr algn="just"/>
            <a:r>
              <a:rPr lang="en-GB" sz="2400" b="1" dirty="0"/>
              <a:t>Principle: </a:t>
            </a:r>
            <a:r>
              <a:rPr lang="en-GB" sz="2400" dirty="0"/>
              <a:t>At pH 10, EBT forms a wine-red complex with Ca 2+  and Mg 2+ . As EDTA is added, it replaces the EBT, forming a more stable </a:t>
            </a:r>
            <a:r>
              <a:rPr lang="en-GB" sz="2400" dirty="0" err="1"/>
              <a:t>colorless</a:t>
            </a:r>
            <a:r>
              <a:rPr lang="en-GB" sz="2400" dirty="0"/>
              <a:t> complex. The endpoint is reached when the </a:t>
            </a:r>
            <a:r>
              <a:rPr lang="en-GB" sz="2400" dirty="0" err="1"/>
              <a:t>color</a:t>
            </a:r>
            <a:r>
              <a:rPr lang="en-GB" sz="2400" dirty="0"/>
              <a:t> changes from wine-red to a sharp steel-blue.</a:t>
            </a:r>
          </a:p>
          <a:p>
            <a:pPr algn="just"/>
            <a:r>
              <a:rPr lang="en-GB" sz="2400" b="1" dirty="0"/>
              <a:t>Calculation: </a:t>
            </a:r>
            <a:r>
              <a:rPr lang="en-GB" sz="2400" dirty="0"/>
              <a:t>The amount of EDTA used is proportional to the hardness of the water.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94812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DEA24-AA0A-C942-2939-3F9377F87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 Boiler Feed Water Treatment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1051-FF81-FB34-8F75-63DC27563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Why treat?</a:t>
            </a:r>
            <a:r>
              <a:rPr lang="en-US" altLang="en-US" sz="1800" dirty="0">
                <a:latin typeface="Arial" panose="020B0604020202020204" pitchFamily="34" charset="0"/>
              </a:rPr>
              <a:t> Untreated water can cause serious issues in boilers, including scale formation, corrosion, and priming/foaming, which decrease efficiency and can lead to explosions.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Boiler Scales</a:t>
            </a:r>
            <a:r>
              <a:rPr lang="en-US" altLang="en-US" sz="1800" dirty="0">
                <a:latin typeface="Arial" panose="020B0604020202020204" pitchFamily="34" charset="0"/>
              </a:rPr>
              <a:t>: These are hard, adherent deposits formed on the inner surfaces of boilers.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Formation</a:t>
            </a:r>
            <a:r>
              <a:rPr lang="en-US" altLang="en-US" sz="1800" dirty="0">
                <a:latin typeface="Arial" panose="020B0604020202020204" pitchFamily="34" charset="0"/>
              </a:rPr>
              <a:t>: They form due to the decomposition of bicarbonates and the precipitation of calcium sulfate (CaSO4​) and calcium silicate (CaSiO3​).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Ill Effects</a:t>
            </a:r>
            <a:r>
              <a:rPr lang="en-US" altLang="en-US" sz="1800" dirty="0">
                <a:latin typeface="Arial" panose="020B0604020202020204" pitchFamily="34" charset="0"/>
              </a:rPr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Reduced Heat Transfer</a:t>
            </a:r>
            <a:r>
              <a:rPr lang="en-US" altLang="en-US" sz="1800" dirty="0">
                <a:latin typeface="Arial" panose="020B0604020202020204" pitchFamily="34" charset="0"/>
              </a:rPr>
              <a:t>: Scales are poor conductors of heat, leading to fuel wastage and overheating of boiler parts.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Boiler Explosion</a:t>
            </a:r>
            <a:r>
              <a:rPr lang="en-US" altLang="en-US" sz="1800" dirty="0">
                <a:latin typeface="Arial" panose="020B0604020202020204" pitchFamily="34" charset="0"/>
              </a:rPr>
              <a:t>: Overheating can weaken the boiler material, causing it to fail under pressure.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Corrosion</a:t>
            </a:r>
            <a:r>
              <a:rPr lang="en-US" altLang="en-US" sz="1800" dirty="0">
                <a:latin typeface="Arial" panose="020B0604020202020204" pitchFamily="34" charset="0"/>
              </a:rPr>
              <a:t>: Scales can form a layer that hides and promotes localized corrosion underneath.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7928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CCD89-DB9F-C5C7-C721-362325BFA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 Boiler Feed Water Treatment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685CF-41EA-3480-32EF-4560A95AE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Prevention</a:t>
            </a:r>
            <a:r>
              <a:rPr lang="en-GB" dirty="0"/>
              <a:t>:</a:t>
            </a:r>
          </a:p>
          <a:p>
            <a:r>
              <a:rPr lang="en-GB" b="1" dirty="0"/>
              <a:t>Internal Treatment</a:t>
            </a:r>
            <a:r>
              <a:rPr lang="en-GB" dirty="0"/>
              <a:t>: Chemicals are added directly to the boiler water.</a:t>
            </a:r>
          </a:p>
          <a:p>
            <a:pPr lvl="1"/>
            <a:r>
              <a:rPr lang="en-GB" b="1" dirty="0"/>
              <a:t>Phosphate Conditioning</a:t>
            </a:r>
            <a:r>
              <a:rPr lang="en-GB" dirty="0"/>
              <a:t>: Sodium phosphate is added to precipitate calcium and magnesium salts as soft sludge that can be easily removed by blowdown.</a:t>
            </a:r>
          </a:p>
          <a:p>
            <a:pPr lvl="1"/>
            <a:r>
              <a:rPr lang="en-GB" b="1" dirty="0"/>
              <a:t>Colloidal Conditioning</a:t>
            </a:r>
            <a:r>
              <a:rPr lang="en-GB" dirty="0"/>
              <a:t>: Organic colloids like tannin or agar-agar are added to coat the scale-forming particles, preventing them from sticking to the boiler surfaces.</a:t>
            </a:r>
          </a:p>
          <a:p>
            <a:pPr lvl="1"/>
            <a:r>
              <a:rPr lang="en-GB" b="1" dirty="0"/>
              <a:t>Calgon Conditioning</a:t>
            </a:r>
            <a:r>
              <a:rPr lang="en-GB" dirty="0"/>
              <a:t>: </a:t>
            </a:r>
            <a:r>
              <a:rPr lang="en-GB" b="1" dirty="0"/>
              <a:t>Calgon (sodium hexametaphosphate)</a:t>
            </a:r>
            <a:r>
              <a:rPr lang="en-GB" dirty="0"/>
              <a:t> is used to sequester or "trap" calcium and magnesium ions, preventing them from precipitating.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7092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2CC15-0E5A-6B0C-EE13-DC8F9CDAD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 External Treatment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41BD1-10F3-35F1-7161-169BC3DA6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b="1" dirty="0"/>
              <a:t>External Treatment</a:t>
            </a:r>
            <a:r>
              <a:rPr lang="en-GB" dirty="0"/>
              <a:t>: Water is treated before it enters the boiler.</a:t>
            </a:r>
          </a:p>
          <a:p>
            <a:r>
              <a:rPr lang="en-GB" b="1" dirty="0"/>
              <a:t>Lime-Soda Process</a:t>
            </a:r>
            <a:r>
              <a:rPr lang="en-GB" dirty="0"/>
              <a:t>: Slaked lime (Ca(OH)2​) and soda ash (Na2​CO3​) are added to precipitate calcium and magnesium ions as insoluble carbonates and hydroxides.</a:t>
            </a:r>
          </a:p>
          <a:p>
            <a:r>
              <a:rPr lang="en-GB" b="1" dirty="0"/>
              <a:t>Zeolite (</a:t>
            </a:r>
            <a:r>
              <a:rPr lang="en-GB" b="1" dirty="0" err="1"/>
              <a:t>Permutit</a:t>
            </a:r>
            <a:r>
              <a:rPr lang="en-GB" b="1" dirty="0"/>
              <a:t>) Process</a:t>
            </a:r>
            <a:r>
              <a:rPr lang="en-GB" dirty="0"/>
              <a:t>: This involves passing water through a bed of </a:t>
            </a:r>
            <a:r>
              <a:rPr lang="en-GB" b="1" dirty="0"/>
              <a:t>zeolite (hydrated sodium aluminosilicate)</a:t>
            </a:r>
            <a:r>
              <a:rPr lang="en-GB" dirty="0"/>
              <a:t>. Sodium ions in the zeolite are exchanged for calcium and magnesium ions in the hard water, softening it. The exhausted zeolite can be regenerated by passing a concentrated brine (NaCl) solution.</a:t>
            </a:r>
          </a:p>
          <a:p>
            <a:r>
              <a:rPr lang="en-GB" b="1" dirty="0"/>
              <a:t>Ion Exchange Process</a:t>
            </a:r>
            <a:r>
              <a:rPr lang="en-GB" dirty="0"/>
              <a:t>: This is a more advanced method using synthetic resins. Cation exchange resins replace Ca2+ and Mg2+ with H+ ions, while anion exchange resins replace anions like Cl− and SO42−​ with OH− ions. The H+ and OH− ions combine to form water, resulting in demineralized (or deionized) water.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2948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33055022-1F6C-2E8A-ABFF-26A7CE774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34" y="437241"/>
            <a:ext cx="770083" cy="438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400" b="1" dirty="0">
                <a:solidFill>
                  <a:srgbClr val="E31E24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Arial"/>
              </a:rPr>
              <a:t>Quiz</a:t>
            </a:r>
            <a:endParaRPr lang="en-IN" sz="2400" b="1" dirty="0">
              <a:solidFill>
                <a:srgbClr val="E31E24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0BEF448-A9CF-5D4F-DFF2-F58D1C6D31C4}"/>
              </a:ext>
            </a:extLst>
          </p:cNvPr>
          <p:cNvCxnSpPr>
            <a:cxnSpLocks/>
          </p:cNvCxnSpPr>
          <p:nvPr/>
        </p:nvCxnSpPr>
        <p:spPr>
          <a:xfrm flipV="1">
            <a:off x="0" y="1055191"/>
            <a:ext cx="9090212" cy="56498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E94267F-7B74-501B-513A-8C37E3133C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34" y="6160741"/>
            <a:ext cx="1808820" cy="2600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BB1DEA-17E7-DCE7-E34F-7D760CE829A6}"/>
              </a:ext>
            </a:extLst>
          </p:cNvPr>
          <p:cNvSpPr txBox="1"/>
          <p:nvPr/>
        </p:nvSpPr>
        <p:spPr>
          <a:xfrm>
            <a:off x="134634" y="1251705"/>
            <a:ext cx="8955578" cy="4909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 </a:t>
            </a:r>
            <a:r>
              <a:rPr lang="en-US" sz="16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maximum desirable limit of total hardness (as CaCO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6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in drinking water</a:t>
            </a:r>
            <a:endParaRPr lang="en-US" sz="1600" baseline="-25000" dirty="0">
              <a:solidFill>
                <a:srgbClr val="2021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600" dirty="0">
              <a:solidFill>
                <a:srgbClr val="2021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buAutoNum type="alphaUcParenR"/>
            </a:pPr>
            <a:r>
              <a:rPr lang="en-US" sz="16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800</a:t>
            </a:r>
          </a:p>
          <a:p>
            <a:pPr marL="257175" indent="-257175">
              <a:buAutoNum type="alphaUcParenR"/>
            </a:pPr>
            <a:r>
              <a:rPr lang="en-US" sz="16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600</a:t>
            </a:r>
          </a:p>
          <a:p>
            <a:pPr marL="257175" indent="-257175">
              <a:buAutoNum type="alphaUcParenR"/>
            </a:pPr>
            <a:r>
              <a:rPr lang="en-US" sz="16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</a:p>
          <a:p>
            <a:pPr marL="257175" indent="-257175">
              <a:buAutoNum type="alphaUcParenR"/>
            </a:pPr>
            <a:r>
              <a:rPr lang="en-US" sz="16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400</a:t>
            </a:r>
          </a:p>
          <a:p>
            <a:pPr marL="257175" indent="-257175">
              <a:buAutoNum type="alphaUcParenR"/>
            </a:pPr>
            <a:endParaRPr lang="en-US" sz="1600" dirty="0">
              <a:solidFill>
                <a:srgbClr val="2021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6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Q2 Permanent hardness of water is caused by the presence of</a:t>
            </a:r>
          </a:p>
          <a:p>
            <a:pPr algn="l"/>
            <a:endParaRPr lang="en-US" sz="1600" dirty="0">
              <a:solidFill>
                <a:srgbClr val="2021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6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 Chlorides of Ca &amp; Mg</a:t>
            </a:r>
          </a:p>
          <a:p>
            <a:pPr algn="l"/>
            <a:r>
              <a:rPr lang="en-US" sz="16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 Sulphates of Ca &amp; Mg</a:t>
            </a:r>
          </a:p>
          <a:p>
            <a:pPr algn="l"/>
            <a:r>
              <a:rPr lang="en-US" sz="16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C) Bicarbonates of Ca &amp; Mg</a:t>
            </a:r>
          </a:p>
          <a:p>
            <a:pPr algn="l"/>
            <a:r>
              <a:rPr lang="en-US" sz="16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D) Carbonates of Na &amp; K</a:t>
            </a:r>
          </a:p>
          <a:p>
            <a:pPr algn="l"/>
            <a:endParaRPr lang="en-US" sz="1600" dirty="0">
              <a:solidFill>
                <a:srgbClr val="2021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6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Q3 Permanent hardness of water may be removed by the addition of </a:t>
            </a:r>
            <a:endParaRPr lang="en-US" sz="1600" dirty="0">
              <a:solidFill>
                <a:srgbClr val="DA302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900" dirty="0">
              <a:solidFill>
                <a:srgbClr val="DA302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600" dirty="0">
                <a:solidFill>
                  <a:srgbClr val="DA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 </a:t>
            </a:r>
            <a:r>
              <a:rPr lang="en-IN" sz="16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Lime</a:t>
            </a:r>
          </a:p>
          <a:p>
            <a:pPr algn="l"/>
            <a:r>
              <a:rPr lang="en-IN" sz="16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 Sodium bicarbonate</a:t>
            </a:r>
          </a:p>
          <a:p>
            <a:pPr algn="l"/>
            <a:r>
              <a:rPr lang="en-IN" sz="16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C) Soda Ash</a:t>
            </a:r>
          </a:p>
          <a:p>
            <a:pPr algn="l"/>
            <a:r>
              <a:rPr lang="en-IN" sz="16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D) Potassium permanganate</a:t>
            </a:r>
            <a:endParaRPr lang="en-US" sz="1600" dirty="0">
              <a:solidFill>
                <a:srgbClr val="2021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8035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784C606-009C-570F-1A41-FC42B337888D}"/>
              </a:ext>
            </a:extLst>
          </p:cNvPr>
          <p:cNvGrpSpPr/>
          <p:nvPr/>
        </p:nvGrpSpPr>
        <p:grpSpPr>
          <a:xfrm>
            <a:off x="0" y="381000"/>
            <a:ext cx="9090212" cy="6154186"/>
            <a:chOff x="0" y="970945"/>
            <a:chExt cx="9090212" cy="4894288"/>
          </a:xfrm>
        </p:grpSpPr>
        <p:sp>
          <p:nvSpPr>
            <p:cNvPr id="3" name="Rectangle 1">
              <a:extLst>
                <a:ext uri="{FF2B5EF4-FFF2-40B4-BE49-F238E27FC236}">
                  <a16:creationId xmlns:a16="http://schemas.microsoft.com/office/drawing/2014/main" id="{33055022-1F6C-2E8A-ABFF-26A7CE774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635" y="970945"/>
              <a:ext cx="909544" cy="4385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>
                <a:buSzPct val="25000"/>
              </a:pPr>
              <a:r>
                <a:rPr lang="en-US" sz="2400" b="1" dirty="0">
                  <a:solidFill>
                    <a:srgbClr val="E31E24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  <a:sym typeface="Arial"/>
                </a:rPr>
                <a:t>Quiz</a:t>
              </a:r>
              <a:endParaRPr lang="en-IN" sz="2400" b="1" dirty="0">
                <a:solidFill>
                  <a:srgbClr val="E31E24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sym typeface="Arial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0BEF448-A9CF-5D4F-DFF2-F58D1C6D31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0" y="1596838"/>
              <a:ext cx="9090212" cy="56498"/>
            </a:xfrm>
            <a:prstGeom prst="line">
              <a:avLst/>
            </a:prstGeom>
            <a:ln w="25400">
              <a:solidFill>
                <a:srgbClr val="0060A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E94267F-7B74-501B-513A-8C37E3133C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006" y="5589241"/>
              <a:ext cx="1808820" cy="260018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3BB1DEA-17E7-DCE7-E34F-7D760CE829A6}"/>
                </a:ext>
              </a:extLst>
            </p:cNvPr>
            <p:cNvSpPr txBox="1"/>
            <p:nvPr/>
          </p:nvSpPr>
          <p:spPr>
            <a:xfrm>
              <a:off x="134634" y="1630748"/>
              <a:ext cx="8955578" cy="42344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2000" dirty="0"/>
                <a:t>Q4 </a:t>
              </a:r>
              <a:r>
                <a:rPr lang="en-US" sz="2000" dirty="0">
                  <a:solidFill>
                    <a:srgbClr val="202124"/>
                  </a:solidFill>
                  <a:latin typeface="GoogleSans-Regular"/>
                </a:rPr>
                <a:t>Zeolite softening process removes both temporary and permanent hardness of water. In this process the calcium and magnesium present in water are precipitated as</a:t>
              </a:r>
              <a:endParaRPr lang="en-US" sz="2000" baseline="-25000" dirty="0">
                <a:solidFill>
                  <a:srgbClr val="202124"/>
                </a:solidFill>
                <a:latin typeface="GoogleSans-Regular"/>
                <a:cs typeface="Times New Roman" panose="02020603050405020304" pitchFamily="18" charset="0"/>
              </a:endParaRPr>
            </a:p>
            <a:p>
              <a:pPr algn="l"/>
              <a:endParaRPr lang="en-US" sz="2000" dirty="0">
                <a:solidFill>
                  <a:srgbClr val="202124"/>
                </a:solidFill>
                <a:latin typeface="GoogleSans-Regular"/>
              </a:endParaRPr>
            </a:p>
            <a:p>
              <a:pPr marL="257175" indent="-257175">
                <a:buAutoNum type="alphaUcParenR"/>
              </a:pPr>
              <a:r>
                <a:rPr lang="fr-FR" sz="2000" dirty="0">
                  <a:solidFill>
                    <a:srgbClr val="202124"/>
                  </a:solidFill>
                  <a:latin typeface="GoogleSans-Regular"/>
                </a:rPr>
                <a:t>Insoluble carbonates</a:t>
              </a:r>
            </a:p>
            <a:p>
              <a:pPr marL="257175" indent="-257175">
                <a:buAutoNum type="alphaUcParenR"/>
              </a:pPr>
              <a:r>
                <a:rPr lang="fr-FR" sz="2000" dirty="0">
                  <a:solidFill>
                    <a:srgbClr val="202124"/>
                  </a:solidFill>
                  <a:latin typeface="GoogleSans-Regular"/>
                </a:rPr>
                <a:t>Insoluble </a:t>
              </a:r>
              <a:r>
                <a:rPr lang="fr-FR" sz="2000" dirty="0" err="1">
                  <a:solidFill>
                    <a:srgbClr val="202124"/>
                  </a:solidFill>
                  <a:latin typeface="GoogleSans-Regular"/>
                </a:rPr>
                <a:t>chlorides</a:t>
              </a:r>
              <a:endParaRPr lang="fr-FR" sz="2000" dirty="0">
                <a:solidFill>
                  <a:srgbClr val="202124"/>
                </a:solidFill>
                <a:latin typeface="GoogleSans-Regular"/>
              </a:endParaRPr>
            </a:p>
            <a:p>
              <a:pPr marL="257175" indent="-257175">
                <a:buAutoNum type="alphaUcParenR"/>
              </a:pPr>
              <a:r>
                <a:rPr lang="fr-FR" sz="2000" dirty="0">
                  <a:solidFill>
                    <a:srgbClr val="202124"/>
                  </a:solidFill>
                  <a:latin typeface="GoogleSans-Regular"/>
                </a:rPr>
                <a:t>Insoluble </a:t>
              </a:r>
              <a:r>
                <a:rPr lang="fr-FR" sz="2000" dirty="0" err="1">
                  <a:solidFill>
                    <a:srgbClr val="202124"/>
                  </a:solidFill>
                  <a:latin typeface="GoogleSans-Regular"/>
                </a:rPr>
                <a:t>sulphates</a:t>
              </a:r>
              <a:endParaRPr lang="fr-FR" sz="2000" dirty="0">
                <a:solidFill>
                  <a:srgbClr val="202124"/>
                </a:solidFill>
                <a:latin typeface="GoogleSans-Regular"/>
              </a:endParaRPr>
            </a:p>
            <a:p>
              <a:pPr marL="257175" indent="-257175">
                <a:buAutoNum type="alphaUcParenR"/>
              </a:pPr>
              <a:r>
                <a:rPr lang="fr-FR" sz="2000" dirty="0">
                  <a:solidFill>
                    <a:srgbClr val="202124"/>
                  </a:solidFill>
                  <a:latin typeface="GoogleSans-Regular"/>
                </a:rPr>
                <a:t>Insoluble </a:t>
              </a:r>
              <a:r>
                <a:rPr lang="fr-FR" sz="2000" dirty="0" err="1">
                  <a:solidFill>
                    <a:srgbClr val="202124"/>
                  </a:solidFill>
                  <a:latin typeface="GoogleSans-Regular"/>
                </a:rPr>
                <a:t>zeolites</a:t>
              </a:r>
              <a:endParaRPr lang="en-US" sz="2000" dirty="0">
                <a:solidFill>
                  <a:srgbClr val="202124"/>
                </a:solidFill>
                <a:latin typeface="GoogleSans-Regular"/>
              </a:endParaRPr>
            </a:p>
            <a:p>
              <a:pPr algn="l"/>
              <a:endParaRPr lang="en-US" sz="2000" dirty="0">
                <a:solidFill>
                  <a:srgbClr val="202124"/>
                </a:solidFill>
                <a:latin typeface="GoogleSans-Regular"/>
              </a:endParaRPr>
            </a:p>
            <a:p>
              <a:pPr algn="l"/>
              <a:r>
                <a:rPr lang="en-US" sz="2000" dirty="0">
                  <a:solidFill>
                    <a:srgbClr val="202124"/>
                  </a:solidFill>
                  <a:latin typeface="GoogleSans-Regular"/>
                </a:rPr>
                <a:t>Q5 The process in which water is passed through filter beds of sand and gravel to remove smaller particles of dust is called</a:t>
              </a:r>
            </a:p>
            <a:p>
              <a:pPr algn="l"/>
              <a:endParaRPr lang="en-US" sz="2000" dirty="0">
                <a:solidFill>
                  <a:srgbClr val="202124"/>
                </a:solidFill>
                <a:latin typeface="GoogleSans-Regular"/>
              </a:endParaRPr>
            </a:p>
            <a:p>
              <a:pPr algn="l"/>
              <a:r>
                <a:rPr lang="en-US" sz="2000" dirty="0">
                  <a:solidFill>
                    <a:srgbClr val="202124"/>
                  </a:solidFill>
                  <a:latin typeface="GoogleSans-Regular"/>
                </a:rPr>
                <a:t>A) Sedimentation</a:t>
              </a:r>
            </a:p>
            <a:p>
              <a:pPr algn="l"/>
              <a:r>
                <a:rPr lang="en-US" sz="2000" dirty="0">
                  <a:solidFill>
                    <a:srgbClr val="202124"/>
                  </a:solidFill>
                  <a:latin typeface="GoogleSans-Regular"/>
                </a:rPr>
                <a:t>B) Filtration</a:t>
              </a:r>
            </a:p>
            <a:p>
              <a:pPr algn="l"/>
              <a:r>
                <a:rPr lang="en-US" sz="2000" dirty="0">
                  <a:solidFill>
                    <a:srgbClr val="202124"/>
                  </a:solidFill>
                  <a:latin typeface="GoogleSans-Regular"/>
                </a:rPr>
                <a:t>C) </a:t>
              </a:r>
              <a:r>
                <a:rPr lang="en-US" sz="2000" dirty="0" err="1">
                  <a:solidFill>
                    <a:srgbClr val="202124"/>
                  </a:solidFill>
                  <a:latin typeface="GoogleSans-Regular"/>
                </a:rPr>
                <a:t>Cogulation</a:t>
              </a:r>
              <a:endParaRPr lang="en-US" sz="2000" dirty="0">
                <a:solidFill>
                  <a:srgbClr val="202124"/>
                </a:solidFill>
                <a:latin typeface="GoogleSans-Regular"/>
              </a:endParaRPr>
            </a:p>
            <a:p>
              <a:pPr algn="l"/>
              <a:r>
                <a:rPr lang="en-US" sz="2000" dirty="0">
                  <a:solidFill>
                    <a:srgbClr val="202124"/>
                  </a:solidFill>
                  <a:latin typeface="GoogleSans-Regular"/>
                </a:rPr>
                <a:t>D) Chlorination</a:t>
              </a:r>
            </a:p>
            <a:p>
              <a:pPr algn="l"/>
              <a:endParaRPr lang="en-US" sz="2000" dirty="0">
                <a:solidFill>
                  <a:srgbClr val="202124"/>
                </a:solidFill>
                <a:latin typeface="GoogleSans-Regular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4999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0C23800E-6365-AD6F-F58C-A16065335C36}"/>
              </a:ext>
            </a:extLst>
          </p:cNvPr>
          <p:cNvGrpSpPr/>
          <p:nvPr/>
        </p:nvGrpSpPr>
        <p:grpSpPr>
          <a:xfrm>
            <a:off x="0" y="438150"/>
            <a:ext cx="9090212" cy="6115050"/>
            <a:chOff x="0" y="970945"/>
            <a:chExt cx="9090212" cy="4878314"/>
          </a:xfrm>
        </p:grpSpPr>
        <p:sp>
          <p:nvSpPr>
            <p:cNvPr id="3" name="Rectangle 1">
              <a:extLst>
                <a:ext uri="{FF2B5EF4-FFF2-40B4-BE49-F238E27FC236}">
                  <a16:creationId xmlns:a16="http://schemas.microsoft.com/office/drawing/2014/main" id="{33055022-1F6C-2E8A-ABFF-26A7CE774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634" y="970945"/>
              <a:ext cx="770083" cy="4385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>
                <a:buSzPct val="25000"/>
              </a:pPr>
              <a:r>
                <a:rPr lang="en-US" sz="2400" b="1" dirty="0">
                  <a:solidFill>
                    <a:srgbClr val="E31E24"/>
                  </a:solidFill>
                  <a:latin typeface="Times New Roman" panose="02020603050405020304" pitchFamily="18" charset="0"/>
                  <a:ea typeface="Verdana" panose="020B0604030504040204" pitchFamily="34" charset="0"/>
                  <a:cs typeface="Times New Roman" panose="02020603050405020304" pitchFamily="18" charset="0"/>
                  <a:sym typeface="Arial"/>
                </a:rPr>
                <a:t>Quiz</a:t>
              </a:r>
              <a:endParaRPr lang="en-IN" sz="2400" b="1" dirty="0">
                <a:solidFill>
                  <a:srgbClr val="E31E24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Arial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0BEF448-A9CF-5D4F-DFF2-F58D1C6D31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0" y="1596838"/>
              <a:ext cx="9090212" cy="56498"/>
            </a:xfrm>
            <a:prstGeom prst="line">
              <a:avLst/>
            </a:prstGeom>
            <a:ln w="25400">
              <a:solidFill>
                <a:srgbClr val="0060A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E94267F-7B74-501B-513A-8C37E3133C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006" y="5589241"/>
              <a:ext cx="1808820" cy="260018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3BB1DEA-17E7-DCE7-E34F-7D760CE829A6}"/>
                </a:ext>
              </a:extLst>
            </p:cNvPr>
            <p:cNvSpPr txBox="1"/>
            <p:nvPr/>
          </p:nvSpPr>
          <p:spPr>
            <a:xfrm>
              <a:off x="134634" y="1630748"/>
              <a:ext cx="8955578" cy="35110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Q6 </a:t>
              </a:r>
              <a:r>
                <a:rPr lang="en-US" sz="2000" dirty="0">
                  <a:solidFill>
                    <a:srgbClr val="2021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 determination of water hardness by complexometric titration at what pH </a:t>
              </a:r>
              <a:r>
                <a:rPr lang="en-IN" sz="2000" dirty="0">
                  <a:solidFill>
                    <a:srgbClr val="2021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which indicator is used</a:t>
              </a:r>
              <a:endParaRPr lang="en-US" sz="2000" baseline="-25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/>
              <a:endPara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57175" indent="-257175">
                <a:buAutoNum type="alphaUcParenR"/>
              </a:pPr>
              <a:r>
                <a:rPr lang="fr-FR" sz="2000" dirty="0" err="1">
                  <a:solidFill>
                    <a:srgbClr val="2021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Methyl</a:t>
              </a:r>
              <a:r>
                <a:rPr lang="fr-FR" sz="2000" dirty="0">
                  <a:solidFill>
                    <a:srgbClr val="2021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orange at 4-5 pH</a:t>
              </a:r>
            </a:p>
            <a:p>
              <a:pPr marL="257175" indent="-257175">
                <a:buAutoNum type="alphaUcParenR"/>
              </a:pPr>
              <a:r>
                <a:rPr lang="fr-FR" sz="2000" dirty="0" err="1">
                  <a:solidFill>
                    <a:srgbClr val="2021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Methyl</a:t>
              </a:r>
              <a:r>
                <a:rPr lang="fr-FR" sz="2000" dirty="0">
                  <a:solidFill>
                    <a:srgbClr val="2021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orange at 9-10 pH</a:t>
              </a:r>
            </a:p>
            <a:p>
              <a:pPr marL="257175" indent="-257175">
                <a:buAutoNum type="alphaUcParenR"/>
              </a:pPr>
              <a:r>
                <a:rPr lang="fr-FR" sz="2000" dirty="0" err="1">
                  <a:solidFill>
                    <a:srgbClr val="2021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Eriochrome</a:t>
              </a:r>
              <a:r>
                <a:rPr lang="fr-FR" sz="2000" dirty="0">
                  <a:solidFill>
                    <a:srgbClr val="2021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Black - T at 4-5 pH</a:t>
              </a:r>
            </a:p>
            <a:p>
              <a:pPr marL="257175" indent="-257175">
                <a:buAutoNum type="alphaUcParenR"/>
              </a:pPr>
              <a:r>
                <a:rPr lang="fr-FR" sz="2000" dirty="0" err="1">
                  <a:solidFill>
                    <a:srgbClr val="2021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Eriochrome</a:t>
              </a:r>
              <a:r>
                <a:rPr lang="fr-FR" sz="2000" dirty="0">
                  <a:solidFill>
                    <a:srgbClr val="2021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Black - T at 9-10 pH</a:t>
              </a:r>
            </a:p>
            <a:p>
              <a:pPr algn="l"/>
              <a:endPara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/>
              <a:r>
                <a:rPr lang="en-US" sz="2000" dirty="0">
                  <a:solidFill>
                    <a:srgbClr val="2021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Q7 What is the correct relationship between various unit of hardness</a:t>
              </a:r>
            </a:p>
            <a:p>
              <a:pPr algn="l"/>
              <a:endPara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/>
              <a:r>
                <a:rPr lang="en-US" sz="2000" dirty="0">
                  <a:solidFill>
                    <a:srgbClr val="2021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A) 1ppm=0.1mg/l=0.1degree F= 0.07degree Cl</a:t>
              </a:r>
            </a:p>
            <a:p>
              <a:pPr algn="l"/>
              <a:r>
                <a:rPr lang="en-US" sz="2000" dirty="0">
                  <a:solidFill>
                    <a:srgbClr val="2021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B) 1ppm=0.01mg/l=0.1 degree F=0.7 degree Cl</a:t>
              </a:r>
            </a:p>
            <a:p>
              <a:pPr algn="l"/>
              <a:r>
                <a:rPr lang="en-US" sz="2000" dirty="0">
                  <a:solidFill>
                    <a:srgbClr val="2021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C) 1ppm=.01mg/l=0.1 degree F = 0.07 degree Cl</a:t>
              </a:r>
            </a:p>
            <a:p>
              <a:pPr algn="l"/>
              <a:r>
                <a:rPr lang="en-US" sz="2000" dirty="0">
                  <a:solidFill>
                    <a:srgbClr val="2021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D) 1 ppm= 1 mg/l=0.1degree F= 0.07 degree Cl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2005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769D5D3-7370-C7CB-8C99-04E9BAABC117}"/>
              </a:ext>
            </a:extLst>
          </p:cNvPr>
          <p:cNvGrpSpPr/>
          <p:nvPr/>
        </p:nvGrpSpPr>
        <p:grpSpPr>
          <a:xfrm>
            <a:off x="0" y="428624"/>
            <a:ext cx="9090212" cy="6105525"/>
            <a:chOff x="0" y="970945"/>
            <a:chExt cx="9090212" cy="4878314"/>
          </a:xfrm>
        </p:grpSpPr>
        <p:sp>
          <p:nvSpPr>
            <p:cNvPr id="3" name="Rectangle 1">
              <a:extLst>
                <a:ext uri="{FF2B5EF4-FFF2-40B4-BE49-F238E27FC236}">
                  <a16:creationId xmlns:a16="http://schemas.microsoft.com/office/drawing/2014/main" id="{33055022-1F6C-2E8A-ABFF-26A7CE774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635" y="970945"/>
              <a:ext cx="909544" cy="4385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>
                <a:buSzPct val="25000"/>
              </a:pPr>
              <a:r>
                <a:rPr lang="en-US" sz="2400" b="1" dirty="0">
                  <a:solidFill>
                    <a:srgbClr val="E31E24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  <a:sym typeface="Arial"/>
                </a:rPr>
                <a:t>Quiz</a:t>
              </a:r>
              <a:endParaRPr lang="en-IN" sz="2400" b="1" dirty="0">
                <a:solidFill>
                  <a:srgbClr val="E31E24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sym typeface="Arial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0BEF448-A9CF-5D4F-DFF2-F58D1C6D31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0" y="1596838"/>
              <a:ext cx="9090212" cy="56498"/>
            </a:xfrm>
            <a:prstGeom prst="line">
              <a:avLst/>
            </a:prstGeom>
            <a:ln w="25400">
              <a:solidFill>
                <a:srgbClr val="0060A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E94267F-7B74-501B-513A-8C37E3133C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006" y="5589241"/>
              <a:ext cx="1808820" cy="260018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3BB1DEA-17E7-DCE7-E34F-7D760CE829A6}"/>
                </a:ext>
              </a:extLst>
            </p:cNvPr>
            <p:cNvSpPr txBox="1"/>
            <p:nvPr/>
          </p:nvSpPr>
          <p:spPr>
            <a:xfrm>
              <a:off x="134634" y="1630748"/>
              <a:ext cx="8955578" cy="38546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Q8 </a:t>
              </a:r>
              <a:r>
                <a:rPr lang="en-US" sz="1600" dirty="0">
                  <a:solidFill>
                    <a:srgbClr val="2021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 most common cause of acidity in water is</a:t>
              </a:r>
              <a:endParaRPr lang="en-US" sz="1600" baseline="-25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/>
              <a:endParaRPr lang="en-US" sz="105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57175" indent="-257175">
                <a:buAutoNum type="alphaUcParenR"/>
              </a:pPr>
              <a:r>
                <a:rPr lang="en-US" sz="1600" dirty="0">
                  <a:solidFill>
                    <a:srgbClr val="2021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Rain Water</a:t>
              </a:r>
            </a:p>
            <a:p>
              <a:pPr marL="257175" indent="-257175">
                <a:buAutoNum type="alphaUcParenR"/>
              </a:pPr>
              <a:r>
                <a:rPr lang="en-US" sz="1600" dirty="0">
                  <a:solidFill>
                    <a:srgbClr val="2021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River Water</a:t>
              </a:r>
            </a:p>
            <a:p>
              <a:pPr marL="257175" indent="-257175">
                <a:buAutoNum type="alphaUcParenR"/>
              </a:pPr>
              <a:r>
                <a:rPr lang="en-US" sz="1600" dirty="0">
                  <a:solidFill>
                    <a:srgbClr val="2021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Pond Water</a:t>
              </a:r>
            </a:p>
            <a:p>
              <a:pPr marL="257175" indent="-257175">
                <a:buAutoNum type="alphaUcParenR"/>
              </a:pPr>
              <a:r>
                <a:rPr lang="en-US" sz="1600" dirty="0">
                  <a:solidFill>
                    <a:srgbClr val="2021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Well Water</a:t>
              </a:r>
            </a:p>
            <a:p>
              <a:pPr marL="257175" indent="-257175">
                <a:buAutoNum type="alphaUcParenR"/>
              </a:pPr>
              <a:endParaRPr lang="en-US" sz="16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/>
              <a:r>
                <a:rPr lang="en-US" sz="1600" dirty="0">
                  <a:solidFill>
                    <a:srgbClr val="2021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Q9 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Which of the following represents the physical characteristics of water?</a:t>
              </a:r>
              <a:endParaRPr lang="en-US" sz="16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/>
              <a:endParaRPr lang="en-US" sz="9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/>
              <a:r>
                <a:rPr lang="en-US" sz="1600" dirty="0">
                  <a:solidFill>
                    <a:srgbClr val="2021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A) Chloride</a:t>
              </a:r>
            </a:p>
            <a:p>
              <a:pPr algn="l"/>
              <a:r>
                <a:rPr lang="en-US" sz="1600" dirty="0">
                  <a:solidFill>
                    <a:srgbClr val="2021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B) BOD</a:t>
              </a:r>
            </a:p>
            <a:p>
              <a:pPr algn="l"/>
              <a:r>
                <a:rPr lang="en-US" sz="1600" dirty="0">
                  <a:solidFill>
                    <a:srgbClr val="2021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C) Turbidity</a:t>
              </a:r>
            </a:p>
            <a:p>
              <a:pPr algn="l"/>
              <a:r>
                <a:rPr lang="en-US" sz="1600" dirty="0">
                  <a:solidFill>
                    <a:srgbClr val="2021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D) COD</a:t>
              </a:r>
            </a:p>
            <a:p>
              <a:pPr algn="l"/>
              <a:endParaRPr lang="en-US" sz="16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/>
              <a:r>
                <a:rPr lang="en-US" sz="1600" dirty="0">
                  <a:solidFill>
                    <a:srgbClr val="2021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Q10 </a:t>
              </a:r>
              <a:r>
                <a:rPr 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 water treatment which factor which has a major control over reaction selectivity and </a:t>
              </a:r>
              <a:r>
                <a:rPr lang="en-I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product distribution?</a:t>
              </a:r>
            </a:p>
            <a:p>
              <a:pPr algn="l"/>
              <a:r>
                <a:rPr lang="en-IN" sz="1600" dirty="0">
                  <a:solidFill>
                    <a:srgbClr val="3A3A3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A) </a:t>
              </a:r>
              <a:r>
                <a:rPr lang="en-I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</a:t>
              </a:r>
            </a:p>
            <a:p>
              <a:pPr algn="l"/>
              <a:r>
                <a:rPr lang="en-IN" sz="1600" dirty="0">
                  <a:solidFill>
                    <a:srgbClr val="3A3A3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B) </a:t>
              </a:r>
              <a:r>
                <a:rPr lang="en-I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Temperature</a:t>
              </a:r>
            </a:p>
            <a:p>
              <a:pPr algn="l"/>
              <a:r>
                <a:rPr lang="en-IN" sz="1600" dirty="0">
                  <a:solidFill>
                    <a:srgbClr val="3A3A3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C) </a:t>
              </a:r>
              <a:r>
                <a:rPr lang="en-I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Pressure</a:t>
              </a:r>
            </a:p>
            <a:p>
              <a:pPr algn="l"/>
              <a:r>
                <a:rPr lang="en-IN" sz="1600" dirty="0">
                  <a:solidFill>
                    <a:srgbClr val="3A3A3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D) </a:t>
              </a:r>
              <a:r>
                <a:rPr lang="en-I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ionic concentration</a:t>
              </a:r>
              <a:endParaRPr lang="en-US" sz="16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2486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CB075-EB89-2E88-AF05-0A0D70FFA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5"/>
                </a:solidFill>
              </a:rPr>
              <a:t>References</a:t>
            </a:r>
            <a:endParaRPr lang="en-IN" b="1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745FD-DF0D-8F43-EA79-B945895DD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Textbooks: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4313" indent="-214313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Chemistry by P.C. Jain &amp; M. Jain,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Dhanpat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Rai Publishing Company (P) Ltd, 16thEdition, New Delhi. </a:t>
            </a:r>
          </a:p>
          <a:p>
            <a:pPr marL="214313" indent="-214313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Chemistry by Prasanta Rath, B. Rama Devi, C. H. Venkata Ramana Reddy, Subhendu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Chakroborty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Cengage Learning Publication, India Private Limited , 2018.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4313" indent="-214313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Courses: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https://nptel.ac.in/courses/105106119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https://www.youtube.com/watch?v=CWOJW4357Bg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075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648</TotalTime>
  <Words>1451</Words>
  <Application>Microsoft Office PowerPoint</Application>
  <PresentationFormat>On-screen Show (4:3)</PresentationFormat>
  <Paragraphs>141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GoogleSans-Regular</vt:lpstr>
      <vt:lpstr>Times New Roman</vt:lpstr>
      <vt:lpstr>Verdana</vt:lpstr>
      <vt:lpstr>Wingdings</vt:lpstr>
      <vt:lpstr>Office Theme</vt:lpstr>
      <vt:lpstr>PowerPoint Presentation</vt:lpstr>
      <vt:lpstr>Course Overview</vt:lpstr>
      <vt:lpstr>PowerPoint Presentation</vt:lpstr>
      <vt:lpstr>Introduction to Water Chemistry &amp; Hardness  </vt:lpstr>
      <vt:lpstr>1. Water Hardness</vt:lpstr>
      <vt:lpstr>2. Boiler Feed Water Treatment</vt:lpstr>
      <vt:lpstr>2. Boiler Feed Water Treatment</vt:lpstr>
      <vt:lpstr>4. External Treatment</vt:lpstr>
      <vt:lpstr>PowerPoint Presentation</vt:lpstr>
      <vt:lpstr>PowerPoint Presentation</vt:lpstr>
      <vt:lpstr>PowerPoint Presentation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pratibha.s</dc:creator>
  <cp:lastModifiedBy>pratibha.s</cp:lastModifiedBy>
  <cp:revision>31</cp:revision>
  <dcterms:created xsi:type="dcterms:W3CDTF">2024-10-29T09:41:06Z</dcterms:created>
  <dcterms:modified xsi:type="dcterms:W3CDTF">2025-08-22T04:32:47Z</dcterms:modified>
</cp:coreProperties>
</file>