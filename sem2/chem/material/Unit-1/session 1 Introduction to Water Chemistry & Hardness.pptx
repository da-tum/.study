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574" r:id="rId2"/>
    <p:sldId id="565" r:id="rId3"/>
    <p:sldId id="575" r:id="rId4"/>
    <p:sldId id="411" r:id="rId5"/>
    <p:sldId id="396" r:id="rId6"/>
    <p:sldId id="576" r:id="rId7"/>
    <p:sldId id="579" r:id="rId8"/>
    <p:sldId id="580" r:id="rId9"/>
    <p:sldId id="589" r:id="rId10"/>
    <p:sldId id="594" r:id="rId11"/>
    <p:sldId id="257" r:id="rId12"/>
    <p:sldId id="258" r:id="rId13"/>
    <p:sldId id="260" r:id="rId14"/>
    <p:sldId id="261" r:id="rId15"/>
    <p:sldId id="262" r:id="rId16"/>
    <p:sldId id="592" r:id="rId17"/>
    <p:sldId id="585" r:id="rId18"/>
    <p:sldId id="595" r:id="rId19"/>
    <p:sldId id="593" r:id="rId20"/>
    <p:sldId id="586" r:id="rId21"/>
    <p:sldId id="573" r:id="rId22"/>
    <p:sldId id="587" r:id="rId23"/>
    <p:sldId id="582" r:id="rId24"/>
    <p:sldId id="285" r:id="rId25"/>
    <p:sldId id="58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16BD33-0853-9E6E-1DCD-D8752C3D2466}" v="20" dt="2025-04-07T08:44:01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.s" userId="S::pratibha.s@krmangalam.edu.in::c81b94cf-77d6-4481-93e7-f045f6238cd8" providerId="AD" clId="Web-{C216BD33-0853-9E6E-1DCD-D8752C3D2466}"/>
    <pc:docChg chg="addSld delSld modSld">
      <pc:chgData name="pratibha.s" userId="S::pratibha.s@krmangalam.edu.in::c81b94cf-77d6-4481-93e7-f045f6238cd8" providerId="AD" clId="Web-{C216BD33-0853-9E6E-1DCD-D8752C3D2466}" dt="2025-04-07T08:41:45.946" v="10" actId="20577"/>
      <pc:docMkLst>
        <pc:docMk/>
      </pc:docMkLst>
      <pc:sldChg chg="del">
        <pc:chgData name="pratibha.s" userId="S::pratibha.s@krmangalam.edu.in::c81b94cf-77d6-4481-93e7-f045f6238cd8" providerId="AD" clId="Web-{C216BD33-0853-9E6E-1DCD-D8752C3D2466}" dt="2025-04-07T08:41:09.523" v="6"/>
        <pc:sldMkLst>
          <pc:docMk/>
          <pc:sldMk cId="1551643713" sldId="395"/>
        </pc:sldMkLst>
      </pc:sldChg>
      <pc:sldChg chg="add">
        <pc:chgData name="pratibha.s" userId="S::pratibha.s@krmangalam.edu.in::c81b94cf-77d6-4481-93e7-f045f6238cd8" providerId="AD" clId="Web-{C216BD33-0853-9E6E-1DCD-D8752C3D2466}" dt="2025-04-07T08:27:52.264" v="0"/>
        <pc:sldMkLst>
          <pc:docMk/>
          <pc:sldMk cId="1137161756" sldId="549"/>
        </pc:sldMkLst>
      </pc:sldChg>
      <pc:sldChg chg="add del">
        <pc:chgData name="pratibha.s" userId="S::pratibha.s@krmangalam.edu.in::c81b94cf-77d6-4481-93e7-f045f6238cd8" providerId="AD" clId="Web-{C216BD33-0853-9E6E-1DCD-D8752C3D2466}" dt="2025-04-07T08:29:40.721" v="4"/>
        <pc:sldMkLst>
          <pc:docMk/>
          <pc:sldMk cId="2742220809" sldId="560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37.148" v="8" actId="20577"/>
        <pc:sldMkLst>
          <pc:docMk/>
          <pc:sldMk cId="2992620617" sldId="572"/>
        </pc:sldMkLst>
        <pc:spChg chg="mod">
          <ac:chgData name="pratibha.s" userId="S::pratibha.s@krmangalam.edu.in::c81b94cf-77d6-4481-93e7-f045f6238cd8" providerId="AD" clId="Web-{C216BD33-0853-9E6E-1DCD-D8752C3D2466}" dt="2025-04-07T08:41:37.148" v="8" actId="20577"/>
          <ac:spMkLst>
            <pc:docMk/>
            <pc:sldMk cId="2992620617" sldId="572"/>
            <ac:spMk id="3" creationId="{BA7AAC60-6C94-BE21-A17A-6CC0CDE963C5}"/>
          </ac:spMkLst>
        </pc:spChg>
      </pc:sldChg>
      <pc:sldChg chg="modSp add">
        <pc:chgData name="pratibha.s" userId="S::pratibha.s@krmangalam.edu.in::c81b94cf-77d6-4481-93e7-f045f6238cd8" providerId="AD" clId="Web-{C216BD33-0853-9E6E-1DCD-D8752C3D2466}" dt="2025-04-07T08:41:45.946" v="10" actId="20577"/>
        <pc:sldMkLst>
          <pc:docMk/>
          <pc:sldMk cId="2430529132" sldId="573"/>
        </pc:sldMkLst>
        <pc:spChg chg="mod">
          <ac:chgData name="pratibha.s" userId="S::pratibha.s@krmangalam.edu.in::c81b94cf-77d6-4481-93e7-f045f6238cd8" providerId="AD" clId="Web-{C216BD33-0853-9E6E-1DCD-D8752C3D2466}" dt="2025-04-07T08:41:45.946" v="10" actId="20577"/>
          <ac:spMkLst>
            <pc:docMk/>
            <pc:sldMk cId="2430529132" sldId="573"/>
            <ac:spMk id="3" creationId="{CECA9C9F-C3B2-55F7-8FC7-29D69603438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5EA430-11F2-4822-B328-DBA7F503C55B}" type="doc">
      <dgm:prSet loTypeId="urn:microsoft.com/office/officeart/2008/layout/SquareAccentList" loCatId="list" qsTypeId="urn:microsoft.com/office/officeart/2005/8/quickstyle/3d4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139D068-EA81-46AE-80E2-FCF060BFC5B3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solidFill>
                <a:schemeClr val="accent2"/>
              </a:solidFill>
              <a:latin typeface="Raleway" pitchFamily="34" charset="0"/>
              <a:ea typeface="Raleway" pitchFamily="34" charset="-122"/>
              <a:cs typeface="Raleway" pitchFamily="34" charset="-120"/>
            </a:rPr>
            <a:t>Physical Characteristics</a:t>
          </a:r>
          <a:endParaRPr lang="en-IN" sz="2000" b="1" dirty="0">
            <a:solidFill>
              <a:schemeClr val="accent2"/>
            </a:solidFill>
          </a:endParaRPr>
        </a:p>
      </dgm:t>
    </dgm:pt>
    <dgm:pt modelId="{12035A18-1368-42E8-8CEA-8880A2471D4F}" type="parTrans" cxnId="{5436BEC0-84CF-4726-B118-D8440D659CAC}">
      <dgm:prSet/>
      <dgm:spPr/>
      <dgm:t>
        <a:bodyPr/>
        <a:lstStyle/>
        <a:p>
          <a:endParaRPr lang="en-IN"/>
        </a:p>
      </dgm:t>
    </dgm:pt>
    <dgm:pt modelId="{63785518-AF85-43D8-A856-56952C38D591}" type="sibTrans" cxnId="{5436BEC0-84CF-4726-B118-D8440D659CAC}">
      <dgm:prSet/>
      <dgm:spPr/>
      <dgm:t>
        <a:bodyPr/>
        <a:lstStyle/>
        <a:p>
          <a:endParaRPr lang="en-IN"/>
        </a:p>
      </dgm:t>
    </dgm:pt>
    <dgm:pt modelId="{25F37829-E806-4651-899B-8A252A9E11F6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Roboto" pitchFamily="34" charset="0"/>
              <a:ea typeface="Roboto" pitchFamily="34" charset="-122"/>
              <a:cs typeface="Roboto" pitchFamily="34" charset="-120"/>
            </a:rPr>
            <a:t>Observable properties like temperature, color, taste, odor, and turbidity that influence water's aesthetic and functional quality.</a:t>
          </a:r>
          <a:endParaRPr lang="en-IN" sz="2000" dirty="0"/>
        </a:p>
      </dgm:t>
    </dgm:pt>
    <dgm:pt modelId="{FB8A6C1C-F1F6-4F0C-8D9F-F90AC9A7D96D}" type="parTrans" cxnId="{BA738FA0-364B-4EDF-BAA5-38DF8C575470}">
      <dgm:prSet/>
      <dgm:spPr/>
      <dgm:t>
        <a:bodyPr/>
        <a:lstStyle/>
        <a:p>
          <a:endParaRPr lang="en-IN"/>
        </a:p>
      </dgm:t>
    </dgm:pt>
    <dgm:pt modelId="{45C5DFD5-D3DA-42C1-986F-C598302B57BD}" type="sibTrans" cxnId="{BA738FA0-364B-4EDF-BAA5-38DF8C575470}">
      <dgm:prSet/>
      <dgm:spPr/>
      <dgm:t>
        <a:bodyPr/>
        <a:lstStyle/>
        <a:p>
          <a:endParaRPr lang="en-IN"/>
        </a:p>
      </dgm:t>
    </dgm:pt>
    <dgm:pt modelId="{ED3D30C8-DC97-49EF-9075-5160B15A398B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solidFill>
                <a:schemeClr val="accent6"/>
              </a:solidFill>
              <a:latin typeface="Raleway" pitchFamily="34" charset="0"/>
              <a:ea typeface="Raleway" pitchFamily="34" charset="-122"/>
              <a:cs typeface="Raleway" pitchFamily="34" charset="-120"/>
            </a:rPr>
            <a:t>Chemical Characteristics</a:t>
          </a:r>
          <a:endParaRPr lang="en-IN" sz="2000" b="1" dirty="0">
            <a:solidFill>
              <a:schemeClr val="accent6"/>
            </a:solidFill>
          </a:endParaRPr>
        </a:p>
      </dgm:t>
    </dgm:pt>
    <dgm:pt modelId="{E5C41CDE-A96C-4C9B-9B38-236D01559641}" type="parTrans" cxnId="{C7A7AC15-BC90-4D49-8BF4-9A1503CA3FF3}">
      <dgm:prSet/>
      <dgm:spPr/>
      <dgm:t>
        <a:bodyPr/>
        <a:lstStyle/>
        <a:p>
          <a:endParaRPr lang="en-IN"/>
        </a:p>
      </dgm:t>
    </dgm:pt>
    <dgm:pt modelId="{CEC03F5B-6E32-4F87-8CD7-853D8DFF7E87}" type="sibTrans" cxnId="{C7A7AC15-BC90-4D49-8BF4-9A1503CA3FF3}">
      <dgm:prSet/>
      <dgm:spPr/>
      <dgm:t>
        <a:bodyPr/>
        <a:lstStyle/>
        <a:p>
          <a:endParaRPr lang="en-IN"/>
        </a:p>
      </dgm:t>
    </dgm:pt>
    <dgm:pt modelId="{71C62AD8-FD00-4AF9-9EC3-8403F8BA2DA6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Roboto" pitchFamily="34" charset="0"/>
              <a:ea typeface="Roboto" pitchFamily="34" charset="-122"/>
              <a:cs typeface="Roboto" pitchFamily="34" charset="-120"/>
            </a:rPr>
            <a:t>Compositional aspects such as pH, presence of inorganic ions, hardness, alkalinity, and salinity, which determine water's reactivity and corrosivity.</a:t>
          </a:r>
          <a:endParaRPr lang="en-IN" sz="2000" dirty="0"/>
        </a:p>
      </dgm:t>
    </dgm:pt>
    <dgm:pt modelId="{CE0232D5-6009-48B2-84D7-EFC48928AF8F}" type="parTrans" cxnId="{6E902C63-E4BE-4C85-926C-9F9616941986}">
      <dgm:prSet/>
      <dgm:spPr/>
      <dgm:t>
        <a:bodyPr/>
        <a:lstStyle/>
        <a:p>
          <a:endParaRPr lang="en-IN"/>
        </a:p>
      </dgm:t>
    </dgm:pt>
    <dgm:pt modelId="{BE663411-9454-4CB1-87D9-6481801B43F3}" type="sibTrans" cxnId="{6E902C63-E4BE-4C85-926C-9F9616941986}">
      <dgm:prSet/>
      <dgm:spPr/>
      <dgm:t>
        <a:bodyPr/>
        <a:lstStyle/>
        <a:p>
          <a:endParaRPr lang="en-IN"/>
        </a:p>
      </dgm:t>
    </dgm:pt>
    <dgm:pt modelId="{2E2FAF87-4D60-4FB9-AFC0-0D87B52A84A1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solidFill>
                <a:schemeClr val="accent4"/>
              </a:solidFill>
              <a:latin typeface="Raleway" pitchFamily="34" charset="0"/>
              <a:ea typeface="Raleway" pitchFamily="34" charset="-122"/>
              <a:cs typeface="Raleway" pitchFamily="34" charset="-120"/>
            </a:rPr>
            <a:t>Biological Characteristics</a:t>
          </a:r>
          <a:endParaRPr lang="en-IN" sz="2000" b="1" dirty="0">
            <a:solidFill>
              <a:schemeClr val="accent4"/>
            </a:solidFill>
          </a:endParaRPr>
        </a:p>
      </dgm:t>
    </dgm:pt>
    <dgm:pt modelId="{D298B3E0-1AAC-47C5-8139-BDE0A64EB489}" type="parTrans" cxnId="{F917FC10-E720-44F1-BE0C-32E26AB084AA}">
      <dgm:prSet/>
      <dgm:spPr/>
      <dgm:t>
        <a:bodyPr/>
        <a:lstStyle/>
        <a:p>
          <a:endParaRPr lang="en-IN"/>
        </a:p>
      </dgm:t>
    </dgm:pt>
    <dgm:pt modelId="{956FFC67-9D8F-4425-8446-C982A252D553}" type="sibTrans" cxnId="{F917FC10-E720-44F1-BE0C-32E26AB084AA}">
      <dgm:prSet/>
      <dgm:spPr/>
      <dgm:t>
        <a:bodyPr/>
        <a:lstStyle/>
        <a:p>
          <a:endParaRPr lang="en-IN"/>
        </a:p>
      </dgm:t>
    </dgm:pt>
    <dgm:pt modelId="{23CD6299-B033-4EE8-9A45-069DCB7E4595}">
      <dgm:prSet phldrT="[Text]" custT="1"/>
      <dgm:spPr/>
      <dgm:t>
        <a:bodyPr/>
        <a:lstStyle/>
        <a:p>
          <a:pPr>
            <a:buNone/>
          </a:pPr>
          <a:r>
            <a:rPr lang="en-US" sz="2000" dirty="0">
              <a:latin typeface="Roboto" pitchFamily="34" charset="0"/>
              <a:ea typeface="Roboto" pitchFamily="34" charset="-122"/>
              <a:cs typeface="Roboto" pitchFamily="34" charset="-120"/>
            </a:rPr>
            <a:t>Presence and types of microorganisms (bacteria, viruses, algae) that affect water potability and can cause biofouling in industrial systems.</a:t>
          </a:r>
          <a:endParaRPr lang="en-IN" sz="2000" dirty="0"/>
        </a:p>
      </dgm:t>
    </dgm:pt>
    <dgm:pt modelId="{FB94E4B2-6169-4AE2-B7FA-17900D27522C}" type="parTrans" cxnId="{7A3C7BBA-052C-4230-8EC3-27ADD20B945D}">
      <dgm:prSet/>
      <dgm:spPr/>
      <dgm:t>
        <a:bodyPr/>
        <a:lstStyle/>
        <a:p>
          <a:endParaRPr lang="en-IN"/>
        </a:p>
      </dgm:t>
    </dgm:pt>
    <dgm:pt modelId="{DAB7F5C0-4BC8-4937-B302-417B38842548}" type="sibTrans" cxnId="{7A3C7BBA-052C-4230-8EC3-27ADD20B945D}">
      <dgm:prSet/>
      <dgm:spPr/>
      <dgm:t>
        <a:bodyPr/>
        <a:lstStyle/>
        <a:p>
          <a:endParaRPr lang="en-IN"/>
        </a:p>
      </dgm:t>
    </dgm:pt>
    <dgm:pt modelId="{2CE78233-D6BF-4FD1-9A58-CBA86AE2C334}" type="pres">
      <dgm:prSet presAssocID="{3A5EA430-11F2-4822-B328-DBA7F503C55B}" presName="layout" presStyleCnt="0">
        <dgm:presLayoutVars>
          <dgm:chMax/>
          <dgm:chPref/>
          <dgm:dir/>
          <dgm:resizeHandles/>
        </dgm:presLayoutVars>
      </dgm:prSet>
      <dgm:spPr/>
    </dgm:pt>
    <dgm:pt modelId="{6C1349CD-1ADE-4273-A020-0C1A5779ADD7}" type="pres">
      <dgm:prSet presAssocID="{B139D068-EA81-46AE-80E2-FCF060BFC5B3}" presName="root" presStyleCnt="0">
        <dgm:presLayoutVars>
          <dgm:chMax/>
          <dgm:chPref/>
        </dgm:presLayoutVars>
      </dgm:prSet>
      <dgm:spPr/>
    </dgm:pt>
    <dgm:pt modelId="{C237F8FC-CFF5-417E-BD98-2716B30A826E}" type="pres">
      <dgm:prSet presAssocID="{B139D068-EA81-46AE-80E2-FCF060BFC5B3}" presName="rootComposite" presStyleCnt="0">
        <dgm:presLayoutVars/>
      </dgm:prSet>
      <dgm:spPr/>
    </dgm:pt>
    <dgm:pt modelId="{79D0682A-CD97-4F65-B9DD-4C0B6C50A36E}" type="pres">
      <dgm:prSet presAssocID="{B139D068-EA81-46AE-80E2-FCF060BFC5B3}" presName="ParentAccent" presStyleLbl="alignNode1" presStyleIdx="0" presStyleCnt="3"/>
      <dgm:spPr/>
    </dgm:pt>
    <dgm:pt modelId="{6AB2F749-DD72-473C-A701-92EB9023E2CC}" type="pres">
      <dgm:prSet presAssocID="{B139D068-EA81-46AE-80E2-FCF060BFC5B3}" presName="ParentSmallAccent" presStyleLbl="fgAcc1" presStyleIdx="0" presStyleCnt="3"/>
      <dgm:spPr/>
    </dgm:pt>
    <dgm:pt modelId="{6ADEC55D-48CA-4055-9F2A-C476A4D19D92}" type="pres">
      <dgm:prSet presAssocID="{B139D068-EA81-46AE-80E2-FCF060BFC5B3}" presName="Parent" presStyleLbl="revTx" presStyleIdx="0" presStyleCnt="6">
        <dgm:presLayoutVars>
          <dgm:chMax/>
          <dgm:chPref val="4"/>
          <dgm:bulletEnabled val="1"/>
        </dgm:presLayoutVars>
      </dgm:prSet>
      <dgm:spPr/>
    </dgm:pt>
    <dgm:pt modelId="{A37FF1E2-87FC-4EE2-A970-813F09629B26}" type="pres">
      <dgm:prSet presAssocID="{B139D068-EA81-46AE-80E2-FCF060BFC5B3}" presName="childShape" presStyleCnt="0">
        <dgm:presLayoutVars>
          <dgm:chMax val="0"/>
          <dgm:chPref val="0"/>
        </dgm:presLayoutVars>
      </dgm:prSet>
      <dgm:spPr/>
    </dgm:pt>
    <dgm:pt modelId="{AD3E4553-ADC1-44A4-8BD5-B2D96AE6AD11}" type="pres">
      <dgm:prSet presAssocID="{25F37829-E806-4651-899B-8A252A9E11F6}" presName="childComposite" presStyleCnt="0">
        <dgm:presLayoutVars>
          <dgm:chMax val="0"/>
          <dgm:chPref val="0"/>
        </dgm:presLayoutVars>
      </dgm:prSet>
      <dgm:spPr/>
    </dgm:pt>
    <dgm:pt modelId="{F8B0206F-F003-4410-A145-1B0DC4B0F530}" type="pres">
      <dgm:prSet presAssocID="{25F37829-E806-4651-899B-8A252A9E11F6}" presName="ChildAccent" presStyleLbl="solidFgAcc1" presStyleIdx="0" presStyleCnt="3"/>
      <dgm:spPr/>
    </dgm:pt>
    <dgm:pt modelId="{69C4CD50-72F2-4B29-A248-C69BB423987B}" type="pres">
      <dgm:prSet presAssocID="{25F37829-E806-4651-899B-8A252A9E11F6}" presName="Child" presStyleLbl="revTx" presStyleIdx="1" presStyleCnt="6" custLinFactY="100000" custLinFactNeighborX="143" custLinFactNeighborY="102452">
        <dgm:presLayoutVars>
          <dgm:chMax val="0"/>
          <dgm:chPref val="0"/>
          <dgm:bulletEnabled val="1"/>
        </dgm:presLayoutVars>
      </dgm:prSet>
      <dgm:spPr/>
    </dgm:pt>
    <dgm:pt modelId="{FE23DCD5-D4BE-419E-970D-5C256474EDE8}" type="pres">
      <dgm:prSet presAssocID="{ED3D30C8-DC97-49EF-9075-5160B15A398B}" presName="root" presStyleCnt="0">
        <dgm:presLayoutVars>
          <dgm:chMax/>
          <dgm:chPref/>
        </dgm:presLayoutVars>
      </dgm:prSet>
      <dgm:spPr/>
    </dgm:pt>
    <dgm:pt modelId="{5FF5B874-3854-47AE-9D21-B26D0D593C32}" type="pres">
      <dgm:prSet presAssocID="{ED3D30C8-DC97-49EF-9075-5160B15A398B}" presName="rootComposite" presStyleCnt="0">
        <dgm:presLayoutVars/>
      </dgm:prSet>
      <dgm:spPr/>
    </dgm:pt>
    <dgm:pt modelId="{88990FA1-C5D1-403E-B9CD-04E30373FFEF}" type="pres">
      <dgm:prSet presAssocID="{ED3D30C8-DC97-49EF-9075-5160B15A398B}" presName="ParentAccent" presStyleLbl="alignNode1" presStyleIdx="1" presStyleCnt="3"/>
      <dgm:spPr/>
    </dgm:pt>
    <dgm:pt modelId="{3EF0F931-09CD-47C5-88B6-8A71ECBA2716}" type="pres">
      <dgm:prSet presAssocID="{ED3D30C8-DC97-49EF-9075-5160B15A398B}" presName="ParentSmallAccent" presStyleLbl="fgAcc1" presStyleIdx="1" presStyleCnt="3"/>
      <dgm:spPr/>
    </dgm:pt>
    <dgm:pt modelId="{BD4834E7-18BB-4FBF-AEA7-271C49CBA471}" type="pres">
      <dgm:prSet presAssocID="{ED3D30C8-DC97-49EF-9075-5160B15A398B}" presName="Parent" presStyleLbl="revTx" presStyleIdx="2" presStyleCnt="6">
        <dgm:presLayoutVars>
          <dgm:chMax/>
          <dgm:chPref val="4"/>
          <dgm:bulletEnabled val="1"/>
        </dgm:presLayoutVars>
      </dgm:prSet>
      <dgm:spPr/>
    </dgm:pt>
    <dgm:pt modelId="{A82161E5-1FB4-4490-8191-1F8FA4789C57}" type="pres">
      <dgm:prSet presAssocID="{ED3D30C8-DC97-49EF-9075-5160B15A398B}" presName="childShape" presStyleCnt="0">
        <dgm:presLayoutVars>
          <dgm:chMax val="0"/>
          <dgm:chPref val="0"/>
        </dgm:presLayoutVars>
      </dgm:prSet>
      <dgm:spPr/>
    </dgm:pt>
    <dgm:pt modelId="{D9BF3FE9-125E-4C22-9746-89FA21DB4213}" type="pres">
      <dgm:prSet presAssocID="{71C62AD8-FD00-4AF9-9EC3-8403F8BA2DA6}" presName="childComposite" presStyleCnt="0">
        <dgm:presLayoutVars>
          <dgm:chMax val="0"/>
          <dgm:chPref val="0"/>
        </dgm:presLayoutVars>
      </dgm:prSet>
      <dgm:spPr/>
    </dgm:pt>
    <dgm:pt modelId="{BCF33C67-61D5-466B-9FE5-26F30B6C057E}" type="pres">
      <dgm:prSet presAssocID="{71C62AD8-FD00-4AF9-9EC3-8403F8BA2DA6}" presName="ChildAccent" presStyleLbl="solidFgAcc1" presStyleIdx="1" presStyleCnt="3"/>
      <dgm:spPr/>
    </dgm:pt>
    <dgm:pt modelId="{949945BC-B857-49AF-A003-44D267E5A7A5}" type="pres">
      <dgm:prSet presAssocID="{71C62AD8-FD00-4AF9-9EC3-8403F8BA2DA6}" presName="Child" presStyleLbl="revTx" presStyleIdx="3" presStyleCnt="6" custLinFactY="100000" custLinFactNeighborX="-767" custLinFactNeighborY="138915">
        <dgm:presLayoutVars>
          <dgm:chMax val="0"/>
          <dgm:chPref val="0"/>
          <dgm:bulletEnabled val="1"/>
        </dgm:presLayoutVars>
      </dgm:prSet>
      <dgm:spPr/>
    </dgm:pt>
    <dgm:pt modelId="{E64843BA-5B83-4208-9BB3-B87BFB6BD726}" type="pres">
      <dgm:prSet presAssocID="{2E2FAF87-4D60-4FB9-AFC0-0D87B52A84A1}" presName="root" presStyleCnt="0">
        <dgm:presLayoutVars>
          <dgm:chMax/>
          <dgm:chPref/>
        </dgm:presLayoutVars>
      </dgm:prSet>
      <dgm:spPr/>
    </dgm:pt>
    <dgm:pt modelId="{83FE0004-AE79-463A-9631-2093D5DD5E46}" type="pres">
      <dgm:prSet presAssocID="{2E2FAF87-4D60-4FB9-AFC0-0D87B52A84A1}" presName="rootComposite" presStyleCnt="0">
        <dgm:presLayoutVars/>
      </dgm:prSet>
      <dgm:spPr/>
    </dgm:pt>
    <dgm:pt modelId="{D650E138-F3DE-44F6-919F-F343B7666577}" type="pres">
      <dgm:prSet presAssocID="{2E2FAF87-4D60-4FB9-AFC0-0D87B52A84A1}" presName="ParentAccent" presStyleLbl="alignNode1" presStyleIdx="2" presStyleCnt="3"/>
      <dgm:spPr/>
    </dgm:pt>
    <dgm:pt modelId="{F2BD35DB-A260-4040-A89C-31A6A74AABC6}" type="pres">
      <dgm:prSet presAssocID="{2E2FAF87-4D60-4FB9-AFC0-0D87B52A84A1}" presName="ParentSmallAccent" presStyleLbl="fgAcc1" presStyleIdx="2" presStyleCnt="3"/>
      <dgm:spPr/>
    </dgm:pt>
    <dgm:pt modelId="{61B3AF26-FB66-42A0-8881-995BF8D8CEFD}" type="pres">
      <dgm:prSet presAssocID="{2E2FAF87-4D60-4FB9-AFC0-0D87B52A84A1}" presName="Parent" presStyleLbl="revTx" presStyleIdx="4" presStyleCnt="6">
        <dgm:presLayoutVars>
          <dgm:chMax/>
          <dgm:chPref val="4"/>
          <dgm:bulletEnabled val="1"/>
        </dgm:presLayoutVars>
      </dgm:prSet>
      <dgm:spPr/>
    </dgm:pt>
    <dgm:pt modelId="{D398E08D-C6AC-4915-87A3-769AEEA8968F}" type="pres">
      <dgm:prSet presAssocID="{2E2FAF87-4D60-4FB9-AFC0-0D87B52A84A1}" presName="childShape" presStyleCnt="0">
        <dgm:presLayoutVars>
          <dgm:chMax val="0"/>
          <dgm:chPref val="0"/>
        </dgm:presLayoutVars>
      </dgm:prSet>
      <dgm:spPr/>
    </dgm:pt>
    <dgm:pt modelId="{39121F11-4B06-4D91-A4FD-F9F526664D49}" type="pres">
      <dgm:prSet presAssocID="{23CD6299-B033-4EE8-9A45-069DCB7E4595}" presName="childComposite" presStyleCnt="0">
        <dgm:presLayoutVars>
          <dgm:chMax val="0"/>
          <dgm:chPref val="0"/>
        </dgm:presLayoutVars>
      </dgm:prSet>
      <dgm:spPr/>
    </dgm:pt>
    <dgm:pt modelId="{81B8E62B-29A2-44D2-AC93-3C531D37E273}" type="pres">
      <dgm:prSet presAssocID="{23CD6299-B033-4EE8-9A45-069DCB7E4595}" presName="ChildAccent" presStyleLbl="solidFgAcc1" presStyleIdx="2" presStyleCnt="3"/>
      <dgm:spPr/>
    </dgm:pt>
    <dgm:pt modelId="{C32DE7D0-637C-4761-AC00-19B0F900A4ED}" type="pres">
      <dgm:prSet presAssocID="{23CD6299-B033-4EE8-9A45-069DCB7E4595}" presName="Child" presStyleLbl="revTx" presStyleIdx="5" presStyleCnt="6" custLinFactY="100000" custLinFactNeighborY="109149">
        <dgm:presLayoutVars>
          <dgm:chMax val="0"/>
          <dgm:chPref val="0"/>
          <dgm:bulletEnabled val="1"/>
        </dgm:presLayoutVars>
      </dgm:prSet>
      <dgm:spPr/>
    </dgm:pt>
  </dgm:ptLst>
  <dgm:cxnLst>
    <dgm:cxn modelId="{F917FC10-E720-44F1-BE0C-32E26AB084AA}" srcId="{3A5EA430-11F2-4822-B328-DBA7F503C55B}" destId="{2E2FAF87-4D60-4FB9-AFC0-0D87B52A84A1}" srcOrd="2" destOrd="0" parTransId="{D298B3E0-1AAC-47C5-8139-BDE0A64EB489}" sibTransId="{956FFC67-9D8F-4425-8446-C982A252D553}"/>
    <dgm:cxn modelId="{C7A7AC15-BC90-4D49-8BF4-9A1503CA3FF3}" srcId="{3A5EA430-11F2-4822-B328-DBA7F503C55B}" destId="{ED3D30C8-DC97-49EF-9075-5160B15A398B}" srcOrd="1" destOrd="0" parTransId="{E5C41CDE-A96C-4C9B-9B38-236D01559641}" sibTransId="{CEC03F5B-6E32-4F87-8CD7-853D8DFF7E87}"/>
    <dgm:cxn modelId="{173A2D1E-BAC3-495C-812E-071B247DBBF1}" type="presOf" srcId="{B139D068-EA81-46AE-80E2-FCF060BFC5B3}" destId="{6ADEC55D-48CA-4055-9F2A-C476A4D19D92}" srcOrd="0" destOrd="0" presId="urn:microsoft.com/office/officeart/2008/layout/SquareAccentList"/>
    <dgm:cxn modelId="{5FAD701E-E1B8-4FA9-90E1-FF673D32BA6D}" type="presOf" srcId="{71C62AD8-FD00-4AF9-9EC3-8403F8BA2DA6}" destId="{949945BC-B857-49AF-A003-44D267E5A7A5}" srcOrd="0" destOrd="0" presId="urn:microsoft.com/office/officeart/2008/layout/SquareAccentList"/>
    <dgm:cxn modelId="{5BD8CC2A-2863-49D4-9150-51306FF4A4EE}" type="presOf" srcId="{3A5EA430-11F2-4822-B328-DBA7F503C55B}" destId="{2CE78233-D6BF-4FD1-9A58-CBA86AE2C334}" srcOrd="0" destOrd="0" presId="urn:microsoft.com/office/officeart/2008/layout/SquareAccentList"/>
    <dgm:cxn modelId="{6E902C63-E4BE-4C85-926C-9F9616941986}" srcId="{ED3D30C8-DC97-49EF-9075-5160B15A398B}" destId="{71C62AD8-FD00-4AF9-9EC3-8403F8BA2DA6}" srcOrd="0" destOrd="0" parTransId="{CE0232D5-6009-48B2-84D7-EFC48928AF8F}" sibTransId="{BE663411-9454-4CB1-87D9-6481801B43F3}"/>
    <dgm:cxn modelId="{F2BCC944-E64E-47A9-8688-4EDCC37C1E1D}" type="presOf" srcId="{25F37829-E806-4651-899B-8A252A9E11F6}" destId="{69C4CD50-72F2-4B29-A248-C69BB423987B}" srcOrd="0" destOrd="0" presId="urn:microsoft.com/office/officeart/2008/layout/SquareAccentList"/>
    <dgm:cxn modelId="{18250650-AF4C-45D4-A701-48BB118C4D5E}" type="presOf" srcId="{2E2FAF87-4D60-4FB9-AFC0-0D87B52A84A1}" destId="{61B3AF26-FB66-42A0-8881-995BF8D8CEFD}" srcOrd="0" destOrd="0" presId="urn:microsoft.com/office/officeart/2008/layout/SquareAccentList"/>
    <dgm:cxn modelId="{54DB3577-AACA-4453-80A2-9CA3F8CA938B}" type="presOf" srcId="{23CD6299-B033-4EE8-9A45-069DCB7E4595}" destId="{C32DE7D0-637C-4761-AC00-19B0F900A4ED}" srcOrd="0" destOrd="0" presId="urn:microsoft.com/office/officeart/2008/layout/SquareAccentList"/>
    <dgm:cxn modelId="{BA738FA0-364B-4EDF-BAA5-38DF8C575470}" srcId="{B139D068-EA81-46AE-80E2-FCF060BFC5B3}" destId="{25F37829-E806-4651-899B-8A252A9E11F6}" srcOrd="0" destOrd="0" parTransId="{FB8A6C1C-F1F6-4F0C-8D9F-F90AC9A7D96D}" sibTransId="{45C5DFD5-D3DA-42C1-986F-C598302B57BD}"/>
    <dgm:cxn modelId="{7A3C7BBA-052C-4230-8EC3-27ADD20B945D}" srcId="{2E2FAF87-4D60-4FB9-AFC0-0D87B52A84A1}" destId="{23CD6299-B033-4EE8-9A45-069DCB7E4595}" srcOrd="0" destOrd="0" parTransId="{FB94E4B2-6169-4AE2-B7FA-17900D27522C}" sibTransId="{DAB7F5C0-4BC8-4937-B302-417B38842548}"/>
    <dgm:cxn modelId="{5436BEC0-84CF-4726-B118-D8440D659CAC}" srcId="{3A5EA430-11F2-4822-B328-DBA7F503C55B}" destId="{B139D068-EA81-46AE-80E2-FCF060BFC5B3}" srcOrd="0" destOrd="0" parTransId="{12035A18-1368-42E8-8CEA-8880A2471D4F}" sibTransId="{63785518-AF85-43D8-A856-56952C38D591}"/>
    <dgm:cxn modelId="{8A39F9E9-9A98-4D4F-B82E-BE0A8B6A8623}" type="presOf" srcId="{ED3D30C8-DC97-49EF-9075-5160B15A398B}" destId="{BD4834E7-18BB-4FBF-AEA7-271C49CBA471}" srcOrd="0" destOrd="0" presId="urn:microsoft.com/office/officeart/2008/layout/SquareAccentList"/>
    <dgm:cxn modelId="{513B271F-C986-4CEA-9A33-8A8277CF2DBA}" type="presParOf" srcId="{2CE78233-D6BF-4FD1-9A58-CBA86AE2C334}" destId="{6C1349CD-1ADE-4273-A020-0C1A5779ADD7}" srcOrd="0" destOrd="0" presId="urn:microsoft.com/office/officeart/2008/layout/SquareAccentList"/>
    <dgm:cxn modelId="{B2948237-E4DB-42DC-B20E-66C8EA302B7F}" type="presParOf" srcId="{6C1349CD-1ADE-4273-A020-0C1A5779ADD7}" destId="{C237F8FC-CFF5-417E-BD98-2716B30A826E}" srcOrd="0" destOrd="0" presId="urn:microsoft.com/office/officeart/2008/layout/SquareAccentList"/>
    <dgm:cxn modelId="{73BDB98D-843D-46DC-8EFD-6A7E7CB4E161}" type="presParOf" srcId="{C237F8FC-CFF5-417E-BD98-2716B30A826E}" destId="{79D0682A-CD97-4F65-B9DD-4C0B6C50A36E}" srcOrd="0" destOrd="0" presId="urn:microsoft.com/office/officeart/2008/layout/SquareAccentList"/>
    <dgm:cxn modelId="{723F0A67-AEB0-4935-856C-BFD1D3B3315B}" type="presParOf" srcId="{C237F8FC-CFF5-417E-BD98-2716B30A826E}" destId="{6AB2F749-DD72-473C-A701-92EB9023E2CC}" srcOrd="1" destOrd="0" presId="urn:microsoft.com/office/officeart/2008/layout/SquareAccentList"/>
    <dgm:cxn modelId="{F6E03FC3-B9AF-41F4-954C-D22984B4DAA9}" type="presParOf" srcId="{C237F8FC-CFF5-417E-BD98-2716B30A826E}" destId="{6ADEC55D-48CA-4055-9F2A-C476A4D19D92}" srcOrd="2" destOrd="0" presId="urn:microsoft.com/office/officeart/2008/layout/SquareAccentList"/>
    <dgm:cxn modelId="{7436498E-5FB4-4917-A6C4-9AEE79874B73}" type="presParOf" srcId="{6C1349CD-1ADE-4273-A020-0C1A5779ADD7}" destId="{A37FF1E2-87FC-4EE2-A970-813F09629B26}" srcOrd="1" destOrd="0" presId="urn:microsoft.com/office/officeart/2008/layout/SquareAccentList"/>
    <dgm:cxn modelId="{9D62A6A0-8CA9-45F2-A4BB-C0892C022E2B}" type="presParOf" srcId="{A37FF1E2-87FC-4EE2-A970-813F09629B26}" destId="{AD3E4553-ADC1-44A4-8BD5-B2D96AE6AD11}" srcOrd="0" destOrd="0" presId="urn:microsoft.com/office/officeart/2008/layout/SquareAccentList"/>
    <dgm:cxn modelId="{3416A758-152E-4124-B9FF-6E008D30215D}" type="presParOf" srcId="{AD3E4553-ADC1-44A4-8BD5-B2D96AE6AD11}" destId="{F8B0206F-F003-4410-A145-1B0DC4B0F530}" srcOrd="0" destOrd="0" presId="urn:microsoft.com/office/officeart/2008/layout/SquareAccentList"/>
    <dgm:cxn modelId="{40DBE36E-E453-49FD-A5AA-94468CFCCADD}" type="presParOf" srcId="{AD3E4553-ADC1-44A4-8BD5-B2D96AE6AD11}" destId="{69C4CD50-72F2-4B29-A248-C69BB423987B}" srcOrd="1" destOrd="0" presId="urn:microsoft.com/office/officeart/2008/layout/SquareAccentList"/>
    <dgm:cxn modelId="{7E01778E-00D5-46D3-9432-CF464DF1BD16}" type="presParOf" srcId="{2CE78233-D6BF-4FD1-9A58-CBA86AE2C334}" destId="{FE23DCD5-D4BE-419E-970D-5C256474EDE8}" srcOrd="1" destOrd="0" presId="urn:microsoft.com/office/officeart/2008/layout/SquareAccentList"/>
    <dgm:cxn modelId="{E0E4F60D-3B84-4C77-8CA8-52DBCDFF77EC}" type="presParOf" srcId="{FE23DCD5-D4BE-419E-970D-5C256474EDE8}" destId="{5FF5B874-3854-47AE-9D21-B26D0D593C32}" srcOrd="0" destOrd="0" presId="urn:microsoft.com/office/officeart/2008/layout/SquareAccentList"/>
    <dgm:cxn modelId="{6EB4A26E-7B15-474F-A3C5-D01684DFD47B}" type="presParOf" srcId="{5FF5B874-3854-47AE-9D21-B26D0D593C32}" destId="{88990FA1-C5D1-403E-B9CD-04E30373FFEF}" srcOrd="0" destOrd="0" presId="urn:microsoft.com/office/officeart/2008/layout/SquareAccentList"/>
    <dgm:cxn modelId="{8E2467CA-132D-417F-9B04-70B3CE897EEA}" type="presParOf" srcId="{5FF5B874-3854-47AE-9D21-B26D0D593C32}" destId="{3EF0F931-09CD-47C5-88B6-8A71ECBA2716}" srcOrd="1" destOrd="0" presId="urn:microsoft.com/office/officeart/2008/layout/SquareAccentList"/>
    <dgm:cxn modelId="{8D4FBB3B-BD8C-4945-B2C6-DFE151829A07}" type="presParOf" srcId="{5FF5B874-3854-47AE-9D21-B26D0D593C32}" destId="{BD4834E7-18BB-4FBF-AEA7-271C49CBA471}" srcOrd="2" destOrd="0" presId="urn:microsoft.com/office/officeart/2008/layout/SquareAccentList"/>
    <dgm:cxn modelId="{DB444223-3510-4AB2-AA00-F8D31EF90A6E}" type="presParOf" srcId="{FE23DCD5-D4BE-419E-970D-5C256474EDE8}" destId="{A82161E5-1FB4-4490-8191-1F8FA4789C57}" srcOrd="1" destOrd="0" presId="urn:microsoft.com/office/officeart/2008/layout/SquareAccentList"/>
    <dgm:cxn modelId="{DF58609A-43A6-45E1-B19B-6845973172A1}" type="presParOf" srcId="{A82161E5-1FB4-4490-8191-1F8FA4789C57}" destId="{D9BF3FE9-125E-4C22-9746-89FA21DB4213}" srcOrd="0" destOrd="0" presId="urn:microsoft.com/office/officeart/2008/layout/SquareAccentList"/>
    <dgm:cxn modelId="{7684D4BF-8E70-4328-A28D-934ED356BE50}" type="presParOf" srcId="{D9BF3FE9-125E-4C22-9746-89FA21DB4213}" destId="{BCF33C67-61D5-466B-9FE5-26F30B6C057E}" srcOrd="0" destOrd="0" presId="urn:microsoft.com/office/officeart/2008/layout/SquareAccentList"/>
    <dgm:cxn modelId="{343B035A-71E6-449E-846D-FE1D77692186}" type="presParOf" srcId="{D9BF3FE9-125E-4C22-9746-89FA21DB4213}" destId="{949945BC-B857-49AF-A003-44D267E5A7A5}" srcOrd="1" destOrd="0" presId="urn:microsoft.com/office/officeart/2008/layout/SquareAccentList"/>
    <dgm:cxn modelId="{D2261239-F9DC-424D-90C8-19F81FB2E7F3}" type="presParOf" srcId="{2CE78233-D6BF-4FD1-9A58-CBA86AE2C334}" destId="{E64843BA-5B83-4208-9BB3-B87BFB6BD726}" srcOrd="2" destOrd="0" presId="urn:microsoft.com/office/officeart/2008/layout/SquareAccentList"/>
    <dgm:cxn modelId="{82C26389-6946-4B49-95E3-010087247607}" type="presParOf" srcId="{E64843BA-5B83-4208-9BB3-B87BFB6BD726}" destId="{83FE0004-AE79-463A-9631-2093D5DD5E46}" srcOrd="0" destOrd="0" presId="urn:microsoft.com/office/officeart/2008/layout/SquareAccentList"/>
    <dgm:cxn modelId="{C5E7AE8C-FEA6-4EDF-B726-5370AB711E78}" type="presParOf" srcId="{83FE0004-AE79-463A-9631-2093D5DD5E46}" destId="{D650E138-F3DE-44F6-919F-F343B7666577}" srcOrd="0" destOrd="0" presId="urn:microsoft.com/office/officeart/2008/layout/SquareAccentList"/>
    <dgm:cxn modelId="{506E4FD8-D3F3-466E-BC2F-7989461E5DCC}" type="presParOf" srcId="{83FE0004-AE79-463A-9631-2093D5DD5E46}" destId="{F2BD35DB-A260-4040-A89C-31A6A74AABC6}" srcOrd="1" destOrd="0" presId="urn:microsoft.com/office/officeart/2008/layout/SquareAccentList"/>
    <dgm:cxn modelId="{97E1833B-87D7-4D0F-A962-6986735E014A}" type="presParOf" srcId="{83FE0004-AE79-463A-9631-2093D5DD5E46}" destId="{61B3AF26-FB66-42A0-8881-995BF8D8CEFD}" srcOrd="2" destOrd="0" presId="urn:microsoft.com/office/officeart/2008/layout/SquareAccentList"/>
    <dgm:cxn modelId="{9CADD834-20AA-44B0-84DC-2B6813641107}" type="presParOf" srcId="{E64843BA-5B83-4208-9BB3-B87BFB6BD726}" destId="{D398E08D-C6AC-4915-87A3-769AEEA8968F}" srcOrd="1" destOrd="0" presId="urn:microsoft.com/office/officeart/2008/layout/SquareAccentList"/>
    <dgm:cxn modelId="{F1FA05DB-A0BE-4F81-A67A-5B42D4372DD6}" type="presParOf" srcId="{D398E08D-C6AC-4915-87A3-769AEEA8968F}" destId="{39121F11-4B06-4D91-A4FD-F9F526664D49}" srcOrd="0" destOrd="0" presId="urn:microsoft.com/office/officeart/2008/layout/SquareAccentList"/>
    <dgm:cxn modelId="{93DA6F7C-D2E7-4411-860A-88833E217235}" type="presParOf" srcId="{39121F11-4B06-4D91-A4FD-F9F526664D49}" destId="{81B8E62B-29A2-44D2-AC93-3C531D37E273}" srcOrd="0" destOrd="0" presId="urn:microsoft.com/office/officeart/2008/layout/SquareAccentList"/>
    <dgm:cxn modelId="{79AD1152-7B46-4F49-8291-95899D5438D5}" type="presParOf" srcId="{39121F11-4B06-4D91-A4FD-F9F526664D49}" destId="{C32DE7D0-637C-4761-AC00-19B0F900A4ED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344F6B-BAE9-4D8B-8B88-9F9F343EB875}" type="doc">
      <dgm:prSet loTypeId="urn:microsoft.com/office/officeart/2005/8/layout/hierarchy1" loCatId="hierarchy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B2BF816-721E-45F0-A4ED-F410C19A104D}">
      <dgm:prSet phldrT="[Text]" custT="1"/>
      <dgm:spPr/>
      <dgm:t>
        <a:bodyPr/>
        <a:lstStyle/>
        <a:p>
          <a:r>
            <a:rPr lang="en-GB" sz="2000" b="1" dirty="0"/>
            <a:t>Hardness of Water</a:t>
          </a:r>
          <a:endParaRPr lang="en-IN" sz="2000" b="1" dirty="0"/>
        </a:p>
      </dgm:t>
    </dgm:pt>
    <dgm:pt modelId="{5B203CAA-4C2B-4D03-BBC8-55415AD6FC68}" type="parTrans" cxnId="{D736E2BB-5BF9-4126-8732-FF90331D9FCD}">
      <dgm:prSet/>
      <dgm:spPr/>
      <dgm:t>
        <a:bodyPr/>
        <a:lstStyle/>
        <a:p>
          <a:endParaRPr lang="en-IN" sz="2800"/>
        </a:p>
      </dgm:t>
    </dgm:pt>
    <dgm:pt modelId="{575E12DA-E137-47BC-81C3-7C84471B86D3}" type="sibTrans" cxnId="{D736E2BB-5BF9-4126-8732-FF90331D9FCD}">
      <dgm:prSet/>
      <dgm:spPr/>
      <dgm:t>
        <a:bodyPr/>
        <a:lstStyle/>
        <a:p>
          <a:endParaRPr lang="en-IN" sz="2800"/>
        </a:p>
      </dgm:t>
    </dgm:pt>
    <dgm:pt modelId="{1066DC5F-3B5D-4A97-B239-CC17E0BD1488}">
      <dgm:prSet phldrT="[Text]" custT="1"/>
      <dgm:spPr/>
      <dgm:t>
        <a:bodyPr/>
        <a:lstStyle/>
        <a:p>
          <a:r>
            <a:rPr lang="en-GB" sz="2000" b="1" dirty="0"/>
            <a:t>Temporary Hardness (Carbonate)</a:t>
          </a:r>
          <a:endParaRPr lang="en-IN" sz="2000" b="1" dirty="0"/>
        </a:p>
      </dgm:t>
    </dgm:pt>
    <dgm:pt modelId="{7F62CC49-EC43-43A3-B92E-7003707814F0}" type="parTrans" cxnId="{27F4E595-882D-43B1-957F-729911178273}">
      <dgm:prSet/>
      <dgm:spPr/>
      <dgm:t>
        <a:bodyPr/>
        <a:lstStyle/>
        <a:p>
          <a:endParaRPr lang="en-IN" sz="2000" b="1"/>
        </a:p>
      </dgm:t>
    </dgm:pt>
    <dgm:pt modelId="{EEE8AE98-46EE-423A-B1AD-391339D392E5}" type="sibTrans" cxnId="{27F4E595-882D-43B1-957F-729911178273}">
      <dgm:prSet/>
      <dgm:spPr/>
      <dgm:t>
        <a:bodyPr/>
        <a:lstStyle/>
        <a:p>
          <a:endParaRPr lang="en-IN" sz="2800"/>
        </a:p>
      </dgm:t>
    </dgm:pt>
    <dgm:pt modelId="{D9EE85AA-DA6B-493B-AB3E-2A3EC4D9040C}">
      <dgm:prSet phldrT="[Text]" custT="1"/>
      <dgm:spPr/>
      <dgm:t>
        <a:bodyPr/>
        <a:lstStyle/>
        <a:p>
          <a:r>
            <a:rPr lang="en-GB" sz="2000" b="1" dirty="0"/>
            <a:t>Permanent Hardness (Non-Carbonate)</a:t>
          </a:r>
          <a:endParaRPr lang="en-IN" sz="2000" b="1" dirty="0"/>
        </a:p>
      </dgm:t>
    </dgm:pt>
    <dgm:pt modelId="{94ABCBB0-80C5-48C4-BC9D-2A9CCDE05AB5}" type="parTrans" cxnId="{043DDEB5-140E-4F76-91A2-FE2478951407}">
      <dgm:prSet/>
      <dgm:spPr/>
      <dgm:t>
        <a:bodyPr/>
        <a:lstStyle/>
        <a:p>
          <a:endParaRPr lang="en-IN" sz="2000" b="1"/>
        </a:p>
      </dgm:t>
    </dgm:pt>
    <dgm:pt modelId="{3E016D90-112C-4A18-9A50-22CAEA2A8A9F}" type="sibTrans" cxnId="{043DDEB5-140E-4F76-91A2-FE2478951407}">
      <dgm:prSet/>
      <dgm:spPr/>
      <dgm:t>
        <a:bodyPr/>
        <a:lstStyle/>
        <a:p>
          <a:endParaRPr lang="en-IN" sz="2800"/>
        </a:p>
      </dgm:t>
    </dgm:pt>
    <dgm:pt modelId="{6026A3CB-90A6-464B-A031-225A63CC9459}" type="pres">
      <dgm:prSet presAssocID="{B7344F6B-BAE9-4D8B-8B88-9F9F343EB8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2CA3AA-1B2F-4133-97A2-C9FC4F7D3161}" type="pres">
      <dgm:prSet presAssocID="{FB2BF816-721E-45F0-A4ED-F410C19A104D}" presName="hierRoot1" presStyleCnt="0"/>
      <dgm:spPr/>
    </dgm:pt>
    <dgm:pt modelId="{D536D887-0790-4F9B-A112-14F4A2536973}" type="pres">
      <dgm:prSet presAssocID="{FB2BF816-721E-45F0-A4ED-F410C19A104D}" presName="composite" presStyleCnt="0"/>
      <dgm:spPr/>
    </dgm:pt>
    <dgm:pt modelId="{5BAA6F7E-8F7E-4A8C-AC90-2EE2FF33979B}" type="pres">
      <dgm:prSet presAssocID="{FB2BF816-721E-45F0-A4ED-F410C19A104D}" presName="background" presStyleLbl="node0" presStyleIdx="0" presStyleCnt="1"/>
      <dgm:spPr/>
    </dgm:pt>
    <dgm:pt modelId="{9A1467FB-B4CB-4D06-87D4-B0C19FE16C18}" type="pres">
      <dgm:prSet presAssocID="{FB2BF816-721E-45F0-A4ED-F410C19A104D}" presName="text" presStyleLbl="fgAcc0" presStyleIdx="0" presStyleCnt="1">
        <dgm:presLayoutVars>
          <dgm:chPref val="3"/>
        </dgm:presLayoutVars>
      </dgm:prSet>
      <dgm:spPr/>
    </dgm:pt>
    <dgm:pt modelId="{3FB236BE-C98D-40ED-9CF2-4864A388BF90}" type="pres">
      <dgm:prSet presAssocID="{FB2BF816-721E-45F0-A4ED-F410C19A104D}" presName="hierChild2" presStyleCnt="0"/>
      <dgm:spPr/>
    </dgm:pt>
    <dgm:pt modelId="{771F09A3-8450-4955-88E3-512FA6C4EAF2}" type="pres">
      <dgm:prSet presAssocID="{7F62CC49-EC43-43A3-B92E-7003707814F0}" presName="Name10" presStyleLbl="parChTrans1D2" presStyleIdx="0" presStyleCnt="2"/>
      <dgm:spPr/>
    </dgm:pt>
    <dgm:pt modelId="{F361A2B6-F7C6-4AD2-9AE6-0A3ED960575C}" type="pres">
      <dgm:prSet presAssocID="{1066DC5F-3B5D-4A97-B239-CC17E0BD1488}" presName="hierRoot2" presStyleCnt="0"/>
      <dgm:spPr/>
    </dgm:pt>
    <dgm:pt modelId="{5B09040D-EEAD-4070-8181-EB85887F90E7}" type="pres">
      <dgm:prSet presAssocID="{1066DC5F-3B5D-4A97-B239-CC17E0BD1488}" presName="composite2" presStyleCnt="0"/>
      <dgm:spPr/>
    </dgm:pt>
    <dgm:pt modelId="{91EA173C-1F56-4F79-954C-BCFCCC925967}" type="pres">
      <dgm:prSet presAssocID="{1066DC5F-3B5D-4A97-B239-CC17E0BD1488}" presName="background2" presStyleLbl="node2" presStyleIdx="0" presStyleCnt="2"/>
      <dgm:spPr/>
    </dgm:pt>
    <dgm:pt modelId="{F6E08993-C883-4C22-8C2E-E62F81D9A3A9}" type="pres">
      <dgm:prSet presAssocID="{1066DC5F-3B5D-4A97-B239-CC17E0BD1488}" presName="text2" presStyleLbl="fgAcc2" presStyleIdx="0" presStyleCnt="2">
        <dgm:presLayoutVars>
          <dgm:chPref val="3"/>
        </dgm:presLayoutVars>
      </dgm:prSet>
      <dgm:spPr/>
    </dgm:pt>
    <dgm:pt modelId="{8852DEFB-77DE-43CE-AFA0-161A9AAD9F93}" type="pres">
      <dgm:prSet presAssocID="{1066DC5F-3B5D-4A97-B239-CC17E0BD1488}" presName="hierChild3" presStyleCnt="0"/>
      <dgm:spPr/>
    </dgm:pt>
    <dgm:pt modelId="{666771AB-1B4E-48A2-A95D-A7752691E282}" type="pres">
      <dgm:prSet presAssocID="{94ABCBB0-80C5-48C4-BC9D-2A9CCDE05AB5}" presName="Name10" presStyleLbl="parChTrans1D2" presStyleIdx="1" presStyleCnt="2"/>
      <dgm:spPr/>
    </dgm:pt>
    <dgm:pt modelId="{1234A9DA-0258-4A8E-A320-C55E2E39BBAC}" type="pres">
      <dgm:prSet presAssocID="{D9EE85AA-DA6B-493B-AB3E-2A3EC4D9040C}" presName="hierRoot2" presStyleCnt="0"/>
      <dgm:spPr/>
    </dgm:pt>
    <dgm:pt modelId="{F2555658-E29F-4FEB-81C6-65329F0D74BC}" type="pres">
      <dgm:prSet presAssocID="{D9EE85AA-DA6B-493B-AB3E-2A3EC4D9040C}" presName="composite2" presStyleCnt="0"/>
      <dgm:spPr/>
    </dgm:pt>
    <dgm:pt modelId="{DABF239A-6D06-47FC-A9AD-0429B1672A64}" type="pres">
      <dgm:prSet presAssocID="{D9EE85AA-DA6B-493B-AB3E-2A3EC4D9040C}" presName="background2" presStyleLbl="node2" presStyleIdx="1" presStyleCnt="2"/>
      <dgm:spPr/>
    </dgm:pt>
    <dgm:pt modelId="{F75A3195-ACAE-44B5-8CB2-07E38C4438EF}" type="pres">
      <dgm:prSet presAssocID="{D9EE85AA-DA6B-493B-AB3E-2A3EC4D9040C}" presName="text2" presStyleLbl="fgAcc2" presStyleIdx="1" presStyleCnt="2">
        <dgm:presLayoutVars>
          <dgm:chPref val="3"/>
        </dgm:presLayoutVars>
      </dgm:prSet>
      <dgm:spPr/>
    </dgm:pt>
    <dgm:pt modelId="{127CAF32-2D31-4570-A36C-E9B1591CED18}" type="pres">
      <dgm:prSet presAssocID="{D9EE85AA-DA6B-493B-AB3E-2A3EC4D9040C}" presName="hierChild3" presStyleCnt="0"/>
      <dgm:spPr/>
    </dgm:pt>
  </dgm:ptLst>
  <dgm:cxnLst>
    <dgm:cxn modelId="{E0F48023-7004-47E5-A970-F5E34FC8550F}" type="presOf" srcId="{94ABCBB0-80C5-48C4-BC9D-2A9CCDE05AB5}" destId="{666771AB-1B4E-48A2-A95D-A7752691E282}" srcOrd="0" destOrd="0" presId="urn:microsoft.com/office/officeart/2005/8/layout/hierarchy1"/>
    <dgm:cxn modelId="{ABD34647-17DE-458C-BC62-FC3D9D9D3B6C}" type="presOf" srcId="{D9EE85AA-DA6B-493B-AB3E-2A3EC4D9040C}" destId="{F75A3195-ACAE-44B5-8CB2-07E38C4438EF}" srcOrd="0" destOrd="0" presId="urn:microsoft.com/office/officeart/2005/8/layout/hierarchy1"/>
    <dgm:cxn modelId="{E6D38D80-4F22-4D9D-A9E5-E0DB554AB46F}" type="presOf" srcId="{1066DC5F-3B5D-4A97-B239-CC17E0BD1488}" destId="{F6E08993-C883-4C22-8C2E-E62F81D9A3A9}" srcOrd="0" destOrd="0" presId="urn:microsoft.com/office/officeart/2005/8/layout/hierarchy1"/>
    <dgm:cxn modelId="{27F4E595-882D-43B1-957F-729911178273}" srcId="{FB2BF816-721E-45F0-A4ED-F410C19A104D}" destId="{1066DC5F-3B5D-4A97-B239-CC17E0BD1488}" srcOrd="0" destOrd="0" parTransId="{7F62CC49-EC43-43A3-B92E-7003707814F0}" sibTransId="{EEE8AE98-46EE-423A-B1AD-391339D392E5}"/>
    <dgm:cxn modelId="{E137D59D-0A08-43CA-8CB7-3618BF674525}" type="presOf" srcId="{7F62CC49-EC43-43A3-B92E-7003707814F0}" destId="{771F09A3-8450-4955-88E3-512FA6C4EAF2}" srcOrd="0" destOrd="0" presId="urn:microsoft.com/office/officeart/2005/8/layout/hierarchy1"/>
    <dgm:cxn modelId="{7A59FEAE-AA36-4432-AA00-24FBE8259C36}" type="presOf" srcId="{FB2BF816-721E-45F0-A4ED-F410C19A104D}" destId="{9A1467FB-B4CB-4D06-87D4-B0C19FE16C18}" srcOrd="0" destOrd="0" presId="urn:microsoft.com/office/officeart/2005/8/layout/hierarchy1"/>
    <dgm:cxn modelId="{043DDEB5-140E-4F76-91A2-FE2478951407}" srcId="{FB2BF816-721E-45F0-A4ED-F410C19A104D}" destId="{D9EE85AA-DA6B-493B-AB3E-2A3EC4D9040C}" srcOrd="1" destOrd="0" parTransId="{94ABCBB0-80C5-48C4-BC9D-2A9CCDE05AB5}" sibTransId="{3E016D90-112C-4A18-9A50-22CAEA2A8A9F}"/>
    <dgm:cxn modelId="{D736E2BB-5BF9-4126-8732-FF90331D9FCD}" srcId="{B7344F6B-BAE9-4D8B-8B88-9F9F343EB875}" destId="{FB2BF816-721E-45F0-A4ED-F410C19A104D}" srcOrd="0" destOrd="0" parTransId="{5B203CAA-4C2B-4D03-BBC8-55415AD6FC68}" sibTransId="{575E12DA-E137-47BC-81C3-7C84471B86D3}"/>
    <dgm:cxn modelId="{80E965D0-3DE0-45EB-8F19-DA1A1B564277}" type="presOf" srcId="{B7344F6B-BAE9-4D8B-8B88-9F9F343EB875}" destId="{6026A3CB-90A6-464B-A031-225A63CC9459}" srcOrd="0" destOrd="0" presId="urn:microsoft.com/office/officeart/2005/8/layout/hierarchy1"/>
    <dgm:cxn modelId="{062D993E-32C0-407F-8FB8-DCBB40C4109A}" type="presParOf" srcId="{6026A3CB-90A6-464B-A031-225A63CC9459}" destId="{192CA3AA-1B2F-4133-97A2-C9FC4F7D3161}" srcOrd="0" destOrd="0" presId="urn:microsoft.com/office/officeart/2005/8/layout/hierarchy1"/>
    <dgm:cxn modelId="{A0BB8ED4-22E8-432E-8693-8C3F5A9964BC}" type="presParOf" srcId="{192CA3AA-1B2F-4133-97A2-C9FC4F7D3161}" destId="{D536D887-0790-4F9B-A112-14F4A2536973}" srcOrd="0" destOrd="0" presId="urn:microsoft.com/office/officeart/2005/8/layout/hierarchy1"/>
    <dgm:cxn modelId="{A866C204-C530-4683-82A6-D6045D612376}" type="presParOf" srcId="{D536D887-0790-4F9B-A112-14F4A2536973}" destId="{5BAA6F7E-8F7E-4A8C-AC90-2EE2FF33979B}" srcOrd="0" destOrd="0" presId="urn:microsoft.com/office/officeart/2005/8/layout/hierarchy1"/>
    <dgm:cxn modelId="{BA94FE86-2EFD-42D7-BB5B-BBB31770AAC0}" type="presParOf" srcId="{D536D887-0790-4F9B-A112-14F4A2536973}" destId="{9A1467FB-B4CB-4D06-87D4-B0C19FE16C18}" srcOrd="1" destOrd="0" presId="urn:microsoft.com/office/officeart/2005/8/layout/hierarchy1"/>
    <dgm:cxn modelId="{23ABB825-4E34-492E-BA2C-70728E85D21A}" type="presParOf" srcId="{192CA3AA-1B2F-4133-97A2-C9FC4F7D3161}" destId="{3FB236BE-C98D-40ED-9CF2-4864A388BF90}" srcOrd="1" destOrd="0" presId="urn:microsoft.com/office/officeart/2005/8/layout/hierarchy1"/>
    <dgm:cxn modelId="{4A290357-C0DA-4C28-850B-83967E171372}" type="presParOf" srcId="{3FB236BE-C98D-40ED-9CF2-4864A388BF90}" destId="{771F09A3-8450-4955-88E3-512FA6C4EAF2}" srcOrd="0" destOrd="0" presId="urn:microsoft.com/office/officeart/2005/8/layout/hierarchy1"/>
    <dgm:cxn modelId="{244F19A4-6DF7-477D-A573-7F3FF015B92B}" type="presParOf" srcId="{3FB236BE-C98D-40ED-9CF2-4864A388BF90}" destId="{F361A2B6-F7C6-4AD2-9AE6-0A3ED960575C}" srcOrd="1" destOrd="0" presId="urn:microsoft.com/office/officeart/2005/8/layout/hierarchy1"/>
    <dgm:cxn modelId="{12659987-7BD9-4678-ACAC-B3445F57551E}" type="presParOf" srcId="{F361A2B6-F7C6-4AD2-9AE6-0A3ED960575C}" destId="{5B09040D-EEAD-4070-8181-EB85887F90E7}" srcOrd="0" destOrd="0" presId="urn:microsoft.com/office/officeart/2005/8/layout/hierarchy1"/>
    <dgm:cxn modelId="{BBDA0010-0769-43D5-8177-E59601C4BF2A}" type="presParOf" srcId="{5B09040D-EEAD-4070-8181-EB85887F90E7}" destId="{91EA173C-1F56-4F79-954C-BCFCCC925967}" srcOrd="0" destOrd="0" presId="urn:microsoft.com/office/officeart/2005/8/layout/hierarchy1"/>
    <dgm:cxn modelId="{DC4D7E82-EFC0-4C08-9C1F-318DC587C982}" type="presParOf" srcId="{5B09040D-EEAD-4070-8181-EB85887F90E7}" destId="{F6E08993-C883-4C22-8C2E-E62F81D9A3A9}" srcOrd="1" destOrd="0" presId="urn:microsoft.com/office/officeart/2005/8/layout/hierarchy1"/>
    <dgm:cxn modelId="{A87AC60F-C854-4587-B361-CC0CC02AC446}" type="presParOf" srcId="{F361A2B6-F7C6-4AD2-9AE6-0A3ED960575C}" destId="{8852DEFB-77DE-43CE-AFA0-161A9AAD9F93}" srcOrd="1" destOrd="0" presId="urn:microsoft.com/office/officeart/2005/8/layout/hierarchy1"/>
    <dgm:cxn modelId="{32AB0011-13B8-43EA-ACC8-9F4A5CE7E909}" type="presParOf" srcId="{3FB236BE-C98D-40ED-9CF2-4864A388BF90}" destId="{666771AB-1B4E-48A2-A95D-A7752691E282}" srcOrd="2" destOrd="0" presId="urn:microsoft.com/office/officeart/2005/8/layout/hierarchy1"/>
    <dgm:cxn modelId="{93F08CC6-5CA4-44DB-9543-DF6EC87F013B}" type="presParOf" srcId="{3FB236BE-C98D-40ED-9CF2-4864A388BF90}" destId="{1234A9DA-0258-4A8E-A320-C55E2E39BBAC}" srcOrd="3" destOrd="0" presId="urn:microsoft.com/office/officeart/2005/8/layout/hierarchy1"/>
    <dgm:cxn modelId="{6B780FD1-B30C-4DBE-A550-8AAA8F116A04}" type="presParOf" srcId="{1234A9DA-0258-4A8E-A320-C55E2E39BBAC}" destId="{F2555658-E29F-4FEB-81C6-65329F0D74BC}" srcOrd="0" destOrd="0" presId="urn:microsoft.com/office/officeart/2005/8/layout/hierarchy1"/>
    <dgm:cxn modelId="{C18A18D1-FC23-4657-B86A-103B35A2CA42}" type="presParOf" srcId="{F2555658-E29F-4FEB-81C6-65329F0D74BC}" destId="{DABF239A-6D06-47FC-A9AD-0429B1672A64}" srcOrd="0" destOrd="0" presId="urn:microsoft.com/office/officeart/2005/8/layout/hierarchy1"/>
    <dgm:cxn modelId="{BE8F72F4-46AF-40F0-AFA5-BEC61440D6D3}" type="presParOf" srcId="{F2555658-E29F-4FEB-81C6-65329F0D74BC}" destId="{F75A3195-ACAE-44B5-8CB2-07E38C4438EF}" srcOrd="1" destOrd="0" presId="urn:microsoft.com/office/officeart/2005/8/layout/hierarchy1"/>
    <dgm:cxn modelId="{E6F11EF8-3475-4D10-AC61-317FC67E0E33}" type="presParOf" srcId="{1234A9DA-0258-4A8E-A320-C55E2E39BBAC}" destId="{127CAF32-2D31-4570-A36C-E9B1591CED1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0682A-CD97-4F65-B9DD-4C0B6C50A36E}">
      <dsp:nvSpPr>
        <dsp:cNvPr id="0" name=""/>
        <dsp:cNvSpPr/>
      </dsp:nvSpPr>
      <dsp:spPr>
        <a:xfrm>
          <a:off x="4341" y="583841"/>
          <a:ext cx="2762521" cy="32500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2F749-DD72-473C-A701-92EB9023E2CC}">
      <dsp:nvSpPr>
        <dsp:cNvPr id="0" name=""/>
        <dsp:cNvSpPr/>
      </dsp:nvSpPr>
      <dsp:spPr>
        <a:xfrm>
          <a:off x="4341" y="705898"/>
          <a:ext cx="202944" cy="2029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EC55D-48CA-4055-9F2A-C476A4D19D92}">
      <dsp:nvSpPr>
        <dsp:cNvPr id="0" name=""/>
        <dsp:cNvSpPr/>
      </dsp:nvSpPr>
      <dsp:spPr>
        <a:xfrm>
          <a:off x="4341" y="0"/>
          <a:ext cx="2762521" cy="58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/>
              </a:solidFill>
              <a:latin typeface="Raleway" pitchFamily="34" charset="0"/>
              <a:ea typeface="Raleway" pitchFamily="34" charset="-122"/>
              <a:cs typeface="Raleway" pitchFamily="34" charset="-120"/>
            </a:rPr>
            <a:t>Physical Characteristics</a:t>
          </a:r>
          <a:endParaRPr lang="en-IN" sz="2000" b="1" kern="1200" dirty="0">
            <a:solidFill>
              <a:schemeClr val="accent2"/>
            </a:solidFill>
          </a:endParaRPr>
        </a:p>
      </dsp:txBody>
      <dsp:txXfrm>
        <a:off x="4341" y="0"/>
        <a:ext cx="2762521" cy="583841"/>
      </dsp:txXfrm>
    </dsp:sp>
    <dsp:sp modelId="{F8B0206F-F003-4410-A145-1B0DC4B0F530}">
      <dsp:nvSpPr>
        <dsp:cNvPr id="0" name=""/>
        <dsp:cNvSpPr/>
      </dsp:nvSpPr>
      <dsp:spPr>
        <a:xfrm>
          <a:off x="4341" y="1178957"/>
          <a:ext cx="202939" cy="2029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4CD50-72F2-4B29-A248-C69BB423987B}">
      <dsp:nvSpPr>
        <dsp:cNvPr id="0" name=""/>
        <dsp:cNvSpPr/>
      </dsp:nvSpPr>
      <dsp:spPr>
        <a:xfrm>
          <a:off x="201392" y="2001606"/>
          <a:ext cx="2569144" cy="473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Roboto" pitchFamily="34" charset="0"/>
              <a:ea typeface="Roboto" pitchFamily="34" charset="-122"/>
              <a:cs typeface="Roboto" pitchFamily="34" charset="-120"/>
            </a:rPr>
            <a:t>Observable properties like temperature, color, taste, odor, and turbidity that influence water's aesthetic and functional quality.</a:t>
          </a:r>
          <a:endParaRPr lang="en-IN" sz="2000" kern="1200" dirty="0"/>
        </a:p>
      </dsp:txBody>
      <dsp:txXfrm>
        <a:off x="201392" y="2001606"/>
        <a:ext cx="2569144" cy="473053"/>
      </dsp:txXfrm>
    </dsp:sp>
    <dsp:sp modelId="{88990FA1-C5D1-403E-B9CD-04E30373FFEF}">
      <dsp:nvSpPr>
        <dsp:cNvPr id="0" name=""/>
        <dsp:cNvSpPr/>
      </dsp:nvSpPr>
      <dsp:spPr>
        <a:xfrm>
          <a:off x="2904989" y="583841"/>
          <a:ext cx="2762521" cy="32500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F0F931-09CD-47C5-88B6-8A71ECBA2716}">
      <dsp:nvSpPr>
        <dsp:cNvPr id="0" name=""/>
        <dsp:cNvSpPr/>
      </dsp:nvSpPr>
      <dsp:spPr>
        <a:xfrm>
          <a:off x="2904989" y="705898"/>
          <a:ext cx="202944" cy="2029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834E7-18BB-4FBF-AEA7-271C49CBA471}">
      <dsp:nvSpPr>
        <dsp:cNvPr id="0" name=""/>
        <dsp:cNvSpPr/>
      </dsp:nvSpPr>
      <dsp:spPr>
        <a:xfrm>
          <a:off x="2904989" y="0"/>
          <a:ext cx="2762521" cy="58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6"/>
              </a:solidFill>
              <a:latin typeface="Raleway" pitchFamily="34" charset="0"/>
              <a:ea typeface="Raleway" pitchFamily="34" charset="-122"/>
              <a:cs typeface="Raleway" pitchFamily="34" charset="-120"/>
            </a:rPr>
            <a:t>Chemical Characteristics</a:t>
          </a:r>
          <a:endParaRPr lang="en-IN" sz="2000" b="1" kern="1200" dirty="0">
            <a:solidFill>
              <a:schemeClr val="accent6"/>
            </a:solidFill>
          </a:endParaRPr>
        </a:p>
      </dsp:txBody>
      <dsp:txXfrm>
        <a:off x="2904989" y="0"/>
        <a:ext cx="2762521" cy="583841"/>
      </dsp:txXfrm>
    </dsp:sp>
    <dsp:sp modelId="{BCF33C67-61D5-466B-9FE5-26F30B6C057E}">
      <dsp:nvSpPr>
        <dsp:cNvPr id="0" name=""/>
        <dsp:cNvSpPr/>
      </dsp:nvSpPr>
      <dsp:spPr>
        <a:xfrm>
          <a:off x="2904989" y="1178957"/>
          <a:ext cx="202939" cy="2029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9945BC-B857-49AF-A003-44D267E5A7A5}">
      <dsp:nvSpPr>
        <dsp:cNvPr id="0" name=""/>
        <dsp:cNvSpPr/>
      </dsp:nvSpPr>
      <dsp:spPr>
        <a:xfrm>
          <a:off x="3078660" y="2174095"/>
          <a:ext cx="2569144" cy="473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Roboto" pitchFamily="34" charset="0"/>
              <a:ea typeface="Roboto" pitchFamily="34" charset="-122"/>
              <a:cs typeface="Roboto" pitchFamily="34" charset="-120"/>
            </a:rPr>
            <a:t>Compositional aspects such as pH, presence of inorganic ions, hardness, alkalinity, and salinity, which determine water's reactivity and corrosivity.</a:t>
          </a:r>
          <a:endParaRPr lang="en-IN" sz="2000" kern="1200" dirty="0"/>
        </a:p>
      </dsp:txBody>
      <dsp:txXfrm>
        <a:off x="3078660" y="2174095"/>
        <a:ext cx="2569144" cy="473053"/>
      </dsp:txXfrm>
    </dsp:sp>
    <dsp:sp modelId="{D650E138-F3DE-44F6-919F-F343B7666577}">
      <dsp:nvSpPr>
        <dsp:cNvPr id="0" name=""/>
        <dsp:cNvSpPr/>
      </dsp:nvSpPr>
      <dsp:spPr>
        <a:xfrm>
          <a:off x="5805636" y="583841"/>
          <a:ext cx="2762521" cy="32500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D35DB-A260-4040-A89C-31A6A74AABC6}">
      <dsp:nvSpPr>
        <dsp:cNvPr id="0" name=""/>
        <dsp:cNvSpPr/>
      </dsp:nvSpPr>
      <dsp:spPr>
        <a:xfrm>
          <a:off x="5805636" y="705898"/>
          <a:ext cx="202944" cy="2029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3AF26-FB66-42A0-8881-995BF8D8CEFD}">
      <dsp:nvSpPr>
        <dsp:cNvPr id="0" name=""/>
        <dsp:cNvSpPr/>
      </dsp:nvSpPr>
      <dsp:spPr>
        <a:xfrm>
          <a:off x="5805636" y="0"/>
          <a:ext cx="2762521" cy="583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4"/>
              </a:solidFill>
              <a:latin typeface="Raleway" pitchFamily="34" charset="0"/>
              <a:ea typeface="Raleway" pitchFamily="34" charset="-122"/>
              <a:cs typeface="Raleway" pitchFamily="34" charset="-120"/>
            </a:rPr>
            <a:t>Biological Characteristics</a:t>
          </a:r>
          <a:endParaRPr lang="en-IN" sz="2000" b="1" kern="1200" dirty="0">
            <a:solidFill>
              <a:schemeClr val="accent4"/>
            </a:solidFill>
          </a:endParaRPr>
        </a:p>
      </dsp:txBody>
      <dsp:txXfrm>
        <a:off x="5805636" y="0"/>
        <a:ext cx="2762521" cy="583841"/>
      </dsp:txXfrm>
    </dsp:sp>
    <dsp:sp modelId="{81B8E62B-29A2-44D2-AC93-3C531D37E273}">
      <dsp:nvSpPr>
        <dsp:cNvPr id="0" name=""/>
        <dsp:cNvSpPr/>
      </dsp:nvSpPr>
      <dsp:spPr>
        <a:xfrm>
          <a:off x="5805636" y="1178957"/>
          <a:ext cx="202939" cy="20293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DE7D0-637C-4761-AC00-19B0F900A4ED}">
      <dsp:nvSpPr>
        <dsp:cNvPr id="0" name=""/>
        <dsp:cNvSpPr/>
      </dsp:nvSpPr>
      <dsp:spPr>
        <a:xfrm>
          <a:off x="5999013" y="2033286"/>
          <a:ext cx="2569144" cy="473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Roboto" pitchFamily="34" charset="0"/>
              <a:ea typeface="Roboto" pitchFamily="34" charset="-122"/>
              <a:cs typeface="Roboto" pitchFamily="34" charset="-120"/>
            </a:rPr>
            <a:t>Presence and types of microorganisms (bacteria, viruses, algae) that affect water potability and can cause biofouling in industrial systems.</a:t>
          </a:r>
          <a:endParaRPr lang="en-IN" sz="2000" kern="1200" dirty="0"/>
        </a:p>
      </dsp:txBody>
      <dsp:txXfrm>
        <a:off x="5999013" y="2033286"/>
        <a:ext cx="2569144" cy="4730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771AB-1B4E-48A2-A95D-A7752691E282}">
      <dsp:nvSpPr>
        <dsp:cNvPr id="0" name=""/>
        <dsp:cNvSpPr/>
      </dsp:nvSpPr>
      <dsp:spPr>
        <a:xfrm>
          <a:off x="2259947" y="1439278"/>
          <a:ext cx="1242652" cy="5913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014"/>
              </a:lnTo>
              <a:lnTo>
                <a:pt x="1242652" y="403014"/>
              </a:lnTo>
              <a:lnTo>
                <a:pt x="1242652" y="59138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1F09A3-8450-4955-88E3-512FA6C4EAF2}">
      <dsp:nvSpPr>
        <dsp:cNvPr id="0" name=""/>
        <dsp:cNvSpPr/>
      </dsp:nvSpPr>
      <dsp:spPr>
        <a:xfrm>
          <a:off x="1017295" y="1439278"/>
          <a:ext cx="1242652" cy="591389"/>
        </a:xfrm>
        <a:custGeom>
          <a:avLst/>
          <a:gdLst/>
          <a:ahLst/>
          <a:cxnLst/>
          <a:rect l="0" t="0" r="0" b="0"/>
          <a:pathLst>
            <a:path>
              <a:moveTo>
                <a:pt x="1242652" y="0"/>
              </a:moveTo>
              <a:lnTo>
                <a:pt x="1242652" y="403014"/>
              </a:lnTo>
              <a:lnTo>
                <a:pt x="0" y="403014"/>
              </a:lnTo>
              <a:lnTo>
                <a:pt x="0" y="59138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AA6F7E-8F7E-4A8C-AC90-2EE2FF33979B}">
      <dsp:nvSpPr>
        <dsp:cNvPr id="0" name=""/>
        <dsp:cNvSpPr/>
      </dsp:nvSpPr>
      <dsp:spPr>
        <a:xfrm>
          <a:off x="1243231" y="148049"/>
          <a:ext cx="2033431" cy="12912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467FB-B4CB-4D06-87D4-B0C19FE16C18}">
      <dsp:nvSpPr>
        <dsp:cNvPr id="0" name=""/>
        <dsp:cNvSpPr/>
      </dsp:nvSpPr>
      <dsp:spPr>
        <a:xfrm>
          <a:off x="1469168" y="362689"/>
          <a:ext cx="2033431" cy="12912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Hardness of Water</a:t>
          </a:r>
          <a:endParaRPr lang="en-IN" sz="2000" b="1" kern="1200" dirty="0"/>
        </a:p>
      </dsp:txBody>
      <dsp:txXfrm>
        <a:off x="1506987" y="400508"/>
        <a:ext cx="1957793" cy="1215590"/>
      </dsp:txXfrm>
    </dsp:sp>
    <dsp:sp modelId="{91EA173C-1F56-4F79-954C-BCFCCC925967}">
      <dsp:nvSpPr>
        <dsp:cNvPr id="0" name=""/>
        <dsp:cNvSpPr/>
      </dsp:nvSpPr>
      <dsp:spPr>
        <a:xfrm>
          <a:off x="579" y="2030668"/>
          <a:ext cx="2033431" cy="129122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E08993-C883-4C22-8C2E-E62F81D9A3A9}">
      <dsp:nvSpPr>
        <dsp:cNvPr id="0" name=""/>
        <dsp:cNvSpPr/>
      </dsp:nvSpPr>
      <dsp:spPr>
        <a:xfrm>
          <a:off x="226516" y="2245308"/>
          <a:ext cx="2033431" cy="12912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Temporary Hardness (Carbonate)</a:t>
          </a:r>
          <a:endParaRPr lang="en-IN" sz="2000" b="1" kern="1200" dirty="0"/>
        </a:p>
      </dsp:txBody>
      <dsp:txXfrm>
        <a:off x="264335" y="2283127"/>
        <a:ext cx="1957793" cy="1215590"/>
      </dsp:txXfrm>
    </dsp:sp>
    <dsp:sp modelId="{DABF239A-6D06-47FC-A9AD-0429B1672A64}">
      <dsp:nvSpPr>
        <dsp:cNvPr id="0" name=""/>
        <dsp:cNvSpPr/>
      </dsp:nvSpPr>
      <dsp:spPr>
        <a:xfrm>
          <a:off x="2485884" y="2030668"/>
          <a:ext cx="2033431" cy="129122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5A3195-ACAE-44B5-8CB2-07E38C4438EF}">
      <dsp:nvSpPr>
        <dsp:cNvPr id="0" name=""/>
        <dsp:cNvSpPr/>
      </dsp:nvSpPr>
      <dsp:spPr>
        <a:xfrm>
          <a:off x="2711821" y="2245308"/>
          <a:ext cx="2033431" cy="12912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Permanent Hardness (Non-Carbonate)</a:t>
          </a:r>
          <a:endParaRPr lang="en-IN" sz="2000" b="1" kern="1200" dirty="0"/>
        </a:p>
      </dsp:txBody>
      <dsp:txXfrm>
        <a:off x="2749640" y="2283127"/>
        <a:ext cx="1957793" cy="1215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7F7F2-8066-4F2A-AE3A-77AF146FA82B}" type="datetimeFigureOut">
              <a:t>8/22/2025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620E8-3042-4665-AFE6-0D4EFF481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2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ED315-77F4-C669-298E-231DEF66A9C9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EFDD7-7865-2C8A-1FE8-FCC0B66536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BCB0-8A8F-7DA1-1B86-3776AA10B2A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ED083-19F2-6E8B-9B04-FF6C4C4DF034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7BB24-8BAB-5DEA-9FC1-0C6A43D5B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729C2-F173-0381-4353-1218FA78BDC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6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4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0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4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427CE-9252-4017-A2F1-7A5BA7469A5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7DFB79-A579-B480-4552-AC3CA7847CE2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CCACE8-7A58-B659-67BE-FE0736BC68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0BDB1-4E66-6E67-EC10-D694C3B17A0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95144-A583-0E01-9071-3FC5145F3933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909CB5-39DD-3CBA-AE03-2431CF8C126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79DD2-F864-963B-624A-5F2175D6238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8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9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Pratibha Sharma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Unit1: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technology &amp;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622" y="409573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-17499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E6311E-1265-6C5A-612E-733B0720E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206636"/>
              </p:ext>
            </p:extLst>
          </p:nvPr>
        </p:nvGraphicFramePr>
        <p:xfrm>
          <a:off x="457200" y="1407332"/>
          <a:ext cx="7886700" cy="485943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465349">
                  <a:extLst>
                    <a:ext uri="{9D8B030D-6E8A-4147-A177-3AD203B41FA5}">
                      <a16:colId xmlns:a16="http://schemas.microsoft.com/office/drawing/2014/main" val="100830567"/>
                    </a:ext>
                  </a:extLst>
                </a:gridCol>
                <a:gridCol w="4410243">
                  <a:extLst>
                    <a:ext uri="{9D8B030D-6E8A-4147-A177-3AD203B41FA5}">
                      <a16:colId xmlns:a16="http://schemas.microsoft.com/office/drawing/2014/main" val="3169249643"/>
                    </a:ext>
                  </a:extLst>
                </a:gridCol>
                <a:gridCol w="2011108">
                  <a:extLst>
                    <a:ext uri="{9D8B030D-6E8A-4147-A177-3AD203B41FA5}">
                      <a16:colId xmlns:a16="http://schemas.microsoft.com/office/drawing/2014/main" val="3901358825"/>
                    </a:ext>
                  </a:extLst>
                </a:gridCol>
              </a:tblGrid>
              <a:tr h="348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Unit Number: 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Title:   Water technology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No. of hours:  6 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extLst>
                  <a:ext uri="{0D108BD9-81ED-4DB2-BD59-A6C34878D82A}">
                    <a16:rowId xmlns:a16="http://schemas.microsoft.com/office/drawing/2014/main" val="3816674816"/>
                  </a:ext>
                </a:extLst>
              </a:tr>
              <a:tr h="660393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Introduction, water analysis: Hardness-determination by EDTA method, Treatment of boiler feed water: Internal treatment (Phosphate, Colloidal and Calgon conditioning). External treatments: Ion exchange and lime-soda process, Zeolite processes. Boiler scales formation and ill effects, methods of prevention of scales. Numerical problems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82252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2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Chemical Fuels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9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86"/>
                  </a:ext>
                </a:extLst>
              </a:tr>
              <a:tr h="990590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Fuels: Introduction, classification, calorific value (HCV &amp; LCV), Determination of calorific value of fuel using Bomb calorimeter.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Solid fuel: Coal- its analysis by proximate and ultimate analysis, Numerical problems.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Liquid fuels: Refining of petroleum, Petroleum cracking, Knocking in IC engine, its ill effects and prevention of knocking. Anti-knocking agent: Leaded and unleaded petrol.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Gaseous fuels: LPG, CNG and their applications.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38703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3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Battery Technology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10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4328"/>
                  </a:ext>
                </a:extLst>
              </a:tr>
              <a:tr h="825492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 - Galvanic cell, electrode potential, EMF of the cell and cell representation. Batteries and their importance, Classification of batteries- primary, secondary and reserve batteries with examples. Battery characteristics - voltage, capacity, energy density, power density, energy efficiency, cycle life and shelf life.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Construction, working and applications of: Ni-Cd, and Lithium-ion battery. Working principle of an electric vehicle.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73137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4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Polymer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5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7036"/>
                  </a:ext>
                </a:extLst>
              </a:tr>
              <a:tr h="88293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Basic concepts of polymer, Types of polymers, Thermoplastic &amp; thermosetting plastics, Preparation and application of some industrially important polymers (Natural rubber, Buna S, Buna-N, Neoprene, Isoprene, Nylon-6, nylon-6,6 , </a:t>
                      </a:r>
                      <a:r>
                        <a:rPr lang="en-US" sz="1200" dirty="0" err="1">
                          <a:effectLst/>
                        </a:rPr>
                        <a:t>Decron</a:t>
                      </a:r>
                      <a:r>
                        <a:rPr lang="en-US" sz="1200" dirty="0">
                          <a:effectLst/>
                        </a:rPr>
                        <a:t> and Terylene). Conducting and biodegradable polymers.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628649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59196"/>
              </p:ext>
            </p:extLst>
          </p:nvPr>
        </p:nvGraphicFramePr>
        <p:xfrm>
          <a:off x="4133778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-8750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999C3-D8EF-9A71-FC49-A92B2BF6D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0471" y="2086928"/>
            <a:ext cx="4688333" cy="2674620"/>
          </a:xfrm>
        </p:spPr>
        <p:txBody>
          <a:bodyPr anchor="b">
            <a:normAutofit/>
          </a:bodyPr>
          <a:lstStyle/>
          <a:p>
            <a:pPr algn="l"/>
            <a:br>
              <a:rPr lang="en-US" sz="4400" b="1" dirty="0">
                <a:solidFill>
                  <a:schemeClr val="accent5"/>
                </a:solidFill>
                <a:latin typeface="Times New Roman"/>
                <a:cs typeface="Times New Roman"/>
              </a:rPr>
            </a:br>
            <a:r>
              <a:rPr lang="en-US" sz="40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  <a:endParaRPr lang="en-IN" sz="4050" dirty="0"/>
          </a:p>
        </p:txBody>
      </p:sp>
      <p:pic>
        <p:nvPicPr>
          <p:cNvPr id="14" name="Picture 13" descr="Waterdrops on a liquid surface">
            <a:extLst>
              <a:ext uri="{FF2B5EF4-FFF2-40B4-BE49-F238E27FC236}">
                <a16:creationId xmlns:a16="http://schemas.microsoft.com/office/drawing/2014/main" id="{AAF354FD-E1F3-9D02-4CF2-8CA6D9485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62" r="23107" b="-1"/>
          <a:stretch/>
        </p:blipFill>
        <p:spPr>
          <a:xfrm>
            <a:off x="1" y="285751"/>
            <a:ext cx="3493008" cy="6276974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23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B7E1E9C-F82F-8470-62C4-87CA738B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34" y="861821"/>
            <a:ext cx="1711046" cy="719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13B30A-3576-FCBF-3170-78045AB53FA0}"/>
              </a:ext>
            </a:extLst>
          </p:cNvPr>
          <p:cNvCxnSpPr/>
          <p:nvPr/>
        </p:nvCxnSpPr>
        <p:spPr>
          <a:xfrm>
            <a:off x="-1" y="1653336"/>
            <a:ext cx="912114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FE91A7-EF64-E9A6-68F4-F6C5EABBEA4A}"/>
              </a:ext>
            </a:extLst>
          </p:cNvPr>
          <p:cNvSpPr txBox="1"/>
          <p:nvPr/>
        </p:nvSpPr>
        <p:spPr>
          <a:xfrm>
            <a:off x="629934" y="1725424"/>
            <a:ext cx="6534726" cy="524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Water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Water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Hardness of water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Hardness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Imperative of Measuring Water Hardness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 of Hardness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Quiz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Take away of session 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3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AD1748B-2C56-C960-6A86-9794AFBAD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Introduction </a:t>
            </a:r>
            <a:r>
              <a:rPr lang="en-IN" sz="40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of Water in Industry</a:t>
            </a:r>
            <a:endParaRPr lang="en-IN" sz="4000" dirty="0">
              <a:solidFill>
                <a:schemeClr val="accent5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DC6A4-0813-72BB-5595-979AA975F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454835" cy="4351338"/>
          </a:xfrm>
        </p:spPr>
        <p:txBody>
          <a:bodyPr/>
          <a:lstStyle/>
          <a:p>
            <a:r>
              <a:rPr lang="en-GB" dirty="0">
                <a:cs typeface="Times New Roman" panose="02020603050405020304" pitchFamily="18" charset="0"/>
              </a:rPr>
              <a:t>Used as coolant, solvent, reagent, and cleaner</a:t>
            </a:r>
          </a:p>
          <a:p>
            <a:r>
              <a:rPr lang="en-GB" dirty="0">
                <a:cs typeface="Times New Roman" panose="02020603050405020304" pitchFamily="18" charset="0"/>
              </a:rPr>
              <a:t>Essential for steam generation and processing</a:t>
            </a:r>
          </a:p>
          <a:p>
            <a:r>
              <a:rPr lang="en-GB" dirty="0">
                <a:cs typeface="Times New Roman" panose="02020603050405020304" pitchFamily="18" charset="0"/>
              </a:rPr>
              <a:t>Quality of water affects equipment life</a:t>
            </a:r>
          </a:p>
          <a:p>
            <a:endParaRPr lang="en-IN" dirty="0">
              <a:cs typeface="Times New Roman" panose="02020603050405020304" pitchFamily="18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80E2E5A9-680B-7164-C0E2-EB124C71B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637" y="1690689"/>
            <a:ext cx="4462635" cy="44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35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D40C7-DE8A-D8D2-F8FD-8B30ECB6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Sources of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A6C1C-83F6-CCCF-4887-A88C85397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4351338"/>
          </a:xfrm>
        </p:spPr>
        <p:txBody>
          <a:bodyPr/>
          <a:lstStyle/>
          <a:p>
            <a:r>
              <a:rPr lang="en-GB" dirty="0">
                <a:cs typeface="Times New Roman" panose="02020603050405020304" pitchFamily="18" charset="0"/>
              </a:rPr>
              <a:t>Natural sources: rivers, lakes, groundwater</a:t>
            </a:r>
          </a:p>
          <a:p>
            <a:r>
              <a:rPr lang="en-GB" dirty="0">
                <a:cs typeface="Times New Roman" panose="02020603050405020304" pitchFamily="18" charset="0"/>
              </a:rPr>
              <a:t>Contamination from organic and inorganic matter</a:t>
            </a:r>
          </a:p>
          <a:p>
            <a:r>
              <a:rPr lang="en-GB" dirty="0">
                <a:cs typeface="Times New Roman" panose="02020603050405020304" pitchFamily="18" charset="0"/>
              </a:rPr>
              <a:t>Need for analysis and treatment</a:t>
            </a:r>
          </a:p>
          <a:p>
            <a:endParaRPr lang="en-IN" dirty="0"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B434105-CFB7-8762-9935-363D1C781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92" y="1690689"/>
            <a:ext cx="39433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F01E-965B-D124-1A69-FA4AC3C8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Water Characteristics</a:t>
            </a:r>
            <a:endParaRPr lang="en-IN" dirty="0">
              <a:solidFill>
                <a:schemeClr val="accent5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61A5E7-DC31-05AD-1F03-542D9E3EC534}"/>
              </a:ext>
            </a:extLst>
          </p:cNvPr>
          <p:cNvGrpSpPr/>
          <p:nvPr/>
        </p:nvGrpSpPr>
        <p:grpSpPr>
          <a:xfrm>
            <a:off x="2656259" y="2115604"/>
            <a:ext cx="7886700" cy="2439591"/>
            <a:chOff x="793790" y="4148138"/>
            <a:chExt cx="13042821" cy="2439591"/>
          </a:xfrm>
        </p:grpSpPr>
        <p:pic>
          <p:nvPicPr>
            <p:cNvPr id="6" name="Image 0" descr="preencoded.png">
              <a:extLst>
                <a:ext uri="{FF2B5EF4-FFF2-40B4-BE49-F238E27FC236}">
                  <a16:creationId xmlns:a16="http://schemas.microsoft.com/office/drawing/2014/main" id="{DF037AF3-E2E3-9F59-312B-528CC6549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790" y="4148138"/>
              <a:ext cx="566976" cy="566976"/>
            </a:xfrm>
            <a:prstGeom prst="rect">
              <a:avLst/>
            </a:prstGeom>
          </p:spPr>
        </p:pic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69EFC1C6-6B79-36E1-36DD-8AC664C00B7E}"/>
                </a:ext>
              </a:extLst>
            </p:cNvPr>
            <p:cNvSpPr/>
            <p:nvPr/>
          </p:nvSpPr>
          <p:spPr>
            <a:xfrm>
              <a:off x="1644253" y="4282797"/>
              <a:ext cx="3066098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endParaRPr lang="en-US" sz="2200" dirty="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2A04B5A7-95F8-724C-360A-2FB53B85B8E0}"/>
                </a:ext>
              </a:extLst>
            </p:cNvPr>
            <p:cNvSpPr/>
            <p:nvPr/>
          </p:nvSpPr>
          <p:spPr>
            <a:xfrm>
              <a:off x="1644253" y="4773216"/>
              <a:ext cx="3308152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sz="1750" dirty="0"/>
            </a:p>
          </p:txBody>
        </p:sp>
        <p:pic>
          <p:nvPicPr>
            <p:cNvPr id="9" name="Image 1" descr="preencoded.png">
              <a:extLst>
                <a:ext uri="{FF2B5EF4-FFF2-40B4-BE49-F238E27FC236}">
                  <a16:creationId xmlns:a16="http://schemas.microsoft.com/office/drawing/2014/main" id="{200BA624-E909-9190-3450-7DADAA3B5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5893" y="4148138"/>
              <a:ext cx="566976" cy="566976"/>
            </a:xfrm>
            <a:prstGeom prst="rect">
              <a:avLst/>
            </a:prstGeom>
          </p:spPr>
        </p:pic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D9F02713-571E-AEB6-12FF-04C9B4F04595}"/>
                </a:ext>
              </a:extLst>
            </p:cNvPr>
            <p:cNvSpPr/>
            <p:nvPr/>
          </p:nvSpPr>
          <p:spPr>
            <a:xfrm>
              <a:off x="6086356" y="4282797"/>
              <a:ext cx="3227903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endParaRPr lang="en-US" sz="2200" dirty="0"/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37F56228-152F-3702-0CCE-F2FFE7E02B19}"/>
                </a:ext>
              </a:extLst>
            </p:cNvPr>
            <p:cNvSpPr/>
            <p:nvPr/>
          </p:nvSpPr>
          <p:spPr>
            <a:xfrm>
              <a:off x="6086356" y="4773216"/>
              <a:ext cx="3308152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sz="1750" dirty="0"/>
            </a:p>
          </p:txBody>
        </p:sp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3B843644-8593-4DC4-051A-4B588351A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77995" y="4148138"/>
              <a:ext cx="566976" cy="566976"/>
            </a:xfrm>
            <a:prstGeom prst="rect">
              <a:avLst/>
            </a:prstGeom>
          </p:spPr>
        </p:pic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A9D4BA41-9CE4-7F7F-5457-9608DE78F4F3}"/>
                </a:ext>
              </a:extLst>
            </p:cNvPr>
            <p:cNvSpPr/>
            <p:nvPr/>
          </p:nvSpPr>
          <p:spPr>
            <a:xfrm>
              <a:off x="10528459" y="4282797"/>
              <a:ext cx="3281482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endParaRPr lang="en-US" sz="2200" dirty="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34961AE8-DFEB-5FD0-3007-C710F8B9882A}"/>
                </a:ext>
              </a:extLst>
            </p:cNvPr>
            <p:cNvSpPr/>
            <p:nvPr/>
          </p:nvSpPr>
          <p:spPr>
            <a:xfrm>
              <a:off x="10528459" y="4773216"/>
              <a:ext cx="3308152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endParaRPr lang="en-US" sz="1750" dirty="0"/>
            </a:p>
          </p:txBody>
        </p:sp>
      </p:grp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3088ADC3-1D2A-5F0A-C503-F582663719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6982063"/>
              </p:ext>
            </p:extLst>
          </p:nvPr>
        </p:nvGraphicFramePr>
        <p:xfrm>
          <a:off x="276225" y="2049967"/>
          <a:ext cx="85725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496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1786025"/>
            <a:ext cx="815176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688"/>
              </a:lnSpc>
            </a:pPr>
            <a:r>
              <a:rPr lang="en-US" dirty="0">
                <a:solidFill>
                  <a:srgbClr val="002060"/>
                </a:solidFill>
                <a:ea typeface="Roboto" pitchFamily="34" charset="-122"/>
                <a:cs typeface="Roboto" pitchFamily="34" charset="-120"/>
              </a:rPr>
              <a:t>Physical characteristics are primarily assessed through sensory observation and instrumental measurements, providing immediate indicators of water quality.</a:t>
            </a:r>
            <a:endParaRPr lang="en-US" dirty="0">
              <a:solidFill>
                <a:srgbClr val="00206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97F3D5B-98C6-499F-649A-80E263EE1152}"/>
              </a:ext>
            </a:extLst>
          </p:cNvPr>
          <p:cNvGrpSpPr/>
          <p:nvPr/>
        </p:nvGrpSpPr>
        <p:grpSpPr>
          <a:xfrm>
            <a:off x="477069" y="2442344"/>
            <a:ext cx="4027587" cy="1944000"/>
            <a:chOff x="477069" y="2537594"/>
            <a:chExt cx="4027587" cy="1460451"/>
          </a:xfrm>
        </p:grpSpPr>
        <p:sp>
          <p:nvSpPr>
            <p:cNvPr id="4" name="Shape 2"/>
            <p:cNvSpPr/>
            <p:nvPr/>
          </p:nvSpPr>
          <p:spPr>
            <a:xfrm>
              <a:off x="496119" y="2537594"/>
              <a:ext cx="4008537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5" name="Shape 3"/>
            <p:cNvSpPr/>
            <p:nvPr/>
          </p:nvSpPr>
          <p:spPr>
            <a:xfrm>
              <a:off x="477069" y="2537594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6" name="Text 4"/>
            <p:cNvSpPr/>
            <p:nvPr/>
          </p:nvSpPr>
          <p:spPr>
            <a:xfrm>
              <a:off x="706934" y="2691259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4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Temperature</a:t>
              </a:r>
              <a:endParaRPr lang="en-US" sz="2400" b="1" dirty="0">
                <a:solidFill>
                  <a:schemeClr val="accent4"/>
                </a:solidFill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06934" y="2931666"/>
              <a:ext cx="3759622" cy="862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688"/>
                </a:lnSpc>
              </a:pPr>
              <a:r>
                <a:rPr lang="en-US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Influences water's density, viscosity, surface tension, conductivity, salinity, and the solubility of dissolved gases. Higher temperatures typically reduce gas solubility and increase reaction rates.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5AC55E-404E-1D4F-7CAC-A78924B50AA8}"/>
              </a:ext>
            </a:extLst>
          </p:cNvPr>
          <p:cNvGrpSpPr/>
          <p:nvPr/>
        </p:nvGrpSpPr>
        <p:grpSpPr>
          <a:xfrm>
            <a:off x="4620221" y="2432819"/>
            <a:ext cx="4027661" cy="1944000"/>
            <a:chOff x="4620221" y="2537594"/>
            <a:chExt cx="4027661" cy="1460451"/>
          </a:xfrm>
        </p:grpSpPr>
        <p:sp>
          <p:nvSpPr>
            <p:cNvPr id="8" name="Shape 6"/>
            <p:cNvSpPr/>
            <p:nvPr/>
          </p:nvSpPr>
          <p:spPr>
            <a:xfrm>
              <a:off x="4639271" y="2537594"/>
              <a:ext cx="4008611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9" name="Shape 7"/>
            <p:cNvSpPr/>
            <p:nvPr/>
          </p:nvSpPr>
          <p:spPr>
            <a:xfrm>
              <a:off x="4620221" y="2537594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0" name="Text 8"/>
            <p:cNvSpPr/>
            <p:nvPr/>
          </p:nvSpPr>
          <p:spPr>
            <a:xfrm>
              <a:off x="4850086" y="2691259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4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Color</a:t>
              </a:r>
              <a:endParaRPr lang="en-US" sz="2400" b="1" dirty="0">
                <a:solidFill>
                  <a:schemeClr val="accent4"/>
                </a:solidFill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4850086" y="2938822"/>
              <a:ext cx="3644131" cy="646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688"/>
                </a:lnSpc>
              </a:pPr>
              <a:r>
                <a:rPr lang="en-US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Indicates the presence of organic substances like algae, humic compounds, or industrial effluents. True color is measured after removing turbidity.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C9A9DA-1076-6AE5-C61F-823CC634D88F}"/>
              </a:ext>
            </a:extLst>
          </p:cNvPr>
          <p:cNvGrpSpPr/>
          <p:nvPr/>
        </p:nvGrpSpPr>
        <p:grpSpPr>
          <a:xfrm>
            <a:off x="496193" y="4553024"/>
            <a:ext cx="4027587" cy="1944000"/>
            <a:chOff x="477069" y="4132660"/>
            <a:chExt cx="4027587" cy="1460451"/>
          </a:xfrm>
        </p:grpSpPr>
        <p:sp>
          <p:nvSpPr>
            <p:cNvPr id="12" name="Shape 10"/>
            <p:cNvSpPr/>
            <p:nvPr/>
          </p:nvSpPr>
          <p:spPr>
            <a:xfrm>
              <a:off x="496119" y="4132660"/>
              <a:ext cx="4008537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3" name="Shape 11"/>
            <p:cNvSpPr/>
            <p:nvPr/>
          </p:nvSpPr>
          <p:spPr>
            <a:xfrm>
              <a:off x="477069" y="4132660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4" name="Text 12"/>
            <p:cNvSpPr/>
            <p:nvPr/>
          </p:nvSpPr>
          <p:spPr>
            <a:xfrm>
              <a:off x="706934" y="4286324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4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Taste &amp; Odor</a:t>
              </a:r>
              <a:endParaRPr lang="en-US" sz="2400" b="1" dirty="0">
                <a:solidFill>
                  <a:schemeClr val="accent4"/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06934" y="4533888"/>
              <a:ext cx="3644057" cy="646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688"/>
                </a:lnSpc>
              </a:pPr>
              <a:r>
                <a:rPr lang="en-US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Often due to dissolved gases (e.g., hydrogen sulfide), organic compounds, or microbial activity. Odor intensity is a quantitative measure of this characteristic.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54F2777-2682-7D15-F585-2C4E8D8F36E7}"/>
              </a:ext>
            </a:extLst>
          </p:cNvPr>
          <p:cNvGrpSpPr/>
          <p:nvPr/>
        </p:nvGrpSpPr>
        <p:grpSpPr>
          <a:xfrm>
            <a:off x="4620221" y="4543499"/>
            <a:ext cx="4027661" cy="1944000"/>
            <a:chOff x="4620221" y="4585510"/>
            <a:chExt cx="4027661" cy="1460451"/>
          </a:xfrm>
        </p:grpSpPr>
        <p:sp>
          <p:nvSpPr>
            <p:cNvPr id="16" name="Shape 14"/>
            <p:cNvSpPr/>
            <p:nvPr/>
          </p:nvSpPr>
          <p:spPr>
            <a:xfrm>
              <a:off x="4639271" y="4585510"/>
              <a:ext cx="4008611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7" name="Shape 15"/>
            <p:cNvSpPr/>
            <p:nvPr/>
          </p:nvSpPr>
          <p:spPr>
            <a:xfrm>
              <a:off x="4620221" y="4585510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8" name="Text 16"/>
            <p:cNvSpPr/>
            <p:nvPr/>
          </p:nvSpPr>
          <p:spPr>
            <a:xfrm>
              <a:off x="4850086" y="4739174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4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Turbidity</a:t>
              </a:r>
              <a:endParaRPr lang="en-US" sz="2400" b="1" dirty="0">
                <a:solidFill>
                  <a:schemeClr val="accent4"/>
                </a:solidFill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850086" y="4986737"/>
              <a:ext cx="3644131" cy="862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688"/>
                </a:lnSpc>
              </a:pPr>
              <a:r>
                <a:rPr lang="en-US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A measure of water's light-transmitting properties, caused by suspended and colloidal materials like clay, silt, organic matter, and microorganisms. High turbidity can hinder disinfection.</a:t>
              </a:r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21DBBA2-C0A5-D8DC-0ED7-02AE4C31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1. Physical Characteristics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1865189"/>
            <a:ext cx="8151763" cy="192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endParaRPr lang="en-US" sz="14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1BBD61-A665-A22C-05AE-D41CC1DC9B16}"/>
              </a:ext>
            </a:extLst>
          </p:cNvPr>
          <p:cNvGrpSpPr/>
          <p:nvPr/>
        </p:nvGrpSpPr>
        <p:grpSpPr>
          <a:xfrm>
            <a:off x="484064" y="2603153"/>
            <a:ext cx="2636937" cy="1589633"/>
            <a:chOff x="496119" y="2193429"/>
            <a:chExt cx="2636937" cy="1589633"/>
          </a:xfrm>
        </p:grpSpPr>
        <p:sp>
          <p:nvSpPr>
            <p:cNvPr id="4" name="Shape 2"/>
            <p:cNvSpPr/>
            <p:nvPr/>
          </p:nvSpPr>
          <p:spPr>
            <a:xfrm>
              <a:off x="496119" y="2359893"/>
              <a:ext cx="2636937" cy="57150"/>
            </a:xfrm>
            <a:prstGeom prst="roundRect">
              <a:avLst>
                <a:gd name="adj" fmla="val 88558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5" name="Shape 3"/>
            <p:cNvSpPr/>
            <p:nvPr/>
          </p:nvSpPr>
          <p:spPr>
            <a:xfrm>
              <a:off x="1633835" y="2193429"/>
              <a:ext cx="361504" cy="361504"/>
            </a:xfrm>
            <a:prstGeom prst="roundRect">
              <a:avLst>
                <a:gd name="adj" fmla="val 158090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42256" y="2283768"/>
              <a:ext cx="144586" cy="180752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630883" y="2675409"/>
              <a:ext cx="1506215" cy="188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469"/>
                </a:lnSpc>
              </a:pPr>
              <a:r>
                <a:rPr lang="en-US" sz="2000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pH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630882" y="3012133"/>
              <a:ext cx="2367409" cy="770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measure of acidity or alkalinity. Affects chemical reactions, corrosion rates, and the effectiveness of disinfectants. </a:t>
              </a:r>
              <a:endParaRPr lang="en-US" sz="16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89583F-F365-6AE9-8588-9C208984B1BC}"/>
              </a:ext>
            </a:extLst>
          </p:cNvPr>
          <p:cNvGrpSpPr/>
          <p:nvPr/>
        </p:nvGrpSpPr>
        <p:grpSpPr>
          <a:xfrm>
            <a:off x="3244639" y="2597831"/>
            <a:ext cx="2636937" cy="1772841"/>
            <a:chOff x="3253532" y="2193429"/>
            <a:chExt cx="2636937" cy="1772841"/>
          </a:xfrm>
        </p:grpSpPr>
        <p:sp>
          <p:nvSpPr>
            <p:cNvPr id="9" name="Shape 6"/>
            <p:cNvSpPr/>
            <p:nvPr/>
          </p:nvSpPr>
          <p:spPr>
            <a:xfrm>
              <a:off x="3253532" y="2359893"/>
              <a:ext cx="2636937" cy="57150"/>
            </a:xfrm>
            <a:prstGeom prst="roundRect">
              <a:avLst>
                <a:gd name="adj" fmla="val 88558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0" name="Shape 7"/>
            <p:cNvSpPr/>
            <p:nvPr/>
          </p:nvSpPr>
          <p:spPr>
            <a:xfrm>
              <a:off x="4391248" y="2193429"/>
              <a:ext cx="361504" cy="361504"/>
            </a:xfrm>
            <a:prstGeom prst="roundRect">
              <a:avLst>
                <a:gd name="adj" fmla="val 158090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9670" y="2283768"/>
              <a:ext cx="144586" cy="180752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3388296" y="2675409"/>
              <a:ext cx="1506215" cy="188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469"/>
                </a:lnSpc>
              </a:pPr>
              <a:r>
                <a:rPr lang="en-US" sz="2000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Inorganic Ions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3350196" y="3002608"/>
              <a:ext cx="2502173" cy="963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Includes minerals like Ca, Mg, Na, K, Cl</a:t>
              </a:r>
              <a:r>
                <a:rPr lang="en-US" sz="1600" baseline="300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-</a:t>
              </a: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SO</a:t>
              </a:r>
              <a:r>
                <a:rPr lang="en-US" sz="1600" baseline="-250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</a:t>
              </a:r>
              <a:r>
                <a:rPr lang="en-US" sz="1600" baseline="300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2-</a:t>
              </a: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and NO</a:t>
              </a:r>
              <a:r>
                <a:rPr lang="en-US" sz="1600" baseline="-250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</a:t>
              </a:r>
              <a:r>
                <a:rPr lang="en-US" sz="1600" baseline="300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-</a:t>
              </a: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 Their concentrations dictate water's hardness, salinity, and potential for scaling or corrosive behavior.</a:t>
              </a:r>
              <a:endParaRPr lang="en-US" sz="160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CA9B84B-7FA7-7151-E8C1-302C618D1E9D}"/>
              </a:ext>
            </a:extLst>
          </p:cNvPr>
          <p:cNvGrpSpPr/>
          <p:nvPr/>
        </p:nvGrpSpPr>
        <p:grpSpPr>
          <a:xfrm>
            <a:off x="6008117" y="2597831"/>
            <a:ext cx="2636937" cy="1744266"/>
            <a:chOff x="6010945" y="2193429"/>
            <a:chExt cx="2636937" cy="1744266"/>
          </a:xfrm>
        </p:grpSpPr>
        <p:sp>
          <p:nvSpPr>
            <p:cNvPr id="14" name="Shape 10"/>
            <p:cNvSpPr/>
            <p:nvPr/>
          </p:nvSpPr>
          <p:spPr>
            <a:xfrm>
              <a:off x="6010945" y="2359893"/>
              <a:ext cx="2636937" cy="57150"/>
            </a:xfrm>
            <a:prstGeom prst="roundRect">
              <a:avLst>
                <a:gd name="adj" fmla="val 88558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15" name="Shape 11"/>
            <p:cNvSpPr/>
            <p:nvPr/>
          </p:nvSpPr>
          <p:spPr>
            <a:xfrm>
              <a:off x="7148661" y="2193429"/>
              <a:ext cx="361504" cy="361504"/>
            </a:xfrm>
            <a:prstGeom prst="roundRect">
              <a:avLst>
                <a:gd name="adj" fmla="val 158090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57083" y="2283768"/>
              <a:ext cx="144586" cy="180752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6145709" y="2675409"/>
              <a:ext cx="1506215" cy="188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469"/>
                </a:lnSpc>
              </a:pPr>
              <a:r>
                <a:rPr lang="en-US" sz="2000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Hardness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 13"/>
            <p:cNvSpPr/>
            <p:nvPr/>
          </p:nvSpPr>
          <p:spPr>
            <a:xfrm>
              <a:off x="6145709" y="2974033"/>
              <a:ext cx="2367409" cy="9636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Caused by dissolved calcium and magnesium ions. Leads to scale formation in pipes and boilers, reduces soap efficiency, and can impact industrial processes.</a:t>
              </a:r>
              <a:endParaRPr lang="en-US" sz="16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1BEBD4-E86D-A0FD-720C-27EA3FDA7491}"/>
              </a:ext>
            </a:extLst>
          </p:cNvPr>
          <p:cNvGrpSpPr/>
          <p:nvPr/>
        </p:nvGrpSpPr>
        <p:grpSpPr>
          <a:xfrm>
            <a:off x="484064" y="4897338"/>
            <a:ext cx="3892972" cy="1387376"/>
            <a:chOff x="496119" y="4154835"/>
            <a:chExt cx="4015606" cy="1387376"/>
          </a:xfrm>
        </p:grpSpPr>
        <p:sp>
          <p:nvSpPr>
            <p:cNvPr id="19" name="Shape 14"/>
            <p:cNvSpPr/>
            <p:nvPr/>
          </p:nvSpPr>
          <p:spPr>
            <a:xfrm>
              <a:off x="496119" y="4321299"/>
              <a:ext cx="4015606" cy="57150"/>
            </a:xfrm>
            <a:prstGeom prst="roundRect">
              <a:avLst>
                <a:gd name="adj" fmla="val 88558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20" name="Shape 15"/>
            <p:cNvSpPr/>
            <p:nvPr/>
          </p:nvSpPr>
          <p:spPr>
            <a:xfrm>
              <a:off x="2323132" y="4154835"/>
              <a:ext cx="361504" cy="361504"/>
            </a:xfrm>
            <a:prstGeom prst="roundRect">
              <a:avLst>
                <a:gd name="adj" fmla="val 158090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31554" y="4245174"/>
              <a:ext cx="144586" cy="180752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630883" y="4636814"/>
              <a:ext cx="1506215" cy="188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469"/>
                </a:lnSpc>
              </a:pPr>
              <a:r>
                <a:rPr lang="en-US" sz="2000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Alkalinity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" name="Text 17"/>
            <p:cNvSpPr/>
            <p:nvPr/>
          </p:nvSpPr>
          <p:spPr>
            <a:xfrm>
              <a:off x="630883" y="4964013"/>
              <a:ext cx="3746078" cy="578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Water's capacity to neutralize acids, largely due to bicarbonates, carbonates, and hydroxides. Acts as a buffer against pH changes.</a:t>
              </a:r>
              <a:endParaRPr lang="en-US" sz="16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E864F04-BE88-70ED-F0DA-6E49E49E1851}"/>
              </a:ext>
            </a:extLst>
          </p:cNvPr>
          <p:cNvGrpSpPr/>
          <p:nvPr/>
        </p:nvGrpSpPr>
        <p:grpSpPr>
          <a:xfrm>
            <a:off x="4635363" y="4897338"/>
            <a:ext cx="4012519" cy="1377851"/>
            <a:chOff x="4632201" y="4154835"/>
            <a:chExt cx="4015681" cy="1377851"/>
          </a:xfrm>
        </p:grpSpPr>
        <p:sp>
          <p:nvSpPr>
            <p:cNvPr id="24" name="Shape 18"/>
            <p:cNvSpPr/>
            <p:nvPr/>
          </p:nvSpPr>
          <p:spPr>
            <a:xfrm>
              <a:off x="4632201" y="4321299"/>
              <a:ext cx="4015681" cy="57150"/>
            </a:xfrm>
            <a:prstGeom prst="roundRect">
              <a:avLst>
                <a:gd name="adj" fmla="val 88558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sp>
          <p:nvSpPr>
            <p:cNvPr id="25" name="Shape 19"/>
            <p:cNvSpPr/>
            <p:nvPr/>
          </p:nvSpPr>
          <p:spPr>
            <a:xfrm>
              <a:off x="6459289" y="4154835"/>
              <a:ext cx="361504" cy="361504"/>
            </a:xfrm>
            <a:prstGeom prst="roundRect">
              <a:avLst>
                <a:gd name="adj" fmla="val 158090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2000"/>
            </a:p>
          </p:txBody>
        </p:sp>
        <p:pic>
          <p:nvPicPr>
            <p:cNvPr id="26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67711" y="4245174"/>
              <a:ext cx="144586" cy="180752"/>
            </a:xfrm>
            <a:prstGeom prst="rect">
              <a:avLst/>
            </a:prstGeom>
          </p:spPr>
        </p:pic>
        <p:sp>
          <p:nvSpPr>
            <p:cNvPr id="27" name="Text 20"/>
            <p:cNvSpPr/>
            <p:nvPr/>
          </p:nvSpPr>
          <p:spPr>
            <a:xfrm>
              <a:off x="4766965" y="4636814"/>
              <a:ext cx="1506215" cy="188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469"/>
                </a:lnSpc>
              </a:pPr>
              <a:r>
                <a:rPr lang="en-US" sz="2000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Salinity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8" name="Text 21"/>
            <p:cNvSpPr/>
            <p:nvPr/>
          </p:nvSpPr>
          <p:spPr>
            <a:xfrm>
              <a:off x="4766965" y="4954488"/>
              <a:ext cx="3746153" cy="5781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00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total concentration of all dissolved salts. High salinity makes water unsuitable for many industrial and agricultural uses.</a:t>
              </a:r>
              <a:endParaRPr lang="en-US" sz="1600" dirty="0"/>
            </a:p>
          </p:txBody>
        </p: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6C1B7C2-BB56-4D7D-F840-6D52893A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320" y="349126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rgbClr val="E31E24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2. Chemical Characteristics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63FF65-285C-AD91-3FF6-9B41E55B5ED8}"/>
              </a:ext>
            </a:extLst>
          </p:cNvPr>
          <p:cNvSpPr txBox="1"/>
          <p:nvPr/>
        </p:nvSpPr>
        <p:spPr>
          <a:xfrm>
            <a:off x="496118" y="1853424"/>
            <a:ext cx="8211964" cy="690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sz="2000" dirty="0">
                <a:solidFill>
                  <a:srgbClr val="002060"/>
                </a:solidFill>
                <a:ea typeface="Roboto" pitchFamily="34" charset="-122"/>
                <a:cs typeface="Roboto" pitchFamily="34" charset="-120"/>
              </a:rPr>
              <a:t>Chemical characteristics of water define its reactivity and suitability for various uses, influencing corrosion, scaling, and overall system performance.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4656" y="1991954"/>
            <a:ext cx="8151763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dirty="0">
                <a:solidFill>
                  <a:srgbClr val="002060"/>
                </a:solidFill>
                <a:ea typeface="Roboto" pitchFamily="34" charset="-122"/>
                <a:cs typeface="Roboto" pitchFamily="34" charset="-120"/>
              </a:rPr>
              <a:t>Water quality is significantly impacted by the presence of various microorganisms. These biological characteristics are critical for assessing water safety and purity.</a:t>
            </a:r>
            <a:endParaRPr lang="en-US" dirty="0">
              <a:solidFill>
                <a:srgbClr val="002060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3DE154A-CAB0-A3A1-F96E-B0A3E0EDAF22}"/>
              </a:ext>
            </a:extLst>
          </p:cNvPr>
          <p:cNvGrpSpPr/>
          <p:nvPr/>
        </p:nvGrpSpPr>
        <p:grpSpPr>
          <a:xfrm>
            <a:off x="477069" y="2731070"/>
            <a:ext cx="2646536" cy="1980000"/>
            <a:chOff x="477069" y="2645346"/>
            <a:chExt cx="2646536" cy="1460451"/>
          </a:xfrm>
        </p:grpSpPr>
        <p:sp>
          <p:nvSpPr>
            <p:cNvPr id="4" name="Shape 2"/>
            <p:cNvSpPr/>
            <p:nvPr/>
          </p:nvSpPr>
          <p:spPr>
            <a:xfrm>
              <a:off x="496119" y="2645346"/>
              <a:ext cx="2627486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Shape 3"/>
            <p:cNvSpPr/>
            <p:nvPr/>
          </p:nvSpPr>
          <p:spPr>
            <a:xfrm>
              <a:off x="477069" y="2645346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4"/>
            <p:cNvSpPr/>
            <p:nvPr/>
          </p:nvSpPr>
          <p:spPr>
            <a:xfrm>
              <a:off x="706934" y="2799011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0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Bacteria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706934" y="3090118"/>
              <a:ext cx="2263006" cy="862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88"/>
                </a:lnSpc>
              </a:pPr>
              <a:r>
                <a:rPr lang="en-US" sz="16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Microscopic single-celled organisms, some of which are pathogenic and can cause diseases like cholera or E. coli infections.</a:t>
              </a:r>
              <a:endParaRPr lang="en-US" sz="16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ABD9DC-F252-F262-FF3D-209CF11652CD}"/>
              </a:ext>
            </a:extLst>
          </p:cNvPr>
          <p:cNvGrpSpPr/>
          <p:nvPr/>
        </p:nvGrpSpPr>
        <p:grpSpPr>
          <a:xfrm>
            <a:off x="3239170" y="2731070"/>
            <a:ext cx="2646536" cy="1980000"/>
            <a:chOff x="3239170" y="2645346"/>
            <a:chExt cx="2646536" cy="1460451"/>
          </a:xfrm>
        </p:grpSpPr>
        <p:sp>
          <p:nvSpPr>
            <p:cNvPr id="8" name="Shape 6"/>
            <p:cNvSpPr/>
            <p:nvPr/>
          </p:nvSpPr>
          <p:spPr>
            <a:xfrm>
              <a:off x="3258220" y="2645346"/>
              <a:ext cx="2627486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Shape 7"/>
            <p:cNvSpPr/>
            <p:nvPr/>
          </p:nvSpPr>
          <p:spPr>
            <a:xfrm>
              <a:off x="3239170" y="2645346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3469036" y="2799011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0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Protozoa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469035" y="3090118"/>
              <a:ext cx="2263006" cy="862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88"/>
                </a:lnSpc>
              </a:pPr>
              <a:r>
                <a:rPr lang="en-US" sz="16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Larger single-celled organisms, such as Giardia and Cryptosporidium, known for causing gastrointestinal illnesses.</a:t>
              </a:r>
              <a:endParaRPr lang="en-US" sz="16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BFD579-49BD-6CBC-00C0-0A6C6F1D0CEC}"/>
              </a:ext>
            </a:extLst>
          </p:cNvPr>
          <p:cNvGrpSpPr/>
          <p:nvPr/>
        </p:nvGrpSpPr>
        <p:grpSpPr>
          <a:xfrm>
            <a:off x="6001271" y="2740595"/>
            <a:ext cx="2646536" cy="1980000"/>
            <a:chOff x="6001271" y="2645346"/>
            <a:chExt cx="2646536" cy="1460451"/>
          </a:xfrm>
        </p:grpSpPr>
        <p:sp>
          <p:nvSpPr>
            <p:cNvPr id="12" name="Shape 10"/>
            <p:cNvSpPr/>
            <p:nvPr/>
          </p:nvSpPr>
          <p:spPr>
            <a:xfrm>
              <a:off x="6020321" y="2645346"/>
              <a:ext cx="2627486" cy="1460451"/>
            </a:xfrm>
            <a:prstGeom prst="roundRect">
              <a:avLst>
                <a:gd name="adj" fmla="val 6261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11"/>
            <p:cNvSpPr/>
            <p:nvPr/>
          </p:nvSpPr>
          <p:spPr>
            <a:xfrm>
              <a:off x="6001271" y="2645346"/>
              <a:ext cx="76200" cy="1460451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6231137" y="2799011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4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Viruses</a:t>
              </a:r>
              <a:endParaRPr lang="en-US" sz="2400" b="1" dirty="0">
                <a:solidFill>
                  <a:schemeClr val="accent4"/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231136" y="3090118"/>
              <a:ext cx="2263006" cy="862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88"/>
                </a:lnSpc>
              </a:pPr>
              <a:r>
                <a:rPr lang="en-US" sz="16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Submicroscopic infectious agents that can cause diseases like hepatitis A or norovirus, often difficult to remove by conventional filtration.</a:t>
              </a:r>
              <a:endParaRPr lang="en-US" sz="16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D69978-77F7-59DE-E6BC-2E2269CD1F64}"/>
              </a:ext>
            </a:extLst>
          </p:cNvPr>
          <p:cNvGrpSpPr/>
          <p:nvPr/>
        </p:nvGrpSpPr>
        <p:grpSpPr>
          <a:xfrm>
            <a:off x="477069" y="4945261"/>
            <a:ext cx="4027587" cy="1440000"/>
            <a:chOff x="477069" y="4240411"/>
            <a:chExt cx="4027587" cy="1244948"/>
          </a:xfrm>
        </p:grpSpPr>
        <p:sp>
          <p:nvSpPr>
            <p:cNvPr id="16" name="Shape 14"/>
            <p:cNvSpPr/>
            <p:nvPr/>
          </p:nvSpPr>
          <p:spPr>
            <a:xfrm>
              <a:off x="496119" y="4240411"/>
              <a:ext cx="4008537" cy="1244948"/>
            </a:xfrm>
            <a:prstGeom prst="roundRect">
              <a:avLst>
                <a:gd name="adj" fmla="val 7345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15"/>
            <p:cNvSpPr/>
            <p:nvPr/>
          </p:nvSpPr>
          <p:spPr>
            <a:xfrm>
              <a:off x="477069" y="4240411"/>
              <a:ext cx="76200" cy="1244948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 16"/>
            <p:cNvSpPr/>
            <p:nvPr/>
          </p:nvSpPr>
          <p:spPr>
            <a:xfrm>
              <a:off x="706934" y="4394076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0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Worms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706934" y="4685184"/>
              <a:ext cx="3644057" cy="4310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88"/>
                </a:lnSpc>
              </a:pPr>
              <a:r>
                <a:rPr lang="en-US" sz="16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Larger parasitic organisms, including helminths, whose eggs or larvae can be transmitted through contaminated water.</a:t>
              </a:r>
              <a:endParaRPr lang="en-US" sz="1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CA3FE62-94FB-D734-9AC1-8B158231C31F}"/>
              </a:ext>
            </a:extLst>
          </p:cNvPr>
          <p:cNvGrpSpPr/>
          <p:nvPr/>
        </p:nvGrpSpPr>
        <p:grpSpPr>
          <a:xfrm>
            <a:off x="4620221" y="4935736"/>
            <a:ext cx="4027587" cy="1440000"/>
            <a:chOff x="4620221" y="4240411"/>
            <a:chExt cx="4027587" cy="1244948"/>
          </a:xfrm>
        </p:grpSpPr>
        <p:sp>
          <p:nvSpPr>
            <p:cNvPr id="20" name="Shape 18"/>
            <p:cNvSpPr/>
            <p:nvPr/>
          </p:nvSpPr>
          <p:spPr>
            <a:xfrm>
              <a:off x="4639271" y="4240411"/>
              <a:ext cx="4008537" cy="1244948"/>
            </a:xfrm>
            <a:prstGeom prst="roundRect">
              <a:avLst>
                <a:gd name="adj" fmla="val 7345"/>
              </a:avLst>
            </a:prstGeom>
            <a:noFill/>
            <a:ln w="3048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19"/>
            <p:cNvSpPr/>
            <p:nvPr/>
          </p:nvSpPr>
          <p:spPr>
            <a:xfrm>
              <a:off x="4620221" y="4240411"/>
              <a:ext cx="76200" cy="1244948"/>
            </a:xfrm>
            <a:prstGeom prst="roundRect">
              <a:avLst>
                <a:gd name="adj" fmla="val 74233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 20"/>
            <p:cNvSpPr/>
            <p:nvPr/>
          </p:nvSpPr>
          <p:spPr>
            <a:xfrm>
              <a:off x="4850086" y="4394076"/>
              <a:ext cx="1683469" cy="2103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6"/>
                </a:lnSpc>
              </a:pPr>
              <a:r>
                <a:rPr lang="en-US" sz="24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Fungi</a:t>
              </a:r>
              <a:endParaRPr lang="en-US" sz="2400" b="1" dirty="0">
                <a:solidFill>
                  <a:schemeClr val="accent4"/>
                </a:solidFill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850086" y="4685184"/>
              <a:ext cx="3644057" cy="646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688"/>
                </a:lnSpc>
              </a:pPr>
              <a:r>
                <a:rPr lang="en-US" sz="16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Although less commonly pathogenic through water, some fungal spores can indicate contamination or affect water aesthetics.</a:t>
              </a:r>
              <a:endParaRPr lang="en-US" sz="1600" dirty="0"/>
            </a:p>
          </p:txBody>
        </p:sp>
      </p:grpSp>
      <p:sp>
        <p:nvSpPr>
          <p:cNvPr id="24" name="Title 23">
            <a:extLst>
              <a:ext uri="{FF2B5EF4-FFF2-40B4-BE49-F238E27FC236}">
                <a16:creationId xmlns:a16="http://schemas.microsoft.com/office/drawing/2014/main" id="{33989D9E-0A39-CB61-8FB8-D738778F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31E24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3. Biological Characteristics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362824" y="1406747"/>
            <a:ext cx="1781175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3925119" y="1641649"/>
            <a:ext cx="44603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38"/>
              </a:lnSpc>
            </a:pPr>
            <a:endParaRPr lang="en-US" sz="2344" dirty="0"/>
          </a:p>
        </p:txBody>
      </p:sp>
      <p:sp>
        <p:nvSpPr>
          <p:cNvPr id="4" name="Text 1"/>
          <p:cNvSpPr/>
          <p:nvPr/>
        </p:nvSpPr>
        <p:spPr>
          <a:xfrm>
            <a:off x="2363019" y="1575494"/>
            <a:ext cx="6284863" cy="81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719908"/>
            <a:ext cx="4722763" cy="192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25119" y="2954759"/>
            <a:ext cx="4722763" cy="192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3189610"/>
            <a:ext cx="4722763" cy="57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5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05871" y="4038823"/>
            <a:ext cx="4542011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endParaRPr lang="en-US" sz="1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6C15E0-7AB4-7B71-3D5C-0BB533035B21}"/>
              </a:ext>
            </a:extLst>
          </p:cNvPr>
          <p:cNvGrpSpPr/>
          <p:nvPr/>
        </p:nvGrpSpPr>
        <p:grpSpPr>
          <a:xfrm>
            <a:off x="867371" y="5736804"/>
            <a:ext cx="4542011" cy="520973"/>
            <a:chOff x="4105871" y="4559796"/>
            <a:chExt cx="4542011" cy="520973"/>
          </a:xfrm>
        </p:grpSpPr>
        <p:sp>
          <p:nvSpPr>
            <p:cNvPr id="9" name="Text 6"/>
            <p:cNvSpPr/>
            <p:nvPr/>
          </p:nvSpPr>
          <p:spPr>
            <a:xfrm>
              <a:off x="4105871" y="4559796"/>
              <a:ext cx="4542011" cy="1927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00"/>
                </a:lnSpc>
              </a:pPr>
              <a:endParaRPr lang="en-US" sz="1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105871" y="4888036"/>
              <a:ext cx="4542011" cy="1927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00"/>
                </a:lnSpc>
              </a:pPr>
              <a:endParaRPr lang="en-US" sz="1200" dirty="0"/>
            </a:p>
          </p:txBody>
        </p:sp>
      </p:grpSp>
      <p:sp>
        <p:nvSpPr>
          <p:cNvPr id="11" name="Shape 8"/>
          <p:cNvSpPr/>
          <p:nvPr/>
        </p:nvSpPr>
        <p:spPr>
          <a:xfrm>
            <a:off x="491652" y="4752082"/>
            <a:ext cx="14288" cy="1312962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CE434CB-6526-4F0A-75F5-A669D7E6B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Hardness of Water: An Overview</a:t>
            </a:r>
            <a:endParaRPr lang="en-IN" b="1" dirty="0">
              <a:solidFill>
                <a:schemeClr val="accent5"/>
              </a:solidFill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1A1AA3D-1148-6992-9BA4-C1BA1CBFE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550008"/>
            <a:ext cx="7886699" cy="4790704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Water hardness is a measure of the concentration of dissolved minerals, primarily calcium (Ca²⁺) and magnesium (Mg²⁺) ions.</a:t>
            </a:r>
          </a:p>
          <a:p>
            <a:pPr algn="just"/>
            <a:r>
              <a:rPr lang="en-US" sz="18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Definition:</a:t>
            </a:r>
            <a:r>
              <a:rPr lang="en-US" sz="18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Water that does not produce lather with soap is termed as hard water.</a:t>
            </a:r>
          </a:p>
          <a:p>
            <a:pPr algn="just"/>
            <a:r>
              <a:rPr lang="en-US" sz="18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Causes:</a:t>
            </a:r>
            <a:r>
              <a:rPr lang="en-US" sz="18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Presence of multivalent metallic cations, predominantly Ca²⁺ and Mg²⁺ ions.</a:t>
            </a:r>
          </a:p>
          <a:p>
            <a:pPr algn="just"/>
            <a:r>
              <a:rPr lang="en-US" sz="18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Effects:</a:t>
            </a:r>
            <a:r>
              <a:rPr lang="en-US" sz="18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Significantly affects soap efficiency, leading to increased soap consumption. It also causes the formation of scale deposits in pipes and appliances, reducing their lifespan and efficiency.</a:t>
            </a:r>
          </a:p>
          <a:p>
            <a:pPr algn="just"/>
            <a:endParaRPr lang="en-US" sz="1800" dirty="0">
              <a:solidFill>
                <a:srgbClr val="3C3939"/>
              </a:solidFill>
              <a:ea typeface="Roboto" pitchFamily="34" charset="-122"/>
              <a:cs typeface="Roboto" pitchFamily="34" charset="-120"/>
            </a:endParaRPr>
          </a:p>
          <a:p>
            <a:pPr algn="just"/>
            <a:r>
              <a:rPr lang="en-US" sz="1800" b="1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Chemical Reaction:</a:t>
            </a:r>
            <a:r>
              <a:rPr lang="en-US" sz="18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When hard water reacts with soap (sodium salt of stearic or palmitic acid), it forms an insoluble curdy precipitate.</a:t>
            </a:r>
          </a:p>
          <a:p>
            <a:pPr algn="just"/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2C₁₇H₃₅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COONa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 +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CaCl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₂ → Ca(C₁₇H₃₅COO)₂↓ + 2NaCl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2C₁₇H₃₅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COONa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 +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MgSO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₄ → (C₁₇H₃₅COO)₂Mg↓ +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Na₂SO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ea typeface="Roboto" pitchFamily="34" charset="-122"/>
                <a:cs typeface="Roboto" pitchFamily="34" charset="-120"/>
              </a:rPr>
              <a:t>₄</a:t>
            </a:r>
            <a:endParaRPr lang="en-US" sz="1800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IN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Types of </a:t>
            </a:r>
            <a:r>
              <a:rPr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Hardness</a:t>
            </a:r>
            <a:endParaRPr dirty="0">
              <a:solidFill>
                <a:schemeClr val="accent5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97AAB5A-3B74-9927-8BE3-5B49E6B67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5032650"/>
              </p:ext>
            </p:extLst>
          </p:nvPr>
        </p:nvGraphicFramePr>
        <p:xfrm>
          <a:off x="2199084" y="1906587"/>
          <a:ext cx="4745832" cy="3684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Temporary Hardness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Due to bicarbonates of calcium and magnesium</a:t>
            </a:r>
          </a:p>
          <a:p>
            <a:r>
              <a:rPr sz="2000" dirty="0"/>
              <a:t>Removed by boiling or lime treatment</a:t>
            </a:r>
            <a:endParaRPr lang="en-GB" sz="2000" dirty="0"/>
          </a:p>
          <a:p>
            <a:endParaRPr lang="en-GB" sz="2000" dirty="0"/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Bicarbonate is converted into carbonate (insoluble precipitate)</a:t>
            </a:r>
          </a:p>
          <a:p>
            <a:pPr lvl="1" algn="just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Ca(HCO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CaCO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+ H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+ 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</a:p>
          <a:p>
            <a:pPr lvl="1" algn="just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Mg(HCO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Mg(OH)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+ 2CO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</a:p>
          <a:p>
            <a:pPr marL="457200" lvl="1" indent="0" algn="just">
              <a:buNone/>
            </a:pPr>
            <a:endParaRPr lang="en-US" sz="20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adding hydrated lime to precipitate insoluble carbonate.</a:t>
            </a:r>
          </a:p>
          <a:p>
            <a:pPr lvl="1" algn="just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Ca(HCO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Ca(OH)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2CaCO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+ 2H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pPr lvl="1" algn="just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Mg(HCO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Ca(OH)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Mg(OH)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+ 2CaCO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 + 2H</a:t>
            </a:r>
            <a:r>
              <a:rPr lang="en-US" sz="2000" baseline="-25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261711-40E5-7553-4D99-5A22E26A62FB}"/>
              </a:ext>
            </a:extLst>
          </p:cNvPr>
          <p:cNvSpPr/>
          <p:nvPr/>
        </p:nvSpPr>
        <p:spPr>
          <a:xfrm>
            <a:off x="628650" y="31709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b="1" dirty="0">
                <a:solidFill>
                  <a:schemeClr val="accent4"/>
                </a:solidFill>
                <a:ea typeface="Raleway" pitchFamily="34" charset="-122"/>
                <a:cs typeface="Raleway" pitchFamily="34" charset="-120"/>
              </a:rPr>
              <a:t>1. By Boiling</a:t>
            </a:r>
            <a:endParaRPr lang="en-US" sz="2000" b="1" dirty="0">
              <a:solidFill>
                <a:schemeClr val="accent4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3520011-B233-D2A5-9F4D-F3F261D63B1F}"/>
              </a:ext>
            </a:extLst>
          </p:cNvPr>
          <p:cNvSpPr/>
          <p:nvPr/>
        </p:nvSpPr>
        <p:spPr>
          <a:xfrm>
            <a:off x="628650" y="5068045"/>
            <a:ext cx="36388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2000" b="1" dirty="0">
                <a:solidFill>
                  <a:schemeClr val="accent4"/>
                </a:solidFill>
                <a:ea typeface="Raleway" pitchFamily="34" charset="-122"/>
                <a:cs typeface="Raleway" pitchFamily="34" charset="-120"/>
              </a:rPr>
              <a:t>2. By Adding Hydrated Lime (Clark's Process)</a:t>
            </a:r>
            <a:endParaRPr lang="en-US" sz="2000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Permanent Hardness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000" dirty="0"/>
              <a:t>Permanent hardness is more challenging to remove than temporary hardness, requiring specialized water softening techniques.</a:t>
            </a:r>
          </a:p>
          <a:p>
            <a:pPr algn="just"/>
            <a:r>
              <a:rPr lang="en-GB" sz="2000" dirty="0"/>
              <a:t>Caused by soluble chlorides, </a:t>
            </a:r>
            <a:r>
              <a:rPr lang="en-GB" sz="2000" dirty="0" err="1"/>
              <a:t>sulfates</a:t>
            </a:r>
            <a:r>
              <a:rPr lang="en-GB" sz="2000" dirty="0"/>
              <a:t>, and nitrates of calcium and magnesium. </a:t>
            </a:r>
          </a:p>
          <a:p>
            <a:pPr algn="just"/>
            <a:r>
              <a:rPr lang="en-GB" sz="2000" dirty="0"/>
              <a:t>It cannot be removed by boiling or simple lime treatment.</a:t>
            </a:r>
          </a:p>
          <a:p>
            <a:pPr algn="just"/>
            <a:r>
              <a:rPr lang="en-GB" sz="2000" b="1" dirty="0"/>
              <a:t>Removal: </a:t>
            </a:r>
            <a:r>
              <a:rPr lang="en-GB" sz="2000" dirty="0"/>
              <a:t>Eliminated by advanced water softening techniques such as:</a:t>
            </a:r>
          </a:p>
          <a:p>
            <a:pPr lvl="1" algn="just"/>
            <a:r>
              <a:rPr lang="en-US" sz="1800" dirty="0">
                <a:solidFill>
                  <a:schemeClr val="accent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Lime-soda process</a:t>
            </a:r>
          </a:p>
          <a:p>
            <a:pPr lvl="1" algn="just"/>
            <a:r>
              <a:rPr lang="en-US" sz="1800" dirty="0">
                <a:solidFill>
                  <a:schemeClr val="accent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Zeolite process</a:t>
            </a:r>
          </a:p>
          <a:p>
            <a:pPr lvl="1" algn="just"/>
            <a:r>
              <a:rPr lang="en-US" sz="1800" dirty="0">
                <a:solidFill>
                  <a:schemeClr val="accent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Ion-exchange resin method</a:t>
            </a:r>
          </a:p>
          <a:p>
            <a:pPr lvl="1" algn="just"/>
            <a:r>
              <a:rPr lang="en-US" sz="1800" dirty="0">
                <a:solidFill>
                  <a:schemeClr val="accent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Reverse osmosis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4379715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endParaRPr lang="en-US" sz="1094" dirty="0"/>
          </a:p>
        </p:txBody>
      </p:sp>
      <p:sp>
        <p:nvSpPr>
          <p:cNvPr id="4" name="Text 6"/>
          <p:cNvSpPr/>
          <p:nvPr/>
        </p:nvSpPr>
        <p:spPr>
          <a:xfrm>
            <a:off x="496119" y="4656089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endParaRPr lang="en-US" sz="1094" dirty="0"/>
          </a:p>
        </p:txBody>
      </p:sp>
      <p:sp>
        <p:nvSpPr>
          <p:cNvPr id="9" name="Text 7"/>
          <p:cNvSpPr/>
          <p:nvPr/>
        </p:nvSpPr>
        <p:spPr>
          <a:xfrm>
            <a:off x="496119" y="4932462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endParaRPr lang="en-US" sz="1094" dirty="0"/>
          </a:p>
        </p:txBody>
      </p:sp>
      <p:sp>
        <p:nvSpPr>
          <p:cNvPr id="10" name="Text 8"/>
          <p:cNvSpPr/>
          <p:nvPr/>
        </p:nvSpPr>
        <p:spPr>
          <a:xfrm>
            <a:off x="496119" y="5208836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endParaRPr lang="en-US" sz="109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6888"/>
            <a:ext cx="6642274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25"/>
              </a:lnSpc>
            </a:pPr>
            <a:endParaRPr lang="en-US" sz="25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E3F008-93FF-AC57-0FEF-17FEDCACEF8F}"/>
              </a:ext>
            </a:extLst>
          </p:cNvPr>
          <p:cNvGrpSpPr/>
          <p:nvPr/>
        </p:nvGrpSpPr>
        <p:grpSpPr>
          <a:xfrm>
            <a:off x="230684" y="2707109"/>
            <a:ext cx="2649887" cy="1538660"/>
            <a:chOff x="506909" y="2173709"/>
            <a:chExt cx="2649887" cy="1538660"/>
          </a:xfrm>
        </p:grpSpPr>
        <p:sp>
          <p:nvSpPr>
            <p:cNvPr id="4" name="Shape 2"/>
            <p:cNvSpPr/>
            <p:nvPr/>
          </p:nvSpPr>
          <p:spPr>
            <a:xfrm>
              <a:off x="506909" y="2173709"/>
              <a:ext cx="276225" cy="319609"/>
            </a:xfrm>
            <a:prstGeom prst="roundRect">
              <a:avLst>
                <a:gd name="adj" fmla="val 18671"/>
              </a:avLst>
            </a:prstGeom>
            <a:solidFill>
              <a:srgbClr val="E1E1EA"/>
            </a:solidFill>
            <a:ln w="762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1600"/>
            </a:p>
          </p:txBody>
        </p:sp>
        <p:sp>
          <p:nvSpPr>
            <p:cNvPr id="5" name="Text 3"/>
            <p:cNvSpPr/>
            <p:nvPr/>
          </p:nvSpPr>
          <p:spPr>
            <a:xfrm>
              <a:off x="549361" y="2292922"/>
              <a:ext cx="191319" cy="2391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sz="2000" dirty="0">
                  <a:solidFill>
                    <a:srgbClr val="3C3939"/>
                  </a:solidFill>
                  <a:ea typeface="Raleway" pitchFamily="34" charset="-122"/>
                  <a:cs typeface="Raleway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0680" y="2342257"/>
              <a:ext cx="1712416" cy="3621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960465" y="2895600"/>
              <a:ext cx="2196331" cy="816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14313" indent="-214313">
                <a:buSzPct val="100000"/>
                <a:buChar char="•"/>
              </a:pPr>
              <a:r>
                <a:rPr lang="en-US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Soap Titration</a:t>
              </a:r>
            </a:p>
            <a:p>
              <a:pPr marL="214313" indent="-214313">
                <a:buSzPct val="100000"/>
                <a:buChar char="•"/>
              </a:pPr>
              <a:r>
                <a:rPr lang="en-US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EDTA Method</a:t>
              </a:r>
            </a:p>
            <a:p>
              <a:pPr marL="214313" indent="-214313">
                <a:buSzPct val="100000"/>
                <a:buChar char="•"/>
              </a:pPr>
              <a:endParaRPr lang="en-US" sz="16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0D57B5-448C-CF49-23D3-7BF595462C34}"/>
              </a:ext>
            </a:extLst>
          </p:cNvPr>
          <p:cNvGrpSpPr/>
          <p:nvPr/>
        </p:nvGrpSpPr>
        <p:grpSpPr>
          <a:xfrm>
            <a:off x="3008117" y="2658145"/>
            <a:ext cx="2610967" cy="2450232"/>
            <a:chOff x="3266480" y="2249463"/>
            <a:chExt cx="2610967" cy="2450232"/>
          </a:xfrm>
        </p:grpSpPr>
        <p:sp>
          <p:nvSpPr>
            <p:cNvPr id="9" name="Shape 7"/>
            <p:cNvSpPr/>
            <p:nvPr/>
          </p:nvSpPr>
          <p:spPr>
            <a:xfrm>
              <a:off x="3266480" y="2298427"/>
              <a:ext cx="287015" cy="287015"/>
            </a:xfrm>
            <a:prstGeom prst="roundRect">
              <a:avLst>
                <a:gd name="adj" fmla="val 18671"/>
              </a:avLst>
            </a:prstGeom>
            <a:solidFill>
              <a:srgbClr val="E1E1EA"/>
            </a:solidFill>
            <a:ln w="762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1600"/>
            </a:p>
          </p:txBody>
        </p:sp>
        <p:sp>
          <p:nvSpPr>
            <p:cNvPr id="10" name="Text 8"/>
            <p:cNvSpPr/>
            <p:nvPr/>
          </p:nvSpPr>
          <p:spPr>
            <a:xfrm>
              <a:off x="3314327" y="2389286"/>
              <a:ext cx="191319" cy="2391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sz="2000" dirty="0">
                  <a:solidFill>
                    <a:srgbClr val="3C3939"/>
                  </a:solidFill>
                  <a:ea typeface="Raleway" pitchFamily="34" charset="-122"/>
                  <a:cs typeface="Raleway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681041" y="2249463"/>
              <a:ext cx="2196406" cy="398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Boiler Feed Water Quality Control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681041" y="3020407"/>
              <a:ext cx="2196406" cy="8167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14313" indent="-214313">
                <a:buSzPct val="100000"/>
                <a:buChar char="•"/>
              </a:pPr>
              <a:r>
                <a:rPr lang="en-US" sz="20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Scale and Sludge Formation</a:t>
              </a:r>
            </a:p>
            <a:p>
              <a:pPr marL="214313" indent="-214313">
                <a:buSzPct val="100000"/>
                <a:buChar char="•"/>
              </a:pPr>
              <a:r>
                <a:rPr lang="en-US" sz="20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Reduced Heat Transfer Efficiency</a:t>
              </a:r>
            </a:p>
            <a:p>
              <a:pPr marL="214313" indent="-214313">
                <a:buSzPct val="100000"/>
                <a:buChar char="•"/>
              </a:pPr>
              <a:r>
                <a:rPr lang="en-US" sz="20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Corrosion and Pipe Damage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681041" y="3678734"/>
              <a:ext cx="2196406" cy="1020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14313" indent="-214313">
                <a:lnSpc>
                  <a:spcPts val="1594"/>
                </a:lnSpc>
                <a:buSzPct val="100000"/>
                <a:buChar char="•"/>
              </a:pP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F37173-E646-81F4-F8CD-92E123FAA1EB}"/>
              </a:ext>
            </a:extLst>
          </p:cNvPr>
          <p:cNvGrpSpPr/>
          <p:nvPr/>
        </p:nvGrpSpPr>
        <p:grpSpPr>
          <a:xfrm>
            <a:off x="6004694" y="2638573"/>
            <a:ext cx="2610892" cy="1785164"/>
            <a:chOff x="6036915" y="2278587"/>
            <a:chExt cx="2610892" cy="1785164"/>
          </a:xfrm>
        </p:grpSpPr>
        <p:sp>
          <p:nvSpPr>
            <p:cNvPr id="15" name="Shape 13"/>
            <p:cNvSpPr/>
            <p:nvPr/>
          </p:nvSpPr>
          <p:spPr>
            <a:xfrm>
              <a:off x="6036915" y="2298427"/>
              <a:ext cx="287015" cy="335711"/>
            </a:xfrm>
            <a:prstGeom prst="roundRect">
              <a:avLst>
                <a:gd name="adj" fmla="val 18671"/>
              </a:avLst>
            </a:prstGeom>
            <a:solidFill>
              <a:srgbClr val="E1E1EA"/>
            </a:solidFill>
            <a:ln w="7620">
              <a:solidFill>
                <a:srgbClr val="C7C7D0"/>
              </a:solidFill>
              <a:prstDash val="solid"/>
            </a:ln>
          </p:spPr>
          <p:txBody>
            <a:bodyPr/>
            <a:lstStyle/>
            <a:p>
              <a:endParaRPr lang="en-IN" sz="1600"/>
            </a:p>
          </p:txBody>
        </p:sp>
        <p:sp>
          <p:nvSpPr>
            <p:cNvPr id="16" name="Text 14"/>
            <p:cNvSpPr/>
            <p:nvPr/>
          </p:nvSpPr>
          <p:spPr>
            <a:xfrm>
              <a:off x="6084762" y="2399511"/>
              <a:ext cx="191319" cy="2391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ts val="1500"/>
                </a:lnSpc>
              </a:pPr>
              <a:r>
                <a:rPr lang="en-US" sz="2000" dirty="0">
                  <a:solidFill>
                    <a:srgbClr val="3C3939"/>
                  </a:solidFill>
                  <a:ea typeface="Raleway" pitchFamily="34" charset="-122"/>
                  <a:cs typeface="Raleway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451476" y="2278587"/>
              <a:ext cx="2196331" cy="398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b="1" dirty="0">
                  <a:solidFill>
                    <a:schemeClr val="accent4"/>
                  </a:solidFill>
                  <a:ea typeface="Raleway" pitchFamily="34" charset="-122"/>
                  <a:cs typeface="Raleway" pitchFamily="34" charset="-120"/>
                </a:rPr>
                <a:t>Drinking Water Safety Standards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451475" y="3042790"/>
              <a:ext cx="2196331" cy="10209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3C3939"/>
                  </a:solidFill>
                  <a:ea typeface="Roboto" pitchFamily="34" charset="-122"/>
                  <a:cs typeface="Roboto" pitchFamily="34" charset="-120"/>
                </a:rPr>
                <a:t>Monitoring hardness ensures compliance with aesthetic and operational guidelines for potable water.</a:t>
              </a:r>
              <a:endParaRPr lang="en-US" sz="2000" dirty="0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DBE716C0-1A36-E61C-B457-D6F4F31AF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The Imperative of Measuring Water Hardness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A7941A-3CF2-D337-BDA6-998FB2F0AA73}"/>
              </a:ext>
            </a:extLst>
          </p:cNvPr>
          <p:cNvSpPr txBox="1"/>
          <p:nvPr/>
        </p:nvSpPr>
        <p:spPr>
          <a:xfrm>
            <a:off x="639588" y="1880233"/>
            <a:ext cx="7886700" cy="515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594"/>
              </a:lnSpc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  <a:ea typeface="Roboto" pitchFamily="34" charset="-122"/>
                <a:cs typeface="Roboto" pitchFamily="34" charset="-120"/>
              </a:rPr>
              <a:t>Accurately measuring water hardness is critical for various applications, ensuring water quality and preventing industrial and domestic issues.</a:t>
            </a:r>
            <a:endParaRPr lang="en-US" sz="1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9B7107-07CD-945D-7327-1E8C75BFA317}"/>
              </a:ext>
            </a:extLst>
          </p:cNvPr>
          <p:cNvSpPr txBox="1"/>
          <p:nvPr/>
        </p:nvSpPr>
        <p:spPr>
          <a:xfrm>
            <a:off x="684240" y="2671346"/>
            <a:ext cx="2455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4"/>
                </a:solidFill>
                <a:ea typeface="Raleway" pitchFamily="34" charset="-122"/>
                <a:cs typeface="Raleway" pitchFamily="34" charset="-120"/>
              </a:rPr>
              <a:t>Measurement Methods</a:t>
            </a:r>
            <a:endParaRPr lang="en-US" sz="1800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959E-ABF5-CC1B-4540-0FB64DD33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Degree of Hardness</a:t>
            </a:r>
            <a:endParaRPr lang="en-IN" dirty="0">
              <a:solidFill>
                <a:schemeClr val="accent5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552C7-BC1B-54DD-F46E-D47076232D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The unit in which hardness is usually expressed, known as degree of hardness. </a:t>
                </a:r>
              </a:p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Degree of hardness is expressed in terms of calcium carbonate (CaCO</a:t>
                </a:r>
                <a:r>
                  <a:rPr lang="en-US" sz="20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cs typeface="Times New Roman" panose="02020603050405020304" pitchFamily="18" charset="0"/>
                  </a:rPr>
                  <a:t>) equivalent because CaCO</a:t>
                </a:r>
                <a:r>
                  <a:rPr lang="en-US" sz="20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sz="2000" dirty="0">
                    <a:cs typeface="Times New Roman" panose="02020603050405020304" pitchFamily="18" charset="0"/>
                  </a:rPr>
                  <a:t> have molecular weight 100 and it is easily precipitate. </a:t>
                </a:r>
              </a:p>
              <a:p>
                <a:pPr algn="just"/>
                <a:r>
                  <a:rPr lang="en-US" sz="2000" dirty="0">
                    <a:cs typeface="Times New Roman" panose="02020603050405020304" pitchFamily="18" charset="0"/>
                  </a:rPr>
                  <a:t>Degree of hardness may be expressed as follows</a:t>
                </a:r>
              </a:p>
              <a:p>
                <a:pPr marL="0" indent="0" algn="just">
                  <a:buNone/>
                </a:pPr>
                <a:endParaRPr lang="en-GB" sz="1600" i="1" dirty="0"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GB" sz="1600" i="1" dirty="0"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cs typeface="Times New Roman" panose="02020603050405020304" pitchFamily="18" charset="0"/>
                  </a:rPr>
                  <a:t>OR</a:t>
                </a:r>
              </a:p>
              <a:p>
                <a:pPr marL="0" indent="0" algn="ctr">
                  <a:buNone/>
                </a:pPr>
                <a:endParaRPr lang="en-US" sz="2000" dirty="0">
                  <a:cs typeface="Times New Roman" panose="02020603050405020304" pitchFamily="18" charset="0"/>
                </a:endParaRPr>
              </a:p>
              <a:p>
                <a:pPr algn="just"/>
                <a:endParaRPr lang="en-US" sz="2000" dirty="0">
                  <a:cs typeface="Times New Roman" panose="02020603050405020304" pitchFamily="18" charset="0"/>
                </a:endParaRPr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5552C7-BC1B-54DD-F46E-D47076232D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261" r="-8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3DC9ED3-197A-1D61-D834-20D8216DD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66" y="4106069"/>
            <a:ext cx="8657069" cy="47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CAEBD0-11AD-98CA-7361-E03D5656A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65" y="5444620"/>
            <a:ext cx="8657070" cy="4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06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A83F5F-AC99-824C-8802-A2530FC6C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636340"/>
              </p:ext>
            </p:extLst>
          </p:nvPr>
        </p:nvGraphicFramePr>
        <p:xfrm>
          <a:off x="1897856" y="2272982"/>
          <a:ext cx="5348288" cy="313721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674144">
                  <a:extLst>
                    <a:ext uri="{9D8B030D-6E8A-4147-A177-3AD203B41FA5}">
                      <a16:colId xmlns:a16="http://schemas.microsoft.com/office/drawing/2014/main" val="957043026"/>
                    </a:ext>
                  </a:extLst>
                </a:gridCol>
                <a:gridCol w="2674144">
                  <a:extLst>
                    <a:ext uri="{9D8B030D-6E8A-4147-A177-3AD203B41FA5}">
                      <a16:colId xmlns:a16="http://schemas.microsoft.com/office/drawing/2014/main" val="1927031168"/>
                    </a:ext>
                  </a:extLst>
                </a:gridCol>
              </a:tblGrid>
              <a:tr h="805070">
                <a:tc>
                  <a:txBody>
                    <a:bodyPr/>
                    <a:lstStyle/>
                    <a:p>
                      <a:r>
                        <a:rPr lang="en-GB" dirty="0"/>
                        <a:t>Measure of Hardness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Hardness (mg/l as CaCO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)</a:t>
                      </a:r>
                      <a:endParaRPr lang="en-IN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975771"/>
                  </a:ext>
                </a:extLst>
              </a:tr>
              <a:tr h="466429">
                <a:tc>
                  <a:txBody>
                    <a:bodyPr/>
                    <a:lstStyle/>
                    <a:p>
                      <a:r>
                        <a:rPr lang="en-US" dirty="0"/>
                        <a:t>Soft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– 100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072854"/>
                  </a:ext>
                </a:extLst>
              </a:tr>
              <a:tr h="466429"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 – 200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410520"/>
                  </a:ext>
                </a:extLst>
              </a:tr>
              <a:tr h="466429">
                <a:tc>
                  <a:txBody>
                    <a:bodyPr/>
                    <a:lstStyle/>
                    <a:p>
                      <a:r>
                        <a:rPr lang="en-US" dirty="0"/>
                        <a:t>Hard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 – 300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74457"/>
                  </a:ext>
                </a:extLst>
              </a:tr>
              <a:tr h="466429">
                <a:tc>
                  <a:txBody>
                    <a:bodyPr/>
                    <a:lstStyle/>
                    <a:p>
                      <a:r>
                        <a:rPr lang="en-US" dirty="0"/>
                        <a:t>Very hard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– 500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73872"/>
                  </a:ext>
                </a:extLst>
              </a:tr>
              <a:tr h="466429">
                <a:tc>
                  <a:txBody>
                    <a:bodyPr/>
                    <a:lstStyle/>
                    <a:p>
                      <a:r>
                        <a:rPr lang="en-US" dirty="0"/>
                        <a:t>Extremely hard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 – 1,000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098303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3204229A-1332-6B1D-5A29-E752C658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Degree of Hardness</a:t>
            </a:r>
            <a:endParaRPr lang="en-IN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14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4291CAFA-F226-C6B1-F44C-CCC7A56C9F96}"/>
              </a:ext>
            </a:extLst>
          </p:cNvPr>
          <p:cNvGrpSpPr/>
          <p:nvPr/>
        </p:nvGrpSpPr>
        <p:grpSpPr>
          <a:xfrm>
            <a:off x="496119" y="2444287"/>
            <a:ext cx="3828231" cy="1610813"/>
            <a:chOff x="496119" y="2415783"/>
            <a:chExt cx="4012109" cy="1008377"/>
          </a:xfrm>
        </p:grpSpPr>
        <p:sp>
          <p:nvSpPr>
            <p:cNvPr id="4" name="Shape 2"/>
            <p:cNvSpPr/>
            <p:nvPr/>
          </p:nvSpPr>
          <p:spPr>
            <a:xfrm>
              <a:off x="496119" y="2545110"/>
              <a:ext cx="4012109" cy="22536"/>
            </a:xfrm>
            <a:prstGeom prst="roundRect">
              <a:avLst>
                <a:gd name="adj" fmla="val 93767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sp>
          <p:nvSpPr>
            <p:cNvPr id="5" name="Shape 3"/>
            <p:cNvSpPr/>
            <p:nvPr/>
          </p:nvSpPr>
          <p:spPr>
            <a:xfrm>
              <a:off x="2310817" y="2415783"/>
              <a:ext cx="382711" cy="270435"/>
            </a:xfrm>
            <a:prstGeom prst="roundRect">
              <a:avLst>
                <a:gd name="adj" fmla="val 149329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5638" y="2463775"/>
              <a:ext cx="153070" cy="191319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496119" y="2770377"/>
              <a:ext cx="1650058" cy="199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Parts per Million (ppm)</a:t>
              </a:r>
              <a:endParaRPr lang="en-US" b="1" dirty="0">
                <a:solidFill>
                  <a:schemeClr val="accent4"/>
                </a:solidFill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496120" y="3015776"/>
              <a:ext cx="3870276" cy="408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594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number of equivalent parts of CaCO₃ present per million (10⁶) parts of water by weight. </a:t>
              </a:r>
              <a:endParaRPr lang="en-US" sz="16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A551A6-1770-A7A3-16D6-ABB6C63A2F54}"/>
              </a:ext>
            </a:extLst>
          </p:cNvPr>
          <p:cNvGrpSpPr/>
          <p:nvPr/>
        </p:nvGrpSpPr>
        <p:grpSpPr>
          <a:xfrm>
            <a:off x="4702447" y="2453813"/>
            <a:ext cx="3826801" cy="1601286"/>
            <a:chOff x="4635772" y="2421746"/>
            <a:chExt cx="4012110" cy="1002413"/>
          </a:xfrm>
        </p:grpSpPr>
        <p:sp>
          <p:nvSpPr>
            <p:cNvPr id="9" name="Shape 6"/>
            <p:cNvSpPr/>
            <p:nvPr/>
          </p:nvSpPr>
          <p:spPr>
            <a:xfrm>
              <a:off x="4635773" y="2545110"/>
              <a:ext cx="4012109" cy="22536"/>
            </a:xfrm>
            <a:prstGeom prst="roundRect">
              <a:avLst>
                <a:gd name="adj" fmla="val 93767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sp>
          <p:nvSpPr>
            <p:cNvPr id="10" name="Shape 7"/>
            <p:cNvSpPr/>
            <p:nvPr/>
          </p:nvSpPr>
          <p:spPr>
            <a:xfrm>
              <a:off x="6450471" y="2421746"/>
              <a:ext cx="382711" cy="270435"/>
            </a:xfrm>
            <a:prstGeom prst="roundRect">
              <a:avLst>
                <a:gd name="adj" fmla="val 149329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65293" y="2463775"/>
              <a:ext cx="153070" cy="191319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4635773" y="2739133"/>
              <a:ext cx="1897484" cy="199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Milligram per Litre (mg/L)</a:t>
              </a:r>
              <a:endParaRPr lang="en-US" b="1" dirty="0">
                <a:solidFill>
                  <a:schemeClr val="accent4"/>
                </a:solidFill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4635772" y="3015775"/>
              <a:ext cx="3871722" cy="408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594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number of milligrams of CaCO₃ present in one liter of water. Numerically, 1 mg/L is equivalent to 1 ppm.</a:t>
              </a:r>
              <a:endParaRPr lang="en-US" sz="16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FDEB48E-4191-56F5-CE08-6D7025BC267C}"/>
              </a:ext>
            </a:extLst>
          </p:cNvPr>
          <p:cNvGrpSpPr/>
          <p:nvPr/>
        </p:nvGrpSpPr>
        <p:grpSpPr>
          <a:xfrm>
            <a:off x="496118" y="4306930"/>
            <a:ext cx="3826801" cy="1678901"/>
            <a:chOff x="496118" y="3880752"/>
            <a:chExt cx="4012110" cy="1230678"/>
          </a:xfrm>
        </p:grpSpPr>
        <p:sp>
          <p:nvSpPr>
            <p:cNvPr id="14" name="Shape 10"/>
            <p:cNvSpPr/>
            <p:nvPr/>
          </p:nvSpPr>
          <p:spPr>
            <a:xfrm>
              <a:off x="496119" y="4008909"/>
              <a:ext cx="4012109" cy="26389"/>
            </a:xfrm>
            <a:prstGeom prst="roundRect">
              <a:avLst>
                <a:gd name="adj" fmla="val 93767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2310817" y="3880752"/>
              <a:ext cx="382711" cy="316667"/>
            </a:xfrm>
            <a:prstGeom prst="roundRect">
              <a:avLst>
                <a:gd name="adj" fmla="val 149329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25638" y="3927574"/>
              <a:ext cx="153070" cy="191319"/>
            </a:xfrm>
            <a:prstGeom prst="rect">
              <a:avLst/>
            </a:prstGeom>
            <a:solidFill>
              <a:srgbClr val="1B1B27"/>
            </a:solidFill>
            <a:ln/>
          </p:spPr>
        </p:pic>
        <p:sp>
          <p:nvSpPr>
            <p:cNvPr id="17" name="Text 12"/>
            <p:cNvSpPr/>
            <p:nvPr/>
          </p:nvSpPr>
          <p:spPr>
            <a:xfrm>
              <a:off x="496119" y="4253645"/>
              <a:ext cx="1594843" cy="199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Degree Clarke (°Cl)</a:t>
              </a:r>
              <a:endParaRPr lang="en-US" b="1" dirty="0">
                <a:solidFill>
                  <a:schemeClr val="accent4"/>
                </a:solidFill>
              </a:endParaRPr>
            </a:p>
          </p:txBody>
        </p:sp>
        <p:sp>
          <p:nvSpPr>
            <p:cNvPr id="18" name="Text 13"/>
            <p:cNvSpPr/>
            <p:nvPr/>
          </p:nvSpPr>
          <p:spPr>
            <a:xfrm>
              <a:off x="496118" y="4498853"/>
              <a:ext cx="3871722" cy="6125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594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Commonly used in the UK, it represents the number of equivalent parts of CaCO₃ present per 70,000 parts of water.</a:t>
              </a:r>
              <a:endParaRPr lang="en-US" sz="1600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2D20E8-4C2A-085E-5204-C8A90AC9E7C9}"/>
              </a:ext>
            </a:extLst>
          </p:cNvPr>
          <p:cNvGrpSpPr/>
          <p:nvPr/>
        </p:nvGrpSpPr>
        <p:grpSpPr>
          <a:xfrm>
            <a:off x="4688550" y="4286641"/>
            <a:ext cx="3826800" cy="1509993"/>
            <a:chOff x="4635772" y="3885545"/>
            <a:chExt cx="4012110" cy="945263"/>
          </a:xfrm>
        </p:grpSpPr>
        <p:sp>
          <p:nvSpPr>
            <p:cNvPr id="19" name="Shape 14"/>
            <p:cNvSpPr/>
            <p:nvPr/>
          </p:nvSpPr>
          <p:spPr>
            <a:xfrm>
              <a:off x="4635773" y="4008909"/>
              <a:ext cx="4012109" cy="22536"/>
            </a:xfrm>
            <a:prstGeom prst="roundRect">
              <a:avLst>
                <a:gd name="adj" fmla="val 93767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sp>
          <p:nvSpPr>
            <p:cNvPr id="20" name="Shape 15"/>
            <p:cNvSpPr/>
            <p:nvPr/>
          </p:nvSpPr>
          <p:spPr>
            <a:xfrm>
              <a:off x="6450471" y="3885545"/>
              <a:ext cx="382711" cy="270435"/>
            </a:xfrm>
            <a:prstGeom prst="roundRect">
              <a:avLst>
                <a:gd name="adj" fmla="val 149329"/>
              </a:avLst>
            </a:prstGeom>
            <a:solidFill>
              <a:srgbClr val="1B1B27"/>
            </a:solidFill>
            <a:ln/>
          </p:spPr>
          <p:txBody>
            <a:bodyPr/>
            <a:lstStyle/>
            <a:p>
              <a:endParaRPr lang="en-IN" sz="1600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65293" y="3927574"/>
              <a:ext cx="153070" cy="191319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4635773" y="4199091"/>
              <a:ext cx="1594843" cy="199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563"/>
                </a:lnSpc>
              </a:pPr>
              <a:r>
                <a:rPr lang="en-US" b="1" dirty="0">
                  <a:solidFill>
                    <a:schemeClr val="accent4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Degree French (°Fr)</a:t>
              </a:r>
              <a:endParaRPr lang="en-US" b="1" dirty="0">
                <a:solidFill>
                  <a:schemeClr val="accent4"/>
                </a:solidFill>
              </a:endParaRPr>
            </a:p>
          </p:txBody>
        </p:sp>
        <p:sp>
          <p:nvSpPr>
            <p:cNvPr id="23" name="Text 17"/>
            <p:cNvSpPr/>
            <p:nvPr/>
          </p:nvSpPr>
          <p:spPr>
            <a:xfrm>
              <a:off x="4635772" y="4422424"/>
              <a:ext cx="3871723" cy="408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just">
                <a:lnSpc>
                  <a:spcPts val="1594"/>
                </a:lnSpc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Predominant in France, it signifies the number of equivalent parts of CaCO₃ present per 10⁵ parts of water.</a:t>
              </a:r>
              <a:endParaRPr lang="en-US" sz="1600" dirty="0"/>
            </a:p>
          </p:txBody>
        </p:sp>
      </p:grpSp>
      <p:sp>
        <p:nvSpPr>
          <p:cNvPr id="24" name="Text 18"/>
          <p:cNvSpPr/>
          <p:nvPr/>
        </p:nvSpPr>
        <p:spPr>
          <a:xfrm>
            <a:off x="496119" y="6134919"/>
            <a:ext cx="8151763" cy="204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2000" b="1" dirty="0">
                <a:solidFill>
                  <a:srgbClr val="00B0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Correlation: 1 ppm = 1 mg/L = 0.07 °Cl = 0.1 °Fr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3720DFD0-EE41-503D-8164-A538257E4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</a:rPr>
              <a:t>Units of Water Hardness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E86623-C81B-E25C-0914-4074FA9AA1E7}"/>
              </a:ext>
            </a:extLst>
          </p:cNvPr>
          <p:cNvSpPr txBox="1"/>
          <p:nvPr/>
        </p:nvSpPr>
        <p:spPr>
          <a:xfrm>
            <a:off x="432347" y="1651340"/>
            <a:ext cx="8151762" cy="513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594"/>
              </a:lnSpc>
            </a:pPr>
            <a:r>
              <a:rPr lang="en-US" sz="1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hardness is expressed in various units globally, with each unit representing the equivalent concentration of calcium carbonate (</a:t>
            </a:r>
            <a:r>
              <a:rPr lang="en-US" sz="18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CaCO</a:t>
            </a:r>
            <a:r>
              <a:rPr lang="en-US" sz="1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₃).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806D-E8AA-AF32-78D0-55E7621E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5"/>
                </a:solidFill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Assignment: Problems based on Hardness of Water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E6DB2-0E30-7ED4-915D-1FDF8C92E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1350"/>
            <a:ext cx="7886700" cy="444182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sample of water contains 50 mgs of Ca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 per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calculate its hardness in terms of CaCO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equivalent?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Water sample contains 204 mg of CaSO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73 mg of Mg(HCO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What is the total hardness in terms of CaCO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equivalent? (Mol mass of CaSO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136, Mg(HCO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146)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carbonate and non-carbonate hardness of a sample of water containing the dissolved salts as given below in mgs/lit . Mg(HCO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7.3; Ca(HCO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40.5; CaSO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13.6; MgCl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21.75. (Mol mass of CaSO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136, Mg(HCO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146, Ca(HCO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162, MgCl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95)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4: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sample of water is found and contain the following analytical data in mgs/lit. Mg(HCO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14.6; MgCl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9.5; MgSO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6.0; Ca(HCO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16.2. Calculate the temporary and Permanent hardness of the sample of water?(Mol Mass of MgSO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=120)</a:t>
            </a:r>
          </a:p>
          <a:p>
            <a:pPr algn="just"/>
            <a:endParaRPr lang="en-US" sz="16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75585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7391-DBBB-1E77-4701-C0DAEBB4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Questions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768475"/>
            <a:ext cx="3886200" cy="435133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1. Which of the following is a physical characteristic of water?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A. pH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Hardness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Turbidity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Alkalinity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endParaRPr lang="en-US" sz="1600" b="1" dirty="0">
              <a:solidFill>
                <a:schemeClr val="accent1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2. The chemical property that indicates water's acidity or alkalinity is: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TDS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DO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pH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BOD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3. Which parameter is used to measure organic pollution in water?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Turbidity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pH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BOD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Hardness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</a:p>
          <a:p>
            <a:pPr>
              <a:buNone/>
            </a:pPr>
            <a:endParaRPr lang="en-GB" sz="1600" b="1" dirty="0">
              <a:solidFill>
                <a:schemeClr val="accent1"/>
              </a:solidFill>
              <a:ea typeface="+mn-lt"/>
              <a:cs typeface="+mn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007CA-A96F-14DC-D593-B0F1D0A286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4. Which of the following is a biological characteristic of water?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Sulfate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content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Color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Bacteria presence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Conductivity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5. Dissolved oxygen (DO) in water is important because it: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Increases turbidity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Promotes corrosion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Supports aquatic life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Increases hardness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</a:p>
          <a:p>
            <a:pPr>
              <a:buNone/>
            </a:pPr>
            <a:endParaRPr lang="en-IN" sz="1600" b="1" dirty="0">
              <a:solidFill>
                <a:schemeClr val="accent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5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4FD4-CC49-9EA0-1639-89D1611CE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Questions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E61F-56F9-E9F3-C5C9-2F0C9273FE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1. Hardness of water is mainly due to: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A. Sodium and potassium ions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Calcium and magnesium ions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Iron and aluminium ions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Chloride and nitrate ions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US" sz="1600" dirty="0"/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2. Temporary hardness is caused by: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Chlorides and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sulfates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Nitrates and phosphates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Bicarbonates of Ca and Mg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Carbonates and hydroxides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endParaRPr lang="en-GB" sz="1600" dirty="0"/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3. Which of the following methods removes permanent hardness?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Boiling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Filtration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Lime-soda process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Aeration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endParaRPr lang="en-GB" sz="1600" dirty="0">
              <a:solidFill>
                <a:schemeClr val="accent1"/>
              </a:solidFill>
              <a:ea typeface="+mn-lt"/>
              <a:cs typeface="+mn-lt"/>
            </a:endParaRPr>
          </a:p>
          <a:p>
            <a:endParaRPr lang="en-IN" sz="1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F2428-C6E4-5C29-3CAD-E256443390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4. Hardness is usually expressed in terms of: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NaCl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CaCO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₃ equivalent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MgCl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₂ equivalent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SO₄²⁻ content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600" dirty="0"/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5. What is one negative effect of hard water in households?</a:t>
            </a:r>
            <a:b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A. Increases water flow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Enhances soap lathering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Reduces heating efficiency due to  scale formation 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Increases pH of water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endParaRPr lang="en-GB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63226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Take away of the session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Autofit/>
          </a:bodyPr>
          <a:lstStyle/>
          <a:p>
            <a:r>
              <a:rPr lang="en-US" sz="2000" b="1" dirty="0">
                <a:ea typeface="+mn-lt"/>
                <a:cs typeface="+mn-lt"/>
              </a:rPr>
              <a:t>Definition:</a:t>
            </a:r>
            <a:r>
              <a:rPr lang="en-US" sz="2000" dirty="0">
                <a:ea typeface="+mn-lt"/>
                <a:cs typeface="+mn-lt"/>
              </a:rPr>
              <a:t> Hardness is caused by the presence of </a:t>
            </a:r>
            <a:r>
              <a:rPr lang="en-US" sz="2000" b="1" dirty="0">
                <a:ea typeface="+mn-lt"/>
                <a:cs typeface="+mn-lt"/>
              </a:rPr>
              <a:t>dissolved calcium (Ca²⁺)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b="1" dirty="0">
                <a:ea typeface="+mn-lt"/>
                <a:cs typeface="+mn-lt"/>
              </a:rPr>
              <a:t>magnesium (Mg²⁺)</a:t>
            </a:r>
            <a:r>
              <a:rPr lang="en-US" sz="2000" dirty="0">
                <a:ea typeface="+mn-lt"/>
                <a:cs typeface="+mn-lt"/>
              </a:rPr>
              <a:t> ions.</a:t>
            </a:r>
          </a:p>
          <a:p>
            <a:r>
              <a:rPr lang="en-US" sz="2000" b="1" dirty="0">
                <a:ea typeface="+mn-lt"/>
                <a:cs typeface="+mn-lt"/>
              </a:rPr>
              <a:t>Types: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2000" b="1" dirty="0">
                <a:ea typeface="+mn-lt"/>
                <a:cs typeface="+mn-lt"/>
              </a:rPr>
              <a:t>Temporary Hardness:</a:t>
            </a:r>
            <a:r>
              <a:rPr lang="en-US" sz="2000" dirty="0">
                <a:ea typeface="+mn-lt"/>
                <a:cs typeface="+mn-lt"/>
              </a:rPr>
              <a:t> Due to </a:t>
            </a:r>
            <a:r>
              <a:rPr lang="en-US" sz="2000" b="1" dirty="0">
                <a:ea typeface="+mn-lt"/>
                <a:cs typeface="+mn-lt"/>
              </a:rPr>
              <a:t>bicarbonates</a:t>
            </a:r>
            <a:r>
              <a:rPr lang="en-US" sz="2000" dirty="0">
                <a:ea typeface="+mn-lt"/>
                <a:cs typeface="+mn-lt"/>
              </a:rPr>
              <a:t> of Ca and Mg; removed by boiling.</a:t>
            </a:r>
          </a:p>
          <a:p>
            <a:pPr lvl="1"/>
            <a:r>
              <a:rPr lang="en-US" sz="2000" b="1" dirty="0">
                <a:ea typeface="+mn-lt"/>
                <a:cs typeface="+mn-lt"/>
              </a:rPr>
              <a:t>Permanent Hardness:</a:t>
            </a:r>
            <a:r>
              <a:rPr lang="en-US" sz="2000" dirty="0">
                <a:ea typeface="+mn-lt"/>
                <a:cs typeface="+mn-lt"/>
              </a:rPr>
              <a:t> Due to </a:t>
            </a:r>
            <a:r>
              <a:rPr lang="en-US" sz="2000" b="1" dirty="0">
                <a:ea typeface="+mn-lt"/>
                <a:cs typeface="+mn-lt"/>
              </a:rPr>
              <a:t>chlorides and sulfates</a:t>
            </a:r>
            <a:r>
              <a:rPr lang="en-US" sz="2000" dirty="0">
                <a:ea typeface="+mn-lt"/>
                <a:cs typeface="+mn-lt"/>
              </a:rPr>
              <a:t>; not removed by boiling.</a:t>
            </a:r>
          </a:p>
          <a:p>
            <a:r>
              <a:rPr lang="en-US" sz="2000" b="1" dirty="0">
                <a:ea typeface="+mn-lt"/>
                <a:cs typeface="+mn-lt"/>
              </a:rPr>
              <a:t>Units:</a:t>
            </a:r>
            <a:r>
              <a:rPr lang="en-US" sz="2000" dirty="0">
                <a:ea typeface="+mn-lt"/>
                <a:cs typeface="+mn-lt"/>
              </a:rPr>
              <a:t> Expressed in </a:t>
            </a:r>
            <a:r>
              <a:rPr lang="en-US" sz="2000" b="1" dirty="0">
                <a:ea typeface="+mn-lt"/>
                <a:cs typeface="+mn-lt"/>
              </a:rPr>
              <a:t>mg/L or ppm</a:t>
            </a:r>
            <a:r>
              <a:rPr lang="en-US" sz="2000" dirty="0">
                <a:ea typeface="+mn-lt"/>
                <a:cs typeface="+mn-lt"/>
              </a:rPr>
              <a:t> as </a:t>
            </a:r>
            <a:r>
              <a:rPr lang="en-US" sz="2000" b="1" dirty="0" err="1">
                <a:ea typeface="+mn-lt"/>
                <a:cs typeface="+mn-lt"/>
              </a:rPr>
              <a:t>CaCO</a:t>
            </a:r>
            <a:r>
              <a:rPr lang="en-US" sz="2000" b="1" dirty="0">
                <a:ea typeface="+mn-lt"/>
                <a:cs typeface="+mn-lt"/>
              </a:rPr>
              <a:t>₃ equivalent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b="1" dirty="0">
                <a:ea typeface="+mn-lt"/>
                <a:cs typeface="+mn-lt"/>
              </a:rPr>
              <a:t>Effects:</a:t>
            </a:r>
            <a:r>
              <a:rPr lang="en-US" sz="2000" dirty="0">
                <a:ea typeface="+mn-lt"/>
                <a:cs typeface="+mn-lt"/>
              </a:rPr>
              <a:t> Causes </a:t>
            </a:r>
            <a:r>
              <a:rPr lang="en-US" sz="2000" b="1" dirty="0">
                <a:ea typeface="+mn-lt"/>
                <a:cs typeface="+mn-lt"/>
              </a:rPr>
              <a:t>scaling in boilers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b="1" dirty="0">
                <a:ea typeface="+mn-lt"/>
                <a:cs typeface="+mn-lt"/>
              </a:rPr>
              <a:t>soap wastage</a:t>
            </a:r>
            <a:r>
              <a:rPr lang="en-US" sz="2000" dirty="0">
                <a:ea typeface="+mn-lt"/>
                <a:cs typeface="+mn-lt"/>
              </a:rPr>
              <a:t>, and reduces </a:t>
            </a:r>
            <a:r>
              <a:rPr lang="en-US" sz="2000" b="1" dirty="0">
                <a:ea typeface="+mn-lt"/>
                <a:cs typeface="+mn-lt"/>
              </a:rPr>
              <a:t>detergent efficiency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b="1" dirty="0">
                <a:ea typeface="+mn-lt"/>
                <a:cs typeface="+mn-lt"/>
              </a:rPr>
              <a:t>Removal Methods: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Temporary: </a:t>
            </a:r>
            <a:r>
              <a:rPr lang="en-US" sz="2000" b="1" dirty="0">
                <a:ea typeface="+mn-lt"/>
                <a:cs typeface="+mn-lt"/>
              </a:rPr>
              <a:t>Boiling, lime treatment</a:t>
            </a:r>
            <a:endParaRPr lang="en-US" sz="2000" dirty="0">
              <a:ea typeface="+mn-lt"/>
              <a:cs typeface="+mn-lt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Permanent: </a:t>
            </a:r>
            <a:r>
              <a:rPr lang="en-US" sz="2000" b="1" dirty="0">
                <a:ea typeface="+mn-lt"/>
                <a:cs typeface="+mn-lt"/>
              </a:rPr>
              <a:t>Zeolite, Ion exchange, Lime-soda process</a:t>
            </a:r>
            <a:endParaRPr lang="en-US" sz="2000" dirty="0">
              <a:ea typeface="+mn-lt"/>
              <a:cs typeface="+mn-l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2226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39875"/>
            <a:ext cx="7886700" cy="4351338"/>
          </a:xfrm>
        </p:spPr>
        <p:txBody>
          <a:bodyPr>
            <a:normAutofit/>
          </a:bodyPr>
          <a:lstStyle/>
          <a:p>
            <a:r>
              <a:rPr sz="2400" dirty="0"/>
              <a:t>BTL1: Remember water types and hardness definitions</a:t>
            </a:r>
          </a:p>
          <a:p>
            <a:r>
              <a:rPr sz="2400" dirty="0"/>
              <a:t>BTL4: Solve numerical problems based on hardness</a:t>
            </a:r>
            <a:endParaRPr lang="en-GB" sz="2400" dirty="0"/>
          </a:p>
          <a:p>
            <a:endParaRPr lang="en-IN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sz="2400" dirty="0"/>
              <a:t>CO1: Understand hardness determination methods</a:t>
            </a:r>
          </a:p>
          <a:p>
            <a:r>
              <a:rPr lang="en-GB" sz="2400" dirty="0"/>
              <a:t>CO4: Solve water quality-related problems</a:t>
            </a:r>
          </a:p>
          <a:p>
            <a:endParaRPr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63E1C-814B-1AF4-B7F4-B4AEB0945408}"/>
              </a:ext>
            </a:extLst>
          </p:cNvPr>
          <p:cNvSpPr txBox="1">
            <a:spLocks/>
          </p:cNvSpPr>
          <p:nvPr/>
        </p:nvSpPr>
        <p:spPr>
          <a:xfrm>
            <a:off x="628650" y="342900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5"/>
                </a:solidFill>
              </a:rPr>
              <a:t>Mapped Course Outcomes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586</TotalTime>
  <Words>2478</Words>
  <Application>Microsoft Office PowerPoint</Application>
  <PresentationFormat>On-screen Show (4:3)</PresentationFormat>
  <Paragraphs>235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Raleway</vt:lpstr>
      <vt:lpstr>Roboto</vt:lpstr>
      <vt:lpstr>Times New Roman</vt:lpstr>
      <vt:lpstr>Verdana</vt:lpstr>
      <vt:lpstr>Wingdings</vt:lpstr>
      <vt:lpstr>Office Theme</vt:lpstr>
      <vt:lpstr>PowerPoint Presentation</vt:lpstr>
      <vt:lpstr>Course Overview</vt:lpstr>
      <vt:lpstr>PowerPoint Presentation</vt:lpstr>
      <vt:lpstr> Introduction to Water Chemistry &amp; Hardness </vt:lpstr>
      <vt:lpstr>PowerPoint Presentation</vt:lpstr>
      <vt:lpstr>Introduction of Water in Industry</vt:lpstr>
      <vt:lpstr>Sources of Water</vt:lpstr>
      <vt:lpstr>Water Characteristics</vt:lpstr>
      <vt:lpstr>1. Physical Characteristics</vt:lpstr>
      <vt:lpstr>2. Chemical Characteristics</vt:lpstr>
      <vt:lpstr>3. Biological Characteristics</vt:lpstr>
      <vt:lpstr>Hardness of Water: An Overview</vt:lpstr>
      <vt:lpstr>Types of Hardness</vt:lpstr>
      <vt:lpstr>Temporary Hardness</vt:lpstr>
      <vt:lpstr>Permanent Hardness</vt:lpstr>
      <vt:lpstr>The Imperative of Measuring Water Hardness</vt:lpstr>
      <vt:lpstr>Degree of Hardness</vt:lpstr>
      <vt:lpstr>Degree of Hardness</vt:lpstr>
      <vt:lpstr>Units of Water Hardness</vt:lpstr>
      <vt:lpstr>Assignment: Problems based on Hardness of Water</vt:lpstr>
      <vt:lpstr>Questions</vt:lpstr>
      <vt:lpstr>Questions</vt:lpstr>
      <vt:lpstr>Take away of the session</vt:lpstr>
      <vt:lpstr>Learning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pratibha.s</cp:lastModifiedBy>
  <cp:revision>25</cp:revision>
  <dcterms:created xsi:type="dcterms:W3CDTF">2024-10-29T09:41:06Z</dcterms:created>
  <dcterms:modified xsi:type="dcterms:W3CDTF">2025-08-22T04:16:22Z</dcterms:modified>
</cp:coreProperties>
</file>