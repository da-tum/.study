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1011" r:id="rId2"/>
    <p:sldId id="993" r:id="rId3"/>
    <p:sldId id="1012" r:id="rId4"/>
    <p:sldId id="691" r:id="rId5"/>
    <p:sldId id="1027" r:id="rId6"/>
    <p:sldId id="1013" r:id="rId7"/>
    <p:sldId id="1066" r:id="rId8"/>
    <p:sldId id="262" r:id="rId9"/>
    <p:sldId id="263" r:id="rId10"/>
    <p:sldId id="303" r:id="rId11"/>
    <p:sldId id="264" r:id="rId12"/>
    <p:sldId id="1080" r:id="rId13"/>
    <p:sldId id="1082" r:id="rId14"/>
    <p:sldId id="1067" r:id="rId15"/>
    <p:sldId id="273" r:id="rId16"/>
    <p:sldId id="277" r:id="rId17"/>
    <p:sldId id="294" r:id="rId18"/>
    <p:sldId id="282" r:id="rId19"/>
    <p:sldId id="1076" r:id="rId20"/>
    <p:sldId id="284" r:id="rId21"/>
    <p:sldId id="285" r:id="rId22"/>
    <p:sldId id="305" r:id="rId23"/>
    <p:sldId id="287" r:id="rId24"/>
    <p:sldId id="288" r:id="rId25"/>
    <p:sldId id="1078" r:id="rId26"/>
    <p:sldId id="292" r:id="rId27"/>
    <p:sldId id="306" r:id="rId28"/>
    <p:sldId id="307" r:id="rId29"/>
    <p:sldId id="308" r:id="rId30"/>
    <p:sldId id="309" r:id="rId31"/>
    <p:sldId id="1081" r:id="rId32"/>
    <p:sldId id="310" r:id="rId33"/>
    <p:sldId id="311" r:id="rId34"/>
    <p:sldId id="312" r:id="rId35"/>
    <p:sldId id="1079" r:id="rId36"/>
    <p:sldId id="1014" r:id="rId37"/>
    <p:sldId id="269" r:id="rId38"/>
  </p:sldIdLst>
  <p:sldSz cx="9144000" cy="6858000" type="screen4x3"/>
  <p:notesSz cx="6761163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B3"/>
    <a:srgbClr val="E31E24"/>
    <a:srgbClr val="4B0993"/>
    <a:srgbClr val="E83030"/>
    <a:srgbClr val="0060AA"/>
    <a:srgbClr val="006C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854" autoAdjust="0"/>
    <p:restoredTop sz="93883" autoAdjust="0"/>
  </p:normalViewPr>
  <p:slideViewPr>
    <p:cSldViewPr>
      <p:cViewPr varScale="1">
        <p:scale>
          <a:sx n="69" d="100"/>
          <a:sy n="69" d="100"/>
        </p:scale>
        <p:origin x="280" y="80"/>
      </p:cViewPr>
      <p:guideLst>
        <p:guide orient="horz" pos="2160"/>
        <p:guide pos="2880"/>
      </p:guideLst>
    </p:cSldViewPr>
  </p:slideViewPr>
  <p:notesTextViewPr>
    <p:cViewPr>
      <p:scale>
        <a:sx n="300" d="100"/>
        <a:sy n="3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68431-CD35-4516-818D-B41B2C4843CF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949B3-C4AB-4FB2-8B24-B07A558BD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534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39319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74DFB-3008-8543-633F-58A4FDCE5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05E617-873D-1C3C-F1FE-596A7096C4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C17E02-BCF9-92D4-5122-7BCC78C013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B01162-177B-B734-FFE6-17BCFEDA52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69050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5542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F8777-BC47-2200-6A1C-EB34789B9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9F4ABC-EEF1-A951-7FAC-1F93C569E2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D04343-20BB-49D4-3398-79EEED45DE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B6DA01-74A2-3336-38C9-77FDE5032F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11045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80562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AD66B-D39F-9A85-D5E3-03BAF5CD9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3AFF25-01D8-9077-3E21-0D0695DCDC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501B00-9F99-9B33-6FA8-BBDD291933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B8F968-BB44-95D9-C378-B56150E455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7297283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AD66B-D39F-9A85-D5E3-03BAF5CD9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3AFF25-01D8-9077-3E21-0D0695DCDC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501B00-9F99-9B33-6FA8-BBDD291933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B8F968-BB44-95D9-C378-B56150E455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7297283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BE539-B463-9085-965A-30B93AA73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A64DA6-4D49-1C33-FFC3-42D650D3CA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DA4649-4611-29A5-AAA1-66BAEFBBCE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39F905-662A-5D6A-63A2-67D2A247D5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339595-B75E-51D7-F7F6-FD747B4222A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96E9A32A-CA7C-AA90-EEA3-34F2DBE41536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449932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E82CA-633E-D87F-DD2E-BD79F773E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DA96A3-C569-831D-0048-72CD22EF83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F58525-73C1-E93F-201D-543325FCF5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E50B8D-ECD1-012D-2C90-6C52C000EC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9798E0-7CD1-77F1-268B-049BF54803E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B839F303-41BB-FC0C-7B26-B31B12F2F28A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13096955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09F53-2F64-A6FA-D753-35A565FD5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1E28D4-C6B1-C8D3-3762-C2C38B54B3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900241-E5AD-B3C0-1697-BFBC03F4F2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A830A8-0177-6711-2D83-478190A397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19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1F7130-A8B3-50C3-D903-86D985F0267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EB0334CB-883D-D17D-2086-E0338F1CA453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13273730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369A2-1547-C940-781E-65A2BFB41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B9A0B9-8C4F-2650-880C-FC68AA9B16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C091A4-C185-9C07-2022-364436028E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474080-A623-EFE9-49D5-2460750F23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A58E4-B518-0BE9-0EAD-CE38F780215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57DE85F3-355A-6ABE-47AC-54D614E4A538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158003184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55BEF-3F2A-2107-7417-BCD5FDD87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02234E-1C24-4A27-F81F-9E960C5326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2C8AC7-1E41-DB89-7B41-A378743B1C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26B9EF-860C-8028-D71B-9C613082A9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27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8BDE07-FB83-FC19-564F-61FB2E74930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8BE21AE5-B3C9-950E-CA12-BDC58197A6A4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287384619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5031C-D6AA-283E-444B-AC58872CF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2A7D6-B1C7-B162-C9A4-BAE542645A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E752DF-147B-FC02-F798-86A67EDFDB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33FD6C-BFD0-539C-5A0D-ED47FD4747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28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FEA841-4D57-32E3-E22F-BBA05C393F6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54F4E3EA-6912-7EC8-B431-E4A962F975C1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32598365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8CC28-284F-BFAD-B79D-A9E71B788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CA0979-D9D5-24C6-7402-2EAFC57BA7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A55558-EDD6-BA39-10AC-64F3924B68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E4C5B0-4138-A982-09EE-1DD3332E99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29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2BA052-4640-C92C-EA18-2EE8010F43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119D59BD-56D5-DD07-EE08-B7DEC5C59C28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1226648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7D4CE-748A-01D4-4BE1-21CE33875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4BBC8F-CB58-1A29-4CF5-8774F182BB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779CA1-A69C-03F7-0928-390ECE99A3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C47698-0DE9-9124-1AA3-04A40ED5BF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109387-053F-0E8F-80BB-3A7AFC3AE56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C5958E72-DE79-B3B5-905C-21958CA23A70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160716958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D834F-F6E5-4AEE-CAE4-EB7C5AD1E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56D65C-8E61-C8AD-2D20-DB6AADCED2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66B32A-A067-B477-A02A-3E39360203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938F3C-3613-EB0B-7852-D08FEA91C6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B32D71-18D2-E616-BEA6-2F77FD6C601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BFB79379-0375-5930-C737-14F44762DF35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129972483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8BFA9-7F1D-9634-EEEA-0A902E290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E13325-2C01-97E4-9A62-0423B190F5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0620BE-8110-5A44-59AE-2E703D9CF0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8C1D1E-0204-EF85-D96E-5D42C5AE3D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89F9D5-7D36-D436-A717-AA365CC0373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B7674074-39C2-3668-6DC7-F8901508D3D5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57437604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4CC49-436A-C08A-F124-27A8C5F7C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80D721-8F12-A3A6-4ED0-48F7D14123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3FDCAA-8064-C2D8-BA8E-06B0655DE8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4BA6D3-0ABB-83BB-72BB-9576E0A5A3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D32DB7-7CAA-4525-5F06-359939311E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FAB08F8B-1863-9C04-B26F-69D831C7C312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41676949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D95B0-4E25-2B1A-2D28-EBD60BAA7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8CBB6C-92F3-364A-0C01-48117DD338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FD1A6D-6A98-3132-ED70-4F92D7EC1E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83FBBE-4AF4-935A-37FB-C5D007FDAC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6498E6-7577-BFE7-7757-29EF0D8813B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E31EA14D-4471-6C41-C10F-454F60022924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419726926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87870-69C3-052C-2D34-AB9010CF5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0F5D21-8CC7-D704-5F25-376DD49FBB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6CE45C-1E2C-70D1-4607-5B563FA0A5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7AB84-0995-2E73-205F-1279697C08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F66337-56ED-5A81-BCA9-0B77DE7B288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A7B87D03-7E27-75F1-52DC-7C920AA472F1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40268755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52238-09A6-8EB0-4295-5007DFCC4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880A71-06A5-D1F8-DA16-27247CBDC0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99DB18-C22C-0235-39B4-E26D3FB8C9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5C905F-3127-FA31-973F-892A372D9B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36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13411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24B7B-8CFF-4188-8E5F-458DAB1C0A4A}" type="datetime1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Dr. Aarti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617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89787-5071-4C5F-8398-907FFB8E997A}" type="datetime1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IN" dirty="0"/>
              <a:t>Dr. Aarti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195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2C24D9-24F3-417C-BC8F-BF4AA98118EF}" type="datetime1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 dirty="0"/>
              <a:t>Dr. Aarti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759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hyperlink" Target="https://www.scaler.com/topics/data-structures/queue-in-data-structure/" TargetMode="Externa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javatpoint.com/data-structure-queue" TargetMode="Externa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javatpoint.com/data-structure-queue" TargetMode="Externa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hyperlink" Target="https://www.javatpoint.com/data-structure-queue" TargetMode="External"/><Relationship Id="rId4" Type="http://schemas.openxmlformats.org/officeDocument/2006/relationships/image" Target="../media/image3.png"/><Relationship Id="rId9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learnloner.com/queues-in-data-structures-and-algorithms-dsa/" TargetMode="External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javatpoint.com/array-representation-of-queue" TargetMode="External"/><Relationship Id="rId5" Type="http://schemas.openxmlformats.org/officeDocument/2006/relationships/image" Target="../media/image30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hyperlink" Target="https://www.geeksforgeeks.org/basic-operations-for-queue-in-data-structure/" TargetMode="Externa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hyperlink" Target="https://www.geeksforgeeks.org/basic-operations-for-queue-in-data-structure/" TargetMode="Externa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hetalrachh.home.blog/2020/02/24/implementing-queue-using-array-in-java/" TargetMode="External"/><Relationship Id="rId5" Type="http://schemas.openxmlformats.org/officeDocument/2006/relationships/image" Target="../media/image33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programiz.com/dsa/queue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www.javatpoint.com/data-structure-queue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caler.com/topics/data-structures/queue-in-data-structure/" TargetMode="External"/><Relationship Id="rId5" Type="http://schemas.openxmlformats.org/officeDocument/2006/relationships/hyperlink" Target="https://www.geeksforgeeks.org/queue-data-structure/" TargetMode="External"/><Relationship Id="rId4" Type="http://schemas.openxmlformats.org/officeDocument/2006/relationships/image" Target="../media/image3.png"/><Relationship Id="rId9" Type="http://schemas.openxmlformats.org/officeDocument/2006/relationships/hyperlink" Target="https://www.tutorialspoint.com/data_structures_algorithms/queue_algorithm.htm" TargetMode="Externa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70355-B08D-308D-DAFB-1DCEF1C1D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CE75B-70BC-32F0-9AE3-D3A4E8E6F8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78983B-21DD-AA3A-59D7-A404EAAE16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BD99E4B-F41D-043D-FE73-335D31AA237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D873DE-D9DB-5423-6553-EECC3B910E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952" y="480488"/>
            <a:ext cx="6172601" cy="888700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707A6CE9-669B-DEE3-BF3E-8D5506EAE3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5625" y="1636320"/>
            <a:ext cx="6372708" cy="12844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>
              <a:lnSpc>
                <a:spcPct val="150000"/>
              </a:lnSpc>
              <a:buSzPct val="25000"/>
            </a:pPr>
            <a:r>
              <a:rPr lang="en-US" sz="2800" b="1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Structures</a:t>
            </a:r>
          </a:p>
          <a:p>
            <a:pPr lvl="0" algn="ctr">
              <a:lnSpc>
                <a:spcPct val="150000"/>
              </a:lnSpc>
              <a:buSzPct val="25000"/>
            </a:pPr>
            <a:r>
              <a:rPr lang="en-US" sz="2800" b="1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ETCCDS202 </a:t>
            </a:r>
            <a:endParaRPr lang="en-I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A8034320-BE78-5A55-6F19-03B79C05C8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619" y="4240831"/>
            <a:ext cx="6480720" cy="1054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>
              <a:spcBef>
                <a:spcPts val="600"/>
              </a:spcBef>
              <a:buSzPct val="25000"/>
            </a:pPr>
            <a:r>
              <a:rPr lang="en-US" b="1" kern="100" dirty="0"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Faculty</a:t>
            </a:r>
          </a:p>
          <a:p>
            <a:pPr lvl="0" algn="ctr">
              <a:spcBef>
                <a:spcPts val="600"/>
              </a:spcBef>
              <a:buSzPct val="25000"/>
            </a:pPr>
            <a:r>
              <a:rPr lang="en-US" b="1" kern="100" dirty="0"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School of Engineering &amp; Technology </a:t>
            </a:r>
          </a:p>
          <a:p>
            <a:pPr lvl="0" algn="ctr">
              <a:spcBef>
                <a:spcPts val="600"/>
              </a:spcBef>
              <a:buSzPct val="25000"/>
            </a:pPr>
            <a:r>
              <a:rPr lang="en-US" b="1" kern="100" dirty="0"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K.R. </a:t>
            </a:r>
            <a:r>
              <a:rPr lang="en-US" b="1" kern="100" dirty="0" err="1"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Mangalam</a:t>
            </a:r>
            <a:r>
              <a:rPr lang="en-US" b="1" kern="100" dirty="0"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University </a:t>
            </a:r>
            <a:endParaRPr lang="en-IN" b="1" dirty="0">
              <a:solidFill>
                <a:srgbClr val="E31E24"/>
              </a:solidFill>
              <a:latin typeface="Sylfaen" panose="010A0502050306030303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80A128E3-2186-5C09-4DCD-7BC6527248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3429000"/>
            <a:ext cx="6372708" cy="4385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>
              <a:buSzPct val="25000"/>
            </a:pPr>
            <a:r>
              <a:rPr lang="en-US" sz="2400" b="1" kern="1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Dr. Aarti</a:t>
            </a:r>
            <a:endParaRPr lang="en-IN" sz="2400" b="1" dirty="0">
              <a:solidFill>
                <a:srgbClr val="E31E24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D9C7E5-CE35-9355-4CD6-2B1E6EB9A5AA}"/>
              </a:ext>
            </a:extLst>
          </p:cNvPr>
          <p:cNvSpPr txBox="1"/>
          <p:nvPr/>
        </p:nvSpPr>
        <p:spPr>
          <a:xfrm>
            <a:off x="1178176" y="5615709"/>
            <a:ext cx="70276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2 : </a:t>
            </a:r>
            <a:r>
              <a:rPr lang="en-US" sz="2400" b="1" kern="1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Linear Data Structures</a:t>
            </a: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1646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547664" y="320012"/>
            <a:ext cx="546931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>
              <a:buSzPct val="25000"/>
            </a:pPr>
            <a:r>
              <a:rPr lang="en-US" sz="3200" b="1" kern="1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Unit-2 Linear Data Structures</a:t>
            </a:r>
            <a:endParaRPr lang="en-IN" sz="3200" b="1" dirty="0">
              <a:solidFill>
                <a:srgbClr val="E31E24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829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400" kern="100" dirty="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95536" y="1213558"/>
            <a:ext cx="835292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11	Arrays – 1D &amp; 2D</a:t>
            </a:r>
            <a:r>
              <a:rPr lang="en-US" sz="24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IN" sz="2400" b="1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2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395536" y="1733775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12	Static &amp; Dynamic Arrays	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03243" y="2249884"/>
            <a:ext cx="835292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13	Linked Lists Types	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21836" y="2811526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14	Linked List Operations	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03378" y="3324993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15	Stack ADT &amp; Operations	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07359" y="4262830"/>
            <a:ext cx="8352928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17	Queue ADT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1836" y="4776297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18	Queue Applications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95536" y="3787886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16	 Stack Applications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9AA04E-4CF0-1135-99A8-DFA66C9162E6}"/>
              </a:ext>
            </a:extLst>
          </p:cNvPr>
          <p:cNvSpPr txBox="1"/>
          <p:nvPr/>
        </p:nvSpPr>
        <p:spPr>
          <a:xfrm>
            <a:off x="414129" y="5270729"/>
            <a:ext cx="835292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19	BFS using Queue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85B26A0-3162-1565-E432-BE0EB2B54357}"/>
              </a:ext>
            </a:extLst>
          </p:cNvPr>
          <p:cNvSpPr txBox="1"/>
          <p:nvPr/>
        </p:nvSpPr>
        <p:spPr>
          <a:xfrm>
            <a:off x="421836" y="5786838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20	Revision (Unit–2)	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3646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99B22-9FA9-1FAA-D08D-F3C803090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39E82FE-96D7-2529-7945-4ACABDB58E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C685B53-95B0-E1DB-1C9C-F5456893FE5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" y="6237312"/>
            <a:ext cx="3060242" cy="4399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236DC02-599B-DF7E-0281-3D512FA448DC}"/>
              </a:ext>
            </a:extLst>
          </p:cNvPr>
          <p:cNvSpPr txBox="1"/>
          <p:nvPr/>
        </p:nvSpPr>
        <p:spPr>
          <a:xfrm>
            <a:off x="1277634" y="1827626"/>
            <a:ext cx="6588732" cy="302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07000"/>
              </a:lnSpc>
            </a:pPr>
            <a:r>
              <a:rPr lang="en-US" sz="1350" kern="100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100" kern="1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979542EF-0836-8363-678A-2FD2B60D1F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7635" y="947863"/>
            <a:ext cx="138564" cy="484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endParaRPr lang="en-IN" sz="27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979542EF-0836-8363-678A-2FD2B60D1F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1935" y="1062163"/>
            <a:ext cx="138564" cy="484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endParaRPr lang="en-IN" sz="27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36519" y="878322"/>
            <a:ext cx="7315199" cy="4247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17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92280" y="1347520"/>
            <a:ext cx="586136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6213" lvl="0" indent="-176213" eaLnBrk="0" fontAlgn="base" hangingPunct="0">
              <a:spcBef>
                <a:spcPts val="600"/>
              </a:spcBef>
              <a:spcAft>
                <a:spcPts val="60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Queue ADT</a:t>
            </a:r>
          </a:p>
          <a:p>
            <a:pPr marL="176213" lvl="0" indent="-176213" eaLnBrk="0" fontAlgn="base" hangingPunct="0">
              <a:spcBef>
                <a:spcPts val="600"/>
              </a:spcBef>
              <a:spcAft>
                <a:spcPts val="60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 of Queue &amp; FIFO Principle</a:t>
            </a:r>
          </a:p>
          <a:p>
            <a:pPr marL="176213" lvl="0" indent="-176213" eaLnBrk="0" fontAlgn="base" hangingPunct="0">
              <a:spcBef>
                <a:spcPts val="600"/>
              </a:spcBef>
              <a:spcAft>
                <a:spcPts val="60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Queue Operations</a:t>
            </a:r>
          </a:p>
          <a:p>
            <a:pPr marL="176213" lvl="0" indent="-176213" eaLnBrk="0" fontAlgn="base" hangingPunct="0">
              <a:spcBef>
                <a:spcPts val="600"/>
              </a:spcBef>
              <a:spcAft>
                <a:spcPts val="60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 Representation of Queue</a:t>
            </a:r>
          </a:p>
          <a:p>
            <a:pPr marL="176213" lvl="0" indent="-176213" eaLnBrk="0" fontAlgn="base" hangingPunct="0">
              <a:spcBef>
                <a:spcPts val="600"/>
              </a:spcBef>
              <a:spcAft>
                <a:spcPts val="60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for Enqueue &amp; Dequeue (Array)</a:t>
            </a:r>
          </a:p>
          <a:p>
            <a:pPr marL="176213" lvl="0" indent="-176213" eaLnBrk="0" fontAlgn="base" hangingPunct="0">
              <a:spcBef>
                <a:spcPts val="600"/>
              </a:spcBef>
              <a:spcAft>
                <a:spcPts val="60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Queue Using Array</a:t>
            </a:r>
          </a:p>
          <a:p>
            <a:pPr marL="176213" lvl="0" indent="-176213" eaLnBrk="0" fontAlgn="base" hangingPunct="0">
              <a:spcBef>
                <a:spcPts val="600"/>
              </a:spcBef>
              <a:spcAft>
                <a:spcPts val="60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Drawbacks of Array Implementation</a:t>
            </a:r>
          </a:p>
          <a:p>
            <a:pPr marL="176213" lvl="0" indent="-176213" eaLnBrk="0" fontAlgn="base" hangingPunct="0">
              <a:spcBef>
                <a:spcPts val="600"/>
              </a:spcBef>
              <a:spcAft>
                <a:spcPts val="60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 List Representation of Queue</a:t>
            </a:r>
          </a:p>
          <a:p>
            <a:pPr marL="176213" lvl="0" indent="-176213" eaLnBrk="0" fontAlgn="base" hangingPunct="0">
              <a:spcBef>
                <a:spcPts val="600"/>
              </a:spcBef>
              <a:spcAft>
                <a:spcPts val="60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for Linked Queue Operations</a:t>
            </a:r>
          </a:p>
          <a:p>
            <a:pPr marL="176213" lvl="0" indent="-176213" eaLnBrk="0" fontAlgn="base" hangingPunct="0">
              <a:spcBef>
                <a:spcPts val="600"/>
              </a:spcBef>
              <a:spcAft>
                <a:spcPts val="60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Takeaways</a:t>
            </a:r>
          </a:p>
          <a:p>
            <a:pPr marL="176213" lvl="0" indent="-176213" eaLnBrk="0" fontAlgn="base" hangingPunct="0">
              <a:spcBef>
                <a:spcPts val="600"/>
              </a:spcBef>
              <a:spcAft>
                <a:spcPts val="60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35322" y="255261"/>
            <a:ext cx="45175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 ADT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4370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5181" y="6345261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896" y="339393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Recapitulation (</a:t>
            </a:r>
            <a:r>
              <a:rPr lang="en-IN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Stack Applications</a:t>
            </a: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)</a:t>
            </a:r>
            <a:endParaRPr lang="en-IN" sz="28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1520" y="1278987"/>
            <a:ext cx="8346203" cy="36731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8288" lvl="0" indent="-268288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is used for expression evaluation and conversion (infix, prefix, postfix).</a:t>
            </a:r>
          </a:p>
          <a:p>
            <a:pPr marL="268288" lvl="0" indent="-268288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in function call management using the call stack.</a:t>
            </a:r>
          </a:p>
          <a:p>
            <a:pPr marL="268288" lvl="0" indent="-268288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supports backtracking (e.g., Tower of Hanoi).</a:t>
            </a:r>
          </a:p>
          <a:p>
            <a:pPr marL="268288" lvl="0" indent="-268288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used to reverse data and check balanced parentheses.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04786" y="2492516"/>
            <a:ext cx="7848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0881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8FECA-5393-67D2-AB3A-88FF12CA8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0417CCF-9D13-21D7-8A01-B566BD0E2D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1EEDFDC-CF63-81A9-B0FF-D66EB2B30BC0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E0FCD68A-5D5F-69ED-9E1B-49A119C5752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5181" y="6345261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BA3086-797F-DF92-D68F-AC598BD921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C59DB3-3A91-DA7E-7B4A-1DC48C3689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896" y="339393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IN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Quick Quiz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009213-D4D2-E2C9-27C9-02B227D89D1F}"/>
              </a:ext>
            </a:extLst>
          </p:cNvPr>
          <p:cNvSpPr txBox="1"/>
          <p:nvPr/>
        </p:nvSpPr>
        <p:spPr>
          <a:xfrm>
            <a:off x="263894" y="1349619"/>
            <a:ext cx="8580969" cy="42067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Postfix expressions are evaluated using a __________.</a:t>
            </a:r>
          </a:p>
          <a:p>
            <a:pPr marL="457200" indent="-4572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Tower of Hanoi is solved using __________ and stack.</a:t>
            </a:r>
          </a:p>
          <a:p>
            <a:pPr marL="457200" indent="-4572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stores function return addresses in the __________ stack.</a:t>
            </a:r>
          </a:p>
          <a:p>
            <a:pPr marL="457200" indent="-4572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Infix to postfix conversion uses a stack to store __________.</a:t>
            </a:r>
          </a:p>
          <a:p>
            <a:pPr marL="457200" indent="-457200">
              <a:lnSpc>
                <a:spcPct val="150000"/>
              </a:lnSpc>
              <a:spcBef>
                <a:spcPts val="600"/>
              </a:spcBef>
              <a:buFont typeface="+mj-lt"/>
              <a:buAutoNum type="arabicPeriod" startAt="5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notation places operator after operands?</a:t>
            </a:r>
          </a:p>
          <a:p>
            <a:pPr marL="457200" indent="-457200">
              <a:lnSpc>
                <a:spcPct val="150000"/>
              </a:lnSpc>
              <a:spcBef>
                <a:spcPts val="600"/>
              </a:spcBef>
              <a:buFont typeface="+mj-lt"/>
              <a:buAutoNum type="arabicPeriod" startAt="5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one real-life application of stack.</a:t>
            </a:r>
          </a:p>
          <a:p>
            <a:pPr marL="457200" indent="-457200">
              <a:lnSpc>
                <a:spcPct val="150000"/>
              </a:lnSpc>
              <a:spcBef>
                <a:spcPts val="600"/>
              </a:spcBef>
              <a:buFont typeface="+mj-lt"/>
              <a:buAutoNum type="arabicPeriod" startAt="5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principle is used by stack?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507CED-2EE3-4762-E052-FA7C361DC9A8}"/>
              </a:ext>
            </a:extLst>
          </p:cNvPr>
          <p:cNvSpPr/>
          <p:nvPr/>
        </p:nvSpPr>
        <p:spPr>
          <a:xfrm>
            <a:off x="107504" y="1107776"/>
            <a:ext cx="8784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C732D7C8-79E3-F348-757E-CE701D933B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205522B-7DAD-6F72-F197-E3266F677833}"/>
              </a:ext>
            </a:extLst>
          </p:cNvPr>
          <p:cNvSpPr txBox="1"/>
          <p:nvPr/>
        </p:nvSpPr>
        <p:spPr>
          <a:xfrm>
            <a:off x="304786" y="2492516"/>
            <a:ext cx="7848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7F6B204-7BB8-BD04-E03F-2A90C354D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8093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355183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defRPr/>
            </a:pPr>
            <a:endParaRPr lang="en-US" sz="24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buFont typeface="Wingdings" panose="05000000000000000000" pitchFamily="2" charset="2"/>
              <a:buChar char="§"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50357" y="1317330"/>
            <a:ext cx="8496942" cy="43656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this lecture, students will be able to:</a:t>
            </a: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Queue ADT and explain the FIFO principle</a:t>
            </a: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Describe different types of queues</a:t>
            </a: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basic operations on Queue</a:t>
            </a: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queue using arrays and linked lists</a:t>
            </a: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algorithms for queue operations</a:t>
            </a: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advantages and limitations of different implementations</a:t>
            </a:r>
          </a:p>
        </p:txBody>
      </p:sp>
    </p:spTree>
    <p:extLst>
      <p:ext uri="{BB962C8B-B14F-4D97-AF65-F5344CB8AC3E}">
        <p14:creationId xmlns:p14="http://schemas.microsoft.com/office/powerpoint/2010/main" val="32740748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C329F-E92F-EDD7-915A-56A8087A1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6C8E47A3-19E5-2480-D729-7717BBFCF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51593"/>
            <a:ext cx="373313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200">
                <a:solidFill>
                  <a:srgbClr val="FF0000"/>
                </a:solidFill>
              </a:rPr>
              <a:t>Structure of Queues?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EE93A9F-B97B-AF76-6D55-820A501541FD}"/>
              </a:ext>
            </a:extLst>
          </p:cNvPr>
          <p:cNvCxnSpPr/>
          <p:nvPr/>
        </p:nvCxnSpPr>
        <p:spPr>
          <a:xfrm>
            <a:off x="1" y="774774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3F45274-10BE-0CF7-F6D8-B35FA206310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B0734EE-9746-9E1E-DD18-BF795A5F179F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66800" y="4495800"/>
            <a:ext cx="7010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/>
          </a:p>
          <a:p>
            <a:pPr algn="ctr"/>
            <a:r>
              <a:rPr lang="en-US"/>
              <a:t>Fig 1 : QUEUE</a:t>
            </a:r>
          </a:p>
          <a:p>
            <a:pPr algn="ctr"/>
            <a:r>
              <a:rPr lang="en-US">
                <a:hlinkClick r:id="rId5"/>
              </a:rPr>
              <a:t>https://www.scaler.com/topics/data-structures/queue-in-data-structure/</a:t>
            </a:r>
            <a:endParaRPr lang="en-US"/>
          </a:p>
          <a:p>
            <a:pPr algn="ctr"/>
            <a:endParaRPr lang="en-US"/>
          </a:p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2349" b="35054"/>
          <a:stretch/>
        </p:blipFill>
        <p:spPr bwMode="auto">
          <a:xfrm>
            <a:off x="685800" y="1143001"/>
            <a:ext cx="7772400" cy="33355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09266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C329F-E92F-EDD7-915A-56A8087A1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6C8E47A3-19E5-2480-D729-7717BBFCF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51593"/>
            <a:ext cx="165141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200">
                <a:solidFill>
                  <a:srgbClr val="FF0000"/>
                </a:solidFill>
              </a:rPr>
              <a:t>Queues?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EE93A9F-B97B-AF76-6D55-820A501541FD}"/>
              </a:ext>
            </a:extLst>
          </p:cNvPr>
          <p:cNvCxnSpPr/>
          <p:nvPr/>
        </p:nvCxnSpPr>
        <p:spPr>
          <a:xfrm>
            <a:off x="1" y="774774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3F45274-10BE-0CF7-F6D8-B35FA206310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4" name="Rectangle 3"/>
          <p:cNvSpPr/>
          <p:nvPr/>
        </p:nvSpPr>
        <p:spPr>
          <a:xfrm>
            <a:off x="179512" y="994337"/>
            <a:ext cx="8583488" cy="23189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ordered list which enables insert operations to be performed at one end called 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and delete operations to be performed at another end called 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Referred to be as First In First Out list.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493" y="3669220"/>
            <a:ext cx="7177013" cy="1848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/>
        </p:nvSpPr>
        <p:spPr>
          <a:xfrm>
            <a:off x="983492" y="5726934"/>
            <a:ext cx="753901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hlinkClick r:id="rId6"/>
              </a:rPr>
              <a:t>https://www.javatpoint.com/data-structure-queue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84183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88" y="-27384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311567"/>
            <a:ext cx="842493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Types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6149" name="Picture 5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21"/>
          <a:stretch/>
        </p:blipFill>
        <p:spPr bwMode="auto">
          <a:xfrm>
            <a:off x="545467" y="1650643"/>
            <a:ext cx="7693025" cy="33921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Rectangle 11"/>
          <p:cNvSpPr/>
          <p:nvPr/>
        </p:nvSpPr>
        <p:spPr>
          <a:xfrm>
            <a:off x="997844" y="5416275"/>
            <a:ext cx="753901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>
                <a:hlinkClick r:id="rId6"/>
              </a:rPr>
              <a:t>https://www.javatpoint.com/data-structure-queue</a:t>
            </a:r>
            <a:endParaRPr lang="en-IN"/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26289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88" y="-27384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99588" y="244206"/>
            <a:ext cx="842493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Types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971600" y="5770453"/>
            <a:ext cx="753901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hlinkClick r:id="rId5"/>
              </a:rPr>
              <a:t>https://www.javatpint.com/data-structure-queue</a:t>
            </a:r>
            <a:endParaRPr lang="en-IN" dirty="0"/>
          </a:p>
          <a:p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92"/>
          <a:stretch/>
        </p:blipFill>
        <p:spPr bwMode="auto">
          <a:xfrm>
            <a:off x="179512" y="1293834"/>
            <a:ext cx="5943600" cy="13449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854"/>
          <a:stretch/>
        </p:blipFill>
        <p:spPr bwMode="auto">
          <a:xfrm>
            <a:off x="1365976" y="3150755"/>
            <a:ext cx="3895601" cy="24794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2133600"/>
            <a:ext cx="3505201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0224" y="4215606"/>
            <a:ext cx="3124200" cy="13930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444479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88" y="-27384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97349" y="252823"/>
            <a:ext cx="842493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Operations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Rectangle 1"/>
          <p:cNvSpPr/>
          <p:nvPr/>
        </p:nvSpPr>
        <p:spPr>
          <a:xfrm>
            <a:off x="307975" y="1060594"/>
            <a:ext cx="8368481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Enqueue (Insert)</a:t>
            </a:r>
            <a:r>
              <a:rPr lang="en-I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Adds an element to the rear of the queue.</a:t>
            </a:r>
          </a:p>
          <a:p>
            <a:pPr marL="342900" indent="-3429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Dequeue (Delete):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Removes and returns the element from the front of the queue.</a:t>
            </a:r>
          </a:p>
          <a:p>
            <a:pPr marL="342900" indent="-3429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Peek: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Returns the element at the front of the queue without removing it.</a:t>
            </a:r>
          </a:p>
          <a:p>
            <a:pPr marL="342900" indent="-3429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isEmpty</a:t>
            </a:r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Checks if the queue is empty.</a:t>
            </a:r>
          </a:p>
          <a:p>
            <a:pPr marL="342900" indent="-3429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isFull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Checks if the queue is full.</a:t>
            </a: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839" b="15228"/>
          <a:stretch>
            <a:fillRect/>
          </a:stretch>
        </p:blipFill>
        <p:spPr bwMode="auto">
          <a:xfrm>
            <a:off x="5138881" y="4561279"/>
            <a:ext cx="3955326" cy="1327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Rectangle 10"/>
          <p:cNvSpPr/>
          <p:nvPr/>
        </p:nvSpPr>
        <p:spPr>
          <a:xfrm>
            <a:off x="3851920" y="5965001"/>
            <a:ext cx="54006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dirty="0">
                <a:hlinkClick r:id="rId6"/>
              </a:rPr>
              <a:t>https://learnloner.com/queues-in-data-structures-and-algorithms-dsa/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7820238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0BD77-069F-BEF6-7D4C-586F8D5E5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CA015B2-936B-703E-5120-C2DCC2B128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921" y="-27384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E4568193-5F21-03B3-EB3B-3937678FA9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326125"/>
            <a:ext cx="842493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Check Your Understanding 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CD4BC3A-905C-CB63-FA7E-FCCDFEA8C1D9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568226FF-2BC2-9BEE-12C5-E3DFEC27E8C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B295582-0AB9-055E-1E51-070444ADD91C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75773D-7983-DE04-C49C-23972F915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>
            <a:extLst>
              <a:ext uri="{FF2B5EF4-FFF2-40B4-BE49-F238E27FC236}">
                <a16:creationId xmlns:a16="http://schemas.microsoft.com/office/drawing/2014/main" id="{AD33FD01-2BD1-511E-8A58-EA824DCFAE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>
            <a:extLst>
              <a:ext uri="{FF2B5EF4-FFF2-40B4-BE49-F238E27FC236}">
                <a16:creationId xmlns:a16="http://schemas.microsoft.com/office/drawing/2014/main" id="{1AC11721-9FA5-E45C-9B53-3DC93FD14C0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B7591D-D5EE-B5C1-8E5E-9F38A2BEEB5F}"/>
              </a:ext>
            </a:extLst>
          </p:cNvPr>
          <p:cNvSpPr txBox="1"/>
          <p:nvPr/>
        </p:nvSpPr>
        <p:spPr>
          <a:xfrm>
            <a:off x="307975" y="1401570"/>
            <a:ext cx="8152457" cy="4288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0363" indent="-360363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 follows the __________ principle.</a:t>
            </a:r>
          </a:p>
          <a:p>
            <a:pPr marL="360363" indent="-360363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 in a queue is performed at the __________ end.</a:t>
            </a:r>
          </a:p>
          <a:p>
            <a:pPr marL="360363" indent="-360363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Deletion in a queue is performed from the __________ end.</a:t>
            </a:r>
          </a:p>
          <a:p>
            <a:pPr marL="360363" indent="-360363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operation used to remove an element is called __________.</a:t>
            </a:r>
          </a:p>
          <a:p>
            <a:pPr marL="360363" indent="-360363">
              <a:lnSpc>
                <a:spcPct val="150000"/>
              </a:lnSpc>
              <a:spcBef>
                <a:spcPts val="600"/>
              </a:spcBef>
              <a:buFont typeface="+mj-lt"/>
              <a:buAutoNum type="arabicPeriod" startAt="5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queue overflow?</a:t>
            </a:r>
          </a:p>
          <a:p>
            <a:pPr marL="360363" indent="-360363">
              <a:lnSpc>
                <a:spcPct val="150000"/>
              </a:lnSpc>
              <a:spcBef>
                <a:spcPts val="600"/>
              </a:spcBef>
              <a:buFont typeface="+mj-lt"/>
              <a:buAutoNum type="arabicPeriod" startAt="5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any one type of queue.</a:t>
            </a:r>
          </a:p>
        </p:txBody>
      </p:sp>
    </p:spTree>
    <p:extLst>
      <p:ext uri="{BB962C8B-B14F-4D97-AF65-F5344CB8AC3E}">
        <p14:creationId xmlns:p14="http://schemas.microsoft.com/office/powerpoint/2010/main" val="39850434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BDC57-B86E-C424-EBCC-F0085F860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0E4101BC-AAC0-C138-2AC1-858F0F4725C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9" y="-13692"/>
            <a:ext cx="9180512" cy="6885384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A299164D-70A8-4061-6CA0-82F0CD6326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575" y="324273"/>
            <a:ext cx="842493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Working of Queue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A37C8F0-DCE0-E475-83D3-5A27847894BD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77DBA408-58E1-F933-78FE-DF28FF0A563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21B1094-4457-22F2-506F-07BD075512F5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743D79-A49F-3FEB-C7E7-48A10F010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>
            <a:extLst>
              <a:ext uri="{FF2B5EF4-FFF2-40B4-BE49-F238E27FC236}">
                <a16:creationId xmlns:a16="http://schemas.microsoft.com/office/drawing/2014/main" id="{090C6469-19BD-C4FD-1B76-9536FCAD4FA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>
            <a:extLst>
              <a:ext uri="{FF2B5EF4-FFF2-40B4-BE49-F238E27FC236}">
                <a16:creationId xmlns:a16="http://schemas.microsoft.com/office/drawing/2014/main" id="{8372B81F-BB7E-7923-CA25-36AE7380E9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EB2B3C-F65B-B8EA-3274-E667B9209BE8}"/>
              </a:ext>
            </a:extLst>
          </p:cNvPr>
          <p:cNvSpPr/>
          <p:nvPr/>
        </p:nvSpPr>
        <p:spPr>
          <a:xfrm>
            <a:off x="179512" y="1077763"/>
            <a:ext cx="8610600" cy="12943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 letters in the word "ENCRYPT" are stored in Queue A in a random manner. Observe the operations performed to display the letters in their correct order in Queue B so as to form the actual word.</a:t>
            </a:r>
            <a:r>
              <a:rPr lang="en-US" dirty="0"/>
              <a:t> </a:t>
            </a:r>
          </a:p>
        </p:txBody>
      </p:sp>
      <p:pic>
        <p:nvPicPr>
          <p:cNvPr id="327681" name="Picture 1">
            <a:extLst>
              <a:ext uri="{FF2B5EF4-FFF2-40B4-BE49-F238E27FC236}">
                <a16:creationId xmlns:a16="http://schemas.microsoft.com/office/drawing/2014/main" id="{D05C270B-A5CB-B336-1052-5E513851422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5"/>
          <a:srcRect l="10413" r="6300"/>
          <a:stretch>
            <a:fillRect/>
          </a:stretch>
        </p:blipFill>
        <p:spPr bwMode="auto">
          <a:xfrm>
            <a:off x="465489" y="2378838"/>
            <a:ext cx="4320481" cy="2124309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  <p:pic>
        <p:nvPicPr>
          <p:cNvPr id="562180" name="Picture 4">
            <a:extLst>
              <a:ext uri="{FF2B5EF4-FFF2-40B4-BE49-F238E27FC236}">
                <a16:creationId xmlns:a16="http://schemas.microsoft.com/office/drawing/2014/main" id="{819575BD-9EBE-06E0-8C79-6E5CF19EAD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65490" y="4555732"/>
            <a:ext cx="4320480" cy="2220244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B583BD50-6896-58A3-2B54-6AD5F909B0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4890351" y="2369808"/>
            <a:ext cx="3888432" cy="2113689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D0B1F83C-2940-BF47-E4C9-B16D03BA09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4869539" y="4555732"/>
            <a:ext cx="3909244" cy="2220243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1581913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BA00AB22-A624-94A7-F8AC-04CB443A89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9" y="-13692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72008" y="370965"/>
            <a:ext cx="8424936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br>
              <a:rPr lang="en-IN" sz="3200"/>
            </a:br>
            <a:endParaRPr lang="en-IN" sz="3200" b="1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65250" name="Picture 2"/>
          <p:cNvPicPr>
            <a:picLocks noChangeAspect="1" noChangeArrowheads="1"/>
          </p:cNvPicPr>
          <p:nvPr/>
        </p:nvPicPr>
        <p:blipFill>
          <a:blip r:embed="rId5"/>
          <a:srcRect l="3842" r="3202"/>
          <a:stretch>
            <a:fillRect/>
          </a:stretch>
        </p:blipFill>
        <p:spPr bwMode="auto">
          <a:xfrm>
            <a:off x="539552" y="319169"/>
            <a:ext cx="3744416" cy="300584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  <p:pic>
        <p:nvPicPr>
          <p:cNvPr id="566274" name="Picture 2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39552" y="3505603"/>
            <a:ext cx="3744416" cy="2726444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  <p:pic>
        <p:nvPicPr>
          <p:cNvPr id="567298" name="Picture 2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4458023" y="315403"/>
            <a:ext cx="4215123" cy="300584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  <p:pic>
        <p:nvPicPr>
          <p:cNvPr id="568322" name="Picture 2"/>
          <p:cNvPicPr>
            <a:picLocks noChangeAspect="1" noChangeArrowheads="1"/>
          </p:cNvPicPr>
          <p:nvPr/>
        </p:nvPicPr>
        <p:blipFill>
          <a:blip r:embed="rId8"/>
          <a:srcRect l="7032" r="4422"/>
          <a:stretch>
            <a:fillRect/>
          </a:stretch>
        </p:blipFill>
        <p:spPr bwMode="auto">
          <a:xfrm>
            <a:off x="4425836" y="3505603"/>
            <a:ext cx="4247310" cy="2726444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5409909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84AEFDC6-10AD-A777-CC7A-74AD5061B5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9" y="-13692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72008" y="370965"/>
            <a:ext cx="8424936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br>
              <a:rPr lang="en-IN" sz="3200"/>
            </a:br>
            <a:endParaRPr lang="en-IN" sz="3200" b="1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69346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49575" y="291109"/>
            <a:ext cx="3888432" cy="3051393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  <p:pic>
        <p:nvPicPr>
          <p:cNvPr id="570370" name="Picture 2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47336" y="3494888"/>
            <a:ext cx="3889426" cy="2982177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  <p:pic>
        <p:nvPicPr>
          <p:cNvPr id="571395" name="Picture 3"/>
          <p:cNvPicPr>
            <a:picLocks noChangeAspect="1" noChangeArrowheads="1"/>
          </p:cNvPicPr>
          <p:nvPr/>
        </p:nvPicPr>
        <p:blipFill>
          <a:blip r:embed="rId7"/>
          <a:srcRect l="9611" r="3388"/>
          <a:stretch>
            <a:fillRect/>
          </a:stretch>
        </p:blipFill>
        <p:spPr bwMode="auto">
          <a:xfrm>
            <a:off x="4438077" y="293343"/>
            <a:ext cx="4256347" cy="3049159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  <p:pic>
        <p:nvPicPr>
          <p:cNvPr id="572418" name="Picture 2"/>
          <p:cNvPicPr>
            <a:picLocks noChangeAspect="1" noChangeArrowheads="1"/>
          </p:cNvPicPr>
          <p:nvPr/>
        </p:nvPicPr>
        <p:blipFill>
          <a:blip r:embed="rId8"/>
          <a:srcRect l="15569"/>
          <a:stretch>
            <a:fillRect/>
          </a:stretch>
        </p:blipFill>
        <p:spPr bwMode="auto">
          <a:xfrm>
            <a:off x="4438077" y="3486920"/>
            <a:ext cx="4256347" cy="2990145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8565809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AF0374DB-8464-1E06-BEDA-E47526CE06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9" y="-13692"/>
            <a:ext cx="9180512" cy="6885384"/>
          </a:xfr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73442" name="Picture 2"/>
          <p:cNvPicPr>
            <a:picLocks noChangeAspect="1" noChangeArrowheads="1"/>
          </p:cNvPicPr>
          <p:nvPr/>
        </p:nvPicPr>
        <p:blipFill>
          <a:blip r:embed="rId5"/>
          <a:srcRect l="10180"/>
          <a:stretch>
            <a:fillRect/>
          </a:stretch>
        </p:blipFill>
        <p:spPr bwMode="auto">
          <a:xfrm>
            <a:off x="307975" y="236314"/>
            <a:ext cx="4176464" cy="3216992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  <p:pic>
        <p:nvPicPr>
          <p:cNvPr id="574466" name="Picture 2"/>
          <p:cNvPicPr>
            <a:picLocks noChangeAspect="1" noChangeArrowheads="1"/>
          </p:cNvPicPr>
          <p:nvPr/>
        </p:nvPicPr>
        <p:blipFill>
          <a:blip r:embed="rId6"/>
          <a:srcRect l="10311" r="4045"/>
          <a:stretch>
            <a:fillRect/>
          </a:stretch>
        </p:blipFill>
        <p:spPr bwMode="auto">
          <a:xfrm>
            <a:off x="307975" y="3582086"/>
            <a:ext cx="4176464" cy="2900342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  <p:pic>
        <p:nvPicPr>
          <p:cNvPr id="575490" name="Picture 2"/>
          <p:cNvPicPr>
            <a:picLocks noChangeAspect="1" noChangeArrowheads="1"/>
          </p:cNvPicPr>
          <p:nvPr/>
        </p:nvPicPr>
        <p:blipFill>
          <a:blip r:embed="rId7"/>
          <a:srcRect l="7945" r="5470"/>
          <a:stretch>
            <a:fillRect/>
          </a:stretch>
        </p:blipFill>
        <p:spPr bwMode="auto">
          <a:xfrm>
            <a:off x="4674799" y="236314"/>
            <a:ext cx="4104677" cy="3216992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  <p:pic>
        <p:nvPicPr>
          <p:cNvPr id="576514" name="Picture 2"/>
          <p:cNvPicPr>
            <a:picLocks noChangeAspect="1" noChangeArrowheads="1"/>
          </p:cNvPicPr>
          <p:nvPr/>
        </p:nvPicPr>
        <p:blipFill>
          <a:blip r:embed="rId8"/>
          <a:srcRect l="12599" r="8752"/>
          <a:stretch>
            <a:fillRect/>
          </a:stretch>
        </p:blipFill>
        <p:spPr bwMode="auto">
          <a:xfrm>
            <a:off x="4643787" y="3576701"/>
            <a:ext cx="4135689" cy="2927229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033637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921" y="-27384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AutoShape 2" descr="Implementing Queue using array in Java – Data structures and algorithms in  Java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307974" y="1293834"/>
            <a:ext cx="842372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operation adds an element to the end of a Queue?</a:t>
            </a:r>
          </a:p>
          <a:p>
            <a:pPr marL="457200" indent="-457200" algn="just">
              <a:buAutoNum type="alphaU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Enqueue</a:t>
            </a:r>
          </a:p>
          <a:p>
            <a:pPr marL="457200" indent="-457200" algn="just">
              <a:buAutoNum type="alphaU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Dequeue</a:t>
            </a:r>
          </a:p>
          <a:p>
            <a:pPr marL="457200" indent="-457200" algn="just">
              <a:buAutoNum type="alphaU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Peek</a:t>
            </a:r>
          </a:p>
          <a:p>
            <a:pPr marL="457200" indent="-457200" algn="just">
              <a:buAutoNum type="alphaU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</a:t>
            </a:r>
          </a:p>
          <a:p>
            <a:pPr lvl="1"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operation removes an element from the front of a Queue?</a:t>
            </a:r>
          </a:p>
          <a:p>
            <a:pPr marL="457200" indent="-457200" algn="just">
              <a:buAutoNum type="alphaU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Enqueue</a:t>
            </a:r>
          </a:p>
          <a:p>
            <a:pPr marL="457200" indent="-457200" algn="just">
              <a:buAutoNum type="alphaU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Dequeue</a:t>
            </a:r>
          </a:p>
          <a:p>
            <a:pPr marL="457200" indent="-457200" algn="just">
              <a:buAutoNum type="alphaU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Peek</a:t>
            </a:r>
          </a:p>
          <a:p>
            <a:pPr marL="457200" indent="-457200" algn="just">
              <a:buAutoNum type="alphaU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418B97-55C7-24C3-D46B-519D0B4C0CD8}"/>
              </a:ext>
            </a:extLst>
          </p:cNvPr>
          <p:cNvSpPr txBox="1"/>
          <p:nvPr/>
        </p:nvSpPr>
        <p:spPr>
          <a:xfrm>
            <a:off x="219615" y="199650"/>
            <a:ext cx="5101074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Test Yourself</a:t>
            </a:r>
          </a:p>
        </p:txBody>
      </p:sp>
    </p:spTree>
    <p:extLst>
      <p:ext uri="{BB962C8B-B14F-4D97-AF65-F5344CB8AC3E}">
        <p14:creationId xmlns:p14="http://schemas.microsoft.com/office/powerpoint/2010/main" val="19883757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921" y="-27384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81217" y="374787"/>
            <a:ext cx="842493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Implementation of Linear Queues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1A6EA1-8C1D-B955-31AA-869301E7088F}"/>
              </a:ext>
            </a:extLst>
          </p:cNvPr>
          <p:cNvSpPr txBox="1"/>
          <p:nvPr/>
        </p:nvSpPr>
        <p:spPr>
          <a:xfrm>
            <a:off x="323528" y="1295896"/>
            <a:ext cx="8591872" cy="1697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 can be implemented using: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79564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FD5A1-D727-3C1F-EF59-5EEBA5AFD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DE97669-5E1C-6438-99B1-67B2DFAD44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921" y="-27384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FAA3B089-8BFB-E504-0F1A-31AD867460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217" y="374787"/>
            <a:ext cx="842493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Array based implementation of linear Queues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D6ACE5-B885-FACC-74B3-547B369C74A4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6833C483-0E9D-D4B7-6D95-2629525FB85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58200F2-4230-1EDE-251B-B8DD76017586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718A1A-2229-FAD6-8108-40F464D8E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>
            <a:extLst>
              <a:ext uri="{FF2B5EF4-FFF2-40B4-BE49-F238E27FC236}">
                <a16:creationId xmlns:a16="http://schemas.microsoft.com/office/drawing/2014/main" id="{38F3D6FF-C4EE-DF1D-E26A-38178F267F6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>
            <a:extLst>
              <a:ext uri="{FF2B5EF4-FFF2-40B4-BE49-F238E27FC236}">
                <a16:creationId xmlns:a16="http://schemas.microsoft.com/office/drawing/2014/main" id="{8E862241-2DAF-345C-F8E6-142C19023E8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A5F6760-50F3-F0EF-4A22-1735D0F96F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0987" y="1899013"/>
            <a:ext cx="6753944" cy="24882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E528013-9318-902D-F5E0-258459B59426}"/>
              </a:ext>
            </a:extLst>
          </p:cNvPr>
          <p:cNvSpPr/>
          <p:nvPr/>
        </p:nvSpPr>
        <p:spPr>
          <a:xfrm>
            <a:off x="633131" y="4707325"/>
            <a:ext cx="76930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hlinkClick r:id="rId6"/>
              </a:rPr>
              <a:t>https://www.javatpoint.com/array-representation-of-queue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8979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Content Placeholder 3">
            <a:extLst>
              <a:ext uri="{FF2B5EF4-FFF2-40B4-BE49-F238E27FC236}">
                <a16:creationId xmlns:a16="http://schemas.microsoft.com/office/drawing/2014/main" id="{1D8D4D1F-7352-6C32-042C-7154AD2622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921" y="-27384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59532" y="315058"/>
            <a:ext cx="842493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Enqueue Operations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827584" y="5850493"/>
            <a:ext cx="76930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https://www.geeksforgeeks.org/basic-operations-for-queue-in-data-structure/</a:t>
            </a:r>
            <a:endParaRPr lang="en-IN" dirty="0"/>
          </a:p>
        </p:txBody>
      </p:sp>
      <p:sp>
        <p:nvSpPr>
          <p:cNvPr id="2" name="Rectangle 1"/>
          <p:cNvSpPr/>
          <p:nvPr/>
        </p:nvSpPr>
        <p:spPr>
          <a:xfrm>
            <a:off x="359532" y="1253795"/>
            <a:ext cx="4572000" cy="463203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b="1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Enqueue (Insert): Algorithm</a:t>
            </a:r>
            <a:endParaRPr lang="en-US" sz="3200" b="1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2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IF REAR = MAX - 1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OVERFLOW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 to step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[END OF IF]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IF FRONT = -1 and REAR = -1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FRONT = REAR = 0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REAR = REAR + 1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[END OF IF]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Set QUEUE[REAR] = NUM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4: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EXIT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73" t="8852" r="12975"/>
          <a:stretch>
            <a:fillRect/>
          </a:stretch>
        </p:blipFill>
        <p:spPr bwMode="auto">
          <a:xfrm>
            <a:off x="4571999" y="1263374"/>
            <a:ext cx="4212469" cy="38416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949815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Content Placeholder 3">
            <a:extLst>
              <a:ext uri="{FF2B5EF4-FFF2-40B4-BE49-F238E27FC236}">
                <a16:creationId xmlns:a16="http://schemas.microsoft.com/office/drawing/2014/main" id="{D1E41451-839A-C539-06CD-F4BDA23CE84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921" y="-27384"/>
            <a:ext cx="9180512" cy="6885384"/>
          </a:xfrm>
          <a:prstGeom prst="rect">
            <a:avLst/>
          </a:prstGeo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51755" y="374568"/>
            <a:ext cx="810513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Dequeue Operation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3706688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07000"/>
              </a:lnSpc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705822" y="5566737"/>
            <a:ext cx="76930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https://www.geeksforgeeks.org/basic-operations-for-queue-in-data-structure/</a:t>
            </a:r>
            <a:endParaRPr lang="en-IN" dirty="0"/>
          </a:p>
        </p:txBody>
      </p:sp>
      <p:sp>
        <p:nvSpPr>
          <p:cNvPr id="2" name="Rectangle 1"/>
          <p:cNvSpPr/>
          <p:nvPr/>
        </p:nvSpPr>
        <p:spPr>
          <a:xfrm>
            <a:off x="351755" y="1498735"/>
            <a:ext cx="4264025" cy="3884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IF FRONT = -1 or FRONT &gt; REAR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UNDERFLOW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VAL = QUEUE[FRONT]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FRONT = FRONT + 1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[END OF IF]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EXIT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2255" y="1962559"/>
            <a:ext cx="5048250" cy="2990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691424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921" y="-27384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07974" y="352049"/>
            <a:ext cx="811941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Implementation 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AutoShape 2" descr="Implementing Queue using array in Java – Data structures and algorithms in  Java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655" b="64406"/>
          <a:stretch>
            <a:fillRect/>
          </a:stretch>
        </p:blipFill>
        <p:spPr bwMode="auto">
          <a:xfrm>
            <a:off x="1277888" y="1208957"/>
            <a:ext cx="6633018" cy="2216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Rectangle 11"/>
          <p:cNvSpPr/>
          <p:nvPr/>
        </p:nvSpPr>
        <p:spPr>
          <a:xfrm>
            <a:off x="720279" y="6235740"/>
            <a:ext cx="83517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https://hetalrachh.home.blog/2020/02/24/implementing-queue-using-array-in-java/</a:t>
            </a:r>
            <a:endParaRPr lang="en-IN" dirty="0"/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70" t="42518" r="1623" b="2624"/>
          <a:stretch>
            <a:fillRect/>
          </a:stretch>
        </p:blipFill>
        <p:spPr bwMode="auto">
          <a:xfrm>
            <a:off x="1547664" y="3581140"/>
            <a:ext cx="6206753" cy="26772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816513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07974" y="476673"/>
            <a:ext cx="818896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Practice 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349766" y="1103294"/>
            <a:ext cx="8105384" cy="1133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50000"/>
              </a:lnSpc>
            </a:pPr>
            <a:r>
              <a:rPr lang="en-IN" sz="2400" b="1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Question:</a:t>
            </a:r>
            <a:r>
              <a:rPr lang="en-IN" sz="2400" kern="1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kern="1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set of numbers are given in Queue A. With the help of queue B, deque the elements in DESCENDING order.</a:t>
            </a: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34" r="36137" b="1"/>
          <a:stretch/>
        </p:blipFill>
        <p:spPr bwMode="auto">
          <a:xfrm>
            <a:off x="2195736" y="2448721"/>
            <a:ext cx="5256584" cy="36491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685291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921" y="-27384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60374" y="352049"/>
            <a:ext cx="850411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Code for Queue Operations Using Array (Python)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AutoShape 2" descr="Implementing Queue using array in Java – Data structures and algorithms in  Java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" name="Rectangle 16"/>
          <p:cNvSpPr/>
          <p:nvPr/>
        </p:nvSpPr>
        <p:spPr>
          <a:xfrm>
            <a:off x="460375" y="1293834"/>
            <a:ext cx="4572000" cy="507831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Queue implementation using array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 = [0] * 100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= 100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 = -1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rear = -1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 insert():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global front, rear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rear == n - 1: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print("Queue Overflow")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else: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if front == -1: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front = 0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int(input("Insert the element in queue: "))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rear += 1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queue[rear] =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A42FA9-A9F5-983F-ADC3-45B426122030}"/>
              </a:ext>
            </a:extLst>
          </p:cNvPr>
          <p:cNvSpPr txBox="1"/>
          <p:nvPr/>
        </p:nvSpPr>
        <p:spPr>
          <a:xfrm>
            <a:off x="4471058" y="1316257"/>
            <a:ext cx="461818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 delete():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global front, rear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front == -1 or front &gt; rear: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print("Queue Underflow")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else: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print("Element deleted from queue is:", queue[front])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front += 1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 display():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front == -1 or front &gt; rear: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print("Queue is empty")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else: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print("Queue elements are:", end=" ")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for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range(front, rear + 1):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print(queue[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], end=" ")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print()</a:t>
            </a:r>
          </a:p>
        </p:txBody>
      </p:sp>
    </p:spTree>
    <p:extLst>
      <p:ext uri="{BB962C8B-B14F-4D97-AF65-F5344CB8AC3E}">
        <p14:creationId xmlns:p14="http://schemas.microsoft.com/office/powerpoint/2010/main" val="34431689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93FEB-B52A-AC09-E721-098E51BAC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8CC3F1C-E93C-2485-71B8-CE7A9215B0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921" y="-27384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228B2B2F-83C5-587C-496F-9F58E17FEB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4" y="352049"/>
            <a:ext cx="852805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Code for Queue Operations Using Array (Python)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C315B78-8C57-EA0E-A05A-DDBFCEE5D88C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D42C1B94-30A3-8B5B-C1F1-4AF3B964D7E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CBEC32C-55BC-2AB9-87D2-6F654AB05B39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E45B5C-3598-247B-D840-52354381A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>
            <a:extLst>
              <a:ext uri="{FF2B5EF4-FFF2-40B4-BE49-F238E27FC236}">
                <a16:creationId xmlns:a16="http://schemas.microsoft.com/office/drawing/2014/main" id="{5A8ECEB7-E614-1CE7-A5C9-2E85FF210B8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>
            <a:extLst>
              <a:ext uri="{FF2B5EF4-FFF2-40B4-BE49-F238E27FC236}">
                <a16:creationId xmlns:a16="http://schemas.microsoft.com/office/drawing/2014/main" id="{994F7497-0D2E-78B3-A330-E74E32334A4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AutoShape 2" descr="Implementing Queue using array in Java – Data structures and algorithms in  Java">
            <a:extLst>
              <a:ext uri="{FF2B5EF4-FFF2-40B4-BE49-F238E27FC236}">
                <a16:creationId xmlns:a16="http://schemas.microsoft.com/office/drawing/2014/main" id="{C69792C8-1A02-BB8F-2CA8-DD677F8C028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9DB36E4-7AC2-5AA5-6B46-FA6761D7C55E}"/>
              </a:ext>
            </a:extLst>
          </p:cNvPr>
          <p:cNvSpPr/>
          <p:nvPr/>
        </p:nvSpPr>
        <p:spPr>
          <a:xfrm>
            <a:off x="184309" y="1348811"/>
            <a:ext cx="4766618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 main():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while True: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print("\n1) Insert element to queue")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print("2) Delete element from queue")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print("3) Display all the elements of queue")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print("4) Exit")</a:t>
            </a:r>
          </a:p>
          <a:p>
            <a:pPr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int(input("Enter your choice: "))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2561B3-DAE2-1714-455A-75D233891359}"/>
              </a:ext>
            </a:extLst>
          </p:cNvPr>
          <p:cNvSpPr txBox="1"/>
          <p:nvPr/>
        </p:nvSpPr>
        <p:spPr>
          <a:xfrm>
            <a:off x="5215275" y="1434226"/>
            <a:ext cx="3744416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== 1: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insert()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elif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== 2: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delete()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elif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== 3: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display()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elif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== 4: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print("Exit")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break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else: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print("Invalid choice")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__name__ == "__main__":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main()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1379603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921" y="-27384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95536" y="352049"/>
            <a:ext cx="803185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Output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AutoShape 2" descr="Implementing Queue using array in Java – Data structures and algorithms in  Java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" name="Rectangle 16"/>
          <p:cNvSpPr/>
          <p:nvPr/>
        </p:nvSpPr>
        <p:spPr>
          <a:xfrm>
            <a:off x="460375" y="1267187"/>
            <a:ext cx="4759698" cy="49013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marL="457200" indent="-457200">
              <a:spcBef>
                <a:spcPts val="300"/>
              </a:spcBef>
              <a:buAutoNum type="arabicParenR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element to queue </a:t>
            </a:r>
          </a:p>
          <a:p>
            <a:pPr marL="457200" indent="-457200">
              <a:spcBef>
                <a:spcPts val="300"/>
              </a:spcBef>
              <a:buAutoNum type="arabicParenR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element from queue </a:t>
            </a:r>
          </a:p>
          <a:p>
            <a:pPr marL="457200" indent="-457200">
              <a:spcBef>
                <a:spcPts val="300"/>
              </a:spcBef>
              <a:buAutoNum type="arabicParenR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Display all the elements of queue </a:t>
            </a:r>
          </a:p>
          <a:p>
            <a:pPr marL="457200" indent="-457200">
              <a:spcBef>
                <a:spcPts val="300"/>
              </a:spcBef>
              <a:buAutoNum type="arabicParenR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Exit Enter your choice : 1 </a:t>
            </a:r>
          </a:p>
          <a:p>
            <a:pPr lvl="2" algn="just">
              <a:spcBef>
                <a:spcPts val="300"/>
              </a:spcBef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the element in queue : 4 </a:t>
            </a:r>
          </a:p>
          <a:p>
            <a:pPr lvl="2" algn="just">
              <a:spcBef>
                <a:spcPts val="300"/>
              </a:spcBef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your choice : 1</a:t>
            </a:r>
          </a:p>
          <a:p>
            <a:pPr lvl="2" algn="just">
              <a:spcBef>
                <a:spcPts val="300"/>
              </a:spcBef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the element in queue : 3</a:t>
            </a:r>
          </a:p>
          <a:p>
            <a:pPr lvl="2" algn="just">
              <a:spcBef>
                <a:spcPts val="300"/>
              </a:spcBef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your choice : 1 </a:t>
            </a:r>
          </a:p>
          <a:p>
            <a:pPr lvl="2" algn="just">
              <a:spcBef>
                <a:spcPts val="300"/>
              </a:spcBef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the element in queue : 5 </a:t>
            </a:r>
          </a:p>
          <a:p>
            <a:pPr lvl="2" algn="just">
              <a:spcBef>
                <a:spcPts val="300"/>
              </a:spcBef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your choice : 2 </a:t>
            </a:r>
          </a:p>
          <a:p>
            <a:pPr lvl="2" algn="just">
              <a:spcBef>
                <a:spcPts val="300"/>
              </a:spcBef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 deleted from queue is : 4</a:t>
            </a:r>
          </a:p>
          <a:p>
            <a:pPr lvl="2" algn="just">
              <a:spcBef>
                <a:spcPts val="300"/>
              </a:spcBef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your choice : 3 </a:t>
            </a:r>
          </a:p>
          <a:p>
            <a:pPr lvl="2" algn="just">
              <a:spcBef>
                <a:spcPts val="300"/>
              </a:spcBef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 elements are : 3 5</a:t>
            </a:r>
          </a:p>
          <a:p>
            <a:pPr lvl="2" algn="just">
              <a:spcBef>
                <a:spcPts val="300"/>
              </a:spcBef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your choice : 7 Invalid </a:t>
            </a:r>
          </a:p>
        </p:txBody>
      </p:sp>
    </p:spTree>
    <p:extLst>
      <p:ext uri="{BB962C8B-B14F-4D97-AF65-F5344CB8AC3E}">
        <p14:creationId xmlns:p14="http://schemas.microsoft.com/office/powerpoint/2010/main" val="32880541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79ACF-3422-78F0-94E1-CA024B3CF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CCA614C-3160-9A17-174D-8A11E03ED6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921" y="-27384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F3E55C76-A191-0E7E-2211-DECCEE3FF4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974" y="352049"/>
            <a:ext cx="811941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Drawback of array implementation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54EF7D0-7513-F7F0-B630-324D4F351281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85192A9B-55BA-C85E-DF00-D460D2A1643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6283A0-E12A-3581-A6C6-77D7529E4294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04B059-CD94-0331-5766-882CB3832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>
            <a:extLst>
              <a:ext uri="{FF2B5EF4-FFF2-40B4-BE49-F238E27FC236}">
                <a16:creationId xmlns:a16="http://schemas.microsoft.com/office/drawing/2014/main" id="{56F5E297-4E53-5602-1E1B-CDB8A5B108E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>
            <a:extLst>
              <a:ext uri="{FF2B5EF4-FFF2-40B4-BE49-F238E27FC236}">
                <a16:creationId xmlns:a16="http://schemas.microsoft.com/office/drawing/2014/main" id="{225BCC81-3DD9-968A-33C8-2DDC88175FD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AutoShape 2" descr="Implementing Queue using array in Java – Data structures and algorithms in  Java">
            <a:extLst>
              <a:ext uri="{FF2B5EF4-FFF2-40B4-BE49-F238E27FC236}">
                <a16:creationId xmlns:a16="http://schemas.microsoft.com/office/drawing/2014/main" id="{D74F95A3-7E97-8D44-AF9C-6B479DB09E9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839DC4B-FC83-DA9B-43A3-E3CAC045C08A}"/>
              </a:ext>
            </a:extLst>
          </p:cNvPr>
          <p:cNvSpPr/>
          <p:nvPr/>
        </p:nvSpPr>
        <p:spPr>
          <a:xfrm>
            <a:off x="403187" y="1547351"/>
            <a:ext cx="7928992" cy="1307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AutoNum type="arabicParenR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wastage </a:t>
            </a:r>
          </a:p>
          <a:p>
            <a:pPr marL="457200" indent="-457200">
              <a:lnSpc>
                <a:spcPct val="150000"/>
              </a:lnSpc>
              <a:buFontTx/>
              <a:buAutoNum type="arabicParenR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Deciding the array size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Array representation of Queue">
            <a:extLst>
              <a:ext uri="{FF2B5EF4-FFF2-40B4-BE49-F238E27FC236}">
                <a16:creationId xmlns:a16="http://schemas.microsoft.com/office/drawing/2014/main" id="{D6ACA12C-DE92-51DD-0F4D-0D48159119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139"/>
          <a:stretch>
            <a:fillRect/>
          </a:stretch>
        </p:blipFill>
        <p:spPr bwMode="auto">
          <a:xfrm>
            <a:off x="1115616" y="3239137"/>
            <a:ext cx="6677025" cy="1191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16667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40D43-9C82-B3CF-A09F-92A59AF48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E63C50A-1154-9E7C-D9FB-5C2A1B99D0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921" y="-27384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1DA42D3F-7C55-9BD4-0B3D-8131A895F3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4" y="352049"/>
            <a:ext cx="796701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Implementation of Queue using Linked List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7299826-EBE1-EFA5-703E-4FF6FBE2D2D0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1336E8BD-4E08-30BA-6F77-8E46603F8D3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F3D948E-48FE-55C9-0DF2-BBA158639356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041058-46E6-A358-63E8-D10202799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>
            <a:extLst>
              <a:ext uri="{FF2B5EF4-FFF2-40B4-BE49-F238E27FC236}">
                <a16:creationId xmlns:a16="http://schemas.microsoft.com/office/drawing/2014/main" id="{F25CDF54-7B2B-871A-98B1-4D7E7B89737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>
            <a:extLst>
              <a:ext uri="{FF2B5EF4-FFF2-40B4-BE49-F238E27FC236}">
                <a16:creationId xmlns:a16="http://schemas.microsoft.com/office/drawing/2014/main" id="{0C446BA7-4625-9078-D43F-400FA297EB6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AutoShape 2" descr="Implementing Queue using array in Java – Data structures and algorithms in  Java">
            <a:extLst>
              <a:ext uri="{FF2B5EF4-FFF2-40B4-BE49-F238E27FC236}">
                <a16:creationId xmlns:a16="http://schemas.microsoft.com/office/drawing/2014/main" id="{0C2EA10E-5E04-7FEF-7C5D-B98B3D68838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050" name="Picture 2" descr="Linked List implementation of Queue">
            <a:extLst>
              <a:ext uri="{FF2B5EF4-FFF2-40B4-BE49-F238E27FC236}">
                <a16:creationId xmlns:a16="http://schemas.microsoft.com/office/drawing/2014/main" id="{FF805B3B-B8EC-66EE-0D14-626C7AD731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2243" y="4122991"/>
            <a:ext cx="6296025" cy="1581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374E00A-EC3A-466B-BCFB-01D3FA2AF81C}"/>
              </a:ext>
            </a:extLst>
          </p:cNvPr>
          <p:cNvSpPr txBox="1"/>
          <p:nvPr/>
        </p:nvSpPr>
        <p:spPr>
          <a:xfrm>
            <a:off x="460374" y="1300210"/>
            <a:ext cx="8072066" cy="2318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a linked queue, each node of the queue consists of two parts i.e. data part and the link part. </a:t>
            </a: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Each element of the queue points to its immediate next element in the memory.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68380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F4D66-641E-F5DD-B1CC-88C648399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F308152-D4E9-8DB1-9F88-E0A07E6CBB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921" y="-27384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5C549045-996D-39AD-E648-016D6F4CE3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502" y="352049"/>
            <a:ext cx="808589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Operation on Linked Queue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07E7B17-4367-156C-6BB3-14074B2612A5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6070E89D-F3E9-A67E-AEF6-C3012BD25C2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2921A70-C5F9-8DAD-F54B-489DB6CF7546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46D8A5-877A-9599-C790-9DBC4892D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>
            <a:extLst>
              <a:ext uri="{FF2B5EF4-FFF2-40B4-BE49-F238E27FC236}">
                <a16:creationId xmlns:a16="http://schemas.microsoft.com/office/drawing/2014/main" id="{C378CB61-24EF-A992-F6EF-BF32CE8E1FC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>
            <a:extLst>
              <a:ext uri="{FF2B5EF4-FFF2-40B4-BE49-F238E27FC236}">
                <a16:creationId xmlns:a16="http://schemas.microsoft.com/office/drawing/2014/main" id="{6F46E5E9-5176-AE97-F257-58C44C5E16D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AutoShape 2" descr="Implementing Queue using array in Java – Data structures and algorithms in  Java">
            <a:extLst>
              <a:ext uri="{FF2B5EF4-FFF2-40B4-BE49-F238E27FC236}">
                <a16:creationId xmlns:a16="http://schemas.microsoft.com/office/drawing/2014/main" id="{18CEBEAB-5829-7D5F-82C7-B0F2E35EF96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E10588-FB64-6C37-990E-8927BF306A9C}"/>
              </a:ext>
            </a:extLst>
          </p:cNvPr>
          <p:cNvSpPr txBox="1"/>
          <p:nvPr/>
        </p:nvSpPr>
        <p:spPr>
          <a:xfrm>
            <a:off x="341503" y="1219497"/>
            <a:ext cx="8406961" cy="28777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operation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new element will be the last element of the queue.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Firstly, allocate the memory for the new node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= (struct node *) malloc (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sizeof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(struct node));  </a:t>
            </a:r>
          </a:p>
          <a:p>
            <a:pPr>
              <a:spcBef>
                <a:spcPts val="600"/>
              </a:spcBef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76416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6FC08-3267-DFE0-035B-CE3A7EF87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9E7615F-5A5B-40BB-BA9D-F7126385A1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921" y="-27384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BE86ED55-B237-2FCC-CD78-76C7E31C05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502" y="352049"/>
            <a:ext cx="808589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Operation on Linked Queue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43D9EAA-8421-A8A2-6C8B-16FE58AA5F86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2188C889-BCB3-F5CE-F8E1-1A0E39CCB18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3B0A98B-65A9-7147-7433-F53BEB21D7D7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B19C5C-CCD0-1E49-0073-04AD8FB18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>
            <a:extLst>
              <a:ext uri="{FF2B5EF4-FFF2-40B4-BE49-F238E27FC236}">
                <a16:creationId xmlns:a16="http://schemas.microsoft.com/office/drawing/2014/main" id="{EE9E026E-5D36-62B4-9DF8-ECCB10D61E6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>
            <a:extLst>
              <a:ext uri="{FF2B5EF4-FFF2-40B4-BE49-F238E27FC236}">
                <a16:creationId xmlns:a16="http://schemas.microsoft.com/office/drawing/2014/main" id="{71B8E90D-FDB9-5B53-6C21-C3A0C65B594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AutoShape 2" descr="Implementing Queue using array in Java – Data structures and algorithms in  Java">
            <a:extLst>
              <a:ext uri="{FF2B5EF4-FFF2-40B4-BE49-F238E27FC236}">
                <a16:creationId xmlns:a16="http://schemas.microsoft.com/office/drawing/2014/main" id="{D8C071B9-B71D-F49B-B5B5-6F1DA57354D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09EBEA-62AA-6CF4-85E7-2107518B095B}"/>
              </a:ext>
            </a:extLst>
          </p:cNvPr>
          <p:cNvSpPr txBox="1"/>
          <p:nvPr/>
        </p:nvSpPr>
        <p:spPr>
          <a:xfrm>
            <a:off x="330103" y="1160844"/>
            <a:ext cx="8575913" cy="450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can be two scenarios of inserting this new node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into the linked queue.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Queues is empty</a:t>
            </a:r>
          </a:p>
          <a:p>
            <a:pPr marL="360363">
              <a:spcBef>
                <a:spcPts val="600"/>
              </a:spcBef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-&gt; data = item;  </a:t>
            </a:r>
          </a:p>
          <a:p>
            <a:pPr marL="360363">
              <a:spcBef>
                <a:spcPts val="6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(front == NULL)  </a:t>
            </a:r>
          </a:p>
          <a:p>
            <a:pPr marL="360363">
              <a:spcBef>
                <a:spcPts val="6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{  </a:t>
            </a:r>
          </a:p>
          <a:p>
            <a:pPr marL="360363">
              <a:spcBef>
                <a:spcPts val="6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  front = 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  </a:t>
            </a:r>
          </a:p>
          <a:p>
            <a:pPr marL="360363">
              <a:spcBef>
                <a:spcPts val="6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  rear = 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    </a:t>
            </a:r>
          </a:p>
          <a:p>
            <a:pPr marL="360363">
              <a:spcBef>
                <a:spcPts val="6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  front -&gt; next = NULL;  </a:t>
            </a:r>
          </a:p>
          <a:p>
            <a:pPr marL="360363">
              <a:spcBef>
                <a:spcPts val="6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  rear -&gt; next = NULL;  </a:t>
            </a:r>
          </a:p>
          <a:p>
            <a:pPr marL="360363">
              <a:spcBef>
                <a:spcPts val="6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}  </a:t>
            </a:r>
          </a:p>
        </p:txBody>
      </p:sp>
    </p:spTree>
    <p:extLst>
      <p:ext uri="{BB962C8B-B14F-4D97-AF65-F5344CB8AC3E}">
        <p14:creationId xmlns:p14="http://schemas.microsoft.com/office/powerpoint/2010/main" val="28503362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7205D-D2B6-953F-D5A1-E50FB2F88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B6A9AC8-318A-BC09-2C32-45A1861CBE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921" y="-27384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07463B28-50AA-96FA-C326-97DFA83679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502" y="352049"/>
            <a:ext cx="808589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Operation on Linked Queue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83E2518-785A-CC70-2C6B-F60CC7898478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C140DDB5-9656-C2FB-80D1-0C03F57D7D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6F93AEE-6CE4-4423-FD6A-7B5B7BB9F4B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D05747-AAF9-0ED9-8A39-EEB82B4D0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>
            <a:extLst>
              <a:ext uri="{FF2B5EF4-FFF2-40B4-BE49-F238E27FC236}">
                <a16:creationId xmlns:a16="http://schemas.microsoft.com/office/drawing/2014/main" id="{3F4A7EA7-02D4-46FD-2275-6114F022487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>
            <a:extLst>
              <a:ext uri="{FF2B5EF4-FFF2-40B4-BE49-F238E27FC236}">
                <a16:creationId xmlns:a16="http://schemas.microsoft.com/office/drawing/2014/main" id="{1FE29713-0ED9-707F-FB14-3F15729AFED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AutoShape 2" descr="Implementing Queue using array in Java – Data structures and algorithms in  Java">
            <a:extLst>
              <a:ext uri="{FF2B5EF4-FFF2-40B4-BE49-F238E27FC236}">
                <a16:creationId xmlns:a16="http://schemas.microsoft.com/office/drawing/2014/main" id="{F70FE075-0540-BA34-0C79-65C47ECD7E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C08C85-0386-1483-010F-9F1EFF1F8683}"/>
              </a:ext>
            </a:extLst>
          </p:cNvPr>
          <p:cNvSpPr txBox="1"/>
          <p:nvPr/>
        </p:nvSpPr>
        <p:spPr>
          <a:xfrm>
            <a:off x="341503" y="1219497"/>
            <a:ext cx="883901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The queue contains more than one element.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rear -&gt; next = 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  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  rear = 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  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  rear-&gt;next = NULL; </a:t>
            </a:r>
            <a:r>
              <a:rPr lang="en-US" sz="2200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1863325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1418D-959E-F68A-82FD-D3D381F9C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6D6A413-9322-195A-CB7A-103A30B9E8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921" y="-27384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A70DFDAD-BEBA-C557-9BB7-9D30DED12D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502" y="367438"/>
            <a:ext cx="808589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000" b="1" dirty="0">
                <a:solidFill>
                  <a:srgbClr val="E31E24"/>
                </a:solidFill>
                <a:cs typeface="Times New Roman" panose="02020603050405020304" pitchFamily="18" charset="0"/>
              </a:rPr>
              <a:t>Algorithm for insert Operation on Linked Queue</a:t>
            </a:r>
            <a:endParaRPr lang="en-IN" sz="30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2E6B0BB-FB25-78AE-3BFA-763880A67EF0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AF4548F7-E3D8-53DD-73B9-41E83FFB842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B7A40A1-476A-8D9E-A2BE-20718EF175FA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1D6224-4C0D-8368-1F9C-0F8D1479C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>
            <a:extLst>
              <a:ext uri="{FF2B5EF4-FFF2-40B4-BE49-F238E27FC236}">
                <a16:creationId xmlns:a16="http://schemas.microsoft.com/office/drawing/2014/main" id="{256BB743-1801-34E9-B8AB-55BBADC3C5B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>
            <a:extLst>
              <a:ext uri="{FF2B5EF4-FFF2-40B4-BE49-F238E27FC236}">
                <a16:creationId xmlns:a16="http://schemas.microsoft.com/office/drawing/2014/main" id="{FB1942C2-4D90-41F3-A3A7-86F4B5A71F6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AutoShape 2" descr="Implementing Queue using array in Java – Data structures and algorithms in  Java">
            <a:extLst>
              <a:ext uri="{FF2B5EF4-FFF2-40B4-BE49-F238E27FC236}">
                <a16:creationId xmlns:a16="http://schemas.microsoft.com/office/drawing/2014/main" id="{60F85FD1-3CAA-7F9C-37BF-234915D0DE5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069CC3-8B9B-C6F6-C651-4C3CC443AD03}"/>
              </a:ext>
            </a:extLst>
          </p:cNvPr>
          <p:cNvSpPr txBox="1"/>
          <p:nvPr/>
        </p:nvSpPr>
        <p:spPr>
          <a:xfrm>
            <a:off x="341503" y="1219497"/>
            <a:ext cx="8839010" cy="5115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Allocate the space for the new node PTR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SET PTR -&gt; DATA = VAL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IF FRONT = NULL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FRONT = REAR = PTR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FRONT -&gt; NEXT = REAR -&gt; NEXT = NULL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REAR -&gt; NEXT = PTR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REAR = PTR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REAR -&gt; NEXT = NULL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[END OF IF]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END</a:t>
            </a:r>
          </a:p>
        </p:txBody>
      </p:sp>
    </p:spTree>
    <p:extLst>
      <p:ext uri="{BB962C8B-B14F-4D97-AF65-F5344CB8AC3E}">
        <p14:creationId xmlns:p14="http://schemas.microsoft.com/office/powerpoint/2010/main" val="22142620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C02CE-0DE7-6338-69CF-7CB3CEA7F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762D417-1DEF-3AC8-BC7B-F0D85168E9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921" y="-27384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8B4BD3E5-54E5-BF6B-4276-ADBFA2F49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502" y="352049"/>
            <a:ext cx="808589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Delete Operation on Linked Queue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D77EAEF-8B75-EFD2-3833-2D9E700D259C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A7F8204E-B381-D3D5-4642-4F498113132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EACC9E-531D-B01F-B20E-934D41075EBA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77DA36-496C-A0A5-0FD6-154A192B6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>
            <a:extLst>
              <a:ext uri="{FF2B5EF4-FFF2-40B4-BE49-F238E27FC236}">
                <a16:creationId xmlns:a16="http://schemas.microsoft.com/office/drawing/2014/main" id="{2B08F656-3FF2-FE3B-3C87-138B7DF3F04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>
            <a:extLst>
              <a:ext uri="{FF2B5EF4-FFF2-40B4-BE49-F238E27FC236}">
                <a16:creationId xmlns:a16="http://schemas.microsoft.com/office/drawing/2014/main" id="{D76C7945-DE36-375C-414B-67489C2E8F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AutoShape 2" descr="Implementing Queue using array in Java – Data structures and algorithms in  Java">
            <a:extLst>
              <a:ext uri="{FF2B5EF4-FFF2-40B4-BE49-F238E27FC236}">
                <a16:creationId xmlns:a16="http://schemas.microsoft.com/office/drawing/2014/main" id="{2C8EA54A-6F4B-4BF0-E0B1-F26307FD3CC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FEE5D3-2E70-9F24-3F5C-461BB1B875DA}"/>
              </a:ext>
            </a:extLst>
          </p:cNvPr>
          <p:cNvSpPr txBox="1"/>
          <p:nvPr/>
        </p:nvSpPr>
        <p:spPr>
          <a:xfrm>
            <a:off x="341503" y="1480231"/>
            <a:ext cx="808589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Deletion operation removes the element that is first inserted among all the queue elements.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= front;  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front = front -&gt; next;  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free(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  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599250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7615B-08FF-690C-C0D3-F11218466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29E3422-A79B-657C-2B4F-114876B94B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921" y="-27384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08B97B92-8B7F-7657-40E3-02D0E3278B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502" y="367438"/>
            <a:ext cx="808589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000" b="1" dirty="0">
                <a:solidFill>
                  <a:srgbClr val="E31E24"/>
                </a:solidFill>
                <a:cs typeface="Times New Roman" panose="02020603050405020304" pitchFamily="18" charset="0"/>
              </a:rPr>
              <a:t>Algorithm for Delete Operation on Linked Queue</a:t>
            </a:r>
            <a:endParaRPr lang="en-IN" sz="30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0B623DD-CFB1-F6A5-1F51-545CB4B40ED1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1C6DC8C3-FE39-B314-BA5A-4CEBE30ECA3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CE3412-FCB8-ECB4-3139-37C226664FA3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0B531D-05B2-9193-8A22-FFB7693C9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>
            <a:extLst>
              <a:ext uri="{FF2B5EF4-FFF2-40B4-BE49-F238E27FC236}">
                <a16:creationId xmlns:a16="http://schemas.microsoft.com/office/drawing/2014/main" id="{B30046F8-00AA-2B4E-F11F-86C83EBC73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>
            <a:extLst>
              <a:ext uri="{FF2B5EF4-FFF2-40B4-BE49-F238E27FC236}">
                <a16:creationId xmlns:a16="http://schemas.microsoft.com/office/drawing/2014/main" id="{9E8CEF80-FCCF-5F8C-C0B2-EAB0BA0F37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AutoShape 2" descr="Implementing Queue using array in Java – Data structures and algorithms in  Java">
            <a:extLst>
              <a:ext uri="{FF2B5EF4-FFF2-40B4-BE49-F238E27FC236}">
                <a16:creationId xmlns:a16="http://schemas.microsoft.com/office/drawing/2014/main" id="{E60EE9D7-D629-53C0-3368-8DF72D755F8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319794-E777-38E3-1284-2E1FF57B31C3}"/>
              </a:ext>
            </a:extLst>
          </p:cNvPr>
          <p:cNvSpPr txBox="1"/>
          <p:nvPr/>
        </p:nvSpPr>
        <p:spPr>
          <a:xfrm>
            <a:off x="432994" y="1195471"/>
            <a:ext cx="7902905" cy="4467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IF FRONT = NULL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" Underflow "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 to Step 5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[END OF IF]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SET PTR = FRONT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SET FRONT = FRONT -&gt; NEXT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FREE PTR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END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71517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544D2-9272-9620-CA58-44747DE25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Content Placeholder 3">
            <a:extLst>
              <a:ext uri="{FF2B5EF4-FFF2-40B4-BE49-F238E27FC236}">
                <a16:creationId xmlns:a16="http://schemas.microsoft.com/office/drawing/2014/main" id="{D10CE9F8-52EC-8866-3053-8F6A910F8F7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921" y="-27384"/>
            <a:ext cx="9180512" cy="6885384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A464619-2DFF-49F7-19E3-1CE2946CBD86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2EA2FD82-4A8F-D43F-FBB5-FF8F62781CE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72C42-C2B6-E7C3-DF4F-8334D8F1D101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F1A0882D-1AB0-27D6-51E2-6791738A8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94153"/>
            <a:ext cx="8229600" cy="4525963"/>
          </a:xfrm>
        </p:spPr>
        <p:txBody>
          <a:bodyPr>
            <a:normAutofit/>
          </a:bodyPr>
          <a:lstStyle/>
          <a:p>
            <a:pPr marL="268288" lvl="0" indent="-268288" algn="just" eaLnBrk="0" fontAlgn="base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 is a linear data structure based on FIFO.</a:t>
            </a:r>
          </a:p>
          <a:p>
            <a:pPr marL="268288" lvl="0" indent="-268288" algn="just" eaLnBrk="0" fontAlgn="base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 happens at rear; deletion happens from front.</a:t>
            </a:r>
          </a:p>
          <a:p>
            <a:pPr marL="268288" lvl="0" indent="-268288" algn="just" eaLnBrk="0" fontAlgn="base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operations: enqueue, dequeue, peek,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isEmpty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isFull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68288" lvl="0" indent="-268288" algn="just" eaLnBrk="0" fontAlgn="base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 can be implemented using arrays or linked lists.</a:t>
            </a:r>
          </a:p>
          <a:p>
            <a:pPr marL="268288" lvl="0" indent="-268288" algn="just" eaLnBrk="0" fontAlgn="base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Array-based queue is simple but may cause memory wastage and fixed size issues.</a:t>
            </a:r>
          </a:p>
          <a:p>
            <a:pPr marL="268288" lvl="0" indent="-268288" algn="just" eaLnBrk="0" fontAlgn="base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 list implementation allows dynamic size.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1BE15C-BC39-D985-88E4-E9F7F7ED0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  <a:endParaRPr lang="en-IN" dirty="0"/>
          </a:p>
        </p:txBody>
      </p:sp>
      <p:sp>
        <p:nvSpPr>
          <p:cNvPr id="8" name="AutoShape 2" descr="Types of Queues (Data Structures) - javatpoint">
            <a:extLst>
              <a:ext uri="{FF2B5EF4-FFF2-40B4-BE49-F238E27FC236}">
                <a16:creationId xmlns:a16="http://schemas.microsoft.com/office/drawing/2014/main" id="{A7EA496B-5852-0F1B-E05E-6601551F845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>
            <a:extLst>
              <a:ext uri="{FF2B5EF4-FFF2-40B4-BE49-F238E27FC236}">
                <a16:creationId xmlns:a16="http://schemas.microsoft.com/office/drawing/2014/main" id="{729B76E2-6971-11F7-B979-E61E3FF19F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AutoShape 2" descr="Implementing Queue using array in Java – Data structures and algorithms in  Java">
            <a:extLst>
              <a:ext uri="{FF2B5EF4-FFF2-40B4-BE49-F238E27FC236}">
                <a16:creationId xmlns:a16="http://schemas.microsoft.com/office/drawing/2014/main" id="{F7CAF768-1614-CC72-396E-6905349D539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4AD7F174-4347-D31A-1F82-9E10C70AFA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502" y="367438"/>
            <a:ext cx="808589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000" b="1" dirty="0">
                <a:solidFill>
                  <a:srgbClr val="E31E24"/>
                </a:solidFill>
                <a:cs typeface="Times New Roman" panose="02020603050405020304" pitchFamily="18" charset="0"/>
              </a:rPr>
              <a:t>Key Takeaways</a:t>
            </a:r>
            <a:endParaRPr lang="en-IN" sz="30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875395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D9C3D-3F30-A3F3-A545-26CB145F0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3DC34CE-387F-2349-2368-E7AB329920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AECC9169-F46C-9DFF-074B-9042CA367D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98973"/>
            <a:ext cx="835701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References</a:t>
            </a:r>
            <a:endParaRPr lang="en-US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D4E920-65A2-CCE7-FEA5-14D91F60AAAE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BE0C2226-8947-177E-6706-83378DA8A4D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0741" y="6337479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E818B84-F150-B1E2-D936-7FC20CE87C0A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475B91-F517-A8A8-3443-03C2FD642B05}"/>
              </a:ext>
            </a:extLst>
          </p:cNvPr>
          <p:cNvSpPr txBox="1"/>
          <p:nvPr/>
        </p:nvSpPr>
        <p:spPr>
          <a:xfrm>
            <a:off x="216025" y="1144192"/>
            <a:ext cx="8748463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Textbooks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Cormen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T. H.,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Leiserson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C. E., Rivest, R. L., &amp; Stein, C.,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Algorithms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MIT Press.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Lipschutz, S.,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Schaum’s Outline of Data Structures with C++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McGraw-Hill Education.</a:t>
            </a:r>
          </a:p>
          <a:p>
            <a:pPr algn="just">
              <a:spcBef>
                <a:spcPts val="600"/>
              </a:spcBef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Books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Weiss, M. A.,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Structures and Algorithm Analysis in C++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5th Edition, Pearson Education.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Skiena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 S.,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Algorithm Design Manual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3rd Edition, Springer.</a:t>
            </a:r>
          </a:p>
          <a:p>
            <a:pPr algn="just">
              <a:spcBef>
                <a:spcPts val="600"/>
              </a:spcBef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Resources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GeeksforGeeks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Queue in Data Structures</a:t>
            </a:r>
            <a:b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https://www.geeksforgeeks.org/queue-data-structure/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Scaler – Queue in Data Structures</a:t>
            </a:r>
            <a:b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https://www.scaler.com/topics/data-structures/queue-in-data-structure/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JavaTpoint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Queue Data Structure</a:t>
            </a:r>
            <a:b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https://www.javatpoint.com/data-structure-queue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Programiz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Queue in Python</a:t>
            </a:r>
            <a:b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https://www.programiz.com/dsa/queue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TutorialsPoint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Queue Operations</a:t>
            </a:r>
            <a:b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https://www.tutorialspoint.com/data_structures_algorithms/queue_algorithm.htm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1399E0A-2CFF-1DD0-69C4-94E7F4E77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36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68787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80512" cy="685800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835696" y="2708920"/>
            <a:ext cx="56510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dirty="0">
                <a:solidFill>
                  <a:srgbClr val="0060AA"/>
                </a:solidFill>
                <a:latin typeface="Garamond" pitchFamily="18" charset="0"/>
              </a:rPr>
              <a:t>THANK</a:t>
            </a:r>
            <a:r>
              <a:rPr lang="en-US" sz="7200" dirty="0">
                <a:latin typeface="Garamond" pitchFamily="18" charset="0"/>
              </a:rPr>
              <a:t> </a:t>
            </a:r>
            <a:r>
              <a:rPr lang="en-US" sz="7200" dirty="0">
                <a:solidFill>
                  <a:srgbClr val="E31E24"/>
                </a:solidFill>
                <a:latin typeface="Garamond" pitchFamily="18" charset="0"/>
              </a:rPr>
              <a:t>YOU</a:t>
            </a:r>
            <a:endParaRPr lang="en-IN" sz="7200" dirty="0">
              <a:latin typeface="Garamond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37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67247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23627</TotalTime>
  <Words>2449</Words>
  <Application>Microsoft Office PowerPoint</Application>
  <PresentationFormat>On-screen Show (4:3)</PresentationFormat>
  <Paragraphs>448</Paragraphs>
  <Slides>37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5" baseType="lpstr">
      <vt:lpstr>Arial</vt:lpstr>
      <vt:lpstr>Calibri</vt:lpstr>
      <vt:lpstr>Garamond</vt:lpstr>
      <vt:lpstr>Sylfaen</vt:lpstr>
      <vt:lpstr>Times New Roman</vt:lpstr>
      <vt:lpstr>Verdana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WEBDEV</dc:creator>
  <cp:lastModifiedBy>Aarti Sangwan</cp:lastModifiedBy>
  <cp:revision>1472</cp:revision>
  <cp:lastPrinted>2022-09-05T08:43:44Z</cp:lastPrinted>
  <dcterms:created xsi:type="dcterms:W3CDTF">2020-01-16T09:05:56Z</dcterms:created>
  <dcterms:modified xsi:type="dcterms:W3CDTF">2026-02-10T20:25:46Z</dcterms:modified>
</cp:coreProperties>
</file>