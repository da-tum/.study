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1011" r:id="rId2"/>
    <p:sldId id="993" r:id="rId3"/>
    <p:sldId id="1012" r:id="rId4"/>
    <p:sldId id="1013" r:id="rId5"/>
    <p:sldId id="691" r:id="rId6"/>
    <p:sldId id="1006" r:id="rId7"/>
    <p:sldId id="1007" r:id="rId8"/>
    <p:sldId id="693" r:id="rId9"/>
    <p:sldId id="1008" r:id="rId10"/>
    <p:sldId id="930" r:id="rId11"/>
    <p:sldId id="706" r:id="rId12"/>
    <p:sldId id="705" r:id="rId13"/>
    <p:sldId id="708" r:id="rId14"/>
    <p:sldId id="698" r:id="rId15"/>
    <p:sldId id="699" r:id="rId16"/>
    <p:sldId id="700" r:id="rId17"/>
    <p:sldId id="1015" r:id="rId18"/>
    <p:sldId id="967" r:id="rId19"/>
    <p:sldId id="971" r:id="rId20"/>
    <p:sldId id="991" r:id="rId21"/>
    <p:sldId id="994" r:id="rId22"/>
    <p:sldId id="995" r:id="rId23"/>
    <p:sldId id="972" r:id="rId24"/>
    <p:sldId id="999" r:id="rId25"/>
    <p:sldId id="992" r:id="rId26"/>
    <p:sldId id="1023" r:id="rId27"/>
    <p:sldId id="1000" r:id="rId28"/>
    <p:sldId id="1001" r:id="rId29"/>
    <p:sldId id="1002" r:id="rId30"/>
    <p:sldId id="1004" r:id="rId31"/>
    <p:sldId id="986" r:id="rId32"/>
    <p:sldId id="989" r:id="rId33"/>
    <p:sldId id="1014" r:id="rId34"/>
    <p:sldId id="269" r:id="rId35"/>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1E24"/>
    <a:srgbClr val="4B0993"/>
    <a:srgbClr val="E83030"/>
    <a:srgbClr val="0060AA"/>
    <a:srgbClr val="0066B3"/>
    <a:srgbClr val="006C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9" autoAdjust="0"/>
    <p:restoredTop sz="93883" autoAdjust="0"/>
  </p:normalViewPr>
  <p:slideViewPr>
    <p:cSldViewPr>
      <p:cViewPr varScale="1">
        <p:scale>
          <a:sx n="69" d="100"/>
          <a:sy n="69" d="100"/>
        </p:scale>
        <p:origin x="1152" y="68"/>
      </p:cViewPr>
      <p:guideLst>
        <p:guide orient="horz" pos="2160"/>
        <p:guide pos="2880"/>
      </p:guideLst>
    </p:cSldViewPr>
  </p:slideViewPr>
  <p:notesTextViewPr>
    <p:cViewPr>
      <p:scale>
        <a:sx n="300" d="100"/>
        <a:sy n="3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10-02-2026</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2363931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74DFB-3008-8543-633F-58A4FDCE5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5E617-873D-1C3C-F1FE-596A7096C4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17E02-BCF9-92D4-5122-7BCC78C0136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DB01162-177B-B734-FFE6-17BCFEDA52EB}"/>
              </a:ext>
            </a:extLst>
          </p:cNvPr>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1416905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80562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3235542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5CAFD-7AFC-B031-1C9F-87DC155963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3ED7F3-529D-F429-596E-11852B2B5F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705CAF-6C0B-B3CF-08FF-F08AE9972012}"/>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9B09A1FD-CFE0-C6C8-F091-DE52EDABB562}"/>
              </a:ext>
            </a:extLst>
          </p:cNvPr>
          <p:cNvSpPr>
            <a:spLocks noGrp="1"/>
          </p:cNvSpPr>
          <p:nvPr>
            <p:ph type="sldNum" sz="quarter" idx="5"/>
          </p:nvPr>
        </p:nvSpPr>
        <p:spPr/>
        <p:txBody>
          <a:bodyPr/>
          <a:lstStyle/>
          <a:p>
            <a:fld id="{DAB949B3-C4AB-4FB2-8B24-B07A558BD59F}" type="slidenum">
              <a:rPr lang="en-IN" smtClean="0"/>
              <a:t>6</a:t>
            </a:fld>
            <a:endParaRPr lang="en-IN"/>
          </a:p>
        </p:txBody>
      </p:sp>
    </p:spTree>
    <p:extLst>
      <p:ext uri="{BB962C8B-B14F-4D97-AF65-F5344CB8AC3E}">
        <p14:creationId xmlns:p14="http://schemas.microsoft.com/office/powerpoint/2010/main" val="16023096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06B6C-612C-A26F-96DD-4DC5E43BDD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6BC369-9572-1DF2-95B9-3D592F63E4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8026FD-E22B-06BA-E402-0405B60ED28C}"/>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4E08069A-329E-1933-52B4-A53CCC5CB203}"/>
              </a:ext>
            </a:extLst>
          </p:cNvPr>
          <p:cNvSpPr>
            <a:spLocks noGrp="1"/>
          </p:cNvSpPr>
          <p:nvPr>
            <p:ph type="sldNum" sz="quarter" idx="5"/>
          </p:nvPr>
        </p:nvSpPr>
        <p:spPr/>
        <p:txBody>
          <a:bodyPr/>
          <a:lstStyle/>
          <a:p>
            <a:fld id="{DAB949B3-C4AB-4FB2-8B24-B07A558BD59F}" type="slidenum">
              <a:rPr lang="en-IN" smtClean="0"/>
              <a:t>7</a:t>
            </a:fld>
            <a:endParaRPr lang="en-IN"/>
          </a:p>
        </p:txBody>
      </p:sp>
    </p:spTree>
    <p:extLst>
      <p:ext uri="{BB962C8B-B14F-4D97-AF65-F5344CB8AC3E}">
        <p14:creationId xmlns:p14="http://schemas.microsoft.com/office/powerpoint/2010/main" val="36587342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8</a:t>
            </a:fld>
            <a:endParaRPr lang="en-IN"/>
          </a:p>
        </p:txBody>
      </p:sp>
    </p:spTree>
    <p:extLst>
      <p:ext uri="{BB962C8B-B14F-4D97-AF65-F5344CB8AC3E}">
        <p14:creationId xmlns:p14="http://schemas.microsoft.com/office/powerpoint/2010/main" val="1060303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E13C6-6385-9460-CF6D-B1DA32947A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07E2A9-BF39-0DDC-8CB1-EBD022E112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7FBF18-A118-BBAF-0AB5-4A7B476C630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BD24258-6F9E-3A7B-DF04-00ED82532E9D}"/>
              </a:ext>
            </a:extLst>
          </p:cNvPr>
          <p:cNvSpPr>
            <a:spLocks noGrp="1"/>
          </p:cNvSpPr>
          <p:nvPr>
            <p:ph type="sldNum" sz="quarter" idx="5"/>
          </p:nvPr>
        </p:nvSpPr>
        <p:spPr/>
        <p:txBody>
          <a:bodyPr/>
          <a:lstStyle/>
          <a:p>
            <a:fld id="{DAB949B3-C4AB-4FB2-8B24-B07A558BD59F}" type="slidenum">
              <a:rPr lang="en-IN" smtClean="0"/>
              <a:t>9</a:t>
            </a:fld>
            <a:endParaRPr lang="en-IN"/>
          </a:p>
        </p:txBody>
      </p:sp>
    </p:spTree>
    <p:extLst>
      <p:ext uri="{BB962C8B-B14F-4D97-AF65-F5344CB8AC3E}">
        <p14:creationId xmlns:p14="http://schemas.microsoft.com/office/powerpoint/2010/main" val="22308507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10</a:t>
            </a:fld>
            <a:endParaRPr lang="en-IN"/>
          </a:p>
        </p:txBody>
      </p:sp>
    </p:spTree>
    <p:extLst>
      <p:ext uri="{BB962C8B-B14F-4D97-AF65-F5344CB8AC3E}">
        <p14:creationId xmlns:p14="http://schemas.microsoft.com/office/powerpoint/2010/main" val="12932922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8056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67233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721045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887195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912025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603682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38DC9-1FB6-DB63-B6BA-768D4F7DD1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3AAC97-3BB8-E764-8083-B0B156E1F7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0CD3C6-82BE-CF01-BFBF-6D5F1A5361E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9B004D0-331C-AB33-2C41-C10FAE0B316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97213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424171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364118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369532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E49BC-B087-3A4B-BC2C-B3F48F8B3E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FBD07D-D0C6-D746-A28E-2235FBC2F6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E4E1A5-A25B-B55F-43B1-ED66DD557197}"/>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83E3CF-39C4-C055-9A6A-99EE8C0978A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696759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EDE32-8CB4-A309-6629-905382A3BF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FFAE92-FD14-5E3D-B573-7E0E92F174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555BF9-7369-A3F6-A398-E8C687490E3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8BC1F5E-E5CA-85D7-FCC5-F09A47B2E98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428497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449279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27307-11BA-2C14-E063-2C13628628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12E23-BBDE-0300-A24C-117E77E878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BC6230-1B1F-D348-4CD1-07670B9351D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B9522B4-AFDF-0016-BFBF-92855C8F09D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582980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280969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3096E-7FAE-5429-92A4-4751205537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D30E81-9FC5-F572-2843-809E9A29C3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6BE587-46FE-D765-1591-4F0985E78F2A}"/>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5A6E4A33-6B56-1EA3-B06C-F6AEA5BFF17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356626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C0E67-3390-F379-76C1-464C78F2D6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862151-D1CC-570E-0846-26A0E1C491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B76CEA-3166-CF30-F8DE-E1443CEB8EA2}"/>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3B3FF0CC-C84B-B501-56E2-FFE835694F9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587000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59DDE-08A6-16E9-5C51-18F43CF513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6174CF-A3CB-A4B4-BD0F-124EAA8944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D6C8C6-8A6F-73B0-988B-DAC3C8DDC31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F50E38D7-E835-DE18-F5BA-4733610B450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05756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BC2FE-ED65-FEC6-5059-DE74C42A51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B35B74-9BA3-F696-945C-02485FE691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4DDB47-DB84-594C-0D5E-3C0C1357033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B15D5C8-F881-600C-659D-BA725E0E3F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479008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8D34D-346E-5DC6-22B0-7B1BD599AC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23F4A3-7ADF-8C86-023F-0FDF8E3F05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F1C149-B46E-D2C8-9580-C813559B97EF}"/>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1CBCFD8-FEC8-85DA-BFBB-0FF4DDA7105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079478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t>31</a:t>
            </a:fld>
            <a:endParaRPr lang="en-IN"/>
          </a:p>
        </p:txBody>
      </p:sp>
    </p:spTree>
    <p:extLst>
      <p:ext uri="{BB962C8B-B14F-4D97-AF65-F5344CB8AC3E}">
        <p14:creationId xmlns:p14="http://schemas.microsoft.com/office/powerpoint/2010/main" val="33814400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t>32</a:t>
            </a:fld>
            <a:endParaRPr lang="en-IN"/>
          </a:p>
        </p:txBody>
      </p:sp>
    </p:spTree>
    <p:extLst>
      <p:ext uri="{BB962C8B-B14F-4D97-AF65-F5344CB8AC3E}">
        <p14:creationId xmlns:p14="http://schemas.microsoft.com/office/powerpoint/2010/main" val="14988578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52238-09A6-8EB0-4295-5007DFCC4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880A71-06A5-D1F8-DA16-27247CBDC0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9DB18-C22C-0235-39B4-E26D3FB8C981}"/>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25C905F-3127-FA31-973F-892A372D9B36}"/>
              </a:ext>
            </a:extLst>
          </p:cNvPr>
          <p:cNvSpPr>
            <a:spLocks noGrp="1"/>
          </p:cNvSpPr>
          <p:nvPr>
            <p:ph type="sldNum" sz="quarter" idx="5"/>
          </p:nvPr>
        </p:nvSpPr>
        <p:spPr/>
        <p:txBody>
          <a:bodyPr/>
          <a:lstStyle/>
          <a:p>
            <a:fld id="{DAB949B3-C4AB-4FB2-8B24-B07A558BD59F}" type="slidenum">
              <a:rPr lang="en-IN" smtClean="0"/>
              <a:t>33</a:t>
            </a:fld>
            <a:endParaRPr lang="en-IN"/>
          </a:p>
        </p:txBody>
      </p:sp>
    </p:spTree>
    <p:extLst>
      <p:ext uri="{BB962C8B-B14F-4D97-AF65-F5344CB8AC3E}">
        <p14:creationId xmlns:p14="http://schemas.microsoft.com/office/powerpoint/2010/main" val="1279018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4224B7B-8CFF-4188-8E5F-458DAB1C0A4A}" type="datetime1">
              <a:rPr lang="en-IN" smtClean="0"/>
              <a:t>10-02-2026</a:t>
            </a:fld>
            <a:endParaRPr lang="en-IN"/>
          </a:p>
        </p:txBody>
      </p:sp>
      <p:sp>
        <p:nvSpPr>
          <p:cNvPr id="5" name="Footer Placeholder 4"/>
          <p:cNvSpPr>
            <a:spLocks noGrp="1"/>
          </p:cNvSpPr>
          <p:nvPr>
            <p:ph type="ftr" sz="quarter" idx="11"/>
          </p:nvPr>
        </p:nvSpPr>
        <p:spPr/>
        <p:txBody>
          <a:body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9A89787-5071-4C5F-8398-907FFB8E997A}" type="datetime1">
              <a:rPr lang="en-IN" smtClean="0"/>
              <a:t>10-02-2026</a:t>
            </a:fld>
            <a:endParaRPr lang="en-IN"/>
          </a:p>
        </p:txBody>
      </p:sp>
      <p:sp>
        <p:nvSpPr>
          <p:cNvPr id="5" name="Footer Placeholder 4"/>
          <p:cNvSpPr>
            <a:spLocks noGrp="1"/>
          </p:cNvSpPr>
          <p:nvPr>
            <p:ph type="ftr" sz="quarter" idx="11"/>
          </p:nvPr>
        </p:nvSpPr>
        <p:spPr/>
        <p:txBody>
          <a:bodyPr/>
          <a:lstStyle>
            <a:lvl1pPr>
              <a:defRPr/>
            </a:lvl1p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9D4A38-ED53-47D7-AE4F-3A32E1D0B761}" type="datetime1">
              <a:rPr lang="en-IN" smtClean="0"/>
              <a:t>10-02-2026</a:t>
            </a:fld>
            <a:endParaRPr lang="en-IN"/>
          </a:p>
        </p:txBody>
      </p:sp>
      <p:sp>
        <p:nvSpPr>
          <p:cNvPr id="5" name="Footer Placeholder 4"/>
          <p:cNvSpPr>
            <a:spLocks noGrp="1"/>
          </p:cNvSpPr>
          <p:nvPr>
            <p:ph type="ftr" sz="quarter" idx="11"/>
          </p:nvPr>
        </p:nvSpPr>
        <p:spPr/>
        <p:txBody>
          <a:bodyPr/>
          <a:lstStyle>
            <a:lvl1pPr>
              <a:defRPr/>
            </a:lvl1p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50717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706C11A-2FA5-4339-92FF-90F24570CF34}" type="datetime1">
              <a:rPr lang="en-IN" smtClean="0"/>
              <a:t>10-02-2026</a:t>
            </a:fld>
            <a:endParaRPr lang="en-IN"/>
          </a:p>
        </p:txBody>
      </p:sp>
      <p:sp>
        <p:nvSpPr>
          <p:cNvPr id="6" name="Footer Placeholder 5"/>
          <p:cNvSpPr>
            <a:spLocks noGrp="1"/>
          </p:cNvSpPr>
          <p:nvPr>
            <p:ph type="ftr" sz="quarter" idx="11"/>
          </p:nvPr>
        </p:nvSpPr>
        <p:spPr/>
        <p:txBody>
          <a:bodyPr/>
          <a:lstStyle/>
          <a:p>
            <a:r>
              <a:rPr lang="en-IN" dirty="0"/>
              <a:t>Dr. Aarti</a:t>
            </a:r>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91185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2AD08AE-5CD2-4284-9AA6-E7789323D6D3}" type="datetime1">
              <a:rPr lang="en-IN" smtClean="0"/>
              <a:t>10-02-2026</a:t>
            </a:fld>
            <a:endParaRPr lang="en-IN"/>
          </a:p>
        </p:txBody>
      </p:sp>
      <p:sp>
        <p:nvSpPr>
          <p:cNvPr id="8" name="Footer Placeholder 7"/>
          <p:cNvSpPr>
            <a:spLocks noGrp="1"/>
          </p:cNvSpPr>
          <p:nvPr>
            <p:ph type="ftr" sz="quarter" idx="11"/>
          </p:nvPr>
        </p:nvSpPr>
        <p:spPr/>
        <p:txBody>
          <a:bodyPr/>
          <a:lstStyle/>
          <a:p>
            <a:r>
              <a:rPr lang="en-IN" dirty="0"/>
              <a:t>Dr. Aarti</a:t>
            </a:r>
          </a:p>
        </p:txBody>
      </p:sp>
      <p:sp>
        <p:nvSpPr>
          <p:cNvPr id="9" name="Slide Number Placeholder 8"/>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461301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A160620-BF48-47C8-866F-BD2B795F969B}" type="datetime1">
              <a:rPr lang="en-IN" smtClean="0"/>
              <a:t>10-02-2026</a:t>
            </a:fld>
            <a:endParaRPr lang="en-IN"/>
          </a:p>
        </p:txBody>
      </p:sp>
      <p:sp>
        <p:nvSpPr>
          <p:cNvPr id="4" name="Footer Placeholder 3"/>
          <p:cNvSpPr>
            <a:spLocks noGrp="1"/>
          </p:cNvSpPr>
          <p:nvPr>
            <p:ph type="ftr" sz="quarter" idx="11"/>
          </p:nvPr>
        </p:nvSpPr>
        <p:spPr/>
        <p:txBody>
          <a:bodyPr/>
          <a:lstStyle/>
          <a:p>
            <a:r>
              <a:rPr lang="en-IN" dirty="0"/>
              <a:t>Dr. Aarti</a:t>
            </a:r>
          </a:p>
        </p:txBody>
      </p:sp>
      <p:sp>
        <p:nvSpPr>
          <p:cNvPr id="5" name="Slide Number Placeholder 4"/>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85240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E5FF9E-CF26-418E-BB22-6940D96EF7E7}" type="datetime1">
              <a:rPr lang="en-IN" smtClean="0"/>
              <a:t>10-02-2026</a:t>
            </a:fld>
            <a:endParaRPr lang="en-IN"/>
          </a:p>
        </p:txBody>
      </p:sp>
      <p:sp>
        <p:nvSpPr>
          <p:cNvPr id="3" name="Footer Placeholder 2"/>
          <p:cNvSpPr>
            <a:spLocks noGrp="1"/>
          </p:cNvSpPr>
          <p:nvPr>
            <p:ph type="ftr" sz="quarter" idx="11"/>
          </p:nvPr>
        </p:nvSpPr>
        <p:spPr/>
        <p:txBody>
          <a:bodyPr/>
          <a:lstStyle/>
          <a:p>
            <a:r>
              <a:rPr lang="en-IN" dirty="0"/>
              <a:t>Dr. Aarti</a:t>
            </a:r>
          </a:p>
        </p:txBody>
      </p:sp>
      <p:sp>
        <p:nvSpPr>
          <p:cNvPr id="4" name="Slide Number Placeholder 3"/>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751787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04137F-4D77-446B-A870-1EF4F0733918}" type="datetime1">
              <a:rPr lang="en-IN" smtClean="0"/>
              <a:t>10-02-2026</a:t>
            </a:fld>
            <a:endParaRPr lang="en-IN"/>
          </a:p>
        </p:txBody>
      </p:sp>
      <p:sp>
        <p:nvSpPr>
          <p:cNvPr id="6" name="Footer Placeholder 5"/>
          <p:cNvSpPr>
            <a:spLocks noGrp="1"/>
          </p:cNvSpPr>
          <p:nvPr>
            <p:ph type="ftr" sz="quarter" idx="11"/>
          </p:nvPr>
        </p:nvSpPr>
        <p:spPr/>
        <p:txBody>
          <a:bodyPr/>
          <a:lstStyle/>
          <a:p>
            <a:r>
              <a:rPr lang="en-IN" dirty="0"/>
              <a:t>Dr. Aarti</a:t>
            </a:r>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29679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a:t>Click to edit Master title style</a:t>
            </a:r>
            <a:endParaRPr lang="en-IN"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3ADDEB-C1F3-42F3-BF41-A914899E02E7}" type="datetime1">
              <a:rPr lang="en-IN" smtClean="0"/>
              <a:t>10-02-2026</a:t>
            </a:fld>
            <a:endParaRPr lang="en-IN"/>
          </a:p>
        </p:txBody>
      </p:sp>
      <p:sp>
        <p:nvSpPr>
          <p:cNvPr id="6" name="Footer Placeholder 5"/>
          <p:cNvSpPr>
            <a:spLocks noGrp="1"/>
          </p:cNvSpPr>
          <p:nvPr>
            <p:ph type="ftr" sz="quarter" idx="11"/>
          </p:nvPr>
        </p:nvSpPr>
        <p:spPr/>
        <p:txBody>
          <a:bodyPr/>
          <a:lstStyle/>
          <a:p>
            <a:r>
              <a:rPr lang="en-IN" dirty="0"/>
              <a:t>Dr. Aarti</a:t>
            </a:r>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8684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4B51C25-DB47-428F-ABD3-694DD58C9503}" type="datetime1">
              <a:rPr lang="en-IN" smtClean="0"/>
              <a:t>10-02-2026</a:t>
            </a:fld>
            <a:endParaRPr lang="en-IN"/>
          </a:p>
        </p:txBody>
      </p:sp>
      <p:sp>
        <p:nvSpPr>
          <p:cNvPr id="5" name="Footer Placeholder 4"/>
          <p:cNvSpPr>
            <a:spLocks noGrp="1"/>
          </p:cNvSpPr>
          <p:nvPr>
            <p:ph type="ftr" sz="quarter" idx="11"/>
          </p:nvPr>
        </p:nvSpPr>
        <p:spPr/>
        <p:txBody>
          <a:body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2755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4195F40-14B5-4FF1-A15B-41C2F3868468}" type="datetime1">
              <a:rPr lang="en-IN" smtClean="0"/>
              <a:t>10-02-2026</a:t>
            </a:fld>
            <a:endParaRPr lang="en-IN"/>
          </a:p>
        </p:txBody>
      </p:sp>
      <p:sp>
        <p:nvSpPr>
          <p:cNvPr id="5" name="Footer Placeholder 4"/>
          <p:cNvSpPr>
            <a:spLocks noGrp="1"/>
          </p:cNvSpPr>
          <p:nvPr>
            <p:ph type="ftr" sz="quarter" idx="11"/>
          </p:nvPr>
        </p:nvSpPr>
        <p:spPr/>
        <p:txBody>
          <a:body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95389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2C24D9-24F3-417C-BC8F-BF4AA98118EF}" type="datetime1">
              <a:rPr lang="en-IN" smtClean="0"/>
              <a:t>10-02-2026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Dr. Aarti</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ocw.mit.edu/"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hyperlink" Target="https://www.tutorialspoint.com/data_structures_algorithms/array_data_structure.htm" TargetMode="External"/><Relationship Id="rId5" Type="http://schemas.openxmlformats.org/officeDocument/2006/relationships/hyperlink" Target="https://www.geeksforgeeks.org/array-data-structure/" TargetMode="Externa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0355-B08D-308D-DAFB-1DCEF1C1D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CE75B-70BC-32F0-9AE3-D3A4E8E6F86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0578983B-21DD-AA3A-59D7-A404EAAE16AD}"/>
              </a:ext>
            </a:extLst>
          </p:cNvPr>
          <p:cNvSpPr>
            <a:spLocks noGrp="1"/>
          </p:cNvSpPr>
          <p:nvPr>
            <p:ph type="subTitle" idx="1"/>
          </p:nvPr>
        </p:nvSpPr>
        <p:spPr/>
        <p:txBody>
          <a:bodyPr/>
          <a:lstStyle/>
          <a:p>
            <a:endParaRPr lang="en-IN"/>
          </a:p>
        </p:txBody>
      </p:sp>
      <p:pic>
        <p:nvPicPr>
          <p:cNvPr id="4" name="Content Placeholder 3">
            <a:extLst>
              <a:ext uri="{FF2B5EF4-FFF2-40B4-BE49-F238E27FC236}">
                <a16:creationId xmlns:a16="http://schemas.microsoft.com/office/drawing/2014/main" id="{5BD99E4B-F41D-043D-FE73-335D31AA23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5" name="Picture 4">
            <a:extLst>
              <a:ext uri="{FF2B5EF4-FFF2-40B4-BE49-F238E27FC236}">
                <a16:creationId xmlns:a16="http://schemas.microsoft.com/office/drawing/2014/main" id="{2FD873DE-D9DB-5423-6553-EECC3B910E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45952" y="480488"/>
            <a:ext cx="6172601" cy="888700"/>
          </a:xfrm>
          <a:prstGeom prst="rect">
            <a:avLst/>
          </a:prstGeom>
        </p:spPr>
      </p:pic>
      <p:sp>
        <p:nvSpPr>
          <p:cNvPr id="7" name="Rectangle 1">
            <a:extLst>
              <a:ext uri="{FF2B5EF4-FFF2-40B4-BE49-F238E27FC236}">
                <a16:creationId xmlns:a16="http://schemas.microsoft.com/office/drawing/2014/main" id="{707A6CE9-669B-DEE3-BF3E-8D5506EAE30B}"/>
              </a:ext>
            </a:extLst>
          </p:cNvPr>
          <p:cNvSpPr>
            <a:spLocks noChangeArrowheads="1"/>
          </p:cNvSpPr>
          <p:nvPr/>
        </p:nvSpPr>
        <p:spPr bwMode="auto">
          <a:xfrm>
            <a:off x="1505625" y="1636320"/>
            <a:ext cx="6372708" cy="1284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lnSpc>
                <a:spcPct val="150000"/>
              </a:lnSpc>
              <a:buSzPct val="25000"/>
            </a:pPr>
            <a:r>
              <a:rPr lang="en-US" sz="2800" b="1" kern="100" dirty="0">
                <a:latin typeface="Times New Roman" panose="02020603050405020304" pitchFamily="18" charset="0"/>
                <a:ea typeface="Times New Roman" panose="02020603050405020304" pitchFamily="18" charset="0"/>
                <a:cs typeface="Times New Roman" panose="02020603050405020304" pitchFamily="18" charset="0"/>
              </a:rPr>
              <a:t>Data Structures</a:t>
            </a:r>
          </a:p>
          <a:p>
            <a:pPr lvl="0" algn="ctr">
              <a:lnSpc>
                <a:spcPct val="150000"/>
              </a:lnSpc>
              <a:buSzPct val="25000"/>
            </a:pPr>
            <a:r>
              <a:rPr lang="en-US" sz="2800" b="1" kern="100" dirty="0">
                <a:solidFill>
                  <a:srgbClr val="FF0000"/>
                </a:solidFill>
                <a:latin typeface="Times New Roman" panose="02020603050405020304" pitchFamily="18" charset="0"/>
                <a:cs typeface="Times New Roman" panose="02020603050405020304" pitchFamily="18" charset="0"/>
                <a:sym typeface="Arial"/>
              </a:rPr>
              <a:t>ETCCDS202 </a:t>
            </a:r>
            <a:endParaRPr lang="en-IN" sz="2800" b="1" dirty="0">
              <a:solidFill>
                <a:srgbClr val="FF0000"/>
              </a:solidFill>
              <a:latin typeface="Times New Roman" panose="02020603050405020304" pitchFamily="18" charset="0"/>
              <a:cs typeface="Times New Roman" panose="02020603050405020304" pitchFamily="18" charset="0"/>
              <a:sym typeface="Arial"/>
            </a:endParaRPr>
          </a:p>
        </p:txBody>
      </p:sp>
      <p:sp>
        <p:nvSpPr>
          <p:cNvPr id="8" name="Rectangle 1">
            <a:extLst>
              <a:ext uri="{FF2B5EF4-FFF2-40B4-BE49-F238E27FC236}">
                <a16:creationId xmlns:a16="http://schemas.microsoft.com/office/drawing/2014/main" id="{A8034320-BE78-5A55-6F19-03B79C05C8A7}"/>
              </a:ext>
            </a:extLst>
          </p:cNvPr>
          <p:cNvSpPr>
            <a:spLocks noChangeArrowheads="1"/>
          </p:cNvSpPr>
          <p:nvPr/>
        </p:nvSpPr>
        <p:spPr bwMode="auto">
          <a:xfrm>
            <a:off x="1451619" y="4240831"/>
            <a:ext cx="6480720" cy="1054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Faculty</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School of Engineering &amp; Technology </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K.R. </a:t>
            </a:r>
            <a:r>
              <a:rPr lang="en-US" b="1" kern="100" dirty="0" err="1">
                <a:latin typeface="Sylfaen" panose="010A0502050306030303" pitchFamily="18" charset="0"/>
                <a:ea typeface="Times New Roman" panose="02020603050405020304" pitchFamily="18" charset="0"/>
                <a:cs typeface="Times New Roman" panose="02020603050405020304" pitchFamily="18" charset="0"/>
              </a:rPr>
              <a:t>Mangalam</a:t>
            </a:r>
            <a:r>
              <a:rPr lang="en-US" b="1" kern="100" dirty="0">
                <a:latin typeface="Sylfaen" panose="010A0502050306030303" pitchFamily="18" charset="0"/>
                <a:ea typeface="Times New Roman" panose="02020603050405020304" pitchFamily="18" charset="0"/>
                <a:cs typeface="Times New Roman" panose="02020603050405020304" pitchFamily="18" charset="0"/>
              </a:rPr>
              <a:t> University </a:t>
            </a:r>
            <a:endParaRPr lang="en-IN" b="1" dirty="0">
              <a:solidFill>
                <a:srgbClr val="E31E24"/>
              </a:solidFill>
              <a:latin typeface="Sylfaen" panose="010A0502050306030303" pitchFamily="18" charset="0"/>
              <a:cs typeface="Times New Roman" panose="02020603050405020304" pitchFamily="18" charset="0"/>
              <a:sym typeface="Arial"/>
            </a:endParaRPr>
          </a:p>
        </p:txBody>
      </p:sp>
      <p:sp>
        <p:nvSpPr>
          <p:cNvPr id="9" name="Rectangle 1">
            <a:extLst>
              <a:ext uri="{FF2B5EF4-FFF2-40B4-BE49-F238E27FC236}">
                <a16:creationId xmlns:a16="http://schemas.microsoft.com/office/drawing/2014/main" id="{80A128E3-2186-5C09-4DCD-7BC65272487A}"/>
              </a:ext>
            </a:extLst>
          </p:cNvPr>
          <p:cNvSpPr>
            <a:spLocks noChangeArrowheads="1"/>
          </p:cNvSpPr>
          <p:nvPr/>
        </p:nvSpPr>
        <p:spPr bwMode="auto">
          <a:xfrm>
            <a:off x="1371600" y="3429000"/>
            <a:ext cx="6372708"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buSzPct val="25000"/>
            </a:pPr>
            <a:r>
              <a:rPr lang="en-US" sz="2400" b="1" kern="100" dirty="0">
                <a:latin typeface="Times New Roman" panose="02020603050405020304" pitchFamily="18" charset="0"/>
                <a:cs typeface="Times New Roman" panose="02020603050405020304" pitchFamily="18" charset="0"/>
                <a:sym typeface="Arial"/>
              </a:rPr>
              <a:t>Dr. Aarti</a:t>
            </a:r>
            <a:endParaRPr lang="en-IN" sz="2400" b="1" dirty="0">
              <a:solidFill>
                <a:srgbClr val="E31E24"/>
              </a:solidFill>
              <a:latin typeface="Times New Roman" panose="02020603050405020304" pitchFamily="18" charset="0"/>
              <a:cs typeface="Times New Roman" panose="02020603050405020304" pitchFamily="18" charset="0"/>
              <a:sym typeface="Arial"/>
            </a:endParaRPr>
          </a:p>
        </p:txBody>
      </p:sp>
      <p:sp>
        <p:nvSpPr>
          <p:cNvPr id="10" name="TextBox 9">
            <a:extLst>
              <a:ext uri="{FF2B5EF4-FFF2-40B4-BE49-F238E27FC236}">
                <a16:creationId xmlns:a16="http://schemas.microsoft.com/office/drawing/2014/main" id="{F1D9C7E5-CE35-9355-4CD6-2B1E6EB9A5AA}"/>
              </a:ext>
            </a:extLst>
          </p:cNvPr>
          <p:cNvSpPr txBox="1"/>
          <p:nvPr/>
        </p:nvSpPr>
        <p:spPr>
          <a:xfrm>
            <a:off x="1178176" y="5615709"/>
            <a:ext cx="7027606"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Unit 2 : </a:t>
            </a:r>
            <a:r>
              <a:rPr lang="en-US" sz="2400" b="1" kern="100" dirty="0">
                <a:latin typeface="Times New Roman" panose="02020603050405020304" pitchFamily="18" charset="0"/>
                <a:cs typeface="Times New Roman" panose="02020603050405020304" pitchFamily="18" charset="0"/>
                <a:sym typeface="Arial"/>
              </a:rPr>
              <a:t>Linear Data Structures</a:t>
            </a:r>
            <a:endParaRPr lang="en-IN"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1646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sp>
        <p:nvSpPr>
          <p:cNvPr id="5" name="Rectangle 1"/>
          <p:cNvSpPr>
            <a:spLocks noChangeArrowheads="1"/>
          </p:cNvSpPr>
          <p:nvPr/>
        </p:nvSpPr>
        <p:spPr bwMode="auto">
          <a:xfrm>
            <a:off x="971600" y="321158"/>
            <a:ext cx="698781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latin typeface="Verdana" panose="020B0604030504040204" pitchFamily="34" charset="0"/>
                <a:cs typeface="Times New Roman" panose="02020603050405020304" pitchFamily="18" charset="0"/>
                <a:sym typeface="Arial"/>
              </a:rPr>
              <a:t>Unit-2 Linear Data Structures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829266"/>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4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just" fontAlgn="base">
              <a:lnSpc>
                <a:spcPct val="107000"/>
              </a:lnSpc>
              <a:spcBef>
                <a:spcPts val="0"/>
              </a:spcBef>
              <a:spcAft>
                <a:spcPts val="0"/>
              </a:spcAft>
            </a:pP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6" y="1213558"/>
            <a:ext cx="8352928" cy="461665"/>
          </a:xfrm>
          <a:prstGeom prst="rect">
            <a:avLst/>
          </a:prstGeom>
          <a:solidFill>
            <a:srgbClr val="FFFF00"/>
          </a:solidFill>
        </p:spPr>
        <p:txBody>
          <a:bodyPr wrap="square" rtlCol="0">
            <a:spAutoFit/>
          </a:bodyPr>
          <a:lstStyle/>
          <a:p>
            <a:r>
              <a:rPr lang="en-US" sz="2400" b="1" dirty="0"/>
              <a:t>SESSION 11	Arrays – 1D &amp; 2D</a:t>
            </a:r>
            <a:r>
              <a:rPr lang="en-US" sz="2400" b="1" dirty="0">
                <a:highlight>
                  <a:srgbClr val="FFFF00"/>
                </a:highlight>
              </a:rPr>
              <a:t>	</a:t>
            </a:r>
            <a:endParaRPr lang="en-IN" sz="2400" b="1" dirty="0">
              <a:highlight>
                <a:srgbClr val="FFFF00"/>
              </a:highlight>
            </a:endParaRPr>
          </a:p>
        </p:txBody>
      </p:sp>
      <p:sp>
        <p:nvSpPr>
          <p:cNvPr id="10" name="Slide Number Placeholder 9"/>
          <p:cNvSpPr>
            <a:spLocks noGrp="1"/>
          </p:cNvSpPr>
          <p:nvPr>
            <p:ph type="sldNum" sz="quarter" idx="12"/>
          </p:nvPr>
        </p:nvSpPr>
        <p:spPr/>
        <p:txBody>
          <a:bodyPr/>
          <a:lstStyle/>
          <a:p>
            <a:fld id="{C421C46D-3F04-4F73-BF36-E6D9DA5AE143}" type="slidenum">
              <a:rPr lang="en-IN" smtClean="0"/>
              <a:t>2</a:t>
            </a:fld>
            <a:endParaRPr lang="en-IN"/>
          </a:p>
        </p:txBody>
      </p:sp>
      <p:sp>
        <p:nvSpPr>
          <p:cNvPr id="11" name="TextBox 10"/>
          <p:cNvSpPr txBox="1"/>
          <p:nvPr/>
        </p:nvSpPr>
        <p:spPr>
          <a:xfrm>
            <a:off x="395536" y="1733775"/>
            <a:ext cx="8352928" cy="461665"/>
          </a:xfrm>
          <a:prstGeom prst="rect">
            <a:avLst/>
          </a:prstGeom>
          <a:noFill/>
        </p:spPr>
        <p:txBody>
          <a:bodyPr wrap="square" rtlCol="0">
            <a:spAutoFit/>
          </a:bodyPr>
          <a:lstStyle/>
          <a:p>
            <a:r>
              <a:rPr lang="en-US" sz="2400" b="1" dirty="0"/>
              <a:t>SESSION 12	Static &amp; Dynamic Arrays	</a:t>
            </a:r>
            <a:endParaRPr lang="en-IN" sz="2400" b="1" dirty="0"/>
          </a:p>
        </p:txBody>
      </p:sp>
      <p:sp>
        <p:nvSpPr>
          <p:cNvPr id="12" name="TextBox 11"/>
          <p:cNvSpPr txBox="1"/>
          <p:nvPr/>
        </p:nvSpPr>
        <p:spPr>
          <a:xfrm>
            <a:off x="403243" y="2249884"/>
            <a:ext cx="8352928" cy="461665"/>
          </a:xfrm>
          <a:prstGeom prst="rect">
            <a:avLst/>
          </a:prstGeom>
          <a:noFill/>
        </p:spPr>
        <p:txBody>
          <a:bodyPr wrap="square" rtlCol="0">
            <a:spAutoFit/>
          </a:bodyPr>
          <a:lstStyle/>
          <a:p>
            <a:r>
              <a:rPr lang="en-US" sz="2400" b="1" dirty="0"/>
              <a:t>SESSION 13	Linked Lists Types	</a:t>
            </a:r>
            <a:endParaRPr lang="en-IN" sz="2400" b="1" dirty="0"/>
          </a:p>
        </p:txBody>
      </p:sp>
      <p:sp>
        <p:nvSpPr>
          <p:cNvPr id="13" name="TextBox 12"/>
          <p:cNvSpPr txBox="1"/>
          <p:nvPr/>
        </p:nvSpPr>
        <p:spPr>
          <a:xfrm>
            <a:off x="421836" y="2811526"/>
            <a:ext cx="8352928" cy="461665"/>
          </a:xfrm>
          <a:prstGeom prst="rect">
            <a:avLst/>
          </a:prstGeom>
          <a:noFill/>
        </p:spPr>
        <p:txBody>
          <a:bodyPr wrap="square" rtlCol="0">
            <a:spAutoFit/>
          </a:bodyPr>
          <a:lstStyle/>
          <a:p>
            <a:r>
              <a:rPr lang="en-US" sz="2400" b="1" dirty="0"/>
              <a:t>SESSION 14	Linked List Operations	</a:t>
            </a:r>
            <a:endParaRPr lang="en-IN" sz="2400" b="1" dirty="0"/>
          </a:p>
        </p:txBody>
      </p:sp>
      <p:sp>
        <p:nvSpPr>
          <p:cNvPr id="14" name="TextBox 13"/>
          <p:cNvSpPr txBox="1"/>
          <p:nvPr/>
        </p:nvSpPr>
        <p:spPr>
          <a:xfrm>
            <a:off x="403378" y="3324993"/>
            <a:ext cx="8352928" cy="461665"/>
          </a:xfrm>
          <a:prstGeom prst="rect">
            <a:avLst/>
          </a:prstGeom>
          <a:noFill/>
        </p:spPr>
        <p:txBody>
          <a:bodyPr wrap="square" rtlCol="0">
            <a:spAutoFit/>
          </a:bodyPr>
          <a:lstStyle/>
          <a:p>
            <a:r>
              <a:rPr lang="en-US" sz="2400" b="1" dirty="0"/>
              <a:t>SESSION 15	Stack ADT &amp; Operations	</a:t>
            </a:r>
            <a:endParaRPr lang="en-IN" sz="2400" b="1" dirty="0"/>
          </a:p>
        </p:txBody>
      </p:sp>
      <p:sp>
        <p:nvSpPr>
          <p:cNvPr id="15" name="TextBox 14"/>
          <p:cNvSpPr txBox="1"/>
          <p:nvPr/>
        </p:nvSpPr>
        <p:spPr>
          <a:xfrm>
            <a:off x="407359" y="4262830"/>
            <a:ext cx="8352928" cy="461665"/>
          </a:xfrm>
          <a:prstGeom prst="rect">
            <a:avLst/>
          </a:prstGeom>
          <a:noFill/>
        </p:spPr>
        <p:txBody>
          <a:bodyPr wrap="square" rtlCol="0">
            <a:spAutoFit/>
          </a:bodyPr>
          <a:lstStyle/>
          <a:p>
            <a:r>
              <a:rPr lang="en-US" sz="2400" b="1" dirty="0"/>
              <a:t>SESSION 17	Queue ADT</a:t>
            </a:r>
          </a:p>
        </p:txBody>
      </p:sp>
      <p:sp>
        <p:nvSpPr>
          <p:cNvPr id="16" name="TextBox 15"/>
          <p:cNvSpPr txBox="1"/>
          <p:nvPr/>
        </p:nvSpPr>
        <p:spPr>
          <a:xfrm>
            <a:off x="421836" y="4776297"/>
            <a:ext cx="8352928" cy="461665"/>
          </a:xfrm>
          <a:prstGeom prst="rect">
            <a:avLst/>
          </a:prstGeom>
          <a:noFill/>
        </p:spPr>
        <p:txBody>
          <a:bodyPr wrap="square" rtlCol="0">
            <a:spAutoFit/>
          </a:bodyPr>
          <a:lstStyle/>
          <a:p>
            <a:r>
              <a:rPr lang="en-US" sz="2400" b="1" dirty="0"/>
              <a:t>SESSION 18	Queue Applications</a:t>
            </a:r>
            <a:endParaRPr lang="en-IN" sz="2400" b="1" dirty="0"/>
          </a:p>
        </p:txBody>
      </p:sp>
      <p:sp>
        <p:nvSpPr>
          <p:cNvPr id="18" name="TextBox 17"/>
          <p:cNvSpPr txBox="1"/>
          <p:nvPr/>
        </p:nvSpPr>
        <p:spPr>
          <a:xfrm>
            <a:off x="395536" y="3787886"/>
            <a:ext cx="8352928" cy="461665"/>
          </a:xfrm>
          <a:prstGeom prst="rect">
            <a:avLst/>
          </a:prstGeom>
          <a:noFill/>
        </p:spPr>
        <p:txBody>
          <a:bodyPr wrap="square" rtlCol="0">
            <a:spAutoFit/>
          </a:bodyPr>
          <a:lstStyle/>
          <a:p>
            <a:r>
              <a:rPr lang="en-US" sz="2400" b="1" dirty="0"/>
              <a:t>SESSION 16	 Stack Applications</a:t>
            </a:r>
          </a:p>
        </p:txBody>
      </p:sp>
      <p:sp>
        <p:nvSpPr>
          <p:cNvPr id="17" name="TextBox 16">
            <a:extLst>
              <a:ext uri="{FF2B5EF4-FFF2-40B4-BE49-F238E27FC236}">
                <a16:creationId xmlns:a16="http://schemas.microsoft.com/office/drawing/2014/main" id="{0E9AA04E-4CF0-1135-99A8-DFA66C9162E6}"/>
              </a:ext>
            </a:extLst>
          </p:cNvPr>
          <p:cNvSpPr txBox="1"/>
          <p:nvPr/>
        </p:nvSpPr>
        <p:spPr>
          <a:xfrm>
            <a:off x="414129" y="5270729"/>
            <a:ext cx="8352928" cy="461665"/>
          </a:xfrm>
          <a:prstGeom prst="rect">
            <a:avLst/>
          </a:prstGeom>
          <a:solidFill>
            <a:schemeClr val="bg1"/>
          </a:solidFill>
        </p:spPr>
        <p:txBody>
          <a:bodyPr wrap="square" rtlCol="0">
            <a:spAutoFit/>
          </a:bodyPr>
          <a:lstStyle/>
          <a:p>
            <a:r>
              <a:rPr lang="en-US" sz="2400" b="1" dirty="0"/>
              <a:t>SESSION 19	BFS using Queue</a:t>
            </a:r>
          </a:p>
        </p:txBody>
      </p:sp>
      <p:sp>
        <p:nvSpPr>
          <p:cNvPr id="19" name="TextBox 18">
            <a:extLst>
              <a:ext uri="{FF2B5EF4-FFF2-40B4-BE49-F238E27FC236}">
                <a16:creationId xmlns:a16="http://schemas.microsoft.com/office/drawing/2014/main" id="{285B26A0-3162-1565-E432-BE0EB2B54357}"/>
              </a:ext>
            </a:extLst>
          </p:cNvPr>
          <p:cNvSpPr txBox="1"/>
          <p:nvPr/>
        </p:nvSpPr>
        <p:spPr>
          <a:xfrm>
            <a:off x="421836" y="5786838"/>
            <a:ext cx="8352928" cy="461665"/>
          </a:xfrm>
          <a:prstGeom prst="rect">
            <a:avLst/>
          </a:prstGeom>
          <a:noFill/>
        </p:spPr>
        <p:txBody>
          <a:bodyPr wrap="square" rtlCol="0">
            <a:spAutoFit/>
          </a:bodyPr>
          <a:lstStyle/>
          <a:p>
            <a:r>
              <a:rPr lang="en-US" sz="2400" b="1" dirty="0"/>
              <a:t>SESSION 20	Revision (Unit–2)	</a:t>
            </a:r>
            <a:endParaRPr lang="en-IN" sz="2400" b="1" dirty="0"/>
          </a:p>
        </p:txBody>
      </p:sp>
    </p:spTree>
    <p:extLst>
      <p:ext uri="{BB962C8B-B14F-4D97-AF65-F5344CB8AC3E}">
        <p14:creationId xmlns:p14="http://schemas.microsoft.com/office/powerpoint/2010/main" val="1773646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9B22-9FA9-1FAA-D08D-F3C80309002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39E82FE-96D7-2529-7945-4ACABDB58E8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0"/>
            <a:ext cx="9144000" cy="6858000"/>
          </a:xfrm>
        </p:spPr>
      </p:pic>
      <p:pic>
        <p:nvPicPr>
          <p:cNvPr id="9" name="Picture 8">
            <a:extLst>
              <a:ext uri="{FF2B5EF4-FFF2-40B4-BE49-F238E27FC236}">
                <a16:creationId xmlns:a16="http://schemas.microsoft.com/office/drawing/2014/main" id="{BC685B53-95B0-E1DB-1C9C-F5456893FE5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8" y="6237312"/>
            <a:ext cx="3060242" cy="439910"/>
          </a:xfrm>
          <a:prstGeom prst="rect">
            <a:avLst/>
          </a:prstGeom>
        </p:spPr>
      </p:pic>
      <p:sp>
        <p:nvSpPr>
          <p:cNvPr id="6" name="TextBox 5">
            <a:extLst>
              <a:ext uri="{FF2B5EF4-FFF2-40B4-BE49-F238E27FC236}">
                <a16:creationId xmlns:a16="http://schemas.microsoft.com/office/drawing/2014/main" id="{8236DC02-599B-DF7E-0281-3D512FA448DC}"/>
              </a:ext>
            </a:extLst>
          </p:cNvPr>
          <p:cNvSpPr txBox="1"/>
          <p:nvPr/>
        </p:nvSpPr>
        <p:spPr>
          <a:xfrm>
            <a:off x="1277634" y="1827626"/>
            <a:ext cx="6588732" cy="302775"/>
          </a:xfrm>
          <a:prstGeom prst="rect">
            <a:avLst/>
          </a:prstGeom>
          <a:noFill/>
        </p:spPr>
        <p:txBody>
          <a:bodyPr wrap="square">
            <a:spAutoFit/>
          </a:bodyPr>
          <a:lstStyle/>
          <a:p>
            <a:pPr algn="just" fontAlgn="base">
              <a:lnSpc>
                <a:spcPct val="107000"/>
              </a:lnSpc>
            </a:pPr>
            <a:r>
              <a:rPr lang="en-US" sz="1350" kern="1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a:t>
            </a:r>
            <a:endParaRPr lang="en-US" sz="2100" kern="100" dirty="0">
              <a:latin typeface="+mj-lt"/>
              <a:ea typeface="Calibri" panose="020F0502020204030204" pitchFamily="34" charset="0"/>
              <a:cs typeface="Times New Roman" panose="02020603050405020304" pitchFamily="18" charset="0"/>
            </a:endParaRPr>
          </a:p>
        </p:txBody>
      </p:sp>
      <p:sp>
        <p:nvSpPr>
          <p:cNvPr id="10" name="Rectangle 1">
            <a:extLst>
              <a:ext uri="{FF2B5EF4-FFF2-40B4-BE49-F238E27FC236}">
                <a16:creationId xmlns:a16="http://schemas.microsoft.com/office/drawing/2014/main" id="{979542EF-0836-8363-678A-2FD2B60D1FD5}"/>
              </a:ext>
            </a:extLst>
          </p:cNvPr>
          <p:cNvSpPr>
            <a:spLocks noChangeArrowheads="1"/>
          </p:cNvSpPr>
          <p:nvPr/>
        </p:nvSpPr>
        <p:spPr bwMode="auto">
          <a:xfrm>
            <a:off x="1277635" y="9478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1" name="Rectangle 1">
            <a:extLst>
              <a:ext uri="{FF2B5EF4-FFF2-40B4-BE49-F238E27FC236}">
                <a16:creationId xmlns:a16="http://schemas.microsoft.com/office/drawing/2014/main" id="{979542EF-0836-8363-678A-2FD2B60D1FD5}"/>
              </a:ext>
            </a:extLst>
          </p:cNvPr>
          <p:cNvSpPr>
            <a:spLocks noChangeArrowheads="1"/>
          </p:cNvSpPr>
          <p:nvPr/>
        </p:nvSpPr>
        <p:spPr bwMode="auto">
          <a:xfrm>
            <a:off x="1391935" y="10621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2" name="Rectangle 11"/>
          <p:cNvSpPr/>
          <p:nvPr/>
        </p:nvSpPr>
        <p:spPr>
          <a:xfrm>
            <a:off x="936519" y="878322"/>
            <a:ext cx="7315199" cy="4247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imes New Roman" panose="02020603050405020304" pitchFamily="18" charset="0"/>
                <a:cs typeface="Times New Roman" panose="02020603050405020304" pitchFamily="18" charset="0"/>
              </a:rPr>
              <a:t>Session 11</a:t>
            </a:r>
          </a:p>
        </p:txBody>
      </p:sp>
      <p:sp>
        <p:nvSpPr>
          <p:cNvPr id="2" name="TextBox 1"/>
          <p:cNvSpPr txBox="1"/>
          <p:nvPr/>
        </p:nvSpPr>
        <p:spPr>
          <a:xfrm>
            <a:off x="936519" y="1502152"/>
            <a:ext cx="5861364" cy="4602286"/>
          </a:xfrm>
          <a:prstGeom prst="rect">
            <a:avLst/>
          </a:prstGeom>
          <a:noFill/>
        </p:spPr>
        <p:txBody>
          <a:bodyPr wrap="square" rtlCol="0">
            <a:spAutoFit/>
          </a:bodyPr>
          <a:lstStyle/>
          <a:p>
            <a:pPr marL="285750" lvl="0" indent="-285750" eaLnBrk="0" fontAlgn="base" hangingPunct="0">
              <a:lnSpc>
                <a:spcPct val="150000"/>
              </a:lnSpc>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Concept of Arrays</a:t>
            </a:r>
          </a:p>
          <a:p>
            <a:pPr marL="285750" lvl="0" indent="-285750" eaLnBrk="0" fontAlgn="base" hangingPunct="0">
              <a:lnSpc>
                <a:spcPct val="150000"/>
              </a:lnSpc>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Need and Advantages of Arrays</a:t>
            </a:r>
          </a:p>
          <a:p>
            <a:pPr marL="285750" lvl="0" indent="-285750" eaLnBrk="0" fontAlgn="base" hangingPunct="0">
              <a:lnSpc>
                <a:spcPct val="150000"/>
              </a:lnSpc>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Array Terminologies</a:t>
            </a:r>
          </a:p>
          <a:p>
            <a:pPr marL="285750" lvl="0" indent="-285750" eaLnBrk="0" fontAlgn="base" hangingPunct="0">
              <a:lnSpc>
                <a:spcPct val="150000"/>
              </a:lnSpc>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Declaration and Initialization of Arrays</a:t>
            </a:r>
          </a:p>
          <a:p>
            <a:pPr marL="285750" lvl="0" indent="-285750" eaLnBrk="0" fontAlgn="base" hangingPunct="0">
              <a:lnSpc>
                <a:spcPct val="150000"/>
              </a:lnSpc>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Accessing Array Elements</a:t>
            </a:r>
          </a:p>
          <a:p>
            <a:pPr marL="285750" lvl="0" indent="-285750" eaLnBrk="0" fontAlgn="base" hangingPunct="0">
              <a:lnSpc>
                <a:spcPct val="150000"/>
              </a:lnSpc>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One-Dimensional Arrays (1-D Arrays)</a:t>
            </a:r>
          </a:p>
          <a:p>
            <a:pPr marL="285750" lvl="0" indent="-285750" eaLnBrk="0" fontAlgn="base" hangingPunct="0">
              <a:lnSpc>
                <a:spcPct val="150000"/>
              </a:lnSpc>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Two-Dimensional Arrays (2-D Arrays)</a:t>
            </a:r>
          </a:p>
          <a:p>
            <a:pPr marL="285750" lvl="0" indent="-285750" eaLnBrk="0" fontAlgn="base" hangingPunct="0">
              <a:lnSpc>
                <a:spcPct val="150000"/>
              </a:lnSpc>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Practice Problems and MCQs</a:t>
            </a:r>
          </a:p>
          <a:p>
            <a:pPr marL="285750" lvl="0" indent="-285750" eaLnBrk="0" fontAlgn="base" hangingPunct="0">
              <a:lnSpc>
                <a:spcPct val="150000"/>
              </a:lnSpc>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Key Takeaways</a:t>
            </a:r>
            <a:endParaRPr lang="en-US" altLang="en-US" sz="1400" dirty="0">
              <a:latin typeface="Arial" panose="020B0604020202020204" pitchFamily="34" charset="0"/>
            </a:endParaRPr>
          </a:p>
        </p:txBody>
      </p:sp>
      <p:sp>
        <p:nvSpPr>
          <p:cNvPr id="3" name="TextBox 2"/>
          <p:cNvSpPr txBox="1"/>
          <p:nvPr/>
        </p:nvSpPr>
        <p:spPr>
          <a:xfrm>
            <a:off x="2335322" y="255261"/>
            <a:ext cx="451759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Arrays – 1D &amp; 2D</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4370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51520" y="35518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Learning Objectives</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830997"/>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3" name="TextBox 12"/>
          <p:cNvSpPr txBox="1"/>
          <p:nvPr/>
        </p:nvSpPr>
        <p:spPr>
          <a:xfrm>
            <a:off x="251521" y="1282049"/>
            <a:ext cx="8496942" cy="4058419"/>
          </a:xfrm>
          <a:prstGeom prst="rect">
            <a:avLst/>
          </a:prstGeom>
          <a:noFill/>
        </p:spPr>
        <p:txBody>
          <a:bodyPr wrap="square" rtlCol="0">
            <a:spAutoFit/>
          </a:bodyPr>
          <a:lstStyle/>
          <a:p>
            <a:pPr marL="268288" indent="-268288" algn="just">
              <a:lnSpc>
                <a:spcPct val="200000"/>
              </a:lnSpc>
            </a:pPr>
            <a:r>
              <a:rPr lang="en-US" sz="2200" dirty="0">
                <a:latin typeface="Times New Roman" panose="02020603050405020304" pitchFamily="18" charset="0"/>
                <a:cs typeface="Times New Roman" panose="02020603050405020304" pitchFamily="18" charset="0"/>
              </a:rPr>
              <a:t>After this lecture, students will be able to:</a:t>
            </a:r>
          </a:p>
          <a:p>
            <a:pPr marL="268288" lvl="0" indent="-268288" algn="just" eaLnBrk="0" fontAlgn="base" hangingPunct="0">
              <a:lnSpc>
                <a:spcPct val="200000"/>
              </a:lnSpc>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Define an </a:t>
            </a:r>
            <a:r>
              <a:rPr lang="en-US" altLang="en-US" sz="2200" b="1" dirty="0">
                <a:latin typeface="Times New Roman" panose="02020603050405020304" pitchFamily="18" charset="0"/>
                <a:cs typeface="Times New Roman" panose="02020603050405020304" pitchFamily="18" charset="0"/>
              </a:rPr>
              <a:t>array</a:t>
            </a:r>
            <a:r>
              <a:rPr lang="en-US" altLang="en-US" sz="2200" dirty="0">
                <a:latin typeface="Times New Roman" panose="02020603050405020304" pitchFamily="18" charset="0"/>
                <a:cs typeface="Times New Roman" panose="02020603050405020304" pitchFamily="18" charset="0"/>
              </a:rPr>
              <a:t> and explain its characteristics</a:t>
            </a:r>
          </a:p>
          <a:p>
            <a:pPr marL="268288" lvl="0" indent="-268288" algn="just" eaLnBrk="0" fontAlgn="base" hangingPunct="0">
              <a:lnSpc>
                <a:spcPct val="200000"/>
              </a:lnSpc>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Declare, initialize, and access </a:t>
            </a:r>
            <a:r>
              <a:rPr lang="en-US" altLang="en-US" sz="2200" b="1" dirty="0">
                <a:latin typeface="Times New Roman" panose="02020603050405020304" pitchFamily="18" charset="0"/>
                <a:cs typeface="Times New Roman" panose="02020603050405020304" pitchFamily="18" charset="0"/>
              </a:rPr>
              <a:t>1-D arrays</a:t>
            </a:r>
            <a:endParaRPr lang="en-US" altLang="en-US" sz="2200" dirty="0">
              <a:latin typeface="Times New Roman" panose="02020603050405020304" pitchFamily="18" charset="0"/>
              <a:cs typeface="Times New Roman" panose="02020603050405020304" pitchFamily="18" charset="0"/>
            </a:endParaRPr>
          </a:p>
          <a:p>
            <a:pPr marL="268288" lvl="0" indent="-268288" algn="just" eaLnBrk="0" fontAlgn="base" hangingPunct="0">
              <a:lnSpc>
                <a:spcPct val="200000"/>
              </a:lnSpc>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Understand the structure and usage of </a:t>
            </a:r>
            <a:r>
              <a:rPr lang="en-US" altLang="en-US" sz="2200" b="1" dirty="0">
                <a:latin typeface="Times New Roman" panose="02020603050405020304" pitchFamily="18" charset="0"/>
                <a:cs typeface="Times New Roman" panose="02020603050405020304" pitchFamily="18" charset="0"/>
              </a:rPr>
              <a:t>2-D arrays</a:t>
            </a:r>
            <a:endParaRPr lang="en-US" altLang="en-US" sz="2200" dirty="0">
              <a:latin typeface="Times New Roman" panose="02020603050405020304" pitchFamily="18" charset="0"/>
              <a:cs typeface="Times New Roman" panose="02020603050405020304" pitchFamily="18" charset="0"/>
            </a:endParaRPr>
          </a:p>
          <a:p>
            <a:pPr marL="268288" lvl="0" indent="-268288" algn="just" eaLnBrk="0" fontAlgn="base" hangingPunct="0">
              <a:lnSpc>
                <a:spcPct val="200000"/>
              </a:lnSpc>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Apply arrays to solve </a:t>
            </a:r>
            <a:r>
              <a:rPr lang="en-US" altLang="en-US" sz="2200" b="1" dirty="0">
                <a:latin typeface="Times New Roman" panose="02020603050405020304" pitchFamily="18" charset="0"/>
                <a:cs typeface="Times New Roman" panose="02020603050405020304" pitchFamily="18" charset="0"/>
              </a:rPr>
              <a:t>simple computational and real-world problems</a:t>
            </a:r>
            <a:endParaRPr lang="en-US" sz="2000" dirty="0"/>
          </a:p>
        </p:txBody>
      </p:sp>
    </p:spTree>
    <p:extLst>
      <p:ext uri="{BB962C8B-B14F-4D97-AF65-F5344CB8AC3E}">
        <p14:creationId xmlns:p14="http://schemas.microsoft.com/office/powerpoint/2010/main" val="3274074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(Unit-1: </a:t>
            </a:r>
            <a:r>
              <a:rPr lang="en-IN" sz="2800" b="1" dirty="0">
                <a:solidFill>
                  <a:srgbClr val="E31E24"/>
                </a:solidFill>
              </a:rPr>
              <a:t>Data Structures &amp; ADTs</a:t>
            </a:r>
            <a:r>
              <a:rPr lang="en-US" sz="2800" b="1" dirty="0">
                <a:solidFill>
                  <a:srgbClr val="E31E24"/>
                </a:solidFill>
                <a:cs typeface="Times New Roman" panose="02020603050405020304" pitchFamily="18" charset="0"/>
                <a:sym typeface="Arial"/>
              </a:rPr>
              <a:t>)</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179512" y="1238795"/>
            <a:ext cx="8580969" cy="5171416"/>
          </a:xfrm>
          <a:prstGeom prst="rect">
            <a:avLst/>
          </a:prstGeom>
          <a:noFill/>
        </p:spPr>
        <p:txBody>
          <a:bodyPr wrap="square" rtlCol="0">
            <a:spAutoFit/>
          </a:bodyPr>
          <a:lstStyle/>
          <a:p>
            <a:pPr marL="285750" indent="-285750" algn="just">
              <a:lnSpc>
                <a:spcPct val="150000"/>
              </a:lnSpc>
              <a:spcBef>
                <a:spcPts val="600"/>
              </a:spcBef>
              <a:spcAft>
                <a:spcPts val="600"/>
              </a:spcAf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Data Structures: </a:t>
            </a:r>
            <a:r>
              <a:rPr lang="en-IN" sz="2200" dirty="0">
                <a:latin typeface="Times New Roman" panose="02020603050405020304" pitchFamily="18" charset="0"/>
                <a:cs typeface="Times New Roman" panose="02020603050405020304" pitchFamily="18" charset="0"/>
              </a:rPr>
              <a:t>Way to store, organize, and manage data efficiently</a:t>
            </a:r>
          </a:p>
          <a:p>
            <a:pPr marL="720725" indent="-452438">
              <a:lnSpc>
                <a:spcPct val="150000"/>
              </a:lnSpc>
              <a:spcBef>
                <a:spcPts val="600"/>
              </a:spcBef>
              <a:spcAft>
                <a:spcPts val="600"/>
              </a:spcAft>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Helps in fast access, insertion, deletion, and processing</a:t>
            </a:r>
          </a:p>
          <a:p>
            <a:pPr marL="285750" indent="-285750">
              <a:lnSpc>
                <a:spcPct val="150000"/>
              </a:lnSpc>
              <a:spcBef>
                <a:spcPts val="600"/>
              </a:spcBef>
              <a:spcAft>
                <a:spcPts val="600"/>
              </a:spcAf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Need for Data Structures</a:t>
            </a:r>
          </a:p>
          <a:p>
            <a:pPr marL="720725" indent="-452438">
              <a:lnSpc>
                <a:spcPct val="150000"/>
              </a:lnSpc>
              <a:spcBef>
                <a:spcPts val="600"/>
              </a:spcBef>
              <a:spcAft>
                <a:spcPts val="600"/>
              </a:spcAft>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Efficient data handling</a:t>
            </a:r>
          </a:p>
          <a:p>
            <a:pPr marL="720725" indent="-452438">
              <a:lnSpc>
                <a:spcPct val="150000"/>
              </a:lnSpc>
              <a:spcBef>
                <a:spcPts val="600"/>
              </a:spcBef>
              <a:spcAft>
                <a:spcPts val="600"/>
              </a:spcAft>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Better performance and reduced complexity in programs</a:t>
            </a:r>
          </a:p>
          <a:p>
            <a:pPr marL="285750" indent="-285750">
              <a:lnSpc>
                <a:spcPct val="150000"/>
              </a:lnSpc>
              <a:spcBef>
                <a:spcPts val="600"/>
              </a:spcBef>
              <a:spcAft>
                <a:spcPts val="600"/>
              </a:spcAf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Abstract Data Types (ADTs)</a:t>
            </a:r>
          </a:p>
          <a:p>
            <a:pPr marL="720725" indent="-452438" algn="just">
              <a:lnSpc>
                <a:spcPct val="150000"/>
              </a:lnSpc>
              <a:spcBef>
                <a:spcPts val="600"/>
              </a:spcBef>
              <a:spcAft>
                <a:spcPts val="600"/>
              </a:spcAft>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ADT defines what operations are performed, not how</a:t>
            </a:r>
          </a:p>
          <a:p>
            <a:pPr marL="720725" indent="-452438" algn="just">
              <a:lnSpc>
                <a:spcPct val="150000"/>
              </a:lnSpc>
              <a:spcBef>
                <a:spcPts val="600"/>
              </a:spcBef>
              <a:spcAft>
                <a:spcPts val="600"/>
              </a:spcAft>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Focuses on </a:t>
            </a:r>
            <a:r>
              <a:rPr lang="en-IN" sz="2200" dirty="0" err="1">
                <a:latin typeface="Times New Roman" panose="02020603050405020304" pitchFamily="18" charset="0"/>
                <a:cs typeface="Times New Roman" panose="02020603050405020304" pitchFamily="18" charset="0"/>
              </a:rPr>
              <a:t>behavior</a:t>
            </a:r>
            <a:r>
              <a:rPr lang="en-IN" sz="2200" dirty="0">
                <a:latin typeface="Times New Roman" panose="02020603050405020304" pitchFamily="18" charset="0"/>
                <a:cs typeface="Times New Roman" panose="02020603050405020304" pitchFamily="18" charset="0"/>
              </a:rPr>
              <a:t> and functionality</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smtClean="0"/>
              <a:t>5</a:t>
            </a:fld>
            <a:endParaRPr lang="en-IN"/>
          </a:p>
        </p:txBody>
      </p:sp>
    </p:spTree>
    <p:extLst>
      <p:ext uri="{BB962C8B-B14F-4D97-AF65-F5344CB8AC3E}">
        <p14:creationId xmlns:p14="http://schemas.microsoft.com/office/powerpoint/2010/main" val="750881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CE203-C556-5D0D-8594-7A14523760AC}"/>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BAD0367-B152-BD43-B9D0-BED5D933735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E28E4A8D-99DE-0577-58D5-F77544554845}"/>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FCDEF341-747E-BFC4-F69F-9E1F84B039E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8C44B69C-AC7C-D777-AB66-6C6526F937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D67C9CE2-9E0B-197A-4F03-72E871FF3EA6}"/>
              </a:ext>
            </a:extLst>
          </p:cNvPr>
          <p:cNvSpPr>
            <a:spLocks noChangeArrowheads="1"/>
          </p:cNvSpPr>
          <p:nvPr/>
        </p:nvSpPr>
        <p:spPr bwMode="auto">
          <a:xfrm>
            <a:off x="187091" y="311160"/>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(Unit-1: </a:t>
            </a:r>
            <a:r>
              <a:rPr lang="en-IN" sz="2800" b="1" dirty="0">
                <a:solidFill>
                  <a:srgbClr val="E31E24"/>
                </a:solidFill>
              </a:rPr>
              <a:t>Time &amp; Space Complexity</a:t>
            </a:r>
            <a:r>
              <a:rPr lang="en-US" sz="2800" b="1" dirty="0">
                <a:solidFill>
                  <a:srgbClr val="E31E24"/>
                </a:solidFill>
                <a:cs typeface="Times New Roman" panose="02020603050405020304" pitchFamily="18" charset="0"/>
                <a:sym typeface="Arial"/>
              </a:rPr>
              <a:t>)</a:t>
            </a:r>
            <a:endParaRPr lang="en-IN" sz="2800" b="1" dirty="0">
              <a:solidFill>
                <a:srgbClr val="E31E24"/>
              </a:solidFill>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97CE469E-883C-EB0D-796C-D525A6E9BDF3}"/>
              </a:ext>
            </a:extLst>
          </p:cNvPr>
          <p:cNvSpPr txBox="1"/>
          <p:nvPr/>
        </p:nvSpPr>
        <p:spPr>
          <a:xfrm>
            <a:off x="233266" y="1392357"/>
            <a:ext cx="8659214" cy="4509696"/>
          </a:xfrm>
          <a:prstGeom prst="rect">
            <a:avLst/>
          </a:prstGeom>
          <a:noFill/>
        </p:spPr>
        <p:txBody>
          <a:bodyPr wrap="square" rtlCol="0">
            <a:spAutoFit/>
          </a:bodyPr>
          <a:lstStyle/>
          <a:p>
            <a:pPr marL="285750" indent="-285750">
              <a:lnSpc>
                <a:spcPct val="150000"/>
              </a:lnSpc>
              <a:spcBef>
                <a:spcPts val="600"/>
              </a:spcBef>
              <a:spcAft>
                <a:spcPts val="600"/>
              </a:spcAf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Time Complexity: </a:t>
            </a:r>
            <a:r>
              <a:rPr lang="en-IN" sz="2200" dirty="0">
                <a:latin typeface="Times New Roman" panose="02020603050405020304" pitchFamily="18" charset="0"/>
                <a:cs typeface="Times New Roman" panose="02020603050405020304" pitchFamily="18" charset="0"/>
              </a:rPr>
              <a:t>Measures how execution time grows with input size</a:t>
            </a:r>
          </a:p>
          <a:p>
            <a:pPr marL="285750" indent="-285750">
              <a:lnSpc>
                <a:spcPct val="150000"/>
              </a:lnSpc>
              <a:spcBef>
                <a:spcPts val="600"/>
              </a:spcBef>
              <a:spcAft>
                <a:spcPts val="600"/>
              </a:spcAf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Space Complexity: </a:t>
            </a:r>
            <a:r>
              <a:rPr lang="en-IN" sz="2200" dirty="0">
                <a:latin typeface="Times New Roman" panose="02020603050405020304" pitchFamily="18" charset="0"/>
                <a:cs typeface="Times New Roman" panose="02020603050405020304" pitchFamily="18" charset="0"/>
              </a:rPr>
              <a:t>Measures memory usage of an algorithm</a:t>
            </a:r>
          </a:p>
          <a:p>
            <a:pPr marL="285750" indent="-285750">
              <a:lnSpc>
                <a:spcPct val="150000"/>
              </a:lnSpc>
              <a:spcBef>
                <a:spcPts val="600"/>
              </a:spcBef>
              <a:spcAft>
                <a:spcPts val="600"/>
              </a:spcAf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Case Analysis: </a:t>
            </a:r>
            <a:r>
              <a:rPr lang="en-IN" sz="2200" dirty="0">
                <a:latin typeface="Times New Roman" panose="02020603050405020304" pitchFamily="18" charset="0"/>
                <a:cs typeface="Times New Roman" panose="02020603050405020304" pitchFamily="18" charset="0"/>
              </a:rPr>
              <a:t>Best Case, Average Case, Worst Case</a:t>
            </a:r>
          </a:p>
          <a:p>
            <a:pPr marL="285750" indent="-285750">
              <a:lnSpc>
                <a:spcPct val="150000"/>
              </a:lnSpc>
              <a:spcBef>
                <a:spcPts val="600"/>
              </a:spcBef>
              <a:spcAft>
                <a:spcPts val="600"/>
              </a:spcAf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Common Time Complexities</a:t>
            </a:r>
          </a:p>
          <a:p>
            <a:pPr marL="720725" indent="-452438">
              <a:lnSpc>
                <a:spcPct val="150000"/>
              </a:lnSpc>
              <a:spcBef>
                <a:spcPts val="600"/>
              </a:spcBef>
              <a:spcAft>
                <a:spcPts val="600"/>
              </a:spcAft>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O(1) → Constant time, O(log n) → Logarithmic</a:t>
            </a:r>
          </a:p>
          <a:p>
            <a:pPr marL="720725" indent="-452438">
              <a:lnSpc>
                <a:spcPct val="150000"/>
              </a:lnSpc>
              <a:spcBef>
                <a:spcPts val="600"/>
              </a:spcBef>
              <a:spcAft>
                <a:spcPts val="600"/>
              </a:spcAft>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O(n) → Linear, </a:t>
            </a:r>
          </a:p>
          <a:p>
            <a:pPr marL="720725" indent="-452438">
              <a:lnSpc>
                <a:spcPct val="150000"/>
              </a:lnSpc>
              <a:spcBef>
                <a:spcPts val="600"/>
              </a:spcBef>
              <a:spcAft>
                <a:spcPts val="600"/>
              </a:spcAft>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O(n log n), O(n²), O(2ⁿ), O(n!)</a:t>
            </a:r>
          </a:p>
        </p:txBody>
      </p:sp>
      <p:sp>
        <p:nvSpPr>
          <p:cNvPr id="5" name="Rectangle 4">
            <a:extLst>
              <a:ext uri="{FF2B5EF4-FFF2-40B4-BE49-F238E27FC236}">
                <a16:creationId xmlns:a16="http://schemas.microsoft.com/office/drawing/2014/main" id="{C3B970E6-DEE1-35B9-C160-BB22EBF79946}"/>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CDD6C5E7-8F4C-D241-B5B4-4BF7C1209F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DE3595A6-4861-D1C5-E0CC-CD69CD510899}"/>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E163A5BC-8198-BFD7-C822-C2B1D1946D7B}"/>
              </a:ext>
            </a:extLst>
          </p:cNvPr>
          <p:cNvSpPr>
            <a:spLocks noGrp="1"/>
          </p:cNvSpPr>
          <p:nvPr>
            <p:ph type="sldNum" sz="quarter" idx="12"/>
          </p:nvPr>
        </p:nvSpPr>
        <p:spPr/>
        <p:txBody>
          <a:bodyPr/>
          <a:lstStyle/>
          <a:p>
            <a:fld id="{C421C46D-3F04-4F73-BF36-E6D9DA5AE143}" type="slidenum">
              <a:rPr lang="en-IN" smtClean="0"/>
              <a:t>6</a:t>
            </a:fld>
            <a:endParaRPr lang="en-IN"/>
          </a:p>
        </p:txBody>
      </p:sp>
    </p:spTree>
    <p:extLst>
      <p:ext uri="{BB962C8B-B14F-4D97-AF65-F5344CB8AC3E}">
        <p14:creationId xmlns:p14="http://schemas.microsoft.com/office/powerpoint/2010/main" val="2954806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75C90-B2F7-A1AA-6FE4-9347BA13C0E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A30B55F-007D-2566-2062-7AB7F579D79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632B4BBC-8267-7F07-A880-95E1D6DB2EBF}"/>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9897925-D2FC-C97C-5FDD-62748389716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E2524C07-5D67-6191-71F3-4E9A4EAABE41}"/>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21560B72-5E79-AF73-9F5E-E725351C1C0C}"/>
              </a:ext>
            </a:extLst>
          </p:cNvPr>
          <p:cNvSpPr>
            <a:spLocks noChangeArrowheads="1"/>
          </p:cNvSpPr>
          <p:nvPr/>
        </p:nvSpPr>
        <p:spPr bwMode="auto">
          <a:xfrm>
            <a:off x="243716" y="34296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(Unit-1: </a:t>
            </a:r>
            <a:r>
              <a:rPr lang="en-IN" sz="2800" b="1" dirty="0">
                <a:solidFill>
                  <a:srgbClr val="E31E24"/>
                </a:solidFill>
              </a:rPr>
              <a:t>Algorithm Design &amp; Recursion</a:t>
            </a:r>
            <a:r>
              <a:rPr lang="en-US" sz="2800" b="1" dirty="0">
                <a:solidFill>
                  <a:srgbClr val="E31E24"/>
                </a:solidFill>
                <a:cs typeface="Times New Roman" panose="02020603050405020304" pitchFamily="18" charset="0"/>
                <a:sym typeface="Arial"/>
              </a:rPr>
              <a:t>)</a:t>
            </a:r>
            <a:endParaRPr lang="en-IN" sz="2800" b="1" dirty="0">
              <a:solidFill>
                <a:srgbClr val="E31E24"/>
              </a:solidFill>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C513D34B-5890-68E7-1C26-62520A4D9F50}"/>
              </a:ext>
            </a:extLst>
          </p:cNvPr>
          <p:cNvSpPr txBox="1"/>
          <p:nvPr/>
        </p:nvSpPr>
        <p:spPr>
          <a:xfrm>
            <a:off x="161278" y="1305745"/>
            <a:ext cx="8767206" cy="4677819"/>
          </a:xfrm>
          <a:prstGeom prst="rect">
            <a:avLst/>
          </a:prstGeom>
          <a:noFill/>
        </p:spPr>
        <p:txBody>
          <a:bodyPr wrap="square" rtlCol="0">
            <a:spAutoFit/>
          </a:bodyPr>
          <a:lstStyle/>
          <a:p>
            <a:pPr marL="342900" indent="-342900">
              <a:lnSpc>
                <a:spcPct val="150000"/>
              </a:lnSpc>
              <a:spcBef>
                <a:spcPts val="600"/>
              </a:spcBef>
              <a:spcAft>
                <a:spcPts val="300"/>
              </a:spcAf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Divide &amp; Conquer: </a:t>
            </a:r>
            <a:r>
              <a:rPr lang="en-IN" sz="2200" dirty="0">
                <a:latin typeface="Times New Roman" panose="02020603050405020304" pitchFamily="18" charset="0"/>
                <a:cs typeface="Times New Roman" panose="02020603050405020304" pitchFamily="18" charset="0"/>
              </a:rPr>
              <a:t>Divide problem → Solve subproblems → Combine results</a:t>
            </a:r>
          </a:p>
          <a:p>
            <a:pPr marL="342900" indent="-342900" algn="just">
              <a:lnSpc>
                <a:spcPct val="150000"/>
              </a:lnSpc>
              <a:spcBef>
                <a:spcPts val="600"/>
              </a:spcBef>
              <a:spcAft>
                <a:spcPts val="300"/>
              </a:spcAf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Greedy Algorithm: </a:t>
            </a:r>
            <a:r>
              <a:rPr lang="en-IN" sz="2200" dirty="0">
                <a:latin typeface="Times New Roman" panose="02020603050405020304" pitchFamily="18" charset="0"/>
                <a:cs typeface="Times New Roman" panose="02020603050405020304" pitchFamily="18" charset="0"/>
              </a:rPr>
              <a:t>Makes locally optimal choices but may not give global optimum solution.</a:t>
            </a:r>
          </a:p>
          <a:p>
            <a:pPr marL="342900" indent="-342900">
              <a:lnSpc>
                <a:spcPct val="150000"/>
              </a:lnSpc>
              <a:spcBef>
                <a:spcPts val="600"/>
              </a:spcBef>
              <a:spcAft>
                <a:spcPts val="300"/>
              </a:spcAf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Dynamic Programming: </a:t>
            </a:r>
            <a:r>
              <a:rPr lang="en-IN" sz="2200" dirty="0">
                <a:latin typeface="Times New Roman" panose="02020603050405020304" pitchFamily="18" charset="0"/>
                <a:cs typeface="Times New Roman" panose="02020603050405020304" pitchFamily="18" charset="0"/>
              </a:rPr>
              <a:t>Solves overlapping subproblems</a:t>
            </a:r>
          </a:p>
          <a:p>
            <a:pPr marL="720725" indent="-360363">
              <a:lnSpc>
                <a:spcPct val="150000"/>
              </a:lnSpc>
              <a:spcBef>
                <a:spcPts val="600"/>
              </a:spcBef>
              <a:spcAft>
                <a:spcPts val="300"/>
              </a:spcAft>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Used when Greedy fails</a:t>
            </a:r>
          </a:p>
          <a:p>
            <a:pPr marL="342900" indent="-342900">
              <a:lnSpc>
                <a:spcPct val="150000"/>
              </a:lnSpc>
              <a:spcBef>
                <a:spcPts val="600"/>
              </a:spcBef>
              <a:spcAft>
                <a:spcPts val="300"/>
              </a:spcAf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Recursion: </a:t>
            </a:r>
            <a:r>
              <a:rPr lang="en-IN" sz="2200" dirty="0">
                <a:latin typeface="Times New Roman" panose="02020603050405020304" pitchFamily="18" charset="0"/>
                <a:cs typeface="Times New Roman" panose="02020603050405020304" pitchFamily="18" charset="0"/>
              </a:rPr>
              <a:t>Function calling itself </a:t>
            </a:r>
          </a:p>
          <a:p>
            <a:pPr marL="342900" indent="17463">
              <a:lnSpc>
                <a:spcPct val="150000"/>
              </a:lnSpc>
              <a:spcBef>
                <a:spcPts val="600"/>
              </a:spcBef>
              <a:spcAft>
                <a:spcPts val="300"/>
              </a:spcAft>
              <a:buFont typeface="Wingdings" panose="05000000000000000000" pitchFamily="2" charset="2"/>
              <a:buChar char="v"/>
              <a:tabLst>
                <a:tab pos="720725" algn="l"/>
              </a:tabLst>
            </a:pPr>
            <a:r>
              <a:rPr lang="en-IN" sz="2200" dirty="0">
                <a:latin typeface="Times New Roman" panose="02020603050405020304" pitchFamily="18" charset="0"/>
                <a:cs typeface="Times New Roman" panose="02020603050405020304" pitchFamily="18" charset="0"/>
              </a:rPr>
              <a:t>   Uses call stack to store function calls</a:t>
            </a:r>
            <a:endParaRPr lang="en-IN" sz="2200" dirty="0"/>
          </a:p>
        </p:txBody>
      </p:sp>
      <p:sp>
        <p:nvSpPr>
          <p:cNvPr id="5" name="Rectangle 4">
            <a:extLst>
              <a:ext uri="{FF2B5EF4-FFF2-40B4-BE49-F238E27FC236}">
                <a16:creationId xmlns:a16="http://schemas.microsoft.com/office/drawing/2014/main" id="{D40DC5FC-82B1-9FF5-76F2-320F46ACCF8D}"/>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A473108F-9DAC-6DAF-82B4-24ED835BF0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B3A6BF96-2173-B22D-EDDF-2B462C8A5124}"/>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B38C7A61-BCD6-555B-04AF-70A66939B9B9}"/>
              </a:ext>
            </a:extLst>
          </p:cNvPr>
          <p:cNvSpPr>
            <a:spLocks noGrp="1"/>
          </p:cNvSpPr>
          <p:nvPr>
            <p:ph type="sldNum" sz="quarter" idx="12"/>
          </p:nvPr>
        </p:nvSpPr>
        <p:spPr/>
        <p:txBody>
          <a:bodyPr/>
          <a:lstStyle/>
          <a:p>
            <a:fld id="{C421C46D-3F04-4F73-BF36-E6D9DA5AE143}" type="slidenum">
              <a:rPr lang="en-IN" smtClean="0"/>
              <a:t>7</a:t>
            </a:fld>
            <a:endParaRPr lang="en-IN"/>
          </a:p>
        </p:txBody>
      </p:sp>
    </p:spTree>
    <p:extLst>
      <p:ext uri="{BB962C8B-B14F-4D97-AF65-F5344CB8AC3E}">
        <p14:creationId xmlns:p14="http://schemas.microsoft.com/office/powerpoint/2010/main" val="2595060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(Unit-1)</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304786" y="1120270"/>
            <a:ext cx="7848870" cy="5109860"/>
          </a:xfrm>
          <a:prstGeom prst="rect">
            <a:avLst/>
          </a:prstGeom>
          <a:noFill/>
        </p:spPr>
        <p:txBody>
          <a:bodyPr wrap="square" rtlCol="0">
            <a:spAutoFit/>
          </a:bodyPr>
          <a:lstStyle/>
          <a:p>
            <a:pPr>
              <a:lnSpc>
                <a:spcPct val="150000"/>
              </a:lnSpc>
            </a:pPr>
            <a:r>
              <a:rPr lang="en-US" sz="2200" b="1" dirty="0">
                <a:latin typeface="Times New Roman" panose="02020603050405020304" pitchFamily="18" charset="0"/>
                <a:cs typeface="Times New Roman" panose="02020603050405020304" pitchFamily="18" charset="0"/>
              </a:rPr>
              <a:t>Q1.</a:t>
            </a:r>
            <a:r>
              <a:rPr lang="en-US" sz="2200" dirty="0">
                <a:latin typeface="Times New Roman" panose="02020603050405020304" pitchFamily="18" charset="0"/>
                <a:cs typeface="Times New Roman" panose="02020603050405020304" pitchFamily="18" charset="0"/>
              </a:rPr>
              <a:t> Which best defines a data structure?</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Programming language</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b) Method of organizing data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c) Operating system</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d) Algorithm</a:t>
            </a:r>
          </a:p>
          <a:p>
            <a:pPr>
              <a:lnSpc>
                <a:spcPct val="150000"/>
              </a:lnSpc>
            </a:pPr>
            <a:r>
              <a:rPr lang="en-US" sz="2200" b="1" dirty="0">
                <a:latin typeface="Times New Roman" panose="02020603050405020304" pitchFamily="18" charset="0"/>
                <a:cs typeface="Times New Roman" panose="02020603050405020304" pitchFamily="18" charset="0"/>
              </a:rPr>
              <a:t>Q2.</a:t>
            </a:r>
            <a:r>
              <a:rPr lang="en-US" sz="2200" dirty="0">
                <a:latin typeface="Times New Roman" panose="02020603050405020304" pitchFamily="18" charset="0"/>
                <a:cs typeface="Times New Roman" panose="02020603050405020304" pitchFamily="18" charset="0"/>
              </a:rPr>
              <a:t> Which of the following is an ADT?</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Array</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b) Stack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c) Pointer</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d) Variable</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smtClean="0"/>
              <a:t>8</a:t>
            </a:fld>
            <a:endParaRPr lang="en-IN"/>
          </a:p>
        </p:txBody>
      </p:sp>
    </p:spTree>
    <p:extLst>
      <p:ext uri="{BB962C8B-B14F-4D97-AF65-F5344CB8AC3E}">
        <p14:creationId xmlns:p14="http://schemas.microsoft.com/office/powerpoint/2010/main" val="278405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CAE9B-3EAB-0A11-6EF2-98571991E51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5FB3985-8D36-6D81-8AC0-A2E5D46F4EF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2D173121-293B-2B2D-FBF4-84A2C6090919}"/>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C60BE85-5C6B-73DA-BEF4-F36DCFE0775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51837C56-5DAF-AD0D-A6C2-9FF6DE15911A}"/>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A56BFFEC-271B-0494-259D-EF318FE87A35}"/>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(Unit-1)</a:t>
            </a:r>
            <a:endParaRPr lang="en-IN" sz="2800" b="1" dirty="0">
              <a:solidFill>
                <a:srgbClr val="E31E24"/>
              </a:solidFill>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60630B4C-8AEF-4EF0-16E5-49A769795C0F}"/>
              </a:ext>
            </a:extLst>
          </p:cNvPr>
          <p:cNvSpPr txBox="1"/>
          <p:nvPr/>
        </p:nvSpPr>
        <p:spPr>
          <a:xfrm>
            <a:off x="323530" y="1235756"/>
            <a:ext cx="7848870" cy="5109860"/>
          </a:xfrm>
          <a:prstGeom prst="rect">
            <a:avLst/>
          </a:prstGeom>
          <a:noFill/>
        </p:spPr>
        <p:txBody>
          <a:bodyPr wrap="square" rtlCol="0">
            <a:spAutoFit/>
          </a:bodyPr>
          <a:lstStyle/>
          <a:p>
            <a:pPr>
              <a:lnSpc>
                <a:spcPct val="150000"/>
              </a:lnSpc>
            </a:pPr>
            <a:r>
              <a:rPr lang="en-US" sz="2200" b="1" dirty="0">
                <a:latin typeface="Times New Roman" panose="02020603050405020304" pitchFamily="18" charset="0"/>
                <a:cs typeface="Times New Roman" panose="02020603050405020304" pitchFamily="18" charset="0"/>
              </a:rPr>
              <a:t>Q3.</a:t>
            </a:r>
            <a:r>
              <a:rPr lang="en-US" sz="2200" dirty="0">
                <a:latin typeface="Times New Roman" panose="02020603050405020304" pitchFamily="18" charset="0"/>
                <a:cs typeface="Times New Roman" panose="02020603050405020304" pitchFamily="18" charset="0"/>
              </a:rPr>
              <a:t> Which notation represents the worst-case complexity?</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Θ</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b) Ω</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c) O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d) n</a:t>
            </a:r>
          </a:p>
          <a:p>
            <a:pPr>
              <a:lnSpc>
                <a:spcPct val="150000"/>
              </a:lnSpc>
            </a:pPr>
            <a:r>
              <a:rPr lang="en-US" sz="2200" b="1" dirty="0">
                <a:latin typeface="Times New Roman" panose="02020603050405020304" pitchFamily="18" charset="0"/>
                <a:cs typeface="Times New Roman" panose="02020603050405020304" pitchFamily="18" charset="0"/>
              </a:rPr>
              <a:t>Q4.</a:t>
            </a:r>
            <a:r>
              <a:rPr lang="en-US" sz="2200" dirty="0">
                <a:latin typeface="Times New Roman" panose="02020603050405020304" pitchFamily="18" charset="0"/>
                <a:cs typeface="Times New Roman" panose="02020603050405020304" pitchFamily="18" charset="0"/>
              </a:rPr>
              <a:t> Time complexity of linear search in worst case is:</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O(1)</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b) O(log n)</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c) O(n)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d) O(n²)</a:t>
            </a:r>
          </a:p>
        </p:txBody>
      </p:sp>
      <p:sp>
        <p:nvSpPr>
          <p:cNvPr id="5" name="Rectangle 4">
            <a:extLst>
              <a:ext uri="{FF2B5EF4-FFF2-40B4-BE49-F238E27FC236}">
                <a16:creationId xmlns:a16="http://schemas.microsoft.com/office/drawing/2014/main" id="{92341EA9-FA75-18C4-7182-20716D32AD64}"/>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E3DB995E-DF1D-F0F2-A41E-C7D23AE8EC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30334DE8-27F7-6EFE-9D17-4BEC9EFBDA7B}"/>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45B89AFC-827B-C683-61E8-C060411BB6CC}"/>
              </a:ext>
            </a:extLst>
          </p:cNvPr>
          <p:cNvSpPr>
            <a:spLocks noGrp="1"/>
          </p:cNvSpPr>
          <p:nvPr>
            <p:ph type="sldNum" sz="quarter" idx="12"/>
          </p:nvPr>
        </p:nvSpPr>
        <p:spPr/>
        <p:txBody>
          <a:bodyPr/>
          <a:lstStyle/>
          <a:p>
            <a:fld id="{C421C46D-3F04-4F73-BF36-E6D9DA5AE143}" type="slidenum">
              <a:rPr lang="en-IN" smtClean="0"/>
              <a:t>9</a:t>
            </a:fld>
            <a:endParaRPr lang="en-IN"/>
          </a:p>
        </p:txBody>
      </p:sp>
    </p:spTree>
    <p:extLst>
      <p:ext uri="{BB962C8B-B14F-4D97-AF65-F5344CB8AC3E}">
        <p14:creationId xmlns:p14="http://schemas.microsoft.com/office/powerpoint/2010/main" val="1574423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(Unit-1)</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332851" y="1507176"/>
            <a:ext cx="7848870" cy="3796232"/>
          </a:xfrm>
          <a:prstGeom prst="rect">
            <a:avLst/>
          </a:prstGeom>
          <a:noFill/>
        </p:spPr>
        <p:txBody>
          <a:bodyPr wrap="square" rtlCol="0">
            <a:spAutoFit/>
          </a:bodyPr>
          <a:lstStyle/>
          <a:p>
            <a:pPr>
              <a:lnSpc>
                <a:spcPct val="200000"/>
              </a:lnSpc>
            </a:pPr>
            <a:r>
              <a:rPr lang="en-US" sz="2400" b="1" dirty="0">
                <a:latin typeface="Times New Roman" panose="02020603050405020304" pitchFamily="18" charset="0"/>
                <a:cs typeface="Times New Roman" panose="02020603050405020304" pitchFamily="18" charset="0"/>
              </a:rPr>
              <a:t>Quiz (Answers)</a:t>
            </a:r>
          </a:p>
          <a:p>
            <a:pPr lvl="0" eaLnBrk="0" fontAlgn="base" hangingPunct="0">
              <a:lnSpc>
                <a:spcPct val="20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Q1:</a:t>
            </a:r>
            <a:r>
              <a:rPr lang="en-US" altLang="en-US" sz="2400" dirty="0">
                <a:latin typeface="Times New Roman" panose="02020603050405020304" pitchFamily="18" charset="0"/>
                <a:cs typeface="Times New Roman" panose="02020603050405020304" pitchFamily="18" charset="0"/>
              </a:rPr>
              <a:t> b) Method of organizing data</a:t>
            </a:r>
          </a:p>
          <a:p>
            <a:pPr lvl="0" eaLnBrk="0" fontAlgn="base" hangingPunct="0">
              <a:lnSpc>
                <a:spcPct val="20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Q2:</a:t>
            </a:r>
            <a:r>
              <a:rPr lang="en-US" altLang="en-US" sz="2400" dirty="0">
                <a:latin typeface="Times New Roman" panose="02020603050405020304" pitchFamily="18" charset="0"/>
                <a:cs typeface="Times New Roman" panose="02020603050405020304" pitchFamily="18" charset="0"/>
              </a:rPr>
              <a:t> b) Stack</a:t>
            </a:r>
          </a:p>
          <a:p>
            <a:pPr lvl="0" eaLnBrk="0" fontAlgn="base" hangingPunct="0">
              <a:lnSpc>
                <a:spcPct val="20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Q3:</a:t>
            </a:r>
            <a:r>
              <a:rPr lang="en-US" altLang="en-US" sz="2400" dirty="0">
                <a:latin typeface="Times New Roman" panose="02020603050405020304" pitchFamily="18" charset="0"/>
                <a:cs typeface="Times New Roman" panose="02020603050405020304" pitchFamily="18" charset="0"/>
              </a:rPr>
              <a:t> c) Big-O (O)</a:t>
            </a:r>
          </a:p>
          <a:p>
            <a:pPr lvl="0" eaLnBrk="0" fontAlgn="base" hangingPunct="0">
              <a:lnSpc>
                <a:spcPct val="20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Q4:</a:t>
            </a:r>
            <a:r>
              <a:rPr lang="en-US" altLang="en-US" sz="2400" dirty="0">
                <a:latin typeface="Times New Roman" panose="02020603050405020304" pitchFamily="18" charset="0"/>
                <a:cs typeface="Times New Roman" panose="02020603050405020304" pitchFamily="18" charset="0"/>
              </a:rPr>
              <a:t> c) O(n)</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smtClean="0"/>
              <a:t>10</a:t>
            </a:fld>
            <a:endParaRPr lang="en-IN"/>
          </a:p>
        </p:txBody>
      </p:sp>
    </p:spTree>
    <p:extLst>
      <p:ext uri="{BB962C8B-B14F-4D97-AF65-F5344CB8AC3E}">
        <p14:creationId xmlns:p14="http://schemas.microsoft.com/office/powerpoint/2010/main" val="127797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51520" y="35518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What is an Array?</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830997"/>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1" name="Picture 2" descr="https://i.pinimg.com/originals/dc/4c/99/dc4c998cfc52b4c997701166efbe4b97.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5772" y="2175245"/>
            <a:ext cx="8572500" cy="369941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423579" y="5914347"/>
            <a:ext cx="396044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Fig.1: Examples of Array</a:t>
            </a:r>
          </a:p>
        </p:txBody>
      </p:sp>
      <p:sp>
        <p:nvSpPr>
          <p:cNvPr id="13" name="TextBox 12"/>
          <p:cNvSpPr txBox="1"/>
          <p:nvPr/>
        </p:nvSpPr>
        <p:spPr>
          <a:xfrm>
            <a:off x="395538" y="1043110"/>
            <a:ext cx="8712968" cy="960328"/>
          </a:xfrm>
          <a:prstGeom prst="rect">
            <a:avLst/>
          </a:prstGeom>
          <a:noFill/>
        </p:spPr>
        <p:txBody>
          <a:bodyPr wrap="square" rtlCol="0">
            <a:spAutoFit/>
          </a:bodyPr>
          <a:lstStyle/>
          <a:p>
            <a:pPr marL="176213" lvl="0" indent="-176213" algn="just" eaLnBrk="0" fontAlgn="base" hangingPunct="0">
              <a:lnSpc>
                <a:spcPct val="15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An array is a collection of elements of the </a:t>
            </a:r>
            <a:r>
              <a:rPr lang="en-US" altLang="en-US" sz="2000" b="1" dirty="0">
                <a:latin typeface="Times New Roman" panose="02020603050405020304" pitchFamily="18" charset="0"/>
                <a:cs typeface="Times New Roman" panose="02020603050405020304" pitchFamily="18" charset="0"/>
              </a:rPr>
              <a:t>same data type</a:t>
            </a:r>
            <a:endParaRPr lang="en-US" altLang="en-US" sz="2000" dirty="0">
              <a:latin typeface="Times New Roman" panose="02020603050405020304" pitchFamily="18" charset="0"/>
              <a:cs typeface="Times New Roman" panose="02020603050405020304" pitchFamily="18" charset="0"/>
            </a:endParaRPr>
          </a:p>
          <a:p>
            <a:pPr marL="176213" lvl="0" indent="-176213" algn="just" eaLnBrk="0" fontAlgn="base" hangingPunct="0">
              <a:lnSpc>
                <a:spcPct val="15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Elements are stored in </a:t>
            </a:r>
            <a:r>
              <a:rPr lang="en-US" altLang="en-US" sz="2000" b="1" dirty="0">
                <a:latin typeface="Times New Roman" panose="02020603050405020304" pitchFamily="18" charset="0"/>
                <a:cs typeface="Times New Roman" panose="02020603050405020304" pitchFamily="18" charset="0"/>
              </a:rPr>
              <a:t>contiguous memory locations</a:t>
            </a: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1847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16632" y="338526"/>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2800" b="1" dirty="0">
                <a:solidFill>
                  <a:srgbClr val="E31E24"/>
                </a:solidFill>
                <a:cs typeface="Times New Roman" panose="02020603050405020304" pitchFamily="18" charset="0"/>
                <a:sym typeface="Arial"/>
              </a:rPr>
              <a:t>What is an Array?</a:t>
            </a:r>
            <a:r>
              <a:rPr lang="en-IN" sz="2800" b="1" dirty="0">
                <a:solidFill>
                  <a:srgbClr val="E31E24"/>
                </a:solidFill>
                <a:cs typeface="Times New Roman" panose="02020603050405020304" pitchFamily="18" charset="0"/>
                <a:sym typeface="Arial"/>
              </a:rPr>
              <a:t> </a:t>
            </a:r>
            <a:r>
              <a:rPr lang="en-US" sz="2800" b="1" dirty="0">
                <a:solidFill>
                  <a:srgbClr val="E31E24"/>
                </a:solidFill>
                <a:cs typeface="Times New Roman" panose="02020603050405020304" pitchFamily="18" charset="0"/>
                <a:sym typeface="Arial"/>
              </a:rPr>
              <a:t>(Cont..)</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2050" name="Picture 2" descr="https://i.pinimg.com/originals/8d/f9/1e/8df91efc4a6b763728a77e9dcd72a265.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56401" y="1668992"/>
            <a:ext cx="4281176" cy="356139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116632" y="5455126"/>
            <a:ext cx="396044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Fig.2: Examples of Array</a:t>
            </a:r>
          </a:p>
        </p:txBody>
      </p:sp>
      <p:pic>
        <p:nvPicPr>
          <p:cNvPr id="13" name="Picture 12"/>
          <p:cNvPicPr>
            <a:picLocks noChangeAspect="1"/>
          </p:cNvPicPr>
          <p:nvPr/>
        </p:nvPicPr>
        <p:blipFill>
          <a:blip r:embed="rId7"/>
          <a:stretch>
            <a:fillRect/>
          </a:stretch>
        </p:blipFill>
        <p:spPr>
          <a:xfrm>
            <a:off x="4576528" y="1668993"/>
            <a:ext cx="4412864" cy="3521966"/>
          </a:xfrm>
          <a:prstGeom prst="rect">
            <a:avLst/>
          </a:prstGeom>
        </p:spPr>
      </p:pic>
    </p:spTree>
    <p:extLst>
      <p:ext uri="{BB962C8B-B14F-4D97-AF65-F5344CB8AC3E}">
        <p14:creationId xmlns:p14="http://schemas.microsoft.com/office/powerpoint/2010/main" val="2907099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365607"/>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Why Arrays are Used?</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79512" y="953065"/>
            <a:ext cx="8784976" cy="3165290"/>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342900" lvl="0" indent="-342900" algn="just">
              <a:lnSpc>
                <a:spcPct val="150000"/>
              </a:lnSpc>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Efficient storage: </a:t>
            </a:r>
            <a:r>
              <a:rPr lang="en-US" altLang="en-US" sz="2400" dirty="0">
                <a:latin typeface="Times New Roman" panose="02020603050405020304" pitchFamily="18" charset="0"/>
                <a:cs typeface="Times New Roman" panose="02020603050405020304" pitchFamily="18" charset="0"/>
              </a:rPr>
              <a:t>Store multiple values using </a:t>
            </a:r>
            <a:r>
              <a:rPr lang="en-US" altLang="en-US" sz="2400" b="1" dirty="0">
                <a:latin typeface="Times New Roman" panose="02020603050405020304" pitchFamily="18" charset="0"/>
                <a:cs typeface="Times New Roman" panose="02020603050405020304" pitchFamily="18" charset="0"/>
              </a:rPr>
              <a:t>one variable name</a:t>
            </a:r>
            <a:endParaRPr lang="en-US" altLang="en-US" sz="24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Random Access: </a:t>
            </a:r>
            <a:r>
              <a:rPr lang="en-US" altLang="en-US" sz="2400" dirty="0">
                <a:latin typeface="Times New Roman" panose="02020603050405020304" pitchFamily="18" charset="0"/>
                <a:cs typeface="Times New Roman" panose="02020603050405020304" pitchFamily="18" charset="0"/>
              </a:rPr>
              <a:t>Easy access to data using an </a:t>
            </a:r>
            <a:r>
              <a:rPr lang="en-US" altLang="en-US" sz="2400" b="1" dirty="0">
                <a:latin typeface="Times New Roman" panose="02020603050405020304" pitchFamily="18" charset="0"/>
                <a:cs typeface="Times New Roman" panose="02020603050405020304" pitchFamily="18" charset="0"/>
              </a:rPr>
              <a:t>index</a:t>
            </a:r>
            <a:endParaRPr lang="en-US" altLang="en-US" sz="2400" dirty="0">
              <a:latin typeface="Times New Roman" panose="02020603050405020304" pitchFamily="18" charset="0"/>
              <a:cs typeface="Times New Roman" panose="02020603050405020304" pitchFamily="18" charset="0"/>
            </a:endParaRPr>
          </a:p>
          <a:p>
            <a:pPr marL="342900" lvl="0" indent="-342900" algn="just">
              <a:lnSpc>
                <a:spcPct val="150000"/>
              </a:lnSpc>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Iterative Operations</a:t>
            </a:r>
          </a:p>
          <a:p>
            <a:pPr marL="342900" indent="-342900" algn="just">
              <a:lnSpc>
                <a:spcPct val="150000"/>
              </a:lnSpc>
              <a:buFont typeface="Wingdings" panose="05000000000000000000" pitchFamily="2" charset="2"/>
              <a:buChar char="§"/>
              <a:defRPr/>
            </a:pPr>
            <a:r>
              <a:rPr lang="en-US" altLang="en-US" sz="2400" dirty="0">
                <a:latin typeface="Times New Roman" panose="02020603050405020304" pitchFamily="18" charset="0"/>
                <a:cs typeface="Times New Roman" panose="02020603050405020304" pitchFamily="18" charset="0"/>
              </a:rPr>
              <a:t>Reduces code length and complexity</a:t>
            </a:r>
          </a:p>
          <a:p>
            <a:pPr marL="342900" lvl="0" indent="-342900" algn="just">
              <a:lnSpc>
                <a:spcPct val="150000"/>
              </a:lnSpc>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Represent many instances in one variable</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290835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33264" y="401536"/>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Indexing Concept</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2308324"/>
          </a:xfrm>
          <a:prstGeom prst="rect">
            <a:avLst/>
          </a:prstGeom>
        </p:spPr>
        <p:txBody>
          <a:bodyPr wrap="square">
            <a:spAutoFit/>
          </a:bodyPr>
          <a:lstStyle/>
          <a:p>
            <a:pPr marL="285750" lvl="0" indent="-285750" algn="just">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Linear data structure</a:t>
            </a:r>
          </a:p>
          <a:p>
            <a:pPr marL="285750" lvl="0" indent="-285750" algn="just">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Same data type elements</a:t>
            </a:r>
          </a:p>
          <a:p>
            <a:pPr marL="285750" lvl="0" indent="-285750" algn="just">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Contiguous memory allocation</a:t>
            </a:r>
          </a:p>
          <a:p>
            <a:pPr marL="285750" lvl="0" indent="-285750" algn="just">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Each element has an index number</a:t>
            </a:r>
          </a:p>
          <a:p>
            <a:pPr marL="285750" lvl="0" indent="-285750" algn="just">
              <a:buFont typeface="Wingdings" panose="05000000000000000000" pitchFamily="2" charset="2"/>
              <a:buChar char="§"/>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Index usually starts from 0</a:t>
            </a:r>
          </a:p>
          <a:p>
            <a:pPr marL="285750" lvl="0" indent="-285750" algn="just">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Elements accessed using index value</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1" name="Picture 2" descr="Array Data Structur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89214" y="3544080"/>
            <a:ext cx="5653608" cy="2373384"/>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503548" y="5983194"/>
            <a:ext cx="396044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Fig.3: Representation of an Array</a:t>
            </a:r>
          </a:p>
        </p:txBody>
      </p:sp>
    </p:spTree>
    <p:extLst>
      <p:ext uri="{BB962C8B-B14F-4D97-AF65-F5344CB8AC3E}">
        <p14:creationId xmlns:p14="http://schemas.microsoft.com/office/powerpoint/2010/main" val="1897891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349862"/>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Test your knowledge</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461665"/>
          </a:xfrm>
          <a:prstGeom prst="rect">
            <a:avLst/>
          </a:prstGeom>
        </p:spPr>
        <p:txBody>
          <a:bodyPr wrap="square">
            <a:spAutoFit/>
          </a:bodyPr>
          <a:lstStyle/>
          <a:p>
            <a:pPr marL="285750" lvl="0" indent="-285750" algn="just">
              <a:buFont typeface="Wingdings" panose="05000000000000000000" pitchFamily="2" charset="2"/>
              <a:buChar char="§"/>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Ques: What is the length of the</a:t>
            </a:r>
            <a:r>
              <a:rPr kumimoji="0" lang="en-US" sz="2400" b="0"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array shown in Figure?</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2050" name="Picture 2" descr="Java initialize Arra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2920" y="1648816"/>
            <a:ext cx="7091488" cy="337386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503548" y="5162048"/>
            <a:ext cx="396044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Fig.4:  Question on Array </a:t>
            </a:r>
          </a:p>
        </p:txBody>
      </p:sp>
    </p:spTree>
    <p:extLst>
      <p:ext uri="{BB962C8B-B14F-4D97-AF65-F5344CB8AC3E}">
        <p14:creationId xmlns:p14="http://schemas.microsoft.com/office/powerpoint/2010/main" val="25993958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Basic Terminologies of array</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3416320"/>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r>
              <a:rPr lang="en-US" sz="2400" b="1" dirty="0">
                <a:solidFill>
                  <a:prstClr val="black"/>
                </a:solidFill>
                <a:latin typeface="Times New Roman" panose="02020603050405020304" pitchFamily="18" charset="0"/>
                <a:cs typeface="Times New Roman" panose="02020603050405020304" pitchFamily="18" charset="0"/>
              </a:rPr>
              <a:t>Array Index </a:t>
            </a:r>
            <a:r>
              <a:rPr lang="en-US" sz="2400" dirty="0">
                <a:solidFill>
                  <a:prstClr val="black"/>
                </a:solidFill>
                <a:latin typeface="Times New Roman" panose="02020603050405020304" pitchFamily="18" charset="0"/>
                <a:cs typeface="Times New Roman" panose="02020603050405020304" pitchFamily="18" charset="0"/>
              </a:rPr>
              <a:t>- Each item in an array is indexed starting with 0. Each element in an array is accessed through its index.</a:t>
            </a:r>
          </a:p>
          <a:p>
            <a:pPr marL="285750" lvl="0" indent="-285750" algn="just">
              <a:buFont typeface="Wingdings" panose="05000000000000000000" pitchFamily="2" charset="2"/>
              <a:buChar char="§"/>
              <a:defRPr/>
            </a:pPr>
            <a:endParaRPr lang="en-US" sz="2400"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r>
              <a:rPr lang="en-US" sz="2400" b="1" dirty="0">
                <a:solidFill>
                  <a:prstClr val="black"/>
                </a:solidFill>
                <a:latin typeface="Times New Roman" panose="02020603050405020304" pitchFamily="18" charset="0"/>
                <a:cs typeface="Times New Roman" panose="02020603050405020304" pitchFamily="18" charset="0"/>
              </a:rPr>
              <a:t>Array Element </a:t>
            </a:r>
            <a:r>
              <a:rPr lang="en-US" sz="2400" dirty="0">
                <a:solidFill>
                  <a:prstClr val="black"/>
                </a:solidFill>
                <a:latin typeface="Times New Roman" panose="02020603050405020304" pitchFamily="18" charset="0"/>
                <a:cs typeface="Times New Roman" panose="02020603050405020304" pitchFamily="18" charset="0"/>
              </a:rPr>
              <a:t>- An array element is a single data item located at a specific index within an array.</a:t>
            </a:r>
          </a:p>
          <a:p>
            <a:pPr marL="285750" lvl="0" indent="-285750" algn="just">
              <a:buFont typeface="Wingdings" panose="05000000000000000000" pitchFamily="2" charset="2"/>
              <a:buChar char="§"/>
              <a:defRPr/>
            </a:pPr>
            <a:endParaRPr lang="en-US" sz="2400"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r>
              <a:rPr lang="en-US" sz="2400" b="1" dirty="0">
                <a:solidFill>
                  <a:prstClr val="black"/>
                </a:solidFill>
                <a:latin typeface="Times New Roman" panose="02020603050405020304" pitchFamily="18" charset="0"/>
                <a:cs typeface="Times New Roman" panose="02020603050405020304" pitchFamily="18" charset="0"/>
              </a:rPr>
              <a:t>Array Length </a:t>
            </a:r>
            <a:r>
              <a:rPr lang="en-US" sz="2400" dirty="0">
                <a:solidFill>
                  <a:prstClr val="black"/>
                </a:solidFill>
                <a:latin typeface="Times New Roman" panose="02020603050405020304" pitchFamily="18" charset="0"/>
                <a:cs typeface="Times New Roman" panose="02020603050405020304" pitchFamily="18" charset="0"/>
              </a:rPr>
              <a:t>- Array length is the total number of elements that an array can hold.</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4763915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02E05-CC8A-C6B6-EC76-FA4604A5EC9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44B6DA2-A6A9-5A3E-8235-753A76B87D7E}"/>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3A73EBED-BA5B-D01D-5114-64978FEEEE18}"/>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528A62E-1A5A-9675-F77C-20FA7CDF321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9516E7F2-4ACA-CDCD-E227-8A94A77F620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FB5B472A-525C-A858-9B43-BDFC78F66B44}"/>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Basic Terminologies of array</a:t>
            </a:r>
          </a:p>
        </p:txBody>
      </p:sp>
      <p:sp>
        <p:nvSpPr>
          <p:cNvPr id="3" name="TextBox 2">
            <a:extLst>
              <a:ext uri="{FF2B5EF4-FFF2-40B4-BE49-F238E27FC236}">
                <a16:creationId xmlns:a16="http://schemas.microsoft.com/office/drawing/2014/main" id="{AE50C407-7B38-6E0F-AA6F-2E656F4B6829}"/>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5337187A-BEAE-78C9-8569-D20464782D66}"/>
              </a:ext>
            </a:extLst>
          </p:cNvPr>
          <p:cNvSpPr/>
          <p:nvPr/>
        </p:nvSpPr>
        <p:spPr>
          <a:xfrm>
            <a:off x="250357" y="1365200"/>
            <a:ext cx="8642123" cy="4924425"/>
          </a:xfrm>
          <a:prstGeom prst="rect">
            <a:avLst/>
          </a:prstGeom>
        </p:spPr>
        <p:txBody>
          <a:bodyPr wrap="square">
            <a:spAutoFit/>
          </a:bodyPr>
          <a:lstStyle/>
          <a:p>
            <a:pPr lvl="0" algn="just">
              <a:spcBef>
                <a:spcPts val="600"/>
              </a:spcBef>
              <a:defRPr/>
            </a:pPr>
            <a:r>
              <a:rPr lang="en-US" sz="2400" dirty="0" err="1">
                <a:solidFill>
                  <a:prstClr val="black"/>
                </a:solidFill>
                <a:latin typeface="Times New Roman" panose="02020603050405020304" pitchFamily="18" charset="0"/>
                <a:cs typeface="Times New Roman" panose="02020603050405020304" pitchFamily="18" charset="0"/>
              </a:rPr>
              <a:t>mylist</a:t>
            </a:r>
            <a:r>
              <a:rPr lang="en-US" sz="2400" dirty="0">
                <a:solidFill>
                  <a:prstClr val="black"/>
                </a:solidFill>
                <a:latin typeface="Times New Roman" panose="02020603050405020304" pitchFamily="18" charset="0"/>
                <a:cs typeface="Times New Roman" panose="02020603050405020304" pitchFamily="18" charset="0"/>
              </a:rPr>
              <a:t> = []</a:t>
            </a:r>
          </a:p>
          <a:p>
            <a:pPr lvl="0" algn="just">
              <a:spcBef>
                <a:spcPts val="600"/>
              </a:spcBef>
              <a:defRPr/>
            </a:pPr>
            <a:r>
              <a:rPr lang="en-US" sz="2400" dirty="0" err="1">
                <a:solidFill>
                  <a:prstClr val="black"/>
                </a:solidFill>
                <a:latin typeface="Times New Roman" panose="02020603050405020304" pitchFamily="18" charset="0"/>
                <a:cs typeface="Times New Roman" panose="02020603050405020304" pitchFamily="18" charset="0"/>
              </a:rPr>
              <a:t>mylist.append</a:t>
            </a:r>
            <a:r>
              <a:rPr lang="en-US" sz="2400" dirty="0">
                <a:solidFill>
                  <a:prstClr val="black"/>
                </a:solidFill>
                <a:latin typeface="Times New Roman" panose="02020603050405020304" pitchFamily="18" charset="0"/>
                <a:cs typeface="Times New Roman" panose="02020603050405020304" pitchFamily="18" charset="0"/>
              </a:rPr>
              <a:t>(1)</a:t>
            </a:r>
          </a:p>
          <a:p>
            <a:pPr lvl="0" algn="just">
              <a:spcBef>
                <a:spcPts val="600"/>
              </a:spcBef>
              <a:defRPr/>
            </a:pPr>
            <a:r>
              <a:rPr lang="en-US" sz="2400" dirty="0" err="1">
                <a:solidFill>
                  <a:prstClr val="black"/>
                </a:solidFill>
                <a:latin typeface="Times New Roman" panose="02020603050405020304" pitchFamily="18" charset="0"/>
                <a:cs typeface="Times New Roman" panose="02020603050405020304" pitchFamily="18" charset="0"/>
              </a:rPr>
              <a:t>mylist.append</a:t>
            </a:r>
            <a:r>
              <a:rPr lang="en-US" sz="2400" dirty="0">
                <a:solidFill>
                  <a:prstClr val="black"/>
                </a:solidFill>
                <a:latin typeface="Times New Roman" panose="02020603050405020304" pitchFamily="18" charset="0"/>
                <a:cs typeface="Times New Roman" panose="02020603050405020304" pitchFamily="18" charset="0"/>
              </a:rPr>
              <a:t>(2)</a:t>
            </a:r>
          </a:p>
          <a:p>
            <a:pPr lvl="0" algn="just">
              <a:spcBef>
                <a:spcPts val="600"/>
              </a:spcBef>
              <a:defRPr/>
            </a:pPr>
            <a:r>
              <a:rPr lang="en-US" sz="2400" dirty="0" err="1">
                <a:solidFill>
                  <a:prstClr val="black"/>
                </a:solidFill>
                <a:latin typeface="Times New Roman" panose="02020603050405020304" pitchFamily="18" charset="0"/>
                <a:cs typeface="Times New Roman" panose="02020603050405020304" pitchFamily="18" charset="0"/>
              </a:rPr>
              <a:t>mylist.append</a:t>
            </a:r>
            <a:r>
              <a:rPr lang="en-US" sz="2400" dirty="0">
                <a:solidFill>
                  <a:prstClr val="black"/>
                </a:solidFill>
                <a:latin typeface="Times New Roman" panose="02020603050405020304" pitchFamily="18" charset="0"/>
                <a:cs typeface="Times New Roman" panose="02020603050405020304" pitchFamily="18" charset="0"/>
              </a:rPr>
              <a:t>(3)</a:t>
            </a:r>
          </a:p>
          <a:p>
            <a:pPr lvl="0" algn="just">
              <a:spcBef>
                <a:spcPts val="600"/>
              </a:spcBef>
              <a:defRPr/>
            </a:pPr>
            <a:r>
              <a:rPr lang="en-US" sz="2400" dirty="0">
                <a:solidFill>
                  <a:prstClr val="black"/>
                </a:solidFill>
                <a:latin typeface="Times New Roman" panose="02020603050405020304" pitchFamily="18" charset="0"/>
                <a:cs typeface="Times New Roman" panose="02020603050405020304" pitchFamily="18" charset="0"/>
              </a:rPr>
              <a:t>print(</a:t>
            </a:r>
            <a:r>
              <a:rPr lang="en-US" sz="2400" dirty="0" err="1">
                <a:solidFill>
                  <a:prstClr val="black"/>
                </a:solidFill>
                <a:latin typeface="Times New Roman" panose="02020603050405020304" pitchFamily="18" charset="0"/>
                <a:cs typeface="Times New Roman" panose="02020603050405020304" pitchFamily="18" charset="0"/>
              </a:rPr>
              <a:t>mylist</a:t>
            </a:r>
            <a:r>
              <a:rPr lang="en-US" sz="2400" dirty="0">
                <a:solidFill>
                  <a:prstClr val="black"/>
                </a:solidFill>
                <a:latin typeface="Times New Roman" panose="02020603050405020304" pitchFamily="18" charset="0"/>
                <a:cs typeface="Times New Roman" panose="02020603050405020304" pitchFamily="18" charset="0"/>
              </a:rPr>
              <a:t>[0]) # prints 1</a:t>
            </a:r>
          </a:p>
          <a:p>
            <a:pPr lvl="0" algn="just">
              <a:spcBef>
                <a:spcPts val="600"/>
              </a:spcBef>
              <a:defRPr/>
            </a:pPr>
            <a:r>
              <a:rPr lang="en-US" sz="2400" dirty="0">
                <a:solidFill>
                  <a:prstClr val="black"/>
                </a:solidFill>
                <a:latin typeface="Times New Roman" panose="02020603050405020304" pitchFamily="18" charset="0"/>
                <a:cs typeface="Times New Roman" panose="02020603050405020304" pitchFamily="18" charset="0"/>
              </a:rPr>
              <a:t>print(</a:t>
            </a:r>
            <a:r>
              <a:rPr lang="en-US" sz="2400" dirty="0" err="1">
                <a:solidFill>
                  <a:prstClr val="black"/>
                </a:solidFill>
                <a:latin typeface="Times New Roman" panose="02020603050405020304" pitchFamily="18" charset="0"/>
                <a:cs typeface="Times New Roman" panose="02020603050405020304" pitchFamily="18" charset="0"/>
              </a:rPr>
              <a:t>mylist</a:t>
            </a:r>
            <a:r>
              <a:rPr lang="en-US" sz="2400" dirty="0">
                <a:solidFill>
                  <a:prstClr val="black"/>
                </a:solidFill>
                <a:latin typeface="Times New Roman" panose="02020603050405020304" pitchFamily="18" charset="0"/>
                <a:cs typeface="Times New Roman" panose="02020603050405020304" pitchFamily="18" charset="0"/>
              </a:rPr>
              <a:t>[1]) # prints 2</a:t>
            </a:r>
          </a:p>
          <a:p>
            <a:pPr lvl="0" algn="just">
              <a:spcBef>
                <a:spcPts val="600"/>
              </a:spcBef>
              <a:defRPr/>
            </a:pPr>
            <a:r>
              <a:rPr lang="en-US" sz="2400" dirty="0">
                <a:solidFill>
                  <a:prstClr val="black"/>
                </a:solidFill>
                <a:latin typeface="Times New Roman" panose="02020603050405020304" pitchFamily="18" charset="0"/>
                <a:cs typeface="Times New Roman" panose="02020603050405020304" pitchFamily="18" charset="0"/>
              </a:rPr>
              <a:t>print(</a:t>
            </a:r>
            <a:r>
              <a:rPr lang="en-US" sz="2400" dirty="0" err="1">
                <a:solidFill>
                  <a:prstClr val="black"/>
                </a:solidFill>
                <a:latin typeface="Times New Roman" panose="02020603050405020304" pitchFamily="18" charset="0"/>
                <a:cs typeface="Times New Roman" panose="02020603050405020304" pitchFamily="18" charset="0"/>
              </a:rPr>
              <a:t>mylist</a:t>
            </a:r>
            <a:r>
              <a:rPr lang="en-US" sz="2400" dirty="0">
                <a:solidFill>
                  <a:prstClr val="black"/>
                </a:solidFill>
                <a:latin typeface="Times New Roman" panose="02020603050405020304" pitchFamily="18" charset="0"/>
                <a:cs typeface="Times New Roman" panose="02020603050405020304" pitchFamily="18" charset="0"/>
              </a:rPr>
              <a:t>[2]) # prints 3</a:t>
            </a:r>
          </a:p>
          <a:p>
            <a:pPr lvl="0" algn="just">
              <a:spcBef>
                <a:spcPts val="600"/>
              </a:spcBef>
              <a:defRPr/>
            </a:pPr>
            <a:endParaRPr lang="en-US" sz="2400" dirty="0">
              <a:solidFill>
                <a:prstClr val="black"/>
              </a:solidFill>
              <a:latin typeface="Times New Roman" panose="02020603050405020304" pitchFamily="18" charset="0"/>
              <a:cs typeface="Times New Roman" panose="02020603050405020304" pitchFamily="18" charset="0"/>
            </a:endParaRPr>
          </a:p>
          <a:p>
            <a:pPr lvl="0" algn="just">
              <a:spcBef>
                <a:spcPts val="600"/>
              </a:spcBef>
              <a:defRPr/>
            </a:pPr>
            <a:r>
              <a:rPr lang="en-US" sz="2400" dirty="0">
                <a:solidFill>
                  <a:prstClr val="black"/>
                </a:solidFill>
                <a:latin typeface="Times New Roman" panose="02020603050405020304" pitchFamily="18" charset="0"/>
                <a:cs typeface="Times New Roman" panose="02020603050405020304" pitchFamily="18" charset="0"/>
              </a:rPr>
              <a:t># prints out 1,2,3</a:t>
            </a:r>
          </a:p>
          <a:p>
            <a:pPr lvl="0" algn="just">
              <a:spcBef>
                <a:spcPts val="600"/>
              </a:spcBef>
              <a:defRPr/>
            </a:pPr>
            <a:r>
              <a:rPr lang="en-US" sz="2400" dirty="0">
                <a:solidFill>
                  <a:prstClr val="black"/>
                </a:solidFill>
                <a:latin typeface="Times New Roman" panose="02020603050405020304" pitchFamily="18" charset="0"/>
                <a:cs typeface="Times New Roman" panose="02020603050405020304" pitchFamily="18" charset="0"/>
              </a:rPr>
              <a:t>for x in </a:t>
            </a:r>
            <a:r>
              <a:rPr lang="en-US" sz="2400" dirty="0" err="1">
                <a:solidFill>
                  <a:prstClr val="black"/>
                </a:solidFill>
                <a:latin typeface="Times New Roman" panose="02020603050405020304" pitchFamily="18" charset="0"/>
                <a:cs typeface="Times New Roman" panose="02020603050405020304" pitchFamily="18" charset="0"/>
              </a:rPr>
              <a:t>mylist</a:t>
            </a:r>
            <a:r>
              <a:rPr lang="en-US" sz="2400" dirty="0">
                <a:solidFill>
                  <a:prstClr val="black"/>
                </a:solidFill>
                <a:latin typeface="Times New Roman" panose="02020603050405020304" pitchFamily="18" charset="0"/>
                <a:cs typeface="Times New Roman" panose="02020603050405020304" pitchFamily="18" charset="0"/>
              </a:rPr>
              <a:t>:</a:t>
            </a:r>
          </a:p>
          <a:p>
            <a:pPr lvl="0" algn="just">
              <a:spcBef>
                <a:spcPts val="600"/>
              </a:spcBef>
              <a:defRPr/>
            </a:pPr>
            <a:r>
              <a:rPr lang="en-US" sz="2400" dirty="0">
                <a:solidFill>
                  <a:prstClr val="black"/>
                </a:solidFill>
                <a:latin typeface="Times New Roman" panose="02020603050405020304" pitchFamily="18" charset="0"/>
                <a:cs typeface="Times New Roman" panose="02020603050405020304" pitchFamily="18" charset="0"/>
              </a:rPr>
              <a:t>    print(x)</a:t>
            </a:r>
            <a:endParaRPr kumimoji="0" lang="en-US" sz="24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a:extLst>
              <a:ext uri="{FF2B5EF4-FFF2-40B4-BE49-F238E27FC236}">
                <a16:creationId xmlns:a16="http://schemas.microsoft.com/office/drawing/2014/main" id="{84CB6EE5-4A2E-0AAE-1D53-2950750759A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DCE582B7-D57E-86D0-E63A-EEA3014FC43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1" name="Picture 10">
            <a:extLst>
              <a:ext uri="{FF2B5EF4-FFF2-40B4-BE49-F238E27FC236}">
                <a16:creationId xmlns:a16="http://schemas.microsoft.com/office/drawing/2014/main" id="{13C826DD-482B-D910-3331-44539FFD040B}"/>
              </a:ext>
            </a:extLst>
          </p:cNvPr>
          <p:cNvPicPr>
            <a:picLocks noChangeAspect="1"/>
          </p:cNvPicPr>
          <p:nvPr/>
        </p:nvPicPr>
        <p:blipFill>
          <a:blip r:embed="rId6"/>
          <a:stretch>
            <a:fillRect/>
          </a:stretch>
        </p:blipFill>
        <p:spPr>
          <a:xfrm>
            <a:off x="6391672" y="2296460"/>
            <a:ext cx="323056" cy="1938332"/>
          </a:xfrm>
          <a:prstGeom prst="rect">
            <a:avLst/>
          </a:prstGeom>
        </p:spPr>
      </p:pic>
      <p:sp>
        <p:nvSpPr>
          <p:cNvPr id="8" name="TextBox 7">
            <a:extLst>
              <a:ext uri="{FF2B5EF4-FFF2-40B4-BE49-F238E27FC236}">
                <a16:creationId xmlns:a16="http://schemas.microsoft.com/office/drawing/2014/main" id="{797F0D4F-CC04-8881-2F04-14AEA6E00E61}"/>
              </a:ext>
            </a:extLst>
          </p:cNvPr>
          <p:cNvSpPr txBox="1"/>
          <p:nvPr/>
        </p:nvSpPr>
        <p:spPr>
          <a:xfrm>
            <a:off x="6090493" y="1880332"/>
            <a:ext cx="2448272" cy="369332"/>
          </a:xfrm>
          <a:prstGeom prst="rect">
            <a:avLst/>
          </a:prstGeom>
          <a:noFill/>
        </p:spPr>
        <p:txBody>
          <a:bodyPr wrap="square" rtlCol="0">
            <a:spAutoFit/>
          </a:bodyPr>
          <a:lstStyle/>
          <a:p>
            <a:r>
              <a:rPr lang="en-IN" b="1" dirty="0"/>
              <a:t>OUTPUT:</a:t>
            </a:r>
          </a:p>
        </p:txBody>
      </p:sp>
    </p:spTree>
    <p:extLst>
      <p:ext uri="{BB962C8B-B14F-4D97-AF65-F5344CB8AC3E}">
        <p14:creationId xmlns:p14="http://schemas.microsoft.com/office/powerpoint/2010/main" val="9048572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Classification of arrays</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4" name="Picture 13"/>
          <p:cNvPicPr>
            <a:picLocks noChangeAspect="1"/>
          </p:cNvPicPr>
          <p:nvPr/>
        </p:nvPicPr>
        <p:blipFill>
          <a:blip r:embed="rId6"/>
          <a:srcRect t="10430"/>
          <a:stretch>
            <a:fillRect/>
          </a:stretch>
        </p:blipFill>
        <p:spPr>
          <a:xfrm>
            <a:off x="586574" y="1666628"/>
            <a:ext cx="8151379" cy="3914726"/>
          </a:xfrm>
          <a:prstGeom prst="rect">
            <a:avLst/>
          </a:prstGeom>
        </p:spPr>
      </p:pic>
      <p:sp>
        <p:nvSpPr>
          <p:cNvPr id="13" name="TextBox 12"/>
          <p:cNvSpPr txBox="1"/>
          <p:nvPr/>
        </p:nvSpPr>
        <p:spPr>
          <a:xfrm>
            <a:off x="467544" y="5517232"/>
            <a:ext cx="396044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Fig.5:  Types of  Arrays </a:t>
            </a:r>
          </a:p>
        </p:txBody>
      </p:sp>
    </p:spTree>
    <p:extLst>
      <p:ext uri="{BB962C8B-B14F-4D97-AF65-F5344CB8AC3E}">
        <p14:creationId xmlns:p14="http://schemas.microsoft.com/office/powerpoint/2010/main" val="26589565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One-dimensional Array(1-D Array)</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1569660"/>
          </a:xfrm>
          <a:prstGeom prst="rect">
            <a:avLst/>
          </a:prstGeom>
        </p:spPr>
        <p:txBody>
          <a:bodyPr wrap="square">
            <a:spAutoFit/>
          </a:bodyPr>
          <a:lstStyle/>
          <a:p>
            <a:pPr marL="342900" lvl="0" indent="-342900" algn="just">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1-D as a row</a:t>
            </a:r>
          </a:p>
          <a:p>
            <a:pPr marL="342900" lvl="0" indent="-342900" algn="just">
              <a:buFont typeface="Wingdings" panose="05000000000000000000" pitchFamily="2" charset="2"/>
              <a:buChar char="§"/>
              <a:defRPr/>
            </a:pPr>
            <a:endParaRPr lang="en-US" sz="2400" dirty="0">
              <a:solidFill>
                <a:srgbClr val="273239"/>
              </a:solidFill>
              <a:highlight>
                <a:srgbClr val="FFFFFF"/>
              </a:highlight>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Elements stored one after other.</a:t>
            </a:r>
            <a:endParaRPr lang="en-US" sz="2400" dirty="0">
              <a:solidFill>
                <a:prstClr val="black"/>
              </a:solidFill>
              <a:latin typeface="Times New Roman" panose="02020603050405020304" pitchFamily="18" charset="0"/>
              <a:cs typeface="Times New Roman" panose="02020603050405020304" pitchFamily="18" charset="0"/>
            </a:endParaRPr>
          </a:p>
          <a:p>
            <a:pPr lvl="0" algn="ju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5" name="Picture 14"/>
          <p:cNvPicPr>
            <a:picLocks noChangeAspect="1"/>
          </p:cNvPicPr>
          <p:nvPr/>
        </p:nvPicPr>
        <p:blipFill>
          <a:blip r:embed="rId6"/>
          <a:srcRect l="5009" t="13741" r="4641" b="28669"/>
          <a:stretch>
            <a:fillRect/>
          </a:stretch>
        </p:blipFill>
        <p:spPr>
          <a:xfrm>
            <a:off x="323531" y="3789042"/>
            <a:ext cx="4536502" cy="1647452"/>
          </a:xfrm>
          <a:prstGeom prst="rect">
            <a:avLst/>
          </a:prstGeom>
        </p:spPr>
      </p:pic>
      <p:pic>
        <p:nvPicPr>
          <p:cNvPr id="13" name="Picture 12"/>
          <p:cNvPicPr>
            <a:picLocks noChangeAspect="1"/>
          </p:cNvPicPr>
          <p:nvPr/>
        </p:nvPicPr>
        <p:blipFill>
          <a:blip r:embed="rId7"/>
          <a:srcRect l="4724" t="9457" r="5502" b="15383"/>
          <a:stretch>
            <a:fillRect/>
          </a:stretch>
        </p:blipFill>
        <p:spPr>
          <a:xfrm>
            <a:off x="4436345" y="1497440"/>
            <a:ext cx="4695288" cy="2887065"/>
          </a:xfrm>
          <a:prstGeom prst="rect">
            <a:avLst/>
          </a:prstGeom>
        </p:spPr>
      </p:pic>
      <p:sp>
        <p:nvSpPr>
          <p:cNvPr id="14" name="TextBox 13"/>
          <p:cNvSpPr txBox="1"/>
          <p:nvPr/>
        </p:nvSpPr>
        <p:spPr>
          <a:xfrm>
            <a:off x="467544" y="5517232"/>
            <a:ext cx="6264696"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Fig.7:  Example of One-dimensional Array</a:t>
            </a:r>
          </a:p>
        </p:txBody>
      </p:sp>
    </p:spTree>
    <p:extLst>
      <p:ext uri="{BB962C8B-B14F-4D97-AF65-F5344CB8AC3E}">
        <p14:creationId xmlns:p14="http://schemas.microsoft.com/office/powerpoint/2010/main" val="12351932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36513"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One-dimensional Array(1-D Array)</a:t>
            </a: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2E8145EE-C6C9-F6BA-6858-45AEE1A465D0}"/>
              </a:ext>
            </a:extLst>
          </p:cNvPr>
          <p:cNvSpPr txBox="1"/>
          <p:nvPr/>
        </p:nvSpPr>
        <p:spPr>
          <a:xfrm>
            <a:off x="261708" y="1174579"/>
            <a:ext cx="8584069" cy="3323987"/>
          </a:xfrm>
          <a:prstGeom prst="rect">
            <a:avLst/>
          </a:prstGeom>
          <a:noFill/>
        </p:spPr>
        <p:txBody>
          <a:bodyPr wrap="square">
            <a:spAutoFit/>
          </a:bodyPr>
          <a:lstStyle/>
          <a:p>
            <a:pPr algn="just">
              <a:spcBef>
                <a:spcPts val="600"/>
              </a:spcBef>
              <a:spcAft>
                <a:spcPts val="600"/>
              </a:spcAft>
            </a:pPr>
            <a:r>
              <a:rPr lang="en-US" sz="2000" b="1" i="1" dirty="0">
                <a:latin typeface="Times New Roman" panose="02020603050405020304" pitchFamily="18" charset="0"/>
                <a:cs typeface="Times New Roman" panose="02020603050405020304" pitchFamily="18" charset="0"/>
              </a:rPr>
              <a:t>#</a:t>
            </a:r>
            <a:r>
              <a:rPr lang="en-US" sz="2000" b="1" dirty="0">
                <a:latin typeface="Times New Roman" panose="02020603050405020304" pitchFamily="18" charset="0"/>
                <a:cs typeface="Times New Roman" panose="02020603050405020304" pitchFamily="18" charset="0"/>
              </a:rPr>
              <a:t> This line creates a 1-D array (list) named numbers with five integer elements.</a:t>
            </a:r>
            <a:endParaRPr lang="en-US" sz="2000" b="1" i="1" dirty="0">
              <a:latin typeface="Times New Roman" panose="02020603050405020304" pitchFamily="18" charset="0"/>
              <a:cs typeface="Times New Roman" panose="02020603050405020304" pitchFamily="18" charset="0"/>
            </a:endParaRPr>
          </a:p>
          <a:p>
            <a:pPr>
              <a:spcBef>
                <a:spcPts val="600"/>
              </a:spcBef>
              <a:spcAft>
                <a:spcPts val="600"/>
              </a:spcAft>
            </a:pPr>
            <a:r>
              <a:rPr lang="en-US" sz="2000" i="1" dirty="0">
                <a:latin typeface="Times New Roman" panose="02020603050405020304" pitchFamily="18" charset="0"/>
                <a:cs typeface="Times New Roman" panose="02020603050405020304" pitchFamily="18" charset="0"/>
              </a:rPr>
              <a:t>numbers = [10, 20, 30, 40, 50]</a:t>
            </a:r>
          </a:p>
          <a:p>
            <a:pPr>
              <a:spcBef>
                <a:spcPts val="600"/>
              </a:spcBef>
              <a:spcAft>
                <a:spcPts val="600"/>
              </a:spcAft>
            </a:pPr>
            <a:r>
              <a:rPr lang="en-US" sz="2000" b="1" i="1" dirty="0">
                <a:latin typeface="Times New Roman" panose="02020603050405020304" pitchFamily="18" charset="0"/>
                <a:cs typeface="Times New Roman" panose="02020603050405020304" pitchFamily="18" charset="0"/>
              </a:rPr>
              <a:t>#</a:t>
            </a:r>
            <a:r>
              <a:rPr lang="en-US" sz="2000" b="1" dirty="0">
                <a:latin typeface="Times New Roman" panose="02020603050405020304" pitchFamily="18" charset="0"/>
                <a:cs typeface="Times New Roman" panose="02020603050405020304" pitchFamily="18" charset="0"/>
              </a:rPr>
              <a:t> This statement accesses the element at index 2 of the list.</a:t>
            </a:r>
            <a:endParaRPr lang="en-US" sz="2000" b="1" i="1" dirty="0">
              <a:latin typeface="Times New Roman" panose="02020603050405020304" pitchFamily="18" charset="0"/>
              <a:cs typeface="Times New Roman" panose="02020603050405020304" pitchFamily="18" charset="0"/>
            </a:endParaRPr>
          </a:p>
          <a:p>
            <a:pPr>
              <a:spcBef>
                <a:spcPts val="600"/>
              </a:spcBef>
              <a:spcAft>
                <a:spcPts val="600"/>
              </a:spcAft>
            </a:pPr>
            <a:r>
              <a:rPr lang="en-US" sz="2000" i="1" dirty="0">
                <a:latin typeface="Times New Roman" panose="02020603050405020304" pitchFamily="18" charset="0"/>
                <a:cs typeface="Times New Roman" panose="02020603050405020304" pitchFamily="18" charset="0"/>
              </a:rPr>
              <a:t>print(numbers[2])</a:t>
            </a:r>
            <a:endParaRPr lang="en-US" sz="2000" dirty="0">
              <a:latin typeface="Times New Roman" panose="02020603050405020304" pitchFamily="18" charset="0"/>
              <a:cs typeface="Times New Roman" panose="02020603050405020304" pitchFamily="18" charset="0"/>
            </a:endParaRPr>
          </a:p>
          <a:p>
            <a:pPr>
              <a:spcBef>
                <a:spcPts val="600"/>
              </a:spcBef>
            </a:pPr>
            <a:endParaRPr lang="en-US" sz="2000" b="1" dirty="0">
              <a:latin typeface="Times New Roman" panose="02020603050405020304" pitchFamily="18" charset="0"/>
              <a:cs typeface="Times New Roman" panose="02020603050405020304" pitchFamily="18" charset="0"/>
            </a:endParaRPr>
          </a:p>
          <a:p>
            <a:pPr>
              <a:spcBef>
                <a:spcPts val="600"/>
              </a:spcBef>
            </a:pPr>
            <a:r>
              <a:rPr lang="en-US" sz="2000" b="1" dirty="0">
                <a:latin typeface="Times New Roman" panose="02020603050405020304" pitchFamily="18" charset="0"/>
                <a:cs typeface="Times New Roman" panose="02020603050405020304" pitchFamily="18" charset="0"/>
              </a:rPr>
              <a:t>OUTPUT:</a:t>
            </a:r>
          </a:p>
          <a:p>
            <a:pPr>
              <a:spcBef>
                <a:spcPts val="600"/>
              </a:spcBef>
            </a:pPr>
            <a:r>
              <a:rPr lang="en-US" sz="2000" dirty="0">
                <a:latin typeface="Times New Roman" panose="02020603050405020304" pitchFamily="18" charset="0"/>
                <a:cs typeface="Times New Roman" panose="02020603050405020304" pitchFamily="18" charset="0"/>
              </a:rPr>
              <a:t>30</a:t>
            </a:r>
          </a:p>
        </p:txBody>
      </p:sp>
      <p:sp>
        <p:nvSpPr>
          <p:cNvPr id="5" name="TextBox 4">
            <a:extLst>
              <a:ext uri="{FF2B5EF4-FFF2-40B4-BE49-F238E27FC236}">
                <a16:creationId xmlns:a16="http://schemas.microsoft.com/office/drawing/2014/main" id="{F55CB8A8-243D-A9D0-022D-F0B2E6F8C77C}"/>
              </a:ext>
            </a:extLst>
          </p:cNvPr>
          <p:cNvSpPr txBox="1"/>
          <p:nvPr/>
        </p:nvSpPr>
        <p:spPr>
          <a:xfrm>
            <a:off x="290947" y="4472589"/>
            <a:ext cx="4599708" cy="1883657"/>
          </a:xfrm>
          <a:prstGeom prst="rect">
            <a:avLst/>
          </a:prstGeom>
          <a:noFill/>
        </p:spPr>
        <p:txBody>
          <a:bodyPr wrap="square">
            <a:spAutoFit/>
          </a:bodyPr>
          <a:lstStyle/>
          <a:p>
            <a:pPr marL="92075" indent="-92075">
              <a:lnSpc>
                <a:spcPct val="150000"/>
              </a:lnSpc>
              <a:buNone/>
              <a:tabLst>
                <a:tab pos="176213" algn="l"/>
              </a:tabLst>
            </a:pPr>
            <a:r>
              <a:rPr lang="en-US" sz="2000" b="1" dirty="0">
                <a:latin typeface="Times New Roman" panose="02020603050405020304" pitchFamily="18" charset="0"/>
                <a:cs typeface="Times New Roman" panose="02020603050405020304" pitchFamily="18" charset="0"/>
              </a:rPr>
              <a:t>Index Explanation</a:t>
            </a:r>
          </a:p>
          <a:p>
            <a:pPr marL="176213" indent="-176213">
              <a:lnSpc>
                <a:spcPct val="150000"/>
              </a:lnSpc>
              <a:buFont typeface="Arial" panose="020B0604020202020204" pitchFamily="34" charset="0"/>
              <a:buChar char="•"/>
              <a:tabLst>
                <a:tab pos="176213" algn="l"/>
              </a:tabLst>
            </a:pPr>
            <a:r>
              <a:rPr lang="en-US" sz="2000" dirty="0">
                <a:latin typeface="Times New Roman" panose="02020603050405020304" pitchFamily="18" charset="0"/>
                <a:cs typeface="Times New Roman" panose="02020603050405020304" pitchFamily="18" charset="0"/>
              </a:rPr>
              <a:t>numbers[0] = 10</a:t>
            </a:r>
          </a:p>
          <a:p>
            <a:pPr marL="176213" indent="-176213">
              <a:lnSpc>
                <a:spcPct val="150000"/>
              </a:lnSpc>
              <a:buFont typeface="Arial" panose="020B0604020202020204" pitchFamily="34" charset="0"/>
              <a:buChar char="•"/>
              <a:tabLst>
                <a:tab pos="176213" algn="l"/>
              </a:tabLst>
            </a:pPr>
            <a:r>
              <a:rPr lang="en-US" sz="2000" dirty="0">
                <a:latin typeface="Times New Roman" panose="02020603050405020304" pitchFamily="18" charset="0"/>
                <a:cs typeface="Times New Roman" panose="02020603050405020304" pitchFamily="18" charset="0"/>
              </a:rPr>
              <a:t>numbers[1] = 20</a:t>
            </a:r>
          </a:p>
          <a:p>
            <a:pPr marL="176213" indent="-176213">
              <a:lnSpc>
                <a:spcPct val="150000"/>
              </a:lnSpc>
              <a:buFont typeface="Arial" panose="020B0604020202020204" pitchFamily="34" charset="0"/>
              <a:buChar char="•"/>
              <a:tabLst>
                <a:tab pos="176213" algn="l"/>
              </a:tabLst>
            </a:pPr>
            <a:r>
              <a:rPr lang="en-US" sz="2000" dirty="0">
                <a:latin typeface="Times New Roman" panose="02020603050405020304" pitchFamily="18" charset="0"/>
                <a:cs typeface="Times New Roman" panose="02020603050405020304" pitchFamily="18" charset="0"/>
              </a:rPr>
              <a:t>numbers[2] = 30</a:t>
            </a:r>
          </a:p>
        </p:txBody>
      </p:sp>
    </p:spTree>
    <p:extLst>
      <p:ext uri="{BB962C8B-B14F-4D97-AF65-F5344CB8AC3E}">
        <p14:creationId xmlns:p14="http://schemas.microsoft.com/office/powerpoint/2010/main" val="36300760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A5D72-3576-0721-1E65-9C69041E902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FE31C0A-246D-7705-E077-AE49FE26B2B2}"/>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F4FBA3B3-10DE-76CE-6792-8362F6BC87B3}"/>
              </a:ext>
            </a:extLst>
          </p:cNvPr>
          <p:cNvCxnSpPr/>
          <p:nvPr/>
        </p:nvCxnSpPr>
        <p:spPr>
          <a:xfrm>
            <a:off x="-36513"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AE6E077-2646-9FBF-0C4C-3B517648449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33F66219-863D-2271-2270-2B7840D2830E}"/>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3CF67FC5-AA33-5F59-8807-56A980095C00}"/>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One-dimensional Array(1-D Array)</a:t>
            </a:r>
          </a:p>
        </p:txBody>
      </p:sp>
      <p:pic>
        <p:nvPicPr>
          <p:cNvPr id="1026" name="Picture 2" descr="Ezoic">
            <a:extLst>
              <a:ext uri="{FF2B5EF4-FFF2-40B4-BE49-F238E27FC236}">
                <a16:creationId xmlns:a16="http://schemas.microsoft.com/office/drawing/2014/main" id="{845803D9-CAD0-FB2D-F2E8-2D3A69F73C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48320983-A5EC-1323-15B2-B0D5390471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8ACF2878-B024-2B7B-3B76-F41EF535C249}"/>
              </a:ext>
            </a:extLst>
          </p:cNvPr>
          <p:cNvSpPr txBox="1"/>
          <p:nvPr/>
        </p:nvSpPr>
        <p:spPr>
          <a:xfrm>
            <a:off x="323528" y="1292562"/>
            <a:ext cx="7121213" cy="5016758"/>
          </a:xfrm>
          <a:prstGeom prst="rect">
            <a:avLst/>
          </a:prstGeom>
          <a:noFill/>
        </p:spPr>
        <p:txBody>
          <a:bodyPr wrap="square">
            <a:spAutoFit/>
          </a:bodyPr>
          <a:lstStyle/>
          <a:p>
            <a:pPr>
              <a:spcBef>
                <a:spcPts val="600"/>
              </a:spcBef>
            </a:pPr>
            <a:r>
              <a:rPr lang="en-US" sz="2000" b="1" i="1" dirty="0">
                <a:latin typeface="Times New Roman" panose="02020603050405020304" pitchFamily="18" charset="0"/>
                <a:cs typeface="Times New Roman" panose="02020603050405020304" pitchFamily="18" charset="0"/>
              </a:rPr>
              <a:t># Declare and initialize a 1D array (list in Python)</a:t>
            </a:r>
          </a:p>
          <a:p>
            <a:pPr>
              <a:spcBef>
                <a:spcPts val="600"/>
              </a:spcBef>
            </a:pPr>
            <a:r>
              <a:rPr lang="en-US" sz="2000" dirty="0">
                <a:latin typeface="Times New Roman" panose="02020603050405020304" pitchFamily="18" charset="0"/>
                <a:cs typeface="Times New Roman" panose="02020603050405020304" pitchFamily="18" charset="0"/>
              </a:rPr>
              <a:t>numbers = [10, 20, 30, 40, 50]</a:t>
            </a:r>
          </a:p>
          <a:p>
            <a:pPr>
              <a:spcBef>
                <a:spcPts val="600"/>
              </a:spcBef>
            </a:pPr>
            <a:r>
              <a:rPr lang="en-US" sz="2000" dirty="0">
                <a:latin typeface="Times New Roman" panose="02020603050405020304" pitchFamily="18" charset="0"/>
                <a:cs typeface="Times New Roman" panose="02020603050405020304" pitchFamily="18" charset="0"/>
              </a:rPr>
              <a:t>sum = 0  # Variable to store the sum of the array elements</a:t>
            </a:r>
          </a:p>
          <a:p>
            <a:pPr>
              <a:spcBef>
                <a:spcPts val="600"/>
              </a:spcBef>
            </a:pPr>
            <a:endParaRPr lang="en-US" sz="2000" dirty="0">
              <a:latin typeface="Times New Roman" panose="02020603050405020304" pitchFamily="18" charset="0"/>
              <a:cs typeface="Times New Roman" panose="02020603050405020304" pitchFamily="18" charset="0"/>
            </a:endParaRPr>
          </a:p>
          <a:p>
            <a:pPr>
              <a:spcBef>
                <a:spcPts val="600"/>
              </a:spcBef>
            </a:pPr>
            <a:r>
              <a:rPr lang="en-US" sz="2000" b="1" i="1" dirty="0">
                <a:latin typeface="Times New Roman" panose="02020603050405020304" pitchFamily="18" charset="0"/>
                <a:cs typeface="Times New Roman" panose="02020603050405020304" pitchFamily="18" charset="0"/>
              </a:rPr>
              <a:t># Loop through the list</a:t>
            </a:r>
          </a:p>
          <a:p>
            <a:pPr>
              <a:spcBef>
                <a:spcPts val="600"/>
              </a:spcBef>
            </a:pPr>
            <a:r>
              <a:rPr lang="en-US" sz="2000" dirty="0">
                <a:latin typeface="Times New Roman" panose="02020603050405020304" pitchFamily="18" charset="0"/>
                <a:cs typeface="Times New Roman" panose="02020603050405020304" pitchFamily="18" charset="0"/>
              </a:rPr>
              <a:t>for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in range(5):</a:t>
            </a:r>
          </a:p>
          <a:p>
            <a:pPr>
              <a:spcBef>
                <a:spcPts val="600"/>
              </a:spcBef>
            </a:pPr>
            <a:r>
              <a:rPr lang="en-US" sz="2000" dirty="0">
                <a:latin typeface="Times New Roman" panose="02020603050405020304" pitchFamily="18" charset="0"/>
                <a:cs typeface="Times New Roman" panose="02020603050405020304" pitchFamily="18" charset="0"/>
              </a:rPr>
              <a:t>    sum += numbers[</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a:t>
            </a:r>
            <a:r>
              <a:rPr lang="en-US" sz="2000" b="1" i="1" dirty="0">
                <a:latin typeface="Times New Roman" panose="02020603050405020304" pitchFamily="18" charset="0"/>
                <a:cs typeface="Times New Roman" panose="02020603050405020304" pitchFamily="18" charset="0"/>
              </a:rPr>
              <a:t># Add each element to sum</a:t>
            </a:r>
          </a:p>
          <a:p>
            <a:pPr>
              <a:spcBef>
                <a:spcPts val="600"/>
              </a:spcBef>
            </a:pPr>
            <a:endParaRPr lang="en-US" sz="2000" dirty="0">
              <a:latin typeface="Times New Roman" panose="02020603050405020304" pitchFamily="18" charset="0"/>
              <a:cs typeface="Times New Roman" panose="02020603050405020304" pitchFamily="18" charset="0"/>
            </a:endParaRPr>
          </a:p>
          <a:p>
            <a:pPr>
              <a:spcBef>
                <a:spcPts val="600"/>
              </a:spcBef>
            </a:pPr>
            <a:r>
              <a:rPr lang="en-US" sz="2000" b="1" i="1" dirty="0">
                <a:latin typeface="Times New Roman" panose="02020603050405020304" pitchFamily="18" charset="0"/>
                <a:cs typeface="Times New Roman" panose="02020603050405020304" pitchFamily="18" charset="0"/>
              </a:rPr>
              <a:t># Output the sum of the array elements</a:t>
            </a:r>
          </a:p>
          <a:p>
            <a:pPr>
              <a:spcBef>
                <a:spcPts val="600"/>
              </a:spcBef>
            </a:pPr>
            <a:r>
              <a:rPr lang="en-US" sz="2000" dirty="0">
                <a:latin typeface="Times New Roman" panose="02020603050405020304" pitchFamily="18" charset="0"/>
                <a:cs typeface="Times New Roman" panose="02020603050405020304" pitchFamily="18" charset="0"/>
              </a:rPr>
              <a:t>print("Sum of the array elements is:", sum)</a:t>
            </a:r>
          </a:p>
          <a:p>
            <a:pPr>
              <a:spcBef>
                <a:spcPts val="600"/>
              </a:spcBef>
            </a:pPr>
            <a:endParaRPr lang="en-US" sz="2000" dirty="0">
              <a:latin typeface="Times New Roman" panose="02020603050405020304" pitchFamily="18" charset="0"/>
              <a:cs typeface="Times New Roman" panose="02020603050405020304" pitchFamily="18" charset="0"/>
            </a:endParaRPr>
          </a:p>
          <a:p>
            <a:pPr>
              <a:spcBef>
                <a:spcPts val="600"/>
              </a:spcBef>
            </a:pPr>
            <a:r>
              <a:rPr lang="en-US" sz="2000" b="1" dirty="0">
                <a:latin typeface="Times New Roman" panose="02020603050405020304" pitchFamily="18" charset="0"/>
                <a:cs typeface="Times New Roman" panose="02020603050405020304" pitchFamily="18" charset="0"/>
              </a:rPr>
              <a:t>OUTPUT:</a:t>
            </a:r>
          </a:p>
          <a:p>
            <a:pPr>
              <a:spcBef>
                <a:spcPts val="600"/>
              </a:spcBef>
            </a:pPr>
            <a:r>
              <a:rPr lang="en-US" sz="2000" dirty="0">
                <a:latin typeface="Times New Roman" panose="02020603050405020304" pitchFamily="18" charset="0"/>
                <a:cs typeface="Times New Roman" panose="02020603050405020304" pitchFamily="18" charset="0"/>
              </a:rPr>
              <a:t>Sum of the array elements is: 150</a:t>
            </a:r>
          </a:p>
        </p:txBody>
      </p:sp>
    </p:spTree>
    <p:extLst>
      <p:ext uri="{BB962C8B-B14F-4D97-AF65-F5344CB8AC3E}">
        <p14:creationId xmlns:p14="http://schemas.microsoft.com/office/powerpoint/2010/main" val="22595091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0F397-C294-1A87-0B90-754739FCB53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43EA8D2-75EA-FEB2-657D-EBDBDCD1BFD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73894323-D197-E8D9-B1F9-3F1F2FB4F579}"/>
              </a:ext>
            </a:extLst>
          </p:cNvPr>
          <p:cNvCxnSpPr/>
          <p:nvPr/>
        </p:nvCxnSpPr>
        <p:spPr>
          <a:xfrm>
            <a:off x="-36513"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19E8ED0-3C9A-C058-E19F-0B1DBE00CA4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5594BB3-1CC2-335A-EB46-24DCDBB04A60}"/>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51CAB56-1E48-59C0-4E2E-9820A3D4953E}"/>
              </a:ext>
            </a:extLst>
          </p:cNvPr>
          <p:cNvSpPr>
            <a:spLocks noChangeArrowheads="1"/>
          </p:cNvSpPr>
          <p:nvPr/>
        </p:nvSpPr>
        <p:spPr bwMode="auto">
          <a:xfrm>
            <a:off x="259014" y="349862"/>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Quick Check</a:t>
            </a:r>
          </a:p>
        </p:txBody>
      </p:sp>
      <p:pic>
        <p:nvPicPr>
          <p:cNvPr id="1026" name="Picture 2" descr="Ezoic">
            <a:extLst>
              <a:ext uri="{FF2B5EF4-FFF2-40B4-BE49-F238E27FC236}">
                <a16:creationId xmlns:a16="http://schemas.microsoft.com/office/drawing/2014/main" id="{D43239B4-877A-D8FF-D14D-05CC633684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69853326-84DC-422D-C84C-62C8753D2C9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CDD540DA-5101-ADAD-AB4C-BD34A7CFC179}"/>
              </a:ext>
            </a:extLst>
          </p:cNvPr>
          <p:cNvSpPr txBox="1"/>
          <p:nvPr/>
        </p:nvSpPr>
        <p:spPr>
          <a:xfrm>
            <a:off x="187091" y="1293834"/>
            <a:ext cx="8705389" cy="445795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is the index of the </a:t>
            </a:r>
            <a:r>
              <a:rPr lang="en-US" sz="2400" b="1" dirty="0">
                <a:latin typeface="Times New Roman" panose="02020603050405020304" pitchFamily="18" charset="0"/>
                <a:cs typeface="Times New Roman" panose="02020603050405020304" pitchFamily="18" charset="0"/>
              </a:rPr>
              <a:t>first element of an array</a:t>
            </a:r>
            <a:r>
              <a:rPr lang="en-US" sz="2400" dirty="0">
                <a:latin typeface="Times New Roman" panose="02020603050405020304" pitchFamily="18" charset="0"/>
                <a:cs typeface="Times New Roman" panose="02020603050405020304" pitchFamily="18" charset="0"/>
              </a:rPr>
              <a:t>?</a:t>
            </a: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How many elements are there in the array [5, 10, 15]?</a:t>
            </a:r>
          </a:p>
          <a:p>
            <a:pPr marL="285750" indent="-28575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Predict the output:</a:t>
            </a:r>
          </a:p>
          <a:p>
            <a:pPr marL="268288">
              <a:lnSpc>
                <a:spcPct val="150000"/>
              </a:lnSpc>
            </a:pP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 = [1, 2, 3]</a:t>
            </a:r>
          </a:p>
          <a:p>
            <a:pPr marL="268288">
              <a:lnSpc>
                <a:spcPct val="150000"/>
              </a:lnSpc>
            </a:pPr>
            <a:r>
              <a:rPr lang="en-US" sz="2400" dirty="0">
                <a:latin typeface="Times New Roman" panose="02020603050405020304" pitchFamily="18" charset="0"/>
                <a:cs typeface="Times New Roman" panose="02020603050405020304" pitchFamily="18" charset="0"/>
              </a:rPr>
              <a:t>print(</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[1])</a:t>
            </a:r>
          </a:p>
          <a:p>
            <a:pPr marL="268288" indent="-268288">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Identify the Error</a:t>
            </a:r>
          </a:p>
          <a:p>
            <a:pPr marL="268288">
              <a:lnSpc>
                <a:spcPct val="150000"/>
              </a:lnSpc>
            </a:pP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 = [1, 2, 3]</a:t>
            </a:r>
          </a:p>
          <a:p>
            <a:pPr marL="268288">
              <a:lnSpc>
                <a:spcPct val="150000"/>
              </a:lnSpc>
            </a:pPr>
            <a:r>
              <a:rPr lang="en-US" sz="2400" dirty="0">
                <a:latin typeface="Times New Roman" panose="02020603050405020304" pitchFamily="18" charset="0"/>
                <a:cs typeface="Times New Roman" panose="02020603050405020304" pitchFamily="18" charset="0"/>
              </a:rPr>
              <a:t>print(</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[3])</a:t>
            </a:r>
          </a:p>
        </p:txBody>
      </p:sp>
    </p:spTree>
    <p:extLst>
      <p:ext uri="{BB962C8B-B14F-4D97-AF65-F5344CB8AC3E}">
        <p14:creationId xmlns:p14="http://schemas.microsoft.com/office/powerpoint/2010/main" val="21768480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36513" y="110777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Two-dimensional Array(2-D Array)</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1800493"/>
          </a:xfrm>
          <a:prstGeom prst="rect">
            <a:avLst/>
          </a:prstGeom>
        </p:spPr>
        <p:txBody>
          <a:bodyPr wrap="square">
            <a:spAutoFit/>
          </a:bodyPr>
          <a:lstStyle/>
          <a:p>
            <a:pPr marL="342900" lvl="0" indent="-342900" algn="just">
              <a:spcBef>
                <a:spcPts val="600"/>
              </a:spcBef>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Array of arrays</a:t>
            </a:r>
          </a:p>
          <a:p>
            <a:pPr marL="342900" lvl="0" indent="-342900" algn="just">
              <a:spcBef>
                <a:spcPts val="600"/>
              </a:spcBef>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Consists of rows and columns</a:t>
            </a:r>
          </a:p>
          <a:p>
            <a:pPr marL="342900" lvl="0" indent="-342900" algn="just">
              <a:spcBef>
                <a:spcPts val="600"/>
              </a:spcBef>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A 2-D array stores data in rows and columns</a:t>
            </a:r>
          </a:p>
          <a:p>
            <a:pPr marL="342900" lvl="0" indent="-342900" algn="just">
              <a:spcBef>
                <a:spcPts val="600"/>
              </a:spcBef>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Also called a matrix</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2" name="Picture 11"/>
          <p:cNvPicPr>
            <a:picLocks noChangeAspect="1"/>
          </p:cNvPicPr>
          <p:nvPr/>
        </p:nvPicPr>
        <p:blipFill>
          <a:blip r:embed="rId6"/>
          <a:srcRect l="23811" t="1665" r="24209" b="10291"/>
          <a:stretch>
            <a:fillRect/>
          </a:stretch>
        </p:blipFill>
        <p:spPr>
          <a:xfrm>
            <a:off x="5481550" y="2786480"/>
            <a:ext cx="3033659" cy="3018784"/>
          </a:xfrm>
          <a:prstGeom prst="rect">
            <a:avLst/>
          </a:prstGeom>
        </p:spPr>
      </p:pic>
      <p:sp>
        <p:nvSpPr>
          <p:cNvPr id="13" name="TextBox 12"/>
          <p:cNvSpPr txBox="1"/>
          <p:nvPr/>
        </p:nvSpPr>
        <p:spPr>
          <a:xfrm>
            <a:off x="467544" y="5805264"/>
            <a:ext cx="6264696"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Fig.8 (a):  Examples of Two-dimensional Array</a:t>
            </a:r>
          </a:p>
        </p:txBody>
      </p:sp>
      <p:pic>
        <p:nvPicPr>
          <p:cNvPr id="11" name="Picture 10"/>
          <p:cNvPicPr>
            <a:picLocks noChangeAspect="1"/>
          </p:cNvPicPr>
          <p:nvPr/>
        </p:nvPicPr>
        <p:blipFill>
          <a:blip r:embed="rId7"/>
          <a:stretch>
            <a:fillRect/>
          </a:stretch>
        </p:blipFill>
        <p:spPr>
          <a:xfrm>
            <a:off x="467544" y="2898670"/>
            <a:ext cx="4740561" cy="2436737"/>
          </a:xfrm>
          <a:prstGeom prst="rect">
            <a:avLst/>
          </a:prstGeom>
        </p:spPr>
      </p:pic>
    </p:spTree>
    <p:extLst>
      <p:ext uri="{BB962C8B-B14F-4D97-AF65-F5344CB8AC3E}">
        <p14:creationId xmlns:p14="http://schemas.microsoft.com/office/powerpoint/2010/main" val="21887433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2CE2E-F485-7535-0433-C7E92436491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B4A8B9A-2796-74D2-7AC2-BC850C2BCEF6}"/>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45C927A5-5537-7AE7-DDA2-EF2B58960785}"/>
              </a:ext>
            </a:extLst>
          </p:cNvPr>
          <p:cNvCxnSpPr/>
          <p:nvPr/>
        </p:nvCxnSpPr>
        <p:spPr>
          <a:xfrm>
            <a:off x="-36513"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02B310D-3F4D-3CFE-FFCC-BD619A87D13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814BD29-6AC3-ABB9-3757-54428698D437}"/>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3DD144B8-4B59-7B3E-CD3F-565F2141E7C8}"/>
              </a:ext>
            </a:extLst>
          </p:cNvPr>
          <p:cNvSpPr>
            <a:spLocks noChangeArrowheads="1"/>
          </p:cNvSpPr>
          <p:nvPr/>
        </p:nvSpPr>
        <p:spPr bwMode="auto">
          <a:xfrm>
            <a:off x="179512" y="330378"/>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2-D Array Memory Layout</a:t>
            </a:r>
          </a:p>
        </p:txBody>
      </p:sp>
      <p:sp>
        <p:nvSpPr>
          <p:cNvPr id="3" name="TextBox 2">
            <a:extLst>
              <a:ext uri="{FF2B5EF4-FFF2-40B4-BE49-F238E27FC236}">
                <a16:creationId xmlns:a16="http://schemas.microsoft.com/office/drawing/2014/main" id="{1F5A794A-9549-2B45-C46B-2104A72733E8}"/>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2B87EBB2-156E-B20E-B7E7-F818F83B700B}"/>
              </a:ext>
            </a:extLst>
          </p:cNvPr>
          <p:cNvSpPr/>
          <p:nvPr/>
        </p:nvSpPr>
        <p:spPr>
          <a:xfrm>
            <a:off x="123825" y="1308433"/>
            <a:ext cx="8784976" cy="5078313"/>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b="1" dirty="0">
                <a:highlight>
                  <a:srgbClr val="FFFFFF"/>
                </a:highlight>
                <a:latin typeface="Times New Roman" panose="02020603050405020304" pitchFamily="18" charset="0"/>
                <a:cs typeface="Times New Roman" panose="02020603050405020304" pitchFamily="18" charset="0"/>
              </a:rPr>
              <a:t>Rows and Columns</a:t>
            </a:r>
          </a:p>
          <a:p>
            <a:pPr marL="360363">
              <a:lnSpc>
                <a:spcPct val="150000"/>
              </a:lnSpc>
            </a:pPr>
            <a:r>
              <a:rPr lang="en-US" sz="2400" dirty="0">
                <a:highlight>
                  <a:srgbClr val="FFFFFF"/>
                </a:highlight>
                <a:latin typeface="Times New Roman" panose="02020603050405020304" pitchFamily="18" charset="0"/>
                <a:cs typeface="Times New Roman" panose="02020603050405020304" pitchFamily="18" charset="0"/>
              </a:rPr>
              <a:t>Rows → Horizontal</a:t>
            </a:r>
          </a:p>
          <a:p>
            <a:pPr marL="360363">
              <a:lnSpc>
                <a:spcPct val="150000"/>
              </a:lnSpc>
            </a:pPr>
            <a:r>
              <a:rPr lang="en-US" sz="2400" dirty="0">
                <a:highlight>
                  <a:srgbClr val="FFFFFF"/>
                </a:highlight>
                <a:latin typeface="Times New Roman" panose="02020603050405020304" pitchFamily="18" charset="0"/>
                <a:cs typeface="Times New Roman" panose="02020603050405020304" pitchFamily="18" charset="0"/>
              </a:rPr>
              <a:t>Columns → Vertical</a:t>
            </a:r>
          </a:p>
          <a:p>
            <a:pPr marL="342900" indent="-342900">
              <a:lnSpc>
                <a:spcPct val="150000"/>
              </a:lnSpc>
              <a:buFont typeface="Arial" panose="020B0604020202020204" pitchFamily="34" charset="0"/>
              <a:buChar char="•"/>
            </a:pPr>
            <a:r>
              <a:rPr lang="en-US" sz="2400" b="1" dirty="0">
                <a:highlight>
                  <a:srgbClr val="FFFFFF"/>
                </a:highlight>
                <a:latin typeface="Times New Roman" panose="02020603050405020304" pitchFamily="18" charset="0"/>
                <a:cs typeface="Times New Roman" panose="02020603050405020304" pitchFamily="18" charset="0"/>
              </a:rPr>
              <a:t>Index Format</a:t>
            </a:r>
          </a:p>
          <a:p>
            <a:pPr marL="360363">
              <a:lnSpc>
                <a:spcPct val="150000"/>
              </a:lnSpc>
            </a:pPr>
            <a:r>
              <a:rPr lang="en-US" sz="2400" dirty="0">
                <a:highlight>
                  <a:srgbClr val="FFFFFF"/>
                </a:highlight>
                <a:latin typeface="Times New Roman" panose="02020603050405020304" pitchFamily="18" charset="0"/>
                <a:cs typeface="Times New Roman" panose="02020603050405020304" pitchFamily="18" charset="0"/>
              </a:rPr>
              <a:t>array[row][column]</a:t>
            </a:r>
          </a:p>
          <a:p>
            <a:pPr marL="360363" indent="-360363">
              <a:lnSpc>
                <a:spcPct val="150000"/>
              </a:lnSpc>
              <a:buFont typeface="Arial" panose="020B0604020202020204" pitchFamily="34" charset="0"/>
              <a:buChar char="•"/>
            </a:pPr>
            <a:r>
              <a:rPr lang="en-US" sz="2400" b="1" dirty="0">
                <a:highlight>
                  <a:srgbClr val="FFFFFF"/>
                </a:highlight>
                <a:latin typeface="Times New Roman" panose="02020603050405020304" pitchFamily="18" charset="0"/>
                <a:cs typeface="Times New Roman" panose="02020603050405020304" pitchFamily="18" charset="0"/>
              </a:rPr>
              <a:t>Example:</a:t>
            </a:r>
          </a:p>
          <a:p>
            <a:pPr marL="360363">
              <a:lnSpc>
                <a:spcPct val="150000"/>
              </a:lnSpc>
            </a:pPr>
            <a:r>
              <a:rPr lang="en-US" sz="2400" dirty="0">
                <a:highlight>
                  <a:srgbClr val="FFFFFF"/>
                </a:highlight>
                <a:latin typeface="Times New Roman" panose="02020603050405020304" pitchFamily="18" charset="0"/>
                <a:cs typeface="Times New Roman" panose="02020603050405020304" pitchFamily="18" charset="0"/>
              </a:rPr>
              <a:t>matrix[1][2]</a:t>
            </a:r>
          </a:p>
          <a:p>
            <a:pPr marL="342900" lvl="0" indent="-342900" algn="just">
              <a:buFont typeface="Wingdings" panose="05000000000000000000" pitchFamily="2" charset="2"/>
              <a:buChar char="§"/>
              <a:defRPr/>
            </a:pPr>
            <a:endParaRPr lang="en-US" sz="2400" dirty="0">
              <a:solidFill>
                <a:srgbClr val="273239"/>
              </a:solidFill>
              <a:highlight>
                <a:srgbClr val="FFFFFF"/>
              </a:highlight>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
              <a:defRPr/>
            </a:pPr>
            <a:endParaRPr lang="en-US" sz="2400" dirty="0">
              <a:solidFill>
                <a:prstClr val="black"/>
              </a:solidFill>
              <a:latin typeface="Times New Roman" panose="02020603050405020304" pitchFamily="18" charset="0"/>
              <a:cs typeface="Times New Roman" panose="02020603050405020304" pitchFamily="18" charset="0"/>
            </a:endParaRPr>
          </a:p>
          <a:p>
            <a:pPr lvl="0" algn="ju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6D695D4E-BC2C-73D8-26DB-76272E919E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FB3C1598-88FE-3062-5A75-9D73F327E9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8" name="Picture 7">
            <a:extLst>
              <a:ext uri="{FF2B5EF4-FFF2-40B4-BE49-F238E27FC236}">
                <a16:creationId xmlns:a16="http://schemas.microsoft.com/office/drawing/2014/main" id="{8D5A5325-4DE6-7763-B722-75CC6255EDE9}"/>
              </a:ext>
            </a:extLst>
          </p:cNvPr>
          <p:cNvPicPr>
            <a:picLocks noChangeAspect="1"/>
          </p:cNvPicPr>
          <p:nvPr/>
        </p:nvPicPr>
        <p:blipFill>
          <a:blip r:embed="rId6"/>
          <a:srcRect l="23811" t="1665" r="24209" b="10291"/>
          <a:stretch>
            <a:fillRect/>
          </a:stretch>
        </p:blipFill>
        <p:spPr>
          <a:xfrm>
            <a:off x="4754357" y="1698513"/>
            <a:ext cx="3033659" cy="3018784"/>
          </a:xfrm>
          <a:prstGeom prst="rect">
            <a:avLst/>
          </a:prstGeom>
        </p:spPr>
      </p:pic>
      <p:sp>
        <p:nvSpPr>
          <p:cNvPr id="12" name="TextBox 11">
            <a:extLst>
              <a:ext uri="{FF2B5EF4-FFF2-40B4-BE49-F238E27FC236}">
                <a16:creationId xmlns:a16="http://schemas.microsoft.com/office/drawing/2014/main" id="{2F86DB04-D1B6-981F-C1D3-A8527AB63012}"/>
              </a:ext>
            </a:extLst>
          </p:cNvPr>
          <p:cNvSpPr txBox="1"/>
          <p:nvPr/>
        </p:nvSpPr>
        <p:spPr>
          <a:xfrm>
            <a:off x="3971332" y="4883581"/>
            <a:ext cx="4599708" cy="369332"/>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Fig.8 (b):  Example of Two-dimensional Array</a:t>
            </a:r>
          </a:p>
        </p:txBody>
      </p:sp>
    </p:spTree>
    <p:extLst>
      <p:ext uri="{BB962C8B-B14F-4D97-AF65-F5344CB8AC3E}">
        <p14:creationId xmlns:p14="http://schemas.microsoft.com/office/powerpoint/2010/main" val="26287996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6E44F72-4EF7-DE2F-24F7-FDC04B77B953}"/>
              </a:ext>
            </a:extLst>
          </p:cNvPr>
          <p:cNvPicPr>
            <a:picLocks noChangeAspect="1"/>
          </p:cNvPicPr>
          <p:nvPr/>
        </p:nvPicPr>
        <p:blipFill>
          <a:blip r:embed="rId3"/>
          <a:stretch>
            <a:fillRect/>
          </a:stretch>
        </p:blipFill>
        <p:spPr>
          <a:xfrm>
            <a:off x="0" y="6063"/>
            <a:ext cx="9144000" cy="6845873"/>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810" y="6348529"/>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88160" y="310044"/>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Worked Example – 2-D Array</a:t>
            </a: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TextBox 24">
            <a:extLst>
              <a:ext uri="{FF2B5EF4-FFF2-40B4-BE49-F238E27FC236}">
                <a16:creationId xmlns:a16="http://schemas.microsoft.com/office/drawing/2014/main" id="{92DAFF31-C190-E088-45BB-B06279E9FCD0}"/>
              </a:ext>
            </a:extLst>
          </p:cNvPr>
          <p:cNvSpPr txBox="1"/>
          <p:nvPr/>
        </p:nvSpPr>
        <p:spPr>
          <a:xfrm>
            <a:off x="445143" y="1480231"/>
            <a:ext cx="6257117" cy="4191981"/>
          </a:xfrm>
          <a:prstGeom prst="rect">
            <a:avLst/>
          </a:prstGeom>
          <a:noFill/>
        </p:spPr>
        <p:txBody>
          <a:bodyPr wrap="square">
            <a:spAutoFit/>
          </a:bodyPr>
          <a:lstStyle/>
          <a:p>
            <a:pPr>
              <a:lnSpc>
                <a:spcPct val="150000"/>
              </a:lnSpc>
            </a:pPr>
            <a:r>
              <a:rPr lang="fr-FR" sz="2000" dirty="0">
                <a:latin typeface="Times New Roman" panose="02020603050405020304" pitchFamily="18" charset="0"/>
                <a:cs typeface="Times New Roman" panose="02020603050405020304" pitchFamily="18" charset="0"/>
              </a:rPr>
              <a:t>matrix = [</a:t>
            </a:r>
          </a:p>
          <a:p>
            <a:pPr>
              <a:lnSpc>
                <a:spcPct val="150000"/>
              </a:lnSpc>
            </a:pPr>
            <a:r>
              <a:rPr lang="fr-FR" sz="2000" dirty="0">
                <a:latin typeface="Times New Roman" panose="02020603050405020304" pitchFamily="18" charset="0"/>
                <a:cs typeface="Times New Roman" panose="02020603050405020304" pitchFamily="18" charset="0"/>
              </a:rPr>
              <a:t>    [1, 2],</a:t>
            </a:r>
          </a:p>
          <a:p>
            <a:pPr>
              <a:lnSpc>
                <a:spcPct val="150000"/>
              </a:lnSpc>
            </a:pPr>
            <a:r>
              <a:rPr lang="fr-FR" sz="2000" dirty="0">
                <a:latin typeface="Times New Roman" panose="02020603050405020304" pitchFamily="18" charset="0"/>
                <a:cs typeface="Times New Roman" panose="02020603050405020304" pitchFamily="18" charset="0"/>
              </a:rPr>
              <a:t>    [3, 4]</a:t>
            </a:r>
          </a:p>
          <a:p>
            <a:pPr>
              <a:lnSpc>
                <a:spcPct val="150000"/>
              </a:lnSpc>
            </a:pPr>
            <a:r>
              <a:rPr lang="fr-FR" sz="2000" dirty="0">
                <a:latin typeface="Times New Roman" panose="02020603050405020304" pitchFamily="18" charset="0"/>
                <a:cs typeface="Times New Roman" panose="02020603050405020304" pitchFamily="18" charset="0"/>
              </a:rPr>
              <a:t>]</a:t>
            </a:r>
          </a:p>
          <a:p>
            <a:pPr>
              <a:lnSpc>
                <a:spcPct val="150000"/>
              </a:lnSpc>
            </a:pPr>
            <a:endParaRPr lang="fr-FR" sz="2000" dirty="0">
              <a:latin typeface="Times New Roman" panose="02020603050405020304" pitchFamily="18" charset="0"/>
              <a:cs typeface="Times New Roman" panose="02020603050405020304" pitchFamily="18" charset="0"/>
            </a:endParaRPr>
          </a:p>
          <a:p>
            <a:pPr>
              <a:lnSpc>
                <a:spcPct val="150000"/>
              </a:lnSpc>
            </a:pPr>
            <a:r>
              <a:rPr lang="en-US" sz="2000" b="1" i="1" dirty="0">
                <a:latin typeface="Times New Roman" panose="02020603050405020304" pitchFamily="18" charset="0"/>
                <a:cs typeface="Times New Roman" panose="02020603050405020304" pitchFamily="18" charset="0"/>
              </a:rPr>
              <a:t>#Traversal Using Loops</a:t>
            </a:r>
          </a:p>
          <a:p>
            <a:pPr>
              <a:lnSpc>
                <a:spcPct val="150000"/>
              </a:lnSpc>
            </a:pPr>
            <a:r>
              <a:rPr lang="en-US" sz="2000" dirty="0">
                <a:latin typeface="Times New Roman" panose="02020603050405020304" pitchFamily="18" charset="0"/>
                <a:cs typeface="Times New Roman" panose="02020603050405020304" pitchFamily="18" charset="0"/>
              </a:rPr>
              <a:t>for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in range(2):</a:t>
            </a:r>
          </a:p>
          <a:p>
            <a:pPr>
              <a:lnSpc>
                <a:spcPct val="150000"/>
              </a:lnSpc>
            </a:pPr>
            <a:r>
              <a:rPr lang="en-US" sz="2000" dirty="0">
                <a:latin typeface="Times New Roman" panose="02020603050405020304" pitchFamily="18" charset="0"/>
                <a:cs typeface="Times New Roman" panose="02020603050405020304" pitchFamily="18" charset="0"/>
              </a:rPr>
              <a:t>    for j in range(2):</a:t>
            </a:r>
          </a:p>
          <a:p>
            <a:pPr>
              <a:lnSpc>
                <a:spcPct val="150000"/>
              </a:lnSpc>
            </a:pPr>
            <a:r>
              <a:rPr lang="en-US" sz="2000" dirty="0">
                <a:latin typeface="Times New Roman" panose="02020603050405020304" pitchFamily="18" charset="0"/>
                <a:cs typeface="Times New Roman" panose="02020603050405020304" pitchFamily="18" charset="0"/>
              </a:rPr>
              <a:t>        print(matrix[</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][j])</a:t>
            </a:r>
          </a:p>
        </p:txBody>
      </p:sp>
      <p:sp>
        <p:nvSpPr>
          <p:cNvPr id="11" name="TextBox 10">
            <a:extLst>
              <a:ext uri="{FF2B5EF4-FFF2-40B4-BE49-F238E27FC236}">
                <a16:creationId xmlns:a16="http://schemas.microsoft.com/office/drawing/2014/main" id="{5220C47A-DABA-E8A3-D971-3F7C8A1C2A82}"/>
              </a:ext>
            </a:extLst>
          </p:cNvPr>
          <p:cNvSpPr txBox="1"/>
          <p:nvPr/>
        </p:nvSpPr>
        <p:spPr>
          <a:xfrm>
            <a:off x="5435904" y="3040510"/>
            <a:ext cx="2588332" cy="1061829"/>
          </a:xfrm>
          <a:prstGeom prst="rect">
            <a:avLst/>
          </a:prstGeom>
          <a:solidFill>
            <a:schemeClr val="accent6">
              <a:lumMod val="40000"/>
              <a:lumOff val="60000"/>
            </a:schemeClr>
          </a:solidFill>
        </p:spPr>
        <p:txBody>
          <a:bodyPr wrap="square">
            <a:spAutoFit/>
          </a:bodyPr>
          <a:lstStyle/>
          <a:p>
            <a:pPr>
              <a:lnSpc>
                <a:spcPct val="150000"/>
              </a:lnSpc>
            </a:pPr>
            <a:r>
              <a:rPr lang="en-US" b="1" dirty="0"/>
              <a:t>OUTPUT:</a:t>
            </a:r>
          </a:p>
          <a:p>
            <a:r>
              <a:rPr lang="en-US" dirty="0"/>
              <a:t>1 2</a:t>
            </a:r>
          </a:p>
          <a:p>
            <a:r>
              <a:rPr lang="en-US" dirty="0"/>
              <a:t>3 4</a:t>
            </a:r>
          </a:p>
        </p:txBody>
      </p:sp>
    </p:spTree>
    <p:extLst>
      <p:ext uri="{BB962C8B-B14F-4D97-AF65-F5344CB8AC3E}">
        <p14:creationId xmlns:p14="http://schemas.microsoft.com/office/powerpoint/2010/main" val="20752105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7F2EB-3744-01E3-11C3-112565CD568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50D1840-2125-A74A-716F-00753115DDAC}"/>
              </a:ext>
            </a:extLst>
          </p:cNvPr>
          <p:cNvPicPr>
            <a:picLocks noChangeAspect="1"/>
          </p:cNvPicPr>
          <p:nvPr/>
        </p:nvPicPr>
        <p:blipFill>
          <a:blip r:embed="rId3"/>
          <a:stretch>
            <a:fillRect/>
          </a:stretch>
        </p:blipFill>
        <p:spPr>
          <a:xfrm>
            <a:off x="0" y="6063"/>
            <a:ext cx="9144000" cy="6845873"/>
          </a:xfrm>
          <a:prstGeom prst="rect">
            <a:avLst/>
          </a:prstGeom>
        </p:spPr>
      </p:pic>
      <p:pic>
        <p:nvPicPr>
          <p:cNvPr id="9" name="Picture 8">
            <a:extLst>
              <a:ext uri="{FF2B5EF4-FFF2-40B4-BE49-F238E27FC236}">
                <a16:creationId xmlns:a16="http://schemas.microsoft.com/office/drawing/2014/main" id="{59F31535-9C91-67D6-D3EC-5CD1D5102C2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810" y="6348529"/>
            <a:ext cx="2411760" cy="346691"/>
          </a:xfrm>
          <a:prstGeom prst="rect">
            <a:avLst/>
          </a:prstGeom>
        </p:spPr>
      </p:pic>
      <p:sp>
        <p:nvSpPr>
          <p:cNvPr id="6" name="TextBox 5">
            <a:extLst>
              <a:ext uri="{FF2B5EF4-FFF2-40B4-BE49-F238E27FC236}">
                <a16:creationId xmlns:a16="http://schemas.microsoft.com/office/drawing/2014/main" id="{EECD07A1-15B4-2156-F87F-CF13C2B39AB7}"/>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371C10ED-A305-778A-A1CD-4907C0984A15}"/>
              </a:ext>
            </a:extLst>
          </p:cNvPr>
          <p:cNvSpPr>
            <a:spLocks noChangeArrowheads="1"/>
          </p:cNvSpPr>
          <p:nvPr/>
        </p:nvSpPr>
        <p:spPr bwMode="auto">
          <a:xfrm>
            <a:off x="188160" y="310044"/>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Worked Example – 2-D Array</a:t>
            </a:r>
          </a:p>
        </p:txBody>
      </p:sp>
      <p:pic>
        <p:nvPicPr>
          <p:cNvPr id="1026" name="Picture 2" descr="Ezoic">
            <a:extLst>
              <a:ext uri="{FF2B5EF4-FFF2-40B4-BE49-F238E27FC236}">
                <a16:creationId xmlns:a16="http://schemas.microsoft.com/office/drawing/2014/main" id="{AF682D04-4AF6-D520-AB61-715915E4E8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9025A57D-28B6-C06E-93B6-F7ABFE1FACF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TextBox 24">
            <a:extLst>
              <a:ext uri="{FF2B5EF4-FFF2-40B4-BE49-F238E27FC236}">
                <a16:creationId xmlns:a16="http://schemas.microsoft.com/office/drawing/2014/main" id="{21E9E890-F0DD-36E5-D34B-0D0E133B1CC3}"/>
              </a:ext>
            </a:extLst>
          </p:cNvPr>
          <p:cNvSpPr txBox="1"/>
          <p:nvPr/>
        </p:nvSpPr>
        <p:spPr>
          <a:xfrm>
            <a:off x="395535" y="1165778"/>
            <a:ext cx="4328059" cy="5035353"/>
          </a:xfrm>
          <a:prstGeom prst="rect">
            <a:avLst/>
          </a:prstGeom>
          <a:noFill/>
        </p:spPr>
        <p:txBody>
          <a:bodyPr wrap="square">
            <a:spAutoFit/>
          </a:bodyPr>
          <a:lstStyle/>
          <a:p>
            <a:pPr>
              <a:lnSpc>
                <a:spcPct val="150000"/>
              </a:lnSpc>
            </a:pPr>
            <a:r>
              <a:rPr lang="fr-FR" dirty="0">
                <a:latin typeface="Times New Roman" panose="02020603050405020304" pitchFamily="18" charset="0"/>
                <a:cs typeface="Times New Roman" panose="02020603050405020304" pitchFamily="18" charset="0"/>
              </a:rPr>
              <a:t>matrix = [</a:t>
            </a:r>
          </a:p>
          <a:p>
            <a:pPr>
              <a:lnSpc>
                <a:spcPct val="150000"/>
              </a:lnSpc>
            </a:pPr>
            <a:r>
              <a:rPr lang="fr-FR" dirty="0">
                <a:latin typeface="Times New Roman" panose="02020603050405020304" pitchFamily="18" charset="0"/>
                <a:cs typeface="Times New Roman" panose="02020603050405020304" pitchFamily="18" charset="0"/>
              </a:rPr>
              <a:t>    [1, 2],</a:t>
            </a:r>
          </a:p>
          <a:p>
            <a:pPr>
              <a:lnSpc>
                <a:spcPct val="150000"/>
              </a:lnSpc>
            </a:pPr>
            <a:r>
              <a:rPr lang="fr-FR" dirty="0">
                <a:latin typeface="Times New Roman" panose="02020603050405020304" pitchFamily="18" charset="0"/>
                <a:cs typeface="Times New Roman" panose="02020603050405020304" pitchFamily="18" charset="0"/>
              </a:rPr>
              <a:t>    [3, 4]</a:t>
            </a:r>
          </a:p>
          <a:p>
            <a:pPr>
              <a:lnSpc>
                <a:spcPct val="150000"/>
              </a:lnSpc>
            </a:pPr>
            <a:r>
              <a:rPr lang="fr-FR" dirty="0">
                <a:latin typeface="Times New Roman" panose="02020603050405020304" pitchFamily="18" charset="0"/>
                <a:cs typeface="Times New Roman" panose="02020603050405020304" pitchFamily="18" charset="0"/>
              </a:rPr>
              <a:t>]</a:t>
            </a:r>
          </a:p>
          <a:p>
            <a:pPr>
              <a:lnSpc>
                <a:spcPct val="150000"/>
              </a:lnSpc>
            </a:pPr>
            <a:r>
              <a:rPr lang="fr-FR" dirty="0">
                <a:latin typeface="Times New Roman" panose="02020603050405020304" pitchFamily="18" charset="0"/>
                <a:cs typeface="Times New Roman" panose="02020603050405020304" pitchFamily="18" charset="0"/>
              </a:rPr>
              <a:t>matrix1= [</a:t>
            </a:r>
          </a:p>
          <a:p>
            <a:pPr>
              <a:lnSpc>
                <a:spcPct val="150000"/>
              </a:lnSpc>
            </a:pPr>
            <a:r>
              <a:rPr lang="fr-FR" dirty="0">
                <a:latin typeface="Times New Roman" panose="02020603050405020304" pitchFamily="18" charset="0"/>
                <a:cs typeface="Times New Roman" panose="02020603050405020304" pitchFamily="18" charset="0"/>
              </a:rPr>
              <a:t>    [1, 2],</a:t>
            </a:r>
          </a:p>
          <a:p>
            <a:pPr>
              <a:lnSpc>
                <a:spcPct val="150000"/>
              </a:lnSpc>
            </a:pPr>
            <a:r>
              <a:rPr lang="fr-FR" dirty="0">
                <a:latin typeface="Times New Roman" panose="02020603050405020304" pitchFamily="18" charset="0"/>
                <a:cs typeface="Times New Roman" panose="02020603050405020304" pitchFamily="18" charset="0"/>
              </a:rPr>
              <a:t>    [3, 4]</a:t>
            </a:r>
          </a:p>
          <a:p>
            <a:pPr>
              <a:lnSpc>
                <a:spcPct val="150000"/>
              </a:lnSpc>
            </a:pPr>
            <a:r>
              <a:rPr lang="fr-FR" dirty="0">
                <a:latin typeface="Times New Roman" panose="02020603050405020304" pitchFamily="18" charset="0"/>
                <a:cs typeface="Times New Roman" panose="02020603050405020304" pitchFamily="18" charset="0"/>
              </a:rPr>
              <a:t>]</a:t>
            </a:r>
          </a:p>
          <a:p>
            <a:pPr>
              <a:lnSpc>
                <a:spcPct val="150000"/>
              </a:lnSpc>
            </a:pPr>
            <a:r>
              <a:rPr lang="fr-FR" b="1" dirty="0">
                <a:latin typeface="Times New Roman" panose="02020603050405020304" pitchFamily="18" charset="0"/>
                <a:cs typeface="Times New Roman" panose="02020603050405020304" pitchFamily="18" charset="0"/>
              </a:rPr>
              <a:t>#Sum of Matrix </a:t>
            </a:r>
            <a:r>
              <a:rPr lang="fr-FR" b="1" dirty="0" err="1">
                <a:latin typeface="Times New Roman" panose="02020603050405020304" pitchFamily="18" charset="0"/>
                <a:cs typeface="Times New Roman" panose="02020603050405020304" pitchFamily="18" charset="0"/>
              </a:rPr>
              <a:t>Using</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Loops</a:t>
            </a:r>
            <a:r>
              <a:rPr lang="fr-FR" b="1" dirty="0">
                <a:latin typeface="Times New Roman" panose="02020603050405020304" pitchFamily="18" charset="0"/>
                <a:cs typeface="Times New Roman" panose="02020603050405020304" pitchFamily="18" charset="0"/>
              </a:rPr>
              <a:t> </a:t>
            </a:r>
          </a:p>
          <a:p>
            <a:pPr>
              <a:lnSpc>
                <a:spcPct val="150000"/>
              </a:lnSpc>
            </a:pPr>
            <a:r>
              <a:rPr lang="fr-FR" dirty="0">
                <a:latin typeface="Times New Roman" panose="02020603050405020304" pitchFamily="18" charset="0"/>
                <a:cs typeface="Times New Roman" panose="02020603050405020304" pitchFamily="18" charset="0"/>
              </a:rPr>
              <a:t>for i in range(2): </a:t>
            </a:r>
          </a:p>
          <a:p>
            <a:pPr>
              <a:lnSpc>
                <a:spcPct val="150000"/>
              </a:lnSpc>
            </a:pPr>
            <a:r>
              <a:rPr lang="fr-FR" dirty="0">
                <a:latin typeface="Times New Roman" panose="02020603050405020304" pitchFamily="18" charset="0"/>
                <a:cs typeface="Times New Roman" panose="02020603050405020304" pitchFamily="18" charset="0"/>
              </a:rPr>
              <a:t>  for j in range(2): </a:t>
            </a:r>
          </a:p>
          <a:p>
            <a:pPr>
              <a:lnSpc>
                <a:spcPct val="150000"/>
              </a:lnSpc>
            </a:pP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print</a:t>
            </a:r>
            <a:r>
              <a:rPr lang="fr-FR" dirty="0">
                <a:latin typeface="Times New Roman" panose="02020603050405020304" pitchFamily="18" charset="0"/>
                <a:cs typeface="Times New Roman" panose="02020603050405020304" pitchFamily="18" charset="0"/>
              </a:rPr>
              <a:t>(matrix[i][j]+matrix1[i][j])</a:t>
            </a:r>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24BD057-398E-3E69-3D3C-C0FDA8D27DCA}"/>
              </a:ext>
            </a:extLst>
          </p:cNvPr>
          <p:cNvSpPr txBox="1"/>
          <p:nvPr/>
        </p:nvSpPr>
        <p:spPr>
          <a:xfrm>
            <a:off x="5639631" y="2492896"/>
            <a:ext cx="2588332" cy="1615827"/>
          </a:xfrm>
          <a:prstGeom prst="rect">
            <a:avLst/>
          </a:prstGeom>
          <a:solidFill>
            <a:schemeClr val="accent6">
              <a:lumMod val="40000"/>
              <a:lumOff val="60000"/>
            </a:schemeClr>
          </a:solidFill>
        </p:spPr>
        <p:txBody>
          <a:bodyPr wrap="square">
            <a:spAutoFit/>
          </a:bodyPr>
          <a:lstStyle/>
          <a:p>
            <a:pPr>
              <a:lnSpc>
                <a:spcPct val="150000"/>
              </a:lnSpc>
            </a:pPr>
            <a:r>
              <a:rPr lang="en-US" b="1" dirty="0"/>
              <a:t>OUTPUT:</a:t>
            </a:r>
          </a:p>
          <a:p>
            <a:r>
              <a:rPr lang="en-US" dirty="0"/>
              <a:t>2</a:t>
            </a:r>
          </a:p>
          <a:p>
            <a:r>
              <a:rPr lang="en-US" dirty="0"/>
              <a:t>4</a:t>
            </a:r>
          </a:p>
          <a:p>
            <a:r>
              <a:rPr lang="en-US" dirty="0"/>
              <a:t>6</a:t>
            </a:r>
          </a:p>
          <a:p>
            <a:r>
              <a:rPr lang="en-US" dirty="0"/>
              <a:t>8</a:t>
            </a:r>
            <a:endParaRPr lang="en-IN" dirty="0"/>
          </a:p>
        </p:txBody>
      </p:sp>
    </p:spTree>
    <p:extLst>
      <p:ext uri="{BB962C8B-B14F-4D97-AF65-F5344CB8AC3E}">
        <p14:creationId xmlns:p14="http://schemas.microsoft.com/office/powerpoint/2010/main" val="21332794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32445-AA77-C36A-D1FB-D19EE0C71E6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B91B060-052F-6A24-785E-934F395DF28F}"/>
              </a:ext>
            </a:extLst>
          </p:cNvPr>
          <p:cNvPicPr>
            <a:picLocks noChangeAspect="1"/>
          </p:cNvPicPr>
          <p:nvPr/>
        </p:nvPicPr>
        <p:blipFill>
          <a:blip r:embed="rId3"/>
          <a:stretch>
            <a:fillRect/>
          </a:stretch>
        </p:blipFill>
        <p:spPr>
          <a:xfrm>
            <a:off x="0" y="6063"/>
            <a:ext cx="9144000" cy="6845873"/>
          </a:xfrm>
          <a:prstGeom prst="rect">
            <a:avLst/>
          </a:prstGeom>
        </p:spPr>
      </p:pic>
      <p:pic>
        <p:nvPicPr>
          <p:cNvPr id="9" name="Picture 8">
            <a:extLst>
              <a:ext uri="{FF2B5EF4-FFF2-40B4-BE49-F238E27FC236}">
                <a16:creationId xmlns:a16="http://schemas.microsoft.com/office/drawing/2014/main" id="{E00E54FE-65B1-5560-0296-C74907CF86E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511" y="6356350"/>
            <a:ext cx="2411760" cy="346691"/>
          </a:xfrm>
          <a:prstGeom prst="rect">
            <a:avLst/>
          </a:prstGeom>
        </p:spPr>
      </p:pic>
      <p:sp>
        <p:nvSpPr>
          <p:cNvPr id="6" name="TextBox 5">
            <a:extLst>
              <a:ext uri="{FF2B5EF4-FFF2-40B4-BE49-F238E27FC236}">
                <a16:creationId xmlns:a16="http://schemas.microsoft.com/office/drawing/2014/main" id="{880F3BEC-F680-5EE7-3DCE-11D336339617}"/>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399A0D57-291E-3BC0-FBC0-DAAECFB54F8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Two-dimensional Array (2-D Array)</a:t>
            </a:r>
          </a:p>
        </p:txBody>
      </p:sp>
      <p:pic>
        <p:nvPicPr>
          <p:cNvPr id="1026" name="Picture 2" descr="Ezoic">
            <a:extLst>
              <a:ext uri="{FF2B5EF4-FFF2-40B4-BE49-F238E27FC236}">
                <a16:creationId xmlns:a16="http://schemas.microsoft.com/office/drawing/2014/main" id="{9609F6F4-FCE6-CD56-76F7-C8BE78A4B0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2D4B3FBE-6ADC-E3B5-447A-33891789B1B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TextBox 24">
            <a:extLst>
              <a:ext uri="{FF2B5EF4-FFF2-40B4-BE49-F238E27FC236}">
                <a16:creationId xmlns:a16="http://schemas.microsoft.com/office/drawing/2014/main" id="{283FCB56-5F85-7357-92C6-67729D8A5DEE}"/>
              </a:ext>
            </a:extLst>
          </p:cNvPr>
          <p:cNvSpPr txBox="1"/>
          <p:nvPr/>
        </p:nvSpPr>
        <p:spPr>
          <a:xfrm>
            <a:off x="250357" y="1239607"/>
            <a:ext cx="5040560" cy="5078313"/>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 Declare and initialize a 2D array (3x3 matrix)</a:t>
            </a:r>
          </a:p>
          <a:p>
            <a:r>
              <a:rPr lang="en-US" dirty="0">
                <a:latin typeface="Times New Roman" panose="02020603050405020304" pitchFamily="18" charset="0"/>
                <a:cs typeface="Times New Roman" panose="02020603050405020304" pitchFamily="18" charset="0"/>
              </a:rPr>
              <a:t>matrix = [</a:t>
            </a:r>
          </a:p>
          <a:p>
            <a:r>
              <a:rPr lang="en-US" dirty="0">
                <a:latin typeface="Times New Roman" panose="02020603050405020304" pitchFamily="18" charset="0"/>
                <a:cs typeface="Times New Roman" panose="02020603050405020304" pitchFamily="18" charset="0"/>
              </a:rPr>
              <a:t>    [1, 2, 3],</a:t>
            </a:r>
          </a:p>
          <a:p>
            <a:r>
              <a:rPr lang="en-US" dirty="0">
                <a:latin typeface="Times New Roman" panose="02020603050405020304" pitchFamily="18" charset="0"/>
                <a:cs typeface="Times New Roman" panose="02020603050405020304" pitchFamily="18" charset="0"/>
              </a:rPr>
              <a:t>    [4, 5, 6],</a:t>
            </a:r>
          </a:p>
          <a:p>
            <a:r>
              <a:rPr lang="en-US" dirty="0">
                <a:latin typeface="Times New Roman" panose="02020603050405020304" pitchFamily="18" charset="0"/>
                <a:cs typeface="Times New Roman" panose="02020603050405020304" pitchFamily="18" charset="0"/>
              </a:rPr>
              <a:t>    [7, 8, 9]</a:t>
            </a:r>
          </a:p>
          <a:p>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 Declare a 2D array to store the transpose</a:t>
            </a:r>
          </a:p>
          <a:p>
            <a:r>
              <a:rPr lang="en-US" dirty="0">
                <a:latin typeface="Times New Roman" panose="02020603050405020304" pitchFamily="18" charset="0"/>
                <a:cs typeface="Times New Roman" panose="02020603050405020304" pitchFamily="18" charset="0"/>
              </a:rPr>
              <a:t>transpose = [[0 for _ in range(3)] for _ in range(3)]</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Compute the transpose of the matrix</a:t>
            </a:r>
          </a:p>
          <a:p>
            <a:r>
              <a:rPr lang="en-US" dirty="0">
                <a:latin typeface="Times New Roman" panose="02020603050405020304" pitchFamily="18" charset="0"/>
                <a:cs typeface="Times New Roman" panose="02020603050405020304" pitchFamily="18" charset="0"/>
              </a:rPr>
              <a:t>for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in range(3):</a:t>
            </a:r>
          </a:p>
          <a:p>
            <a:r>
              <a:rPr lang="en-US" dirty="0">
                <a:latin typeface="Times New Roman" panose="02020603050405020304" pitchFamily="18" charset="0"/>
                <a:cs typeface="Times New Roman" panose="02020603050405020304" pitchFamily="18" charset="0"/>
              </a:rPr>
              <a:t>    for j in range(3):</a:t>
            </a:r>
          </a:p>
          <a:p>
            <a:r>
              <a:rPr lang="en-US" dirty="0">
                <a:latin typeface="Times New Roman" panose="02020603050405020304" pitchFamily="18" charset="0"/>
                <a:cs typeface="Times New Roman" panose="02020603050405020304" pitchFamily="18" charset="0"/>
              </a:rPr>
              <a:t>        transpose[j][</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 matrix[</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][j]</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Print the transpose matrix</a:t>
            </a:r>
          </a:p>
          <a:p>
            <a:r>
              <a:rPr lang="en-US" dirty="0">
                <a:latin typeface="Times New Roman" panose="02020603050405020304" pitchFamily="18" charset="0"/>
                <a:cs typeface="Times New Roman" panose="02020603050405020304" pitchFamily="18" charset="0"/>
              </a:rPr>
              <a:t>print("Transpose of the matrix:")</a:t>
            </a:r>
          </a:p>
          <a:p>
            <a:r>
              <a:rPr lang="en-US" dirty="0">
                <a:latin typeface="Times New Roman" panose="02020603050405020304" pitchFamily="18" charset="0"/>
                <a:cs typeface="Times New Roman" panose="02020603050405020304" pitchFamily="18" charset="0"/>
              </a:rPr>
              <a:t>for row in transpose:</a:t>
            </a:r>
          </a:p>
          <a:p>
            <a:r>
              <a:rPr lang="en-US" dirty="0">
                <a:latin typeface="Times New Roman" panose="02020603050405020304" pitchFamily="18" charset="0"/>
                <a:cs typeface="Times New Roman" panose="02020603050405020304" pitchFamily="18" charset="0"/>
              </a:rPr>
              <a:t>    print(row)</a:t>
            </a:r>
          </a:p>
        </p:txBody>
      </p:sp>
      <p:sp>
        <p:nvSpPr>
          <p:cNvPr id="5" name="TextBox 4">
            <a:extLst>
              <a:ext uri="{FF2B5EF4-FFF2-40B4-BE49-F238E27FC236}">
                <a16:creationId xmlns:a16="http://schemas.microsoft.com/office/drawing/2014/main" id="{35A6DDC9-9F96-027C-FF9F-18CC4B28AA0A}"/>
              </a:ext>
            </a:extLst>
          </p:cNvPr>
          <p:cNvSpPr txBox="1"/>
          <p:nvPr/>
        </p:nvSpPr>
        <p:spPr>
          <a:xfrm>
            <a:off x="5879249" y="2970701"/>
            <a:ext cx="2588332" cy="1711366"/>
          </a:xfrm>
          <a:prstGeom prst="rect">
            <a:avLst/>
          </a:prstGeom>
          <a:solidFill>
            <a:schemeClr val="accent6">
              <a:lumMod val="40000"/>
              <a:lumOff val="60000"/>
            </a:schemeClr>
          </a:solidFill>
        </p:spPr>
        <p:txBody>
          <a:bodyPr wrap="square">
            <a:spAutoFit/>
          </a:bodyPr>
          <a:lstStyle/>
          <a:p>
            <a:pPr>
              <a:lnSpc>
                <a:spcPct val="150000"/>
              </a:lnSpc>
            </a:pPr>
            <a:r>
              <a:rPr lang="en-IN" b="1" dirty="0">
                <a:latin typeface="Times New Roman" panose="02020603050405020304" pitchFamily="18" charset="0"/>
                <a:cs typeface="Times New Roman" panose="02020603050405020304" pitchFamily="18" charset="0"/>
              </a:rPr>
              <a:t>Transpose of the matrix:</a:t>
            </a:r>
          </a:p>
          <a:p>
            <a:pPr>
              <a:lnSpc>
                <a:spcPct val="150000"/>
              </a:lnSpc>
            </a:pPr>
            <a:r>
              <a:rPr lang="en-IN" dirty="0">
                <a:latin typeface="Times New Roman" panose="02020603050405020304" pitchFamily="18" charset="0"/>
                <a:cs typeface="Times New Roman" panose="02020603050405020304" pitchFamily="18" charset="0"/>
              </a:rPr>
              <a:t>[1, 4, 7]</a:t>
            </a:r>
          </a:p>
          <a:p>
            <a:pPr>
              <a:lnSpc>
                <a:spcPct val="150000"/>
              </a:lnSpc>
            </a:pPr>
            <a:r>
              <a:rPr lang="en-IN" dirty="0">
                <a:latin typeface="Times New Roman" panose="02020603050405020304" pitchFamily="18" charset="0"/>
                <a:cs typeface="Times New Roman" panose="02020603050405020304" pitchFamily="18" charset="0"/>
              </a:rPr>
              <a:t>[2, 5, 8]</a:t>
            </a:r>
          </a:p>
          <a:p>
            <a:pPr>
              <a:lnSpc>
                <a:spcPct val="150000"/>
              </a:lnSpc>
            </a:pPr>
            <a:r>
              <a:rPr lang="en-IN" dirty="0">
                <a:latin typeface="Times New Roman" panose="02020603050405020304" pitchFamily="18" charset="0"/>
                <a:cs typeface="Times New Roman" panose="02020603050405020304" pitchFamily="18" charset="0"/>
              </a:rPr>
              <a:t>[3, 6, 9]</a:t>
            </a:r>
          </a:p>
        </p:txBody>
      </p:sp>
    </p:spTree>
    <p:extLst>
      <p:ext uri="{BB962C8B-B14F-4D97-AF65-F5344CB8AC3E}">
        <p14:creationId xmlns:p14="http://schemas.microsoft.com/office/powerpoint/2010/main" val="55264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B1875-FCB0-2FB9-A39A-BD873B00B5A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00E45BB-E05C-A4E8-2B23-E500226D74C2}"/>
              </a:ext>
            </a:extLst>
          </p:cNvPr>
          <p:cNvPicPr>
            <a:picLocks noChangeAspect="1"/>
          </p:cNvPicPr>
          <p:nvPr/>
        </p:nvPicPr>
        <p:blipFill>
          <a:blip r:embed="rId3"/>
          <a:stretch>
            <a:fillRect/>
          </a:stretch>
        </p:blipFill>
        <p:spPr>
          <a:xfrm>
            <a:off x="0" y="6063"/>
            <a:ext cx="9144000" cy="6845873"/>
          </a:xfrm>
          <a:prstGeom prst="rect">
            <a:avLst/>
          </a:prstGeom>
        </p:spPr>
      </p:pic>
      <p:pic>
        <p:nvPicPr>
          <p:cNvPr id="9" name="Picture 8">
            <a:extLst>
              <a:ext uri="{FF2B5EF4-FFF2-40B4-BE49-F238E27FC236}">
                <a16:creationId xmlns:a16="http://schemas.microsoft.com/office/drawing/2014/main" id="{00644F8D-C733-E65C-F733-D326765CDED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079" y="6372186"/>
            <a:ext cx="2411760" cy="346691"/>
          </a:xfrm>
          <a:prstGeom prst="rect">
            <a:avLst/>
          </a:prstGeom>
        </p:spPr>
      </p:pic>
      <p:sp>
        <p:nvSpPr>
          <p:cNvPr id="6" name="TextBox 5">
            <a:extLst>
              <a:ext uri="{FF2B5EF4-FFF2-40B4-BE49-F238E27FC236}">
                <a16:creationId xmlns:a16="http://schemas.microsoft.com/office/drawing/2014/main" id="{957C76DE-99F4-0160-83E8-368CD53DD8A9}"/>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92998538-0A41-5F37-C02A-A0408E28F005}"/>
              </a:ext>
            </a:extLst>
          </p:cNvPr>
          <p:cNvSpPr>
            <a:spLocks noChangeArrowheads="1"/>
          </p:cNvSpPr>
          <p:nvPr/>
        </p:nvSpPr>
        <p:spPr bwMode="auto">
          <a:xfrm>
            <a:off x="233264" y="27130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Quick Check</a:t>
            </a:r>
          </a:p>
        </p:txBody>
      </p:sp>
      <p:pic>
        <p:nvPicPr>
          <p:cNvPr id="1026" name="Picture 2" descr="Ezoic">
            <a:extLst>
              <a:ext uri="{FF2B5EF4-FFF2-40B4-BE49-F238E27FC236}">
                <a16:creationId xmlns:a16="http://schemas.microsoft.com/office/drawing/2014/main" id="{688C3E45-56ED-9ED7-E0A8-BA7BF542CA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BDA56B02-50F6-BD4B-FBE1-1106E7D8F46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TextBox 24">
            <a:extLst>
              <a:ext uri="{FF2B5EF4-FFF2-40B4-BE49-F238E27FC236}">
                <a16:creationId xmlns:a16="http://schemas.microsoft.com/office/drawing/2014/main" id="{C352FD8D-CE9E-4D7C-C5F0-1567A0BAA5AA}"/>
              </a:ext>
            </a:extLst>
          </p:cNvPr>
          <p:cNvSpPr txBox="1"/>
          <p:nvPr/>
        </p:nvSpPr>
        <p:spPr>
          <a:xfrm>
            <a:off x="180806" y="1274438"/>
            <a:ext cx="8639665" cy="3165290"/>
          </a:xfrm>
          <a:prstGeom prst="rect">
            <a:avLst/>
          </a:prstGeom>
          <a:noFill/>
        </p:spPr>
        <p:txBody>
          <a:bodyPr wrap="square">
            <a:spAutoFit/>
          </a:bodyPr>
          <a:lstStyle/>
          <a:p>
            <a:pPr>
              <a:lnSpc>
                <a:spcPct val="150000"/>
              </a:lnSpc>
            </a:pPr>
            <a:r>
              <a:rPr lang="en-US" sz="2400" dirty="0">
                <a:latin typeface="Times New Roman" panose="02020603050405020304" pitchFamily="18" charset="0"/>
                <a:cs typeface="Times New Roman" panose="02020603050405020304" pitchFamily="18" charset="0"/>
              </a:rPr>
              <a:t>Q. Trace the Matrix</a:t>
            </a:r>
          </a:p>
          <a:p>
            <a:pPr algn="ctr"/>
            <a:r>
              <a:rPr lang="en-US" sz="2400" dirty="0">
                <a:latin typeface="Times New Roman" panose="02020603050405020304" pitchFamily="18" charset="0"/>
                <a:cs typeface="Times New Roman" panose="02020603050405020304" pitchFamily="18" charset="0"/>
              </a:rPr>
              <a:t>5  6</a:t>
            </a:r>
          </a:p>
          <a:p>
            <a:pPr algn="ctr">
              <a:lnSpc>
                <a:spcPct val="150000"/>
              </a:lnSpc>
            </a:pPr>
            <a:r>
              <a:rPr lang="en-US" sz="2400" dirty="0">
                <a:latin typeface="Times New Roman" panose="02020603050405020304" pitchFamily="18" charset="0"/>
                <a:cs typeface="Times New Roman" panose="02020603050405020304" pitchFamily="18" charset="0"/>
              </a:rPr>
              <a:t>7  8</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is the value at matrix[1][0]?</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is the value at matrix[0][1]?</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is the value at matrix[1][2]?</a:t>
            </a:r>
          </a:p>
        </p:txBody>
      </p:sp>
    </p:spTree>
    <p:extLst>
      <p:ext uri="{BB962C8B-B14F-4D97-AF65-F5344CB8AC3E}">
        <p14:creationId xmlns:p14="http://schemas.microsoft.com/office/powerpoint/2010/main" val="5965638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FE68F-9927-A85F-6BC5-2C238F05A013}"/>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7C6C909-7C3B-3841-27B1-4F346235D680}"/>
              </a:ext>
            </a:extLst>
          </p:cNvPr>
          <p:cNvPicPr>
            <a:picLocks noChangeAspect="1"/>
          </p:cNvPicPr>
          <p:nvPr/>
        </p:nvPicPr>
        <p:blipFill>
          <a:blip r:embed="rId3"/>
          <a:stretch>
            <a:fillRect/>
          </a:stretch>
        </p:blipFill>
        <p:spPr>
          <a:xfrm>
            <a:off x="0" y="6063"/>
            <a:ext cx="9144000" cy="6845873"/>
          </a:xfrm>
          <a:prstGeom prst="rect">
            <a:avLst/>
          </a:prstGeom>
        </p:spPr>
      </p:pic>
      <p:pic>
        <p:nvPicPr>
          <p:cNvPr id="9" name="Picture 8">
            <a:extLst>
              <a:ext uri="{FF2B5EF4-FFF2-40B4-BE49-F238E27FC236}">
                <a16:creationId xmlns:a16="http://schemas.microsoft.com/office/drawing/2014/main" id="{284A19F5-3FD4-BBE9-37FF-066BFE4AA72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356350"/>
            <a:ext cx="2411760" cy="346691"/>
          </a:xfrm>
          <a:prstGeom prst="rect">
            <a:avLst/>
          </a:prstGeom>
        </p:spPr>
      </p:pic>
      <p:sp>
        <p:nvSpPr>
          <p:cNvPr id="6" name="TextBox 5">
            <a:extLst>
              <a:ext uri="{FF2B5EF4-FFF2-40B4-BE49-F238E27FC236}">
                <a16:creationId xmlns:a16="http://schemas.microsoft.com/office/drawing/2014/main" id="{897E32C2-30DA-09EC-6667-CACE23592864}"/>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1B64CE3F-8D81-E958-0971-E6403A9BCA17}"/>
              </a:ext>
            </a:extLst>
          </p:cNvPr>
          <p:cNvSpPr>
            <a:spLocks noChangeArrowheads="1"/>
          </p:cNvSpPr>
          <p:nvPr/>
        </p:nvSpPr>
        <p:spPr bwMode="auto">
          <a:xfrm>
            <a:off x="233264" y="345826"/>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Practice Questions</a:t>
            </a:r>
          </a:p>
        </p:txBody>
      </p:sp>
      <p:pic>
        <p:nvPicPr>
          <p:cNvPr id="1026" name="Picture 2" descr="Ezoic">
            <a:extLst>
              <a:ext uri="{FF2B5EF4-FFF2-40B4-BE49-F238E27FC236}">
                <a16:creationId xmlns:a16="http://schemas.microsoft.com/office/drawing/2014/main" id="{547D6B3B-2F0E-D6D9-D092-A86FD27D26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F7CA2B16-50FC-CAD1-CBB4-F5CB4EA521B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TextBox 24">
            <a:extLst>
              <a:ext uri="{FF2B5EF4-FFF2-40B4-BE49-F238E27FC236}">
                <a16:creationId xmlns:a16="http://schemas.microsoft.com/office/drawing/2014/main" id="{2AB3BFA1-736F-F5D6-E92B-8ABA3E60F877}"/>
              </a:ext>
            </a:extLst>
          </p:cNvPr>
          <p:cNvSpPr txBox="1"/>
          <p:nvPr/>
        </p:nvSpPr>
        <p:spPr>
          <a:xfrm>
            <a:off x="180806" y="1274438"/>
            <a:ext cx="8639665" cy="2793842"/>
          </a:xfrm>
          <a:prstGeom prst="rect">
            <a:avLst/>
          </a:prstGeom>
          <a:noFill/>
        </p:spPr>
        <p:txBody>
          <a:bodyPr wrap="square">
            <a:spAutoFit/>
          </a:bodyPr>
          <a:lstStyle/>
          <a:p>
            <a:pPr marL="268288" lvl="0" indent="-268288"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Write a program to:</a:t>
            </a:r>
          </a:p>
          <a:p>
            <a:pPr marL="720725" lvl="0" indent="-452438" eaLnBrk="0" fontAlgn="base" hangingPunct="0">
              <a:lnSpc>
                <a:spcPct val="150000"/>
              </a:lnSpc>
              <a:spcBef>
                <a:spcPct val="0"/>
              </a:spcBef>
              <a:spcAft>
                <a:spcPct val="0"/>
              </a:spcAft>
              <a:buFont typeface="Wingdings" panose="05000000000000000000" pitchFamily="2" charset="2"/>
              <a:buChar char="q"/>
            </a:pPr>
            <a:r>
              <a:rPr lang="en-US" altLang="en-US" sz="2400" dirty="0">
                <a:latin typeface="Times New Roman" panose="02020603050405020304" pitchFamily="18" charset="0"/>
                <a:cs typeface="Times New Roman" panose="02020603050405020304" pitchFamily="18" charset="0"/>
              </a:rPr>
              <a:t>Store 5 elements in a 1-D array</a:t>
            </a:r>
          </a:p>
          <a:p>
            <a:pPr marL="720725" lvl="0" indent="-452438" eaLnBrk="0" fontAlgn="base" hangingPunct="0">
              <a:lnSpc>
                <a:spcPct val="150000"/>
              </a:lnSpc>
              <a:spcBef>
                <a:spcPct val="0"/>
              </a:spcBef>
              <a:spcAft>
                <a:spcPct val="0"/>
              </a:spcAft>
              <a:buFont typeface="Wingdings" panose="05000000000000000000" pitchFamily="2" charset="2"/>
              <a:buChar char="q"/>
            </a:pPr>
            <a:r>
              <a:rPr lang="en-US" altLang="en-US" sz="2400" dirty="0">
                <a:latin typeface="Times New Roman" panose="02020603050405020304" pitchFamily="18" charset="0"/>
                <a:cs typeface="Times New Roman" panose="02020603050405020304" pitchFamily="18" charset="0"/>
              </a:rPr>
              <a:t>Find their sum</a:t>
            </a:r>
          </a:p>
          <a:p>
            <a:pPr marL="268288" lvl="0" indent="-268288"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Write a program to:</a:t>
            </a:r>
          </a:p>
          <a:p>
            <a:pPr marL="720725" lvl="0" indent="-452438" eaLnBrk="0" fontAlgn="base" hangingPunct="0">
              <a:lnSpc>
                <a:spcPct val="150000"/>
              </a:lnSpc>
              <a:spcBef>
                <a:spcPct val="0"/>
              </a:spcBef>
              <a:spcAft>
                <a:spcPct val="0"/>
              </a:spcAft>
              <a:buFont typeface="Wingdings" panose="05000000000000000000" pitchFamily="2" charset="2"/>
              <a:buChar char="q"/>
            </a:pPr>
            <a:r>
              <a:rPr lang="en-US" altLang="en-US" sz="2400" dirty="0">
                <a:latin typeface="Times New Roman" panose="02020603050405020304" pitchFamily="18" charset="0"/>
                <a:cs typeface="Times New Roman" panose="02020603050405020304" pitchFamily="18" charset="0"/>
              </a:rPr>
              <a:t>Add all elements of a 2-D array</a:t>
            </a:r>
          </a:p>
        </p:txBody>
      </p:sp>
    </p:spTree>
    <p:extLst>
      <p:ext uri="{BB962C8B-B14F-4D97-AF65-F5344CB8AC3E}">
        <p14:creationId xmlns:p14="http://schemas.microsoft.com/office/powerpoint/2010/main" val="30706103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17280-545F-53FC-FEDC-0BE76F235BA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BBCE939-4E7B-EDE0-D803-4AE36155815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3B910BBD-2B63-8046-4356-519B5A64B208}"/>
              </a:ext>
            </a:extLst>
          </p:cNvPr>
          <p:cNvCxnSpPr/>
          <p:nvPr/>
        </p:nvCxnSpPr>
        <p:spPr>
          <a:xfrm>
            <a:off x="-18257" y="1098330"/>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9C0E593-B27C-BAEB-0F23-5FE316E167B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D943039-6B46-955E-1AE0-EF9B1F5A1FA6}"/>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AA24B31-EBCD-F328-F14A-EC22756F8B72}"/>
              </a:ext>
            </a:extLst>
          </p:cNvPr>
          <p:cNvSpPr>
            <a:spLocks noChangeArrowheads="1"/>
          </p:cNvSpPr>
          <p:nvPr/>
        </p:nvSpPr>
        <p:spPr bwMode="auto">
          <a:xfrm>
            <a:off x="179512" y="356119"/>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Key Takeaways (Summary)</a:t>
            </a:r>
          </a:p>
        </p:txBody>
      </p:sp>
      <p:sp>
        <p:nvSpPr>
          <p:cNvPr id="3" name="TextBox 2">
            <a:extLst>
              <a:ext uri="{FF2B5EF4-FFF2-40B4-BE49-F238E27FC236}">
                <a16:creationId xmlns:a16="http://schemas.microsoft.com/office/drawing/2014/main" id="{93A9DD31-51F5-A06E-E099-7EB66509B178}"/>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63135ABA-1B0E-88B9-43AE-33429CFC1137}"/>
              </a:ext>
            </a:extLst>
          </p:cNvPr>
          <p:cNvSpPr/>
          <p:nvPr/>
        </p:nvSpPr>
        <p:spPr>
          <a:xfrm>
            <a:off x="282545" y="1399824"/>
            <a:ext cx="8784976" cy="3673121"/>
          </a:xfrm>
          <a:prstGeom prst="rect">
            <a:avLst/>
          </a:prstGeom>
        </p:spPr>
        <p:txBody>
          <a:bodyPr wrap="square">
            <a:spAutoFit/>
          </a:bodyPr>
          <a:lstStyle/>
          <a:p>
            <a:pPr marL="176213" lvl="0" indent="-176213" eaLnBrk="0" fontAlgn="base" hangingPunct="0">
              <a:lnSpc>
                <a:spcPct val="200000"/>
              </a:lnSpc>
              <a:spcBef>
                <a:spcPct val="0"/>
              </a:spcBef>
              <a:spcAft>
                <a:spcPct val="0"/>
              </a:spcAft>
              <a:buFontTx/>
              <a:buChar char="•"/>
            </a:pPr>
            <a:r>
              <a:rPr lang="en-US" altLang="en-US" sz="2400" dirty="0">
                <a:highlight>
                  <a:srgbClr val="FFFFFF"/>
                </a:highlight>
                <a:latin typeface="Times New Roman" panose="02020603050405020304" pitchFamily="18" charset="0"/>
                <a:cs typeface="Times New Roman" panose="02020603050405020304" pitchFamily="18" charset="0"/>
              </a:rPr>
              <a:t>1-D arrays store data in a </a:t>
            </a:r>
            <a:r>
              <a:rPr lang="en-US" altLang="en-US" sz="2400" b="1" dirty="0">
                <a:highlight>
                  <a:srgbClr val="FFFFFF"/>
                </a:highlight>
                <a:latin typeface="Times New Roman" panose="02020603050405020304" pitchFamily="18" charset="0"/>
                <a:cs typeface="Times New Roman" panose="02020603050405020304" pitchFamily="18" charset="0"/>
              </a:rPr>
              <a:t>single line</a:t>
            </a:r>
            <a:endParaRPr lang="en-US" altLang="en-US" sz="2400" dirty="0">
              <a:highlight>
                <a:srgbClr val="FFFFFF"/>
              </a:highlight>
              <a:latin typeface="Times New Roman" panose="02020603050405020304" pitchFamily="18" charset="0"/>
              <a:cs typeface="Times New Roman" panose="02020603050405020304" pitchFamily="18" charset="0"/>
            </a:endParaRPr>
          </a:p>
          <a:p>
            <a:pPr marL="176213" lvl="0" indent="-176213" eaLnBrk="0" fontAlgn="base" hangingPunct="0">
              <a:lnSpc>
                <a:spcPct val="200000"/>
              </a:lnSpc>
              <a:spcBef>
                <a:spcPct val="0"/>
              </a:spcBef>
              <a:spcAft>
                <a:spcPct val="0"/>
              </a:spcAft>
              <a:buFontTx/>
              <a:buChar char="•"/>
            </a:pPr>
            <a:r>
              <a:rPr lang="en-US" altLang="en-US" sz="2400" dirty="0">
                <a:highlight>
                  <a:srgbClr val="FFFFFF"/>
                </a:highlight>
                <a:latin typeface="Times New Roman" panose="02020603050405020304" pitchFamily="18" charset="0"/>
                <a:cs typeface="Times New Roman" panose="02020603050405020304" pitchFamily="18" charset="0"/>
              </a:rPr>
              <a:t>2-D arrays store data in </a:t>
            </a:r>
            <a:r>
              <a:rPr lang="en-US" altLang="en-US" sz="2400" b="1" dirty="0">
                <a:highlight>
                  <a:srgbClr val="FFFFFF"/>
                </a:highlight>
                <a:latin typeface="Times New Roman" panose="02020603050405020304" pitchFamily="18" charset="0"/>
                <a:cs typeface="Times New Roman" panose="02020603050405020304" pitchFamily="18" charset="0"/>
              </a:rPr>
              <a:t>rows and columns</a:t>
            </a:r>
            <a:endParaRPr lang="en-US" altLang="en-US" sz="2400" dirty="0">
              <a:highlight>
                <a:srgbClr val="FFFFFF"/>
              </a:highlight>
              <a:latin typeface="Times New Roman" panose="02020603050405020304" pitchFamily="18" charset="0"/>
              <a:cs typeface="Times New Roman" panose="02020603050405020304" pitchFamily="18" charset="0"/>
            </a:endParaRPr>
          </a:p>
          <a:p>
            <a:pPr marL="176213" lvl="0" indent="-176213" eaLnBrk="0" fontAlgn="base" hangingPunct="0">
              <a:lnSpc>
                <a:spcPct val="200000"/>
              </a:lnSpc>
              <a:spcBef>
                <a:spcPct val="0"/>
              </a:spcBef>
              <a:spcAft>
                <a:spcPct val="0"/>
              </a:spcAft>
              <a:buFontTx/>
              <a:buChar char="•"/>
            </a:pPr>
            <a:r>
              <a:rPr lang="en-US" altLang="en-US" sz="2400" dirty="0">
                <a:highlight>
                  <a:srgbClr val="FFFFFF"/>
                </a:highlight>
                <a:latin typeface="Times New Roman" panose="02020603050405020304" pitchFamily="18" charset="0"/>
                <a:cs typeface="Times New Roman" panose="02020603050405020304" pitchFamily="18" charset="0"/>
              </a:rPr>
              <a:t>Indexing usually starts from </a:t>
            </a:r>
            <a:r>
              <a:rPr lang="en-US" altLang="en-US" sz="2400" b="1" dirty="0">
                <a:highlight>
                  <a:srgbClr val="FFFFFF"/>
                </a:highlight>
                <a:latin typeface="Times New Roman" panose="02020603050405020304" pitchFamily="18" charset="0"/>
                <a:cs typeface="Times New Roman" panose="02020603050405020304" pitchFamily="18" charset="0"/>
              </a:rPr>
              <a:t>0</a:t>
            </a:r>
            <a:endParaRPr lang="en-US" altLang="en-US" sz="2400" dirty="0">
              <a:highlight>
                <a:srgbClr val="FFFFFF"/>
              </a:highlight>
              <a:latin typeface="Times New Roman" panose="02020603050405020304" pitchFamily="18" charset="0"/>
              <a:cs typeface="Times New Roman" panose="02020603050405020304" pitchFamily="18" charset="0"/>
            </a:endParaRPr>
          </a:p>
          <a:p>
            <a:pPr marL="176213" lvl="0" indent="-176213" eaLnBrk="0" fontAlgn="base" hangingPunct="0">
              <a:lnSpc>
                <a:spcPct val="200000"/>
              </a:lnSpc>
              <a:spcBef>
                <a:spcPct val="0"/>
              </a:spcBef>
              <a:spcAft>
                <a:spcPct val="0"/>
              </a:spcAft>
              <a:buFontTx/>
              <a:buChar char="•"/>
            </a:pPr>
            <a:r>
              <a:rPr lang="en-US" altLang="en-US" sz="2400" dirty="0">
                <a:highlight>
                  <a:srgbClr val="FFFFFF"/>
                </a:highlight>
                <a:latin typeface="Times New Roman" panose="02020603050405020304" pitchFamily="18" charset="0"/>
                <a:cs typeface="Times New Roman" panose="02020603050405020304" pitchFamily="18" charset="0"/>
              </a:rPr>
              <a:t>Correct indexing avoids </a:t>
            </a:r>
            <a:r>
              <a:rPr lang="en-US" altLang="en-US" sz="2400" b="1" dirty="0">
                <a:highlight>
                  <a:srgbClr val="FFFFFF"/>
                </a:highlight>
                <a:latin typeface="Times New Roman" panose="02020603050405020304" pitchFamily="18" charset="0"/>
                <a:cs typeface="Times New Roman" panose="02020603050405020304" pitchFamily="18" charset="0"/>
              </a:rPr>
              <a:t>errors</a:t>
            </a:r>
            <a:endParaRPr lang="en-US" altLang="en-US" sz="2400" dirty="0">
              <a:highlight>
                <a:srgbClr val="FFFFFF"/>
              </a:highlight>
              <a:latin typeface="Times New Roman" panose="02020603050405020304" pitchFamily="18" charset="0"/>
              <a:cs typeface="Times New Roman" panose="02020603050405020304" pitchFamily="18" charset="0"/>
            </a:endParaRPr>
          </a:p>
          <a:p>
            <a:pPr marL="176213" lvl="0" indent="-176213" eaLnBrk="0" fontAlgn="base" hangingPunct="0">
              <a:lnSpc>
                <a:spcPct val="200000"/>
              </a:lnSpc>
              <a:spcBef>
                <a:spcPct val="0"/>
              </a:spcBef>
              <a:spcAft>
                <a:spcPct val="0"/>
              </a:spcAft>
              <a:buFontTx/>
              <a:buChar char="•"/>
            </a:pPr>
            <a:r>
              <a:rPr lang="en-US" altLang="en-US" sz="2400" dirty="0">
                <a:highlight>
                  <a:srgbClr val="FFFFFF"/>
                </a:highlight>
                <a:latin typeface="Times New Roman" panose="02020603050405020304" pitchFamily="18" charset="0"/>
                <a:cs typeface="Times New Roman" panose="02020603050405020304" pitchFamily="18" charset="0"/>
              </a:rPr>
              <a:t>Arrays make programs </a:t>
            </a:r>
            <a:r>
              <a:rPr lang="en-US" altLang="en-US" sz="2400" b="1" dirty="0">
                <a:highlight>
                  <a:srgbClr val="FFFFFF"/>
                </a:highlight>
                <a:latin typeface="Times New Roman" panose="02020603050405020304" pitchFamily="18" charset="0"/>
                <a:cs typeface="Times New Roman" panose="02020603050405020304" pitchFamily="18" charset="0"/>
              </a:rPr>
              <a:t>organized and efficient</a:t>
            </a:r>
          </a:p>
        </p:txBody>
      </p:sp>
      <p:pic>
        <p:nvPicPr>
          <p:cNvPr id="1026" name="Picture 2" descr="Ezoic">
            <a:extLst>
              <a:ext uri="{FF2B5EF4-FFF2-40B4-BE49-F238E27FC236}">
                <a16:creationId xmlns:a16="http://schemas.microsoft.com/office/drawing/2014/main" id="{31A03011-D15C-4033-2AA2-62F8848D0E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90359C36-75A5-7E59-537E-913B3BB9BEA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12402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Situation- Based Questions</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6" y="1253683"/>
            <a:ext cx="8291264" cy="5109860"/>
          </a:xfrm>
          <a:prstGeom prst="rect">
            <a:avLst/>
          </a:prstGeom>
          <a:noFill/>
        </p:spPr>
        <p:txBody>
          <a:bodyPr wrap="square" rtlCol="0">
            <a:spAutoFit/>
          </a:bodyPr>
          <a:lstStyle/>
          <a:p>
            <a:pPr algn="just">
              <a:lnSpc>
                <a:spcPct val="150000"/>
              </a:lnSpc>
            </a:pPr>
            <a:r>
              <a:rPr lang="en-US" sz="2200" b="1" dirty="0">
                <a:latin typeface="Times New Roman" panose="02020603050405020304" pitchFamily="18" charset="0"/>
                <a:cs typeface="Times New Roman" panose="02020603050405020304" pitchFamily="18" charset="0"/>
              </a:rPr>
              <a:t>Q1</a:t>
            </a:r>
            <a:r>
              <a:rPr lang="en-US" sz="2200" dirty="0">
                <a:latin typeface="Times New Roman" panose="02020603050405020304" pitchFamily="18" charset="0"/>
                <a:cs typeface="Times New Roman" panose="02020603050405020304" pitchFamily="18" charset="0"/>
              </a:rPr>
              <a:t> You are working on a scientific simulation that involves modeling weather patterns across a geographical area. Each grid cell in the simulation has various weather attributes, but many cells have default values due to the sparse nature of weather phenomena. Which type of array would you use to represent the weather data efficiently?</a:t>
            </a:r>
          </a:p>
          <a:p>
            <a:pPr algn="just">
              <a:lnSpc>
                <a:spcPct val="150000"/>
              </a:lnSpc>
            </a:pPr>
            <a:endParaRPr lang="en-US" sz="2200" b="1" dirty="0">
              <a:latin typeface="Times New Roman" panose="02020603050405020304" pitchFamily="18" charset="0"/>
              <a:cs typeface="Times New Roman" panose="02020603050405020304" pitchFamily="18" charset="0"/>
            </a:endParaRPr>
          </a:p>
          <a:p>
            <a:pPr algn="just">
              <a:lnSpc>
                <a:spcPct val="150000"/>
              </a:lnSpc>
            </a:pPr>
            <a:r>
              <a:rPr lang="en-US" sz="2200" b="1" dirty="0">
                <a:latin typeface="Times New Roman" panose="02020603050405020304" pitchFamily="18" charset="0"/>
                <a:cs typeface="Times New Roman" panose="02020603050405020304" pitchFamily="18" charset="0"/>
              </a:rPr>
              <a:t>Q2</a:t>
            </a:r>
            <a:r>
              <a:rPr lang="en-US" sz="2200" dirty="0">
                <a:latin typeface="Times New Roman" panose="02020603050405020304" pitchFamily="18" charset="0"/>
                <a:cs typeface="Times New Roman" panose="02020603050405020304" pitchFamily="18" charset="0"/>
              </a:rPr>
              <a:t> You are developing a game where players move around on a game board represented by a grid. Each cell in the grid can either be empty or contain an obstacle. How would you represent this game board using arrays, and which type of array would be most appropriate?</a:t>
            </a:r>
          </a:p>
        </p:txBody>
      </p:sp>
      <p:sp>
        <p:nvSpPr>
          <p:cNvPr id="8" name="Slide Number Placeholder 7"/>
          <p:cNvSpPr>
            <a:spLocks noGrp="1"/>
          </p:cNvSpPr>
          <p:nvPr>
            <p:ph type="sldNum" sz="quarter" idx="12"/>
          </p:nvPr>
        </p:nvSpPr>
        <p:spPr/>
        <p:txBody>
          <a:bodyPr/>
          <a:lstStyle/>
          <a:p>
            <a:fld id="{C421C46D-3F04-4F73-BF36-E6D9DA5AE143}" type="slidenum">
              <a:rPr lang="en-IN" smtClean="0"/>
              <a:t>31</a:t>
            </a:fld>
            <a:endParaRPr lang="en-IN"/>
          </a:p>
        </p:txBody>
      </p:sp>
    </p:spTree>
    <p:extLst>
      <p:ext uri="{BB962C8B-B14F-4D97-AF65-F5344CB8AC3E}">
        <p14:creationId xmlns:p14="http://schemas.microsoft.com/office/powerpoint/2010/main" val="11183022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Situation- Based Questions (</a:t>
            </a:r>
            <a:r>
              <a:rPr lang="en-IN" sz="3200" b="1" dirty="0">
                <a:solidFill>
                  <a:srgbClr val="E31E24"/>
                </a:solidFill>
                <a:cs typeface="Times New Roman" panose="02020603050405020304" pitchFamily="18" charset="0"/>
                <a:sym typeface="Arial"/>
              </a:rPr>
              <a:t>Answers)</a:t>
            </a:r>
            <a:endParaRPr lang="en-US"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13478" y="1666628"/>
            <a:ext cx="8363272" cy="2395849"/>
          </a:xfrm>
          <a:prstGeom prst="rect">
            <a:avLst/>
          </a:prstGeom>
          <a:noFill/>
        </p:spPr>
        <p:txBody>
          <a:bodyPr wrap="square" rtlCol="0">
            <a:spAutoFit/>
          </a:bodyPr>
          <a:lstStyle/>
          <a:p>
            <a:pPr algn="just">
              <a:lnSpc>
                <a:spcPct val="150000"/>
              </a:lnSpc>
              <a:spcBef>
                <a:spcPts val="600"/>
              </a:spcBef>
              <a:spcAft>
                <a:spcPts val="600"/>
              </a:spcAft>
            </a:pPr>
            <a:r>
              <a:rPr lang="en-US" sz="2400" b="1" dirty="0">
                <a:latin typeface="Times New Roman" panose="02020603050405020304" pitchFamily="18" charset="0"/>
                <a:cs typeface="Times New Roman" panose="02020603050405020304" pitchFamily="18" charset="0"/>
              </a:rPr>
              <a:t>A1: </a:t>
            </a:r>
            <a:r>
              <a:rPr lang="en-US" sz="2400" dirty="0">
                <a:latin typeface="Times New Roman" panose="02020603050405020304" pitchFamily="18" charset="0"/>
                <a:cs typeface="Times New Roman" panose="02020603050405020304" pitchFamily="18" charset="0"/>
              </a:rPr>
              <a:t>Sparse array, as it efficiently handles datasets with many default or empty values, which is common in weather simulations.</a:t>
            </a:r>
          </a:p>
          <a:p>
            <a:pPr algn="just">
              <a:lnSpc>
                <a:spcPct val="150000"/>
              </a:lnSpc>
              <a:spcBef>
                <a:spcPts val="600"/>
              </a:spcBef>
              <a:spcAft>
                <a:spcPts val="600"/>
              </a:spcAft>
            </a:pPr>
            <a:r>
              <a:rPr lang="en-US" sz="2400" b="1" dirty="0">
                <a:latin typeface="Times New Roman" panose="02020603050405020304" pitchFamily="18" charset="0"/>
                <a:cs typeface="Times New Roman" panose="02020603050405020304" pitchFamily="18" charset="0"/>
              </a:rPr>
              <a:t>A2: </a:t>
            </a:r>
            <a:r>
              <a:rPr lang="en-US" sz="2400" dirty="0">
                <a:latin typeface="Times New Roman" panose="02020603050405020304" pitchFamily="18" charset="0"/>
                <a:cs typeface="Times New Roman" panose="02020603050405020304" pitchFamily="18" charset="0"/>
              </a:rPr>
              <a:t>2D array, as it provides a grid-like structure that matches the layout of the game board.</a:t>
            </a:r>
          </a:p>
        </p:txBody>
      </p:sp>
      <p:sp>
        <p:nvSpPr>
          <p:cNvPr id="8" name="Slide Number Placeholder 7"/>
          <p:cNvSpPr>
            <a:spLocks noGrp="1"/>
          </p:cNvSpPr>
          <p:nvPr>
            <p:ph type="sldNum" sz="quarter" idx="12"/>
          </p:nvPr>
        </p:nvSpPr>
        <p:spPr/>
        <p:txBody>
          <a:bodyPr/>
          <a:lstStyle/>
          <a:p>
            <a:fld id="{C421C46D-3F04-4F73-BF36-E6D9DA5AE143}" type="slidenum">
              <a:rPr lang="en-IN" smtClean="0"/>
              <a:t>32</a:t>
            </a:fld>
            <a:endParaRPr lang="en-IN"/>
          </a:p>
        </p:txBody>
      </p:sp>
    </p:spTree>
    <p:extLst>
      <p:ext uri="{BB962C8B-B14F-4D97-AF65-F5344CB8AC3E}">
        <p14:creationId xmlns:p14="http://schemas.microsoft.com/office/powerpoint/2010/main" val="38134585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D9C3D-3F30-A3F3-A545-26CB145F082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3DC34CE-387F-2349-2368-E7AB329920C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AECC9169-F46C-9DFF-074B-9042CA367D1C}"/>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References</a:t>
            </a:r>
            <a:endParaRPr lang="en-US"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29D4E920-65A2-CCE7-FEA5-14D91F60AAAE}"/>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E0C2226-8947-177E-6706-83378DA8A4D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9E818B84-F150-B1E2-D936-7FC20CE87C0A}"/>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5475B91-F517-A8A8-3443-03C2FD642B05}"/>
              </a:ext>
            </a:extLst>
          </p:cNvPr>
          <p:cNvSpPr txBox="1"/>
          <p:nvPr/>
        </p:nvSpPr>
        <p:spPr>
          <a:xfrm>
            <a:off x="216025" y="1253683"/>
            <a:ext cx="8748463" cy="5170646"/>
          </a:xfrm>
          <a:prstGeom prst="rect">
            <a:avLst/>
          </a:prstGeom>
          <a:noFill/>
        </p:spPr>
        <p:txBody>
          <a:bodyPr wrap="square" rtlCol="0">
            <a:spAutoFit/>
          </a:bodyPr>
          <a:lstStyle/>
          <a:p>
            <a:pPr algn="just">
              <a:spcBef>
                <a:spcPts val="600"/>
              </a:spcBef>
            </a:pPr>
            <a:r>
              <a:rPr lang="en-IN" b="1" dirty="0">
                <a:latin typeface="Times New Roman" panose="02020603050405020304" pitchFamily="18" charset="0"/>
                <a:cs typeface="Times New Roman" panose="02020603050405020304" pitchFamily="18" charset="0"/>
              </a:rPr>
              <a:t>Textbooks</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Cormen</a:t>
            </a:r>
            <a:r>
              <a:rPr lang="en-IN" dirty="0">
                <a:latin typeface="Times New Roman" panose="02020603050405020304" pitchFamily="18" charset="0"/>
                <a:cs typeface="Times New Roman" panose="02020603050405020304" pitchFamily="18" charset="0"/>
              </a:rPr>
              <a:t>, T. H., </a:t>
            </a:r>
            <a:r>
              <a:rPr lang="en-IN" dirty="0" err="1">
                <a:latin typeface="Times New Roman" panose="02020603050405020304" pitchFamily="18" charset="0"/>
                <a:cs typeface="Times New Roman" panose="02020603050405020304" pitchFamily="18" charset="0"/>
              </a:rPr>
              <a:t>Leiserson</a:t>
            </a:r>
            <a:r>
              <a:rPr lang="en-IN" dirty="0">
                <a:latin typeface="Times New Roman" panose="02020603050405020304" pitchFamily="18" charset="0"/>
                <a:cs typeface="Times New Roman" panose="02020603050405020304" pitchFamily="18" charset="0"/>
              </a:rPr>
              <a:t>, C. E., Rivest, R. L., &amp; Stein, C., </a:t>
            </a:r>
            <a:r>
              <a:rPr lang="en-IN" i="1" dirty="0">
                <a:latin typeface="Times New Roman" panose="02020603050405020304" pitchFamily="18" charset="0"/>
                <a:cs typeface="Times New Roman" panose="02020603050405020304" pitchFamily="18" charset="0"/>
              </a:rPr>
              <a:t>Introduction to Algorithms</a:t>
            </a:r>
            <a:r>
              <a:rPr lang="en-IN" dirty="0">
                <a:latin typeface="Times New Roman" panose="02020603050405020304" pitchFamily="18" charset="0"/>
                <a:cs typeface="Times New Roman" panose="02020603050405020304" pitchFamily="18" charset="0"/>
              </a:rPr>
              <a:t>, MIT Press.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Lipschutz, S., </a:t>
            </a:r>
            <a:r>
              <a:rPr lang="en-IN" i="1" dirty="0">
                <a:latin typeface="Times New Roman" panose="02020603050405020304" pitchFamily="18" charset="0"/>
                <a:cs typeface="Times New Roman" panose="02020603050405020304" pitchFamily="18" charset="0"/>
              </a:rPr>
              <a:t>Schaum’s Outline of Data Structures with C++</a:t>
            </a:r>
            <a:r>
              <a:rPr lang="en-IN" dirty="0">
                <a:latin typeface="Times New Roman" panose="02020603050405020304" pitchFamily="18" charset="0"/>
                <a:cs typeface="Times New Roman" panose="02020603050405020304" pitchFamily="18" charset="0"/>
              </a:rPr>
              <a:t>, McGraw-Hill Education.</a:t>
            </a:r>
          </a:p>
          <a:p>
            <a:pPr algn="just">
              <a:spcBef>
                <a:spcPts val="600"/>
              </a:spcBef>
            </a:pPr>
            <a:r>
              <a:rPr lang="en-IN" b="1" dirty="0">
                <a:latin typeface="Times New Roman" panose="02020603050405020304" pitchFamily="18" charset="0"/>
                <a:cs typeface="Times New Roman" panose="02020603050405020304" pitchFamily="18" charset="0"/>
              </a:rPr>
              <a:t>Reference Books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Weiss, M. A., </a:t>
            </a:r>
            <a:r>
              <a:rPr lang="en-IN" i="1" dirty="0">
                <a:latin typeface="Times New Roman" panose="02020603050405020304" pitchFamily="18" charset="0"/>
                <a:cs typeface="Times New Roman" panose="02020603050405020304" pitchFamily="18" charset="0"/>
              </a:rPr>
              <a:t>Data Structures and Algorithm Analysis in C++</a:t>
            </a:r>
            <a:r>
              <a:rPr lang="en-IN" dirty="0">
                <a:latin typeface="Times New Roman" panose="02020603050405020304" pitchFamily="18" charset="0"/>
                <a:cs typeface="Times New Roman" panose="02020603050405020304" pitchFamily="18" charset="0"/>
              </a:rPr>
              <a:t>, 5th Edition, Pearson Education.</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Skiena</a:t>
            </a:r>
            <a:r>
              <a:rPr lang="en-IN" dirty="0">
                <a:latin typeface="Times New Roman" panose="02020603050405020304" pitchFamily="18" charset="0"/>
                <a:cs typeface="Times New Roman" panose="02020603050405020304" pitchFamily="18" charset="0"/>
              </a:rPr>
              <a:t>, S. S., </a:t>
            </a:r>
            <a:r>
              <a:rPr lang="en-IN" i="1" dirty="0">
                <a:latin typeface="Times New Roman" panose="02020603050405020304" pitchFamily="18" charset="0"/>
                <a:cs typeface="Times New Roman" panose="02020603050405020304" pitchFamily="18" charset="0"/>
              </a:rPr>
              <a:t>The Algorithm Design Manual</a:t>
            </a:r>
            <a:r>
              <a:rPr lang="en-IN" dirty="0">
                <a:latin typeface="Times New Roman" panose="02020603050405020304" pitchFamily="18" charset="0"/>
                <a:cs typeface="Times New Roman" panose="02020603050405020304" pitchFamily="18" charset="0"/>
              </a:rPr>
              <a:t>, 3rd Edition, Springer.</a:t>
            </a:r>
          </a:p>
          <a:p>
            <a:pPr algn="just">
              <a:spcBef>
                <a:spcPts val="600"/>
              </a:spcBef>
            </a:pPr>
            <a:r>
              <a:rPr lang="en-IN" b="1" dirty="0">
                <a:latin typeface="Times New Roman" panose="02020603050405020304" pitchFamily="18" charset="0"/>
                <a:cs typeface="Times New Roman" panose="02020603050405020304" pitchFamily="18" charset="0"/>
              </a:rPr>
              <a:t>Online Resources</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GeeksforGeeks</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Arrays in Data Structures</a:t>
            </a:r>
          </a:p>
          <a:p>
            <a:pPr marL="268288" algn="just">
              <a:spcBef>
                <a:spcPts val="600"/>
              </a:spcBef>
            </a:pPr>
            <a:r>
              <a:rPr lang="en-IN" dirty="0">
                <a:latin typeface="Times New Roman" panose="02020603050405020304" pitchFamily="18" charset="0"/>
                <a:cs typeface="Times New Roman" panose="02020603050405020304" pitchFamily="18" charset="0"/>
                <a:hlinkClick r:id="rId5"/>
              </a:rPr>
              <a:t>https://www.geeksforgeeks.org/array-data-structure/</a:t>
            </a:r>
            <a:endParaRPr lang="en-IN" dirty="0">
              <a:latin typeface="Times New Roman" panose="02020603050405020304" pitchFamily="18" charset="0"/>
              <a:cs typeface="Times New Roman" panose="02020603050405020304" pitchFamily="18" charset="0"/>
            </a:endParaRP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TutorialsPoint</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Data Structures – Arrays</a:t>
            </a:r>
          </a:p>
          <a:p>
            <a:pPr marL="268288" algn="just">
              <a:spcBef>
                <a:spcPts val="600"/>
              </a:spcBef>
            </a:pPr>
            <a:r>
              <a:rPr lang="en-IN" dirty="0">
                <a:latin typeface="Times New Roman" panose="02020603050405020304" pitchFamily="18" charset="0"/>
                <a:cs typeface="Times New Roman" panose="02020603050405020304" pitchFamily="18" charset="0"/>
                <a:hlinkClick r:id="rId6"/>
              </a:rPr>
              <a:t>https://www.tutorialspoint.com/data_structures_algorithms/array_data_structure.htm</a:t>
            </a:r>
            <a:endParaRPr lang="en-IN" dirty="0">
              <a:latin typeface="Times New Roman" panose="02020603050405020304" pitchFamily="18" charset="0"/>
              <a:cs typeface="Times New Roman" panose="02020603050405020304" pitchFamily="18" charset="0"/>
            </a:endParaRP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MIT </a:t>
            </a:r>
            <a:r>
              <a:rPr lang="en-IN" dirty="0" err="1">
                <a:latin typeface="Times New Roman" panose="02020603050405020304" pitchFamily="18" charset="0"/>
                <a:cs typeface="Times New Roman" panose="02020603050405020304" pitchFamily="18" charset="0"/>
              </a:rPr>
              <a:t>OpenCourseWare</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Introduction to Algorithms</a:t>
            </a:r>
          </a:p>
          <a:p>
            <a:pPr marL="268288" algn="just">
              <a:spcBef>
                <a:spcPts val="600"/>
              </a:spcBef>
            </a:pPr>
            <a:r>
              <a:rPr lang="en-IN" dirty="0">
                <a:latin typeface="Times New Roman" panose="02020603050405020304" pitchFamily="18" charset="0"/>
                <a:cs typeface="Times New Roman" panose="02020603050405020304" pitchFamily="18" charset="0"/>
                <a:hlinkClick r:id="rId7"/>
              </a:rPr>
              <a:t>https://ocw.mit.edu</a:t>
            </a:r>
            <a:endParaRPr lang="en-IN"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B1399E0A-2CFF-1DD0-69C4-94E7F4E77087}"/>
              </a:ext>
            </a:extLst>
          </p:cNvPr>
          <p:cNvSpPr>
            <a:spLocks noGrp="1"/>
          </p:cNvSpPr>
          <p:nvPr>
            <p:ph type="sldNum" sz="quarter" idx="12"/>
          </p:nvPr>
        </p:nvSpPr>
        <p:spPr/>
        <p:txBody>
          <a:bodyPr/>
          <a:lstStyle/>
          <a:p>
            <a:fld id="{C421C46D-3F04-4F73-BF36-E6D9DA5AE143}" type="slidenum">
              <a:rPr lang="en-IN" smtClean="0"/>
              <a:t>33</a:t>
            </a:fld>
            <a:endParaRPr lang="en-IN"/>
          </a:p>
        </p:txBody>
      </p:sp>
    </p:spTree>
    <p:extLst>
      <p:ext uri="{BB962C8B-B14F-4D97-AF65-F5344CB8AC3E}">
        <p14:creationId xmlns:p14="http://schemas.microsoft.com/office/powerpoint/2010/main" val="28328304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
        <p:nvSpPr>
          <p:cNvPr id="5" name="Slide Number Placeholder 4"/>
          <p:cNvSpPr>
            <a:spLocks noGrp="1"/>
          </p:cNvSpPr>
          <p:nvPr>
            <p:ph type="sldNum" sz="quarter" idx="12"/>
          </p:nvPr>
        </p:nvSpPr>
        <p:spPr/>
        <p:txBody>
          <a:bodyPr/>
          <a:lstStyle/>
          <a:p>
            <a:fld id="{C421C46D-3F04-4F73-BF36-E6D9DA5AE143}" type="slidenum">
              <a:rPr lang="en-IN" smtClean="0"/>
              <a:t>34</a:t>
            </a:fld>
            <a:endParaRPr lang="en-IN"/>
          </a:p>
        </p:txBody>
      </p:sp>
    </p:spTree>
    <p:extLst>
      <p:ext uri="{BB962C8B-B14F-4D97-AF65-F5344CB8AC3E}">
        <p14:creationId xmlns:p14="http://schemas.microsoft.com/office/powerpoint/2010/main" val="3858198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20889</TotalTime>
  <Words>2187</Words>
  <Application>Microsoft Office PowerPoint</Application>
  <PresentationFormat>On-screen Show (4:3)</PresentationFormat>
  <Paragraphs>396</Paragraphs>
  <Slides>34</Slides>
  <Notes>32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Arial</vt:lpstr>
      <vt:lpstr>Calibri</vt:lpstr>
      <vt:lpstr>Garamond</vt:lpstr>
      <vt:lpstr>Sylfaen</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Aarti Sangwan</cp:lastModifiedBy>
  <cp:revision>1303</cp:revision>
  <cp:lastPrinted>2022-09-05T08:43:44Z</cp:lastPrinted>
  <dcterms:created xsi:type="dcterms:W3CDTF">2020-01-16T09:05:56Z</dcterms:created>
  <dcterms:modified xsi:type="dcterms:W3CDTF">2026-02-10T16:28:31Z</dcterms:modified>
</cp:coreProperties>
</file>