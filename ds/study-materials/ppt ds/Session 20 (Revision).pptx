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1011" r:id="rId2"/>
    <p:sldId id="993" r:id="rId3"/>
    <p:sldId id="1012" r:id="rId4"/>
    <p:sldId id="1013" r:id="rId5"/>
    <p:sldId id="1087" r:id="rId6"/>
    <p:sldId id="684" r:id="rId7"/>
    <p:sldId id="1089" r:id="rId8"/>
    <p:sldId id="1088" r:id="rId9"/>
    <p:sldId id="1090" r:id="rId10"/>
    <p:sldId id="1086" r:id="rId11"/>
    <p:sldId id="685" r:id="rId12"/>
    <p:sldId id="686" r:id="rId13"/>
    <p:sldId id="687" r:id="rId14"/>
    <p:sldId id="688" r:id="rId15"/>
    <p:sldId id="689" r:id="rId16"/>
    <p:sldId id="690" r:id="rId17"/>
    <p:sldId id="1071" r:id="rId18"/>
    <p:sldId id="692" r:id="rId19"/>
    <p:sldId id="676" r:id="rId20"/>
    <p:sldId id="677" r:id="rId21"/>
    <p:sldId id="678" r:id="rId22"/>
    <p:sldId id="679" r:id="rId23"/>
    <p:sldId id="680" r:id="rId24"/>
    <p:sldId id="682" r:id="rId25"/>
    <p:sldId id="1085" r:id="rId26"/>
    <p:sldId id="1084" r:id="rId27"/>
    <p:sldId id="693" r:id="rId28"/>
    <p:sldId id="694" r:id="rId29"/>
    <p:sldId id="697" r:id="rId30"/>
    <p:sldId id="1074" r:id="rId31"/>
    <p:sldId id="698" r:id="rId32"/>
    <p:sldId id="1075" r:id="rId33"/>
    <p:sldId id="700" r:id="rId34"/>
    <p:sldId id="702" r:id="rId35"/>
    <p:sldId id="701" r:id="rId36"/>
    <p:sldId id="703" r:id="rId37"/>
    <p:sldId id="704" r:id="rId38"/>
    <p:sldId id="1076" r:id="rId39"/>
    <p:sldId id="1077" r:id="rId40"/>
    <p:sldId id="1078" r:id="rId41"/>
    <p:sldId id="1079" r:id="rId42"/>
    <p:sldId id="1080" r:id="rId43"/>
    <p:sldId id="1081" r:id="rId44"/>
    <p:sldId id="1082" r:id="rId45"/>
    <p:sldId id="705" r:id="rId46"/>
    <p:sldId id="1091" r:id="rId47"/>
    <p:sldId id="1069" r:id="rId48"/>
    <p:sldId id="1070" r:id="rId49"/>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54" autoAdjust="0"/>
    <p:restoredTop sz="93883" autoAdjust="0"/>
  </p:normalViewPr>
  <p:slideViewPr>
    <p:cSldViewPr>
      <p:cViewPr varScale="1">
        <p:scale>
          <a:sx n="69" d="100"/>
          <a:sy n="69" d="100"/>
        </p:scale>
        <p:origin x="968" y="5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11-02-2026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577F7-C997-7558-9819-A115B5A6F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7230C-73DA-E93C-A793-3A650DFE4C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696D3-6802-7A8D-8088-BFCD6BA7F21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30B164F-357B-32AA-80DD-A3D7F4C9867F}"/>
              </a:ext>
            </a:extLst>
          </p:cNvPr>
          <p:cNvSpPr>
            <a:spLocks noGrp="1"/>
          </p:cNvSpPr>
          <p:nvPr>
            <p:ph type="sldNum" sz="quarter" idx="5"/>
          </p:nvPr>
        </p:nvSpPr>
        <p:spPr/>
        <p:txBody>
          <a:bodyPr/>
          <a:lstStyle/>
          <a:p>
            <a:fld id="{DAB949B3-C4AB-4FB2-8B24-B07A558BD59F}" type="slidenum">
              <a:rPr lang="en-IN" smtClean="0"/>
              <a:pPr/>
              <a:t>5</a:t>
            </a:fld>
            <a:endParaRPr lang="en-IN"/>
          </a:p>
        </p:txBody>
      </p:sp>
      <p:sp>
        <p:nvSpPr>
          <p:cNvPr id="5" name="Footer Placeholder 4">
            <a:extLst>
              <a:ext uri="{FF2B5EF4-FFF2-40B4-BE49-F238E27FC236}">
                <a16:creationId xmlns:a16="http://schemas.microsoft.com/office/drawing/2014/main" id="{48580B0E-F390-459D-EA9F-C8ECAF2EFC5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80AD0DA-B61F-4C4B-A222-26A40A2EA5F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6379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04CF-03C7-DE54-B32A-33FBBC955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B2F3-A028-A491-4E8A-A1E6823E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7C94D-6267-9784-8BE8-5D62A11BC6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B0EC6C-84D0-7D1E-83CE-C0D3FDD92EAC}"/>
              </a:ext>
            </a:extLst>
          </p:cNvPr>
          <p:cNvSpPr>
            <a:spLocks noGrp="1"/>
          </p:cNvSpPr>
          <p:nvPr>
            <p:ph type="sldNum" sz="quarter" idx="5"/>
          </p:nvPr>
        </p:nvSpPr>
        <p:spPr/>
        <p:txBody>
          <a:bodyPr/>
          <a:lstStyle/>
          <a:p>
            <a:fld id="{DAB949B3-C4AB-4FB2-8B24-B07A558BD59F}" type="slidenum">
              <a:rPr lang="en-IN" smtClean="0"/>
              <a:pPr/>
              <a:t>6</a:t>
            </a:fld>
            <a:endParaRPr lang="en-IN"/>
          </a:p>
        </p:txBody>
      </p:sp>
      <p:sp>
        <p:nvSpPr>
          <p:cNvPr id="5" name="Footer Placeholder 4">
            <a:extLst>
              <a:ext uri="{FF2B5EF4-FFF2-40B4-BE49-F238E27FC236}">
                <a16:creationId xmlns:a16="http://schemas.microsoft.com/office/drawing/2014/main" id="{E5DB98B7-23AF-1CC2-11F6-665ED48680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49C7618-B417-939D-7D50-92BD186EA2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4376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4CDCA-B091-E793-1B05-6B5476210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41C99D-9E77-A7D7-92C6-26A96DF50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DB1B7-755C-EB2A-AE46-029BD64E73A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3CCFBAF-A380-85D2-B9F2-7A388A886659}"/>
              </a:ext>
            </a:extLst>
          </p:cNvPr>
          <p:cNvSpPr>
            <a:spLocks noGrp="1"/>
          </p:cNvSpPr>
          <p:nvPr>
            <p:ph type="sldNum" sz="quarter" idx="5"/>
          </p:nvPr>
        </p:nvSpPr>
        <p:spPr/>
        <p:txBody>
          <a:bodyPr/>
          <a:lstStyle/>
          <a:p>
            <a:fld id="{DAB949B3-C4AB-4FB2-8B24-B07A558BD59F}" type="slidenum">
              <a:rPr lang="en-IN" smtClean="0"/>
              <a:pPr/>
              <a:t>7</a:t>
            </a:fld>
            <a:endParaRPr lang="en-IN"/>
          </a:p>
        </p:txBody>
      </p:sp>
      <p:sp>
        <p:nvSpPr>
          <p:cNvPr id="5" name="Footer Placeholder 4">
            <a:extLst>
              <a:ext uri="{FF2B5EF4-FFF2-40B4-BE49-F238E27FC236}">
                <a16:creationId xmlns:a16="http://schemas.microsoft.com/office/drawing/2014/main" id="{0E9AD17A-FF54-1506-ADCF-769DB6F26DEB}"/>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FD8FB5B-7FE0-DB2C-A4A0-8F71D4C0AE79}"/>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294209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E42AD-0E1F-9912-3BDF-023808A67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14C74-3EB5-9ABB-ACE7-F23F9591B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D43A89-AA00-7499-F3F6-C827A772E15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3B8F0B-0D20-723D-7836-E59B9B82C423}"/>
              </a:ext>
            </a:extLst>
          </p:cNvPr>
          <p:cNvSpPr>
            <a:spLocks noGrp="1"/>
          </p:cNvSpPr>
          <p:nvPr>
            <p:ph type="sldNum" sz="quarter" idx="5"/>
          </p:nvPr>
        </p:nvSpPr>
        <p:spPr/>
        <p:txBody>
          <a:bodyPr/>
          <a:lstStyle/>
          <a:p>
            <a:fld id="{DAB949B3-C4AB-4FB2-8B24-B07A558BD59F}" type="slidenum">
              <a:rPr lang="en-IN" smtClean="0"/>
              <a:pPr/>
              <a:t>8</a:t>
            </a:fld>
            <a:endParaRPr lang="en-IN"/>
          </a:p>
        </p:txBody>
      </p:sp>
      <p:sp>
        <p:nvSpPr>
          <p:cNvPr id="5" name="Footer Placeholder 4">
            <a:extLst>
              <a:ext uri="{FF2B5EF4-FFF2-40B4-BE49-F238E27FC236}">
                <a16:creationId xmlns:a16="http://schemas.microsoft.com/office/drawing/2014/main" id="{A436F6FB-EE4C-B38B-2355-9E62058DB3B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F20BA7B-9350-8C9F-D59A-E8E928C544A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99514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BE5F5-1FC4-26CF-B288-71EAE850AB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43D83-B36C-40A5-8BF6-0D86B9E05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03C22-8874-8BEC-5C5C-9187857C28D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DA157B9-1678-511F-7982-829E8FEBF663}"/>
              </a:ext>
            </a:extLst>
          </p:cNvPr>
          <p:cNvSpPr>
            <a:spLocks noGrp="1"/>
          </p:cNvSpPr>
          <p:nvPr>
            <p:ph type="sldNum" sz="quarter" idx="5"/>
          </p:nvPr>
        </p:nvSpPr>
        <p:spPr/>
        <p:txBody>
          <a:bodyPr/>
          <a:lstStyle/>
          <a:p>
            <a:fld id="{DAB949B3-C4AB-4FB2-8B24-B07A558BD59F}" type="slidenum">
              <a:rPr lang="en-IN" smtClean="0"/>
              <a:pPr/>
              <a:t>9</a:t>
            </a:fld>
            <a:endParaRPr lang="en-IN"/>
          </a:p>
        </p:txBody>
      </p:sp>
      <p:sp>
        <p:nvSpPr>
          <p:cNvPr id="5" name="Footer Placeholder 4">
            <a:extLst>
              <a:ext uri="{FF2B5EF4-FFF2-40B4-BE49-F238E27FC236}">
                <a16:creationId xmlns:a16="http://schemas.microsoft.com/office/drawing/2014/main" id="{3CD7C930-EF60-0559-24AD-10AFAAE80F0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B1F91E4-A1CC-A2FF-6D7E-7F46768B243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13148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4307-220C-9B3B-B51D-752A57BBD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EA43-EA72-9F2D-8F24-4AB175316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FEB56-BE4F-65B4-5AC2-BCAA89384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E7A8C31-A046-C144-8749-F0774399EAEE}"/>
              </a:ext>
            </a:extLst>
          </p:cNvPr>
          <p:cNvSpPr>
            <a:spLocks noGrp="1"/>
          </p:cNvSpPr>
          <p:nvPr>
            <p:ph type="sldNum" sz="quarter" idx="5"/>
          </p:nvPr>
        </p:nvSpPr>
        <p:spPr/>
        <p:txBody>
          <a:bodyPr/>
          <a:lstStyle/>
          <a:p>
            <a:fld id="{DAB949B3-C4AB-4FB2-8B24-B07A558BD59F}" type="slidenum">
              <a:rPr lang="en-IN" smtClean="0"/>
              <a:pPr/>
              <a:t>10</a:t>
            </a:fld>
            <a:endParaRPr lang="en-IN"/>
          </a:p>
        </p:txBody>
      </p:sp>
      <p:sp>
        <p:nvSpPr>
          <p:cNvPr id="5" name="Footer Placeholder 4">
            <a:extLst>
              <a:ext uri="{FF2B5EF4-FFF2-40B4-BE49-F238E27FC236}">
                <a16:creationId xmlns:a16="http://schemas.microsoft.com/office/drawing/2014/main" id="{B9FA6374-EF40-463D-FA05-BCA37C4800B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9BF003B-E631-979A-24B4-D218BD76FB9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220743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DDB5-9ACB-CCCA-9D9B-AF095FAF3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C909D-E4D0-2B94-2845-D2C65B7E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8038E-E507-8FBC-16F6-EADAF5FCE1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92D750-BD4B-9F1F-4E4B-A13EE2F894C7}"/>
              </a:ext>
            </a:extLst>
          </p:cNvPr>
          <p:cNvSpPr>
            <a:spLocks noGrp="1"/>
          </p:cNvSpPr>
          <p:nvPr>
            <p:ph type="sldNum" sz="quarter" idx="5"/>
          </p:nvPr>
        </p:nvSpPr>
        <p:spPr/>
        <p:txBody>
          <a:bodyPr/>
          <a:lstStyle/>
          <a:p>
            <a:fld id="{DAB949B3-C4AB-4FB2-8B24-B07A558BD59F}" type="slidenum">
              <a:rPr lang="en-IN" smtClean="0"/>
              <a:pPr/>
              <a:t>11</a:t>
            </a:fld>
            <a:endParaRPr lang="en-IN"/>
          </a:p>
        </p:txBody>
      </p:sp>
      <p:sp>
        <p:nvSpPr>
          <p:cNvPr id="5" name="Footer Placeholder 4">
            <a:extLst>
              <a:ext uri="{FF2B5EF4-FFF2-40B4-BE49-F238E27FC236}">
                <a16:creationId xmlns:a16="http://schemas.microsoft.com/office/drawing/2014/main" id="{B4306217-8830-EE3D-8444-A9B0A3D93E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8924A5-7ED9-E467-E6B5-69DACD6BC39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4819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F7C05-A74E-3DFB-CBF5-65DC083057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B3E1-7A0A-9581-8326-2C63C5BE8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1C29A-6E3C-E35F-A0E1-320E02566E4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C36AB63-3C62-6289-70D0-4766977CE37A}"/>
              </a:ext>
            </a:extLst>
          </p:cNvPr>
          <p:cNvSpPr>
            <a:spLocks noGrp="1"/>
          </p:cNvSpPr>
          <p:nvPr>
            <p:ph type="sldNum" sz="quarter" idx="5"/>
          </p:nvPr>
        </p:nvSpPr>
        <p:spPr/>
        <p:txBody>
          <a:bodyPr/>
          <a:lstStyle/>
          <a:p>
            <a:fld id="{DAB949B3-C4AB-4FB2-8B24-B07A558BD59F}" type="slidenum">
              <a:rPr lang="en-IN" smtClean="0"/>
              <a:pPr/>
              <a:t>12</a:t>
            </a:fld>
            <a:endParaRPr lang="en-IN"/>
          </a:p>
        </p:txBody>
      </p:sp>
      <p:sp>
        <p:nvSpPr>
          <p:cNvPr id="5" name="Footer Placeholder 4">
            <a:extLst>
              <a:ext uri="{FF2B5EF4-FFF2-40B4-BE49-F238E27FC236}">
                <a16:creationId xmlns:a16="http://schemas.microsoft.com/office/drawing/2014/main" id="{A014C413-1B49-ED25-3ABB-50660732069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F3E8691-48CF-6A19-4E52-F5265584A64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95589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4802E-2B9E-DF13-BDED-BFB90A775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B53B0-0066-2B8F-9EA6-5F3C8CD57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260DE-4198-6CDC-675B-BB60D14BEA9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955BD5-D6C4-79DE-A243-1DD656151461}"/>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a:extLst>
              <a:ext uri="{FF2B5EF4-FFF2-40B4-BE49-F238E27FC236}">
                <a16:creationId xmlns:a16="http://schemas.microsoft.com/office/drawing/2014/main" id="{0B121E7A-44D3-B4A2-BB53-80BABC38E68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7D22451-9192-04C6-9F8F-C21A9D7F31A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78188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2621-774C-7ED6-2773-767458566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04C0-34A1-F6A7-0C0E-179839F48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6F83E-D1BB-0F75-D548-7CA8A1D9B9B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C4EF0D6-5B5F-BA9B-23C8-741E7C0ACB51}"/>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a:extLst>
              <a:ext uri="{FF2B5EF4-FFF2-40B4-BE49-F238E27FC236}">
                <a16:creationId xmlns:a16="http://schemas.microsoft.com/office/drawing/2014/main" id="{624F8DFC-588E-0D36-C9D5-B8BEF23B512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688D50A-84F6-6E8B-6350-C4821923DF2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29362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C505-8935-783A-2198-42443833C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3BB82-FD92-1C5F-AA99-7B07488F8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0FEEC-4186-7C9A-6976-1E2F081E2E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CC69E7C8-DA82-7513-C5D4-7FA6AE4DECB5}"/>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a:extLst>
              <a:ext uri="{FF2B5EF4-FFF2-40B4-BE49-F238E27FC236}">
                <a16:creationId xmlns:a16="http://schemas.microsoft.com/office/drawing/2014/main" id="{FCE84262-A3C1-7727-0A98-7C84F3E9286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8AA934B-D7B0-C910-45E4-582FC19C745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645721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9AF30-383B-0A47-38B6-4A47B5A67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94200-8242-6E44-FF74-92F72353F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5F92D-0084-D620-46DD-CB6C07D866E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FD9B216F-A4D5-8821-4F53-A94D5F3154D4}"/>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a:extLst>
              <a:ext uri="{FF2B5EF4-FFF2-40B4-BE49-F238E27FC236}">
                <a16:creationId xmlns:a16="http://schemas.microsoft.com/office/drawing/2014/main" id="{0B42B12F-1DF6-DAD4-A850-F45F6E366E7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443FA3A-AA19-DBF4-5151-FD37B69ADD7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329702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3F93-FFA1-F000-282A-8D04CC983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665BE-E67D-C723-B02A-428283AFA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46DA7-7695-D20F-55E9-DD9A093CC9C6}"/>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90AC9B5-84E7-7420-717F-FCABD60F2756}"/>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a:extLst>
              <a:ext uri="{FF2B5EF4-FFF2-40B4-BE49-F238E27FC236}">
                <a16:creationId xmlns:a16="http://schemas.microsoft.com/office/drawing/2014/main" id="{06C78423-87A7-06A0-B2A1-0A6C2EBED16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DAD1A03-6BBF-7C1D-821D-46B6FC14642B}"/>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29425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3F84E-6B58-812C-48BA-54712187F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5EB32-8726-CE5C-2C32-12588C74A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3A39E-BA22-BD2B-5369-3B7160768BF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98B18DE-D119-FA5C-3E1D-5818DCE5FB93}"/>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a:extLst>
              <a:ext uri="{FF2B5EF4-FFF2-40B4-BE49-F238E27FC236}">
                <a16:creationId xmlns:a16="http://schemas.microsoft.com/office/drawing/2014/main" id="{D939AAE0-24B6-7437-4F71-5ACED16FEF45}"/>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ABB9080-1351-251F-D600-83A3D1C253F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89029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730374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728043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0462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62450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681896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07042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D884D-31A9-C86F-FDB6-71820C434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56995-6C0A-350B-F34B-333E1D633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019E16-B643-C471-011F-AF3EAB60893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83CE39-24B1-EFD7-9BD6-5211EC0099F4}"/>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a:extLst>
              <a:ext uri="{FF2B5EF4-FFF2-40B4-BE49-F238E27FC236}">
                <a16:creationId xmlns:a16="http://schemas.microsoft.com/office/drawing/2014/main" id="{C07C0A76-69D4-249A-9A59-4C75639C0EE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648C88C-42AB-C9A9-9936-4E16CCB9A90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736036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11D8-CC59-1A18-CFB8-3A207D5A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07153-CEFA-3565-2B1D-31CBEAA269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FAE340-F10F-927D-8E01-82351B31181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D46DA9D-FF66-FAD5-367F-4F94B486BBA3}"/>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a:extLst>
              <a:ext uri="{FF2B5EF4-FFF2-40B4-BE49-F238E27FC236}">
                <a16:creationId xmlns:a16="http://schemas.microsoft.com/office/drawing/2014/main" id="{1617E84B-D9E8-714C-859C-6FC954F7136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724930F-964A-3191-EE75-0442937BFCC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8701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A76F-4018-9E7F-F865-630A3B4F2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C7169-4E27-CBCC-3BC1-83BA19FEA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0CB20-DD0C-2D5B-4EC3-50E7E71E3BB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C73FE2A-7D9A-1163-3394-787C75E59DCB}"/>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a:extLst>
              <a:ext uri="{FF2B5EF4-FFF2-40B4-BE49-F238E27FC236}">
                <a16:creationId xmlns:a16="http://schemas.microsoft.com/office/drawing/2014/main" id="{1D1DBA9B-3071-D616-CBE0-18A4264CFCD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2BE535B-ABEB-56E5-462D-7FE59EAA41A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506797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E913A-BCDB-41D1-47FC-3D9CD1C89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E4C8FF-7EF2-B0EA-EE47-C175A027F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774C7-5838-54C9-E560-A5B68526853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9D39758-B912-CE61-A9DA-2213BA44ECB0}"/>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a:extLst>
              <a:ext uri="{FF2B5EF4-FFF2-40B4-BE49-F238E27FC236}">
                <a16:creationId xmlns:a16="http://schemas.microsoft.com/office/drawing/2014/main" id="{20D057AB-F080-D483-960E-CBA3F4FC17D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21FF8B0-E1C3-7B8B-253D-BA158FF505B9}"/>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296399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9101F-1AF2-6815-AAE7-80404B943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1D09A-9171-1439-FC55-3ADB2194F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7D460-8C45-9021-BB71-DBD47D1BC2F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C885BB3-8B7D-0CA1-5DA1-6033444D35EB}"/>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a:extLst>
              <a:ext uri="{FF2B5EF4-FFF2-40B4-BE49-F238E27FC236}">
                <a16:creationId xmlns:a16="http://schemas.microsoft.com/office/drawing/2014/main" id="{61286AD8-F125-94F2-1922-85695682E0C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8F1011D-E322-5607-19BD-73F17F394DE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3077414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04CF-03C7-DE54-B32A-33FBBC955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0B2F3-A028-A491-4E8A-A1E6823EF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7C94D-6267-9784-8BE8-5D62A11BC6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A5B0EC6C-84D0-7D1E-83CE-C0D3FDD92EAC}"/>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a:extLst>
              <a:ext uri="{FF2B5EF4-FFF2-40B4-BE49-F238E27FC236}">
                <a16:creationId xmlns:a16="http://schemas.microsoft.com/office/drawing/2014/main" id="{E5DB98B7-23AF-1CC2-11F6-665ED48680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49C7618-B417-939D-7D50-92BD186EA2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43760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BAA8D-8391-45FE-97EB-36558B6CF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CEAF5-3951-510F-2F97-55FC6267A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BAB040-169B-26E5-82C2-808F7ACFF5C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38F2B92-0582-B824-D353-6D1BA1C7ECB9}"/>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a:extLst>
              <a:ext uri="{FF2B5EF4-FFF2-40B4-BE49-F238E27FC236}">
                <a16:creationId xmlns:a16="http://schemas.microsoft.com/office/drawing/2014/main" id="{B3A4FBD7-5647-5DF7-C253-FC381E73A8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283D510-957F-3E83-BACE-6D1B11B097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036873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DDB5-9ACB-CCCA-9D9B-AF095FAF3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C909D-E4D0-2B94-2845-D2C65B7EC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8038E-E507-8FBC-16F6-EADAF5FCE16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592D750-BD4B-9F1F-4E4B-A13EE2F894C7}"/>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a:extLst>
              <a:ext uri="{FF2B5EF4-FFF2-40B4-BE49-F238E27FC236}">
                <a16:creationId xmlns:a16="http://schemas.microsoft.com/office/drawing/2014/main" id="{B4306217-8830-EE3D-8444-A9B0A3D93ECD}"/>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48924A5-7ED9-E467-E6B5-69DACD6BC39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3048192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4B56-8A76-BB32-B5DE-FE7DE6A35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8FFFB-7A7A-9EFA-B7E5-D914C2A11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85CDC-CCA6-3F46-2558-5F62DAF9D8B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050725D-3852-7EAD-1DFB-7576004E2138}"/>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a:extLst>
              <a:ext uri="{FF2B5EF4-FFF2-40B4-BE49-F238E27FC236}">
                <a16:creationId xmlns:a16="http://schemas.microsoft.com/office/drawing/2014/main" id="{9A16D970-56F0-1F2A-0A7C-4262B31EF8A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FF7436F-D29A-5C30-DA6C-5F706DBBBA0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6855545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688E1-3E84-08B6-BA50-DCA87080F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2B39D-0032-029C-E306-2CBFF7393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62E35-3B87-C079-3DBD-4AD7BCECB48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5192E47-8298-939D-8FC8-B2279873DE64}"/>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a:extLst>
              <a:ext uri="{FF2B5EF4-FFF2-40B4-BE49-F238E27FC236}">
                <a16:creationId xmlns:a16="http://schemas.microsoft.com/office/drawing/2014/main" id="{E6A1AA0B-4CEF-CEDA-4502-F335A395A81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FAA2DC6-F59C-9AEE-C12F-228D208F0D6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9467603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253C-6DAD-89D2-0A47-77B792ECD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F844E-B3A3-E9C7-AEF0-0F7890F5D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B9C12E-1B37-E003-A8EC-88CB352E260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8B19D95-8B7A-B4F8-C5FF-23C40B4CFEA3}"/>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a:extLst>
              <a:ext uri="{FF2B5EF4-FFF2-40B4-BE49-F238E27FC236}">
                <a16:creationId xmlns:a16="http://schemas.microsoft.com/office/drawing/2014/main" id="{6B9FDDA9-FBB8-D89B-2726-3A4F2B89813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18F8A26E-DAC2-7405-1B55-B61D085E788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916710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5B606-02B1-3CAB-5860-D750BFCF8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07ACC-E1EE-58BE-C2D9-7F6634FC6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D34C6-E02B-7DC7-BDCF-29A555DE456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879B62C-E499-7685-C357-4EDDFB4D7688}"/>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a:extLst>
              <a:ext uri="{FF2B5EF4-FFF2-40B4-BE49-F238E27FC236}">
                <a16:creationId xmlns:a16="http://schemas.microsoft.com/office/drawing/2014/main" id="{8327F0A7-9FC5-DA0A-4D67-F041F8F5B8F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08F7894-40FE-7FC5-BB39-1B1C7CF94E0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0410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CB6DC-70B9-AB3B-6CCD-C1F70D87F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039CB-548A-BE12-CD53-386E469E3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0A9DB-48FC-BE7F-E8F4-CFC4390E059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33F6FE1-DE94-5BCD-A2C2-5768B2FE8E81}"/>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a:extLst>
              <a:ext uri="{FF2B5EF4-FFF2-40B4-BE49-F238E27FC236}">
                <a16:creationId xmlns:a16="http://schemas.microsoft.com/office/drawing/2014/main" id="{63A56997-3EE8-8819-2DDA-DE3C3AFC6FF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9796D46D-ACB6-5A39-F573-5F392BC60AC8}"/>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884874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12143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8352062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6015030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231599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7048757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559059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7498233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40596-C53C-43A0-A626-9D24F8EF2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04EF7-4E9E-B888-59D9-9CB570A20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0CCEB-524C-93A4-3C27-75F14F4F59C7}"/>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AED6C84-1111-3545-2416-26FAD3A5611A}"/>
              </a:ext>
            </a:extLst>
          </p:cNvPr>
          <p:cNvSpPr>
            <a:spLocks noGrp="1"/>
          </p:cNvSpPr>
          <p:nvPr>
            <p:ph type="sldNum" sz="quarter" idx="5"/>
          </p:nvPr>
        </p:nvSpPr>
        <p:spPr/>
        <p:txBody>
          <a:bodyPr/>
          <a:lstStyle/>
          <a:p>
            <a:fld id="{DAB949B3-C4AB-4FB2-8B24-B07A558BD59F}" type="slidenum">
              <a:rPr lang="en-IN" smtClean="0"/>
              <a:pPr/>
              <a:t>45</a:t>
            </a:fld>
            <a:endParaRPr lang="en-IN"/>
          </a:p>
        </p:txBody>
      </p:sp>
      <p:sp>
        <p:nvSpPr>
          <p:cNvPr id="5" name="Footer Placeholder 4">
            <a:extLst>
              <a:ext uri="{FF2B5EF4-FFF2-40B4-BE49-F238E27FC236}">
                <a16:creationId xmlns:a16="http://schemas.microsoft.com/office/drawing/2014/main" id="{70B91893-4085-C462-34C7-62009F671A0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CDBF22EB-BB34-192D-BF9C-887F3BB083A2}"/>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987687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CED0-61A1-4EE8-071E-3F12E895C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9C6C7-1852-75E2-2B5B-874AF53B6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2B38B-A4A4-41D2-AE24-1564DBE5E2E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F3E916F-AD0F-8292-F8F2-8A60708EB601}"/>
              </a:ext>
            </a:extLst>
          </p:cNvPr>
          <p:cNvSpPr>
            <a:spLocks noGrp="1"/>
          </p:cNvSpPr>
          <p:nvPr>
            <p:ph type="sldNum" sz="quarter" idx="5"/>
          </p:nvPr>
        </p:nvSpPr>
        <p:spPr/>
        <p:txBody>
          <a:bodyPr/>
          <a:lstStyle/>
          <a:p>
            <a:fld id="{DAB949B3-C4AB-4FB2-8B24-B07A558BD59F}" type="slidenum">
              <a:rPr lang="en-IN" smtClean="0"/>
              <a:pPr/>
              <a:t>46</a:t>
            </a:fld>
            <a:endParaRPr lang="en-IN"/>
          </a:p>
        </p:txBody>
      </p:sp>
      <p:sp>
        <p:nvSpPr>
          <p:cNvPr id="5" name="Footer Placeholder 4">
            <a:extLst>
              <a:ext uri="{FF2B5EF4-FFF2-40B4-BE49-F238E27FC236}">
                <a16:creationId xmlns:a16="http://schemas.microsoft.com/office/drawing/2014/main" id="{BFE744B8-3DE0-4A1C-5858-84B62E14AE4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F6439B97-2D20-FBA6-2780-E6DB3AB6134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0517447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5E08-3F4D-8767-E118-9E07EE07B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0DE44-2889-685E-BE33-BEBA2B6D2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C07D4-33C5-42CD-352E-9722488F37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D11B7C11-8EEC-F84A-E835-6AB369694E5A}"/>
              </a:ext>
            </a:extLst>
          </p:cNvPr>
          <p:cNvSpPr>
            <a:spLocks noGrp="1"/>
          </p:cNvSpPr>
          <p:nvPr>
            <p:ph type="sldNum" sz="quarter" idx="5"/>
          </p:nvPr>
        </p:nvSpPr>
        <p:spPr/>
        <p:txBody>
          <a:bodyPr/>
          <a:lstStyle/>
          <a:p>
            <a:fld id="{DAB949B3-C4AB-4FB2-8B24-B07A558BD59F}" type="slidenum">
              <a:rPr lang="en-IN" smtClean="0"/>
              <a:t>47</a:t>
            </a:fld>
            <a:endParaRPr lang="en-IN"/>
          </a:p>
        </p:txBody>
      </p:sp>
    </p:spTree>
    <p:extLst>
      <p:ext uri="{BB962C8B-B14F-4D97-AF65-F5344CB8AC3E}">
        <p14:creationId xmlns:p14="http://schemas.microsoft.com/office/powerpoint/2010/main" val="1204626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11-02-2026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11-02-2026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11-02-2026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8" Type="http://schemas.openxmlformats.org/officeDocument/2006/relationships/hyperlink" Target="https://www.tutorialspoint.com/data_structures_algorithms/linked_list_algorithms.htm" TargetMode="External"/><Relationship Id="rId3" Type="http://schemas.openxmlformats.org/officeDocument/2006/relationships/image" Target="../media/image1.png"/><Relationship Id="rId7" Type="http://schemas.openxmlformats.org/officeDocument/2006/relationships/hyperlink" Target="https://www.programiz.com/dsa/queue?utm_source=chatgpt.com"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hyperlink" Target="https://www.w3schools.com/dsa/dsa_data_stacks.php?utm_source=chatgpt.com" TargetMode="External"/><Relationship Id="rId5" Type="http://schemas.openxmlformats.org/officeDocument/2006/relationships/hyperlink" Target="https://www.geeksforgeeks.org/dsa/dsa-tutorial-learn-data-structures-and-algorithms/?utm_source=chatgpt.com" TargetMode="Externa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20</a:t>
            </a:r>
          </a:p>
        </p:txBody>
      </p:sp>
      <p:sp>
        <p:nvSpPr>
          <p:cNvPr id="2" name="TextBox 1"/>
          <p:cNvSpPr txBox="1"/>
          <p:nvPr/>
        </p:nvSpPr>
        <p:spPr>
          <a:xfrm>
            <a:off x="892280" y="1347520"/>
            <a:ext cx="7315198" cy="4939814"/>
          </a:xfrm>
          <a:prstGeom prst="rect">
            <a:avLst/>
          </a:prstGeom>
          <a:noFill/>
        </p:spPr>
        <p:txBody>
          <a:bodyPr wrap="square" rtlCol="0">
            <a:spAutoFit/>
          </a:bodyPr>
          <a:lstStyle/>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Arrays: 1-D &amp; 2-D (Core Concepts)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Static vs Dynamic Arrays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Linked List: Types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Stack ADT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Stack Applications (Expression Evaluation, Conversion, Recursion)</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Queue ADT &amp; Operations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Linear Queue &amp; Circular Queue</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Queue Applications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BFS using Queue</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Numerical Problems &amp; Tracing Techniques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Key Takeaways</a:t>
            </a:r>
          </a:p>
          <a:p>
            <a:pPr marL="268288" lvl="0" indent="-268288" algn="just" eaLnBrk="0" fontAlgn="base" hangingPunct="0">
              <a:spcBef>
                <a:spcPts val="600"/>
              </a:spcBef>
              <a:spcAft>
                <a:spcPct val="0"/>
              </a:spcAft>
              <a:buFontTx/>
              <a:buChar char="•"/>
            </a:pPr>
            <a:r>
              <a:rPr lang="en-US" altLang="en-US" sz="2000" dirty="0">
                <a:latin typeface="Times New Roman" panose="02020603050405020304" pitchFamily="18" charset="0"/>
                <a:cs typeface="Times New Roman" panose="02020603050405020304" pitchFamily="18" charset="0"/>
              </a:rPr>
              <a:t>References</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Revision (Unit-2)</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51521" y="1144905"/>
            <a:ext cx="8496942" cy="4919616"/>
          </a:xfrm>
          <a:prstGeom prst="rect">
            <a:avLst/>
          </a:prstGeom>
          <a:noFill/>
        </p:spPr>
        <p:txBody>
          <a:bodyPr wrap="square" rtlCol="0">
            <a:spAutoFit/>
          </a:bodyPr>
          <a:lstStyle/>
          <a:p>
            <a:pPr>
              <a:lnSpc>
                <a:spcPct val="150000"/>
              </a:lnSpc>
              <a:spcAft>
                <a:spcPts val="600"/>
              </a:spcAft>
            </a:pPr>
            <a:r>
              <a:rPr lang="en-US" sz="2400" dirty="0">
                <a:latin typeface="Times New Roman" panose="02020603050405020304" pitchFamily="18" charset="0"/>
                <a:cs typeface="Times New Roman" panose="02020603050405020304" pitchFamily="18" charset="0"/>
              </a:rPr>
              <a:t>After this revision session, students will be able to:</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the concepts of </a:t>
            </a:r>
            <a:r>
              <a:rPr lang="en-US" sz="2400" b="1" dirty="0">
                <a:latin typeface="Times New Roman" panose="02020603050405020304" pitchFamily="18" charset="0"/>
                <a:cs typeface="Times New Roman" panose="02020603050405020304" pitchFamily="18" charset="0"/>
              </a:rPr>
              <a:t>arrays, linked lists, stacks, and queues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the difference between </a:t>
            </a:r>
            <a:r>
              <a:rPr lang="en-US" sz="2400" b="1" dirty="0">
                <a:latin typeface="Times New Roman" panose="02020603050405020304" pitchFamily="18" charset="0"/>
                <a:cs typeface="Times New Roman" panose="02020603050405020304" pitchFamily="18" charset="0"/>
              </a:rPr>
              <a:t>static and dynamic arrays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 </a:t>
            </a:r>
            <a:r>
              <a:rPr lang="en-US" sz="2400" b="1" dirty="0">
                <a:latin typeface="Times New Roman" panose="02020603050405020304" pitchFamily="18" charset="0"/>
                <a:cs typeface="Times New Roman" panose="02020603050405020304" pitchFamily="18" charset="0"/>
              </a:rPr>
              <a:t>types of linked lists</a:t>
            </a:r>
            <a:r>
              <a:rPr lang="en-US" sz="2400" dirty="0">
                <a:latin typeface="Times New Roman" panose="02020603050405020304" pitchFamily="18" charset="0"/>
                <a:cs typeface="Times New Roman" panose="02020603050405020304" pitchFamily="18" charset="0"/>
              </a:rPr>
              <a:t> and perform basic operations</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Apply </a:t>
            </a:r>
            <a:r>
              <a:rPr lang="en-US" sz="2400" b="1" dirty="0">
                <a:latin typeface="Times New Roman" panose="02020603050405020304" pitchFamily="18" charset="0"/>
                <a:cs typeface="Times New Roman" panose="02020603050405020304" pitchFamily="18" charset="0"/>
              </a:rPr>
              <a:t>stack algorithms</a:t>
            </a:r>
            <a:r>
              <a:rPr lang="en-US" sz="2400" dirty="0">
                <a:latin typeface="Times New Roman" panose="02020603050405020304" pitchFamily="18" charset="0"/>
                <a:cs typeface="Times New Roman" panose="02020603050405020304" pitchFamily="18" charset="0"/>
              </a:rPr>
              <a:t> for expression evaluation and conversion</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Recall </a:t>
            </a:r>
            <a:r>
              <a:rPr lang="en-US" sz="2400" b="1" dirty="0">
                <a:latin typeface="Times New Roman" panose="02020603050405020304" pitchFamily="18" charset="0"/>
                <a:cs typeface="Times New Roman" panose="02020603050405020304" pitchFamily="18" charset="0"/>
              </a:rPr>
              <a:t>queue operations</a:t>
            </a:r>
            <a:r>
              <a:rPr lang="en-US" sz="2400" dirty="0">
                <a:latin typeface="Times New Roman" panose="02020603050405020304" pitchFamily="18" charset="0"/>
                <a:cs typeface="Times New Roman" panose="02020603050405020304" pitchFamily="18" charset="0"/>
              </a:rPr>
              <a:t> including circular queue conditions</a:t>
            </a:r>
          </a:p>
          <a:p>
            <a:pPr marL="342900" indent="-342900">
              <a:lnSpc>
                <a:spcPct val="15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Trace </a:t>
            </a:r>
            <a:r>
              <a:rPr lang="en-US" sz="2400" b="1" dirty="0">
                <a:latin typeface="Times New Roman" panose="02020603050405020304" pitchFamily="18" charset="0"/>
                <a:cs typeface="Times New Roman" panose="02020603050405020304" pitchFamily="18" charset="0"/>
              </a:rPr>
              <a:t>numerical problems</a:t>
            </a:r>
            <a:r>
              <a:rPr lang="en-US" sz="2400" dirty="0">
                <a:latin typeface="Times New Roman" panose="02020603050405020304" pitchFamily="18" charset="0"/>
                <a:cs typeface="Times New Roman" panose="02020603050405020304" pitchFamily="18" charset="0"/>
              </a:rPr>
              <a:t> involving stack and queue</a:t>
            </a:r>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08D0E-CCF7-BFF9-356C-3AA3EF752BD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0802742-1E44-7D26-3848-82821AC3977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C6DF749B-9617-052F-16E2-9BE92484CAD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1D10F52-026F-8B65-35AA-547AEAE998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421D08D-1DDE-DB6C-5AE7-FDF857975BD2}"/>
              </a:ext>
            </a:extLst>
          </p:cNvPr>
          <p:cNvSpPr txBox="1"/>
          <p:nvPr/>
        </p:nvSpPr>
        <p:spPr>
          <a:xfrm>
            <a:off x="390853" y="1194822"/>
            <a:ext cx="8219747" cy="5539978"/>
          </a:xfrm>
          <a:prstGeom prst="rect">
            <a:avLst/>
          </a:prstGeom>
          <a:noFill/>
        </p:spPr>
        <p:txBody>
          <a:bodyPr wrap="square">
            <a:spAutoFit/>
          </a:bodyPr>
          <a:lstStyle/>
          <a:p>
            <a:pPr lvl="0" eaLnBrk="0" fontAlgn="base" hangingPunct="0">
              <a:spcBef>
                <a:spcPts val="600"/>
              </a:spcBef>
              <a:spcAft>
                <a:spcPts val="600"/>
              </a:spcAft>
            </a:pPr>
            <a:r>
              <a:rPr lang="en-US" altLang="en-US" sz="2000" b="1" dirty="0">
                <a:latin typeface="Times New Roman" panose="02020603050405020304" pitchFamily="18" charset="0"/>
                <a:cs typeface="Times New Roman" panose="02020603050405020304" pitchFamily="18" charset="0"/>
              </a:rPr>
              <a:t>Arrays – Core Concepts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Linear data structure storing </a:t>
            </a:r>
            <a:r>
              <a:rPr lang="en-US" altLang="en-US" sz="2000" b="1" dirty="0">
                <a:latin typeface="Times New Roman" panose="02020603050405020304" pitchFamily="18" charset="0"/>
                <a:cs typeface="Times New Roman" panose="02020603050405020304" pitchFamily="18" charset="0"/>
              </a:rPr>
              <a:t>same data type elements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contiguous memory locations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Accessed using </a:t>
            </a:r>
            <a:r>
              <a:rPr lang="en-US" altLang="en-US" sz="2000" b="1" dirty="0">
                <a:latin typeface="Times New Roman" panose="02020603050405020304" pitchFamily="18" charset="0"/>
                <a:cs typeface="Times New Roman" panose="02020603050405020304" pitchFamily="18" charset="0"/>
              </a:rPr>
              <a:t>index (starts from 0)</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ts val="600"/>
              </a:spcBef>
              <a:spcAft>
                <a:spcPts val="600"/>
              </a:spcAft>
            </a:pPr>
            <a:r>
              <a:rPr lang="en-US" altLang="en-US" sz="2000" b="1" dirty="0">
                <a:latin typeface="Times New Roman" panose="02020603050405020304" pitchFamily="18" charset="0"/>
                <a:cs typeface="Times New Roman" panose="02020603050405020304" pitchFamily="18" charset="0"/>
              </a:rPr>
              <a:t>1-D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 elements in a single row</a:t>
            </a: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Common operations: traversal, sum, search, update</a:t>
            </a:r>
          </a:p>
          <a:p>
            <a:pPr lvl="0" eaLnBrk="0" fontAlgn="base" hangingPunct="0">
              <a:spcBef>
                <a:spcPts val="600"/>
              </a:spcBef>
              <a:spcAft>
                <a:spcPts val="600"/>
              </a:spcAft>
            </a:pPr>
            <a:r>
              <a:rPr lang="en-US" altLang="en-US" sz="2000" b="1" dirty="0">
                <a:latin typeface="Times New Roman" panose="02020603050405020304" pitchFamily="18" charset="0"/>
                <a:cs typeface="Times New Roman" panose="02020603050405020304" pitchFamily="18" charset="0"/>
              </a:rPr>
              <a:t>2-D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Array of arrays (rows × columns)</a:t>
            </a: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Access format: array[row][column]</a:t>
            </a:r>
          </a:p>
          <a:p>
            <a:pPr marL="342900" lvl="0" indent="-342900" eaLnBrk="0" fontAlgn="base" hangingPunct="0">
              <a:spcBef>
                <a:spcPts val="600"/>
              </a:spcBef>
              <a:spcAft>
                <a:spcPts val="60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Used for matrices, tables, grids</a:t>
            </a:r>
          </a:p>
          <a:p>
            <a:pPr lvl="0" eaLnBrk="0" fontAlgn="base" hangingPunct="0">
              <a:spcBef>
                <a:spcPts val="600"/>
              </a:spcBef>
              <a:spcAft>
                <a:spcPts val="600"/>
              </a:spcAft>
            </a:pPr>
            <a:endParaRPr lang="en-US" altLang="en-US" sz="2400" dirty="0">
              <a:latin typeface="Arial" panose="020B0604020202020204" pitchFamily="34" charset="0"/>
            </a:endParaRPr>
          </a:p>
        </p:txBody>
      </p:sp>
      <p:sp>
        <p:nvSpPr>
          <p:cNvPr id="3" name="Footer Placeholder 2">
            <a:extLst>
              <a:ext uri="{FF2B5EF4-FFF2-40B4-BE49-F238E27FC236}">
                <a16:creationId xmlns:a16="http://schemas.microsoft.com/office/drawing/2014/main" id="{6D4E45A8-40B1-5921-5CEC-2DB6CAD9E2DD}"/>
              </a:ext>
            </a:extLst>
          </p:cNvPr>
          <p:cNvSpPr>
            <a:spLocks noGrp="1"/>
          </p:cNvSpPr>
          <p:nvPr>
            <p:ph type="ftr" sz="quarter" idx="11"/>
          </p:nvPr>
        </p:nvSpPr>
        <p:spPr/>
        <p:txBody>
          <a:bodyPr/>
          <a:lstStyle/>
          <a:p>
            <a:r>
              <a:rPr lang="en-IN"/>
              <a:t>Data  Structure         Unit2  </a:t>
            </a:r>
          </a:p>
        </p:txBody>
      </p:sp>
      <p:sp>
        <p:nvSpPr>
          <p:cNvPr id="5" name="TextBox 4">
            <a:extLst>
              <a:ext uri="{FF2B5EF4-FFF2-40B4-BE49-F238E27FC236}">
                <a16:creationId xmlns:a16="http://schemas.microsoft.com/office/drawing/2014/main" id="{DF11D93B-6181-D9AD-AFDE-1134FC9C8CE0}"/>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sz="2800" b="1" dirty="0">
                <a:solidFill>
                  <a:srgbClr val="FF0000"/>
                </a:solidFill>
              </a:rPr>
              <a:t>Revision Summary: Arrays (1D, 2D, Static &amp; Dynamic)</a:t>
            </a:r>
          </a:p>
        </p:txBody>
      </p:sp>
    </p:spTree>
    <p:extLst>
      <p:ext uri="{BB962C8B-B14F-4D97-AF65-F5344CB8AC3E}">
        <p14:creationId xmlns:p14="http://schemas.microsoft.com/office/powerpoint/2010/main" val="246210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5931-E8E5-4654-EF2D-06A255D67F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96AC98-6EC5-D02D-4EFE-D35E3DD6B12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0EDCFF5-C152-2823-5351-50F020B9CBE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E308CF1-50BD-57AF-E3A0-9420C9D8E9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62B289B-EA6B-727E-EC86-0EA02F48AD6B}"/>
              </a:ext>
            </a:extLst>
          </p:cNvPr>
          <p:cNvSpPr txBox="1"/>
          <p:nvPr/>
        </p:nvSpPr>
        <p:spPr>
          <a:xfrm>
            <a:off x="390853" y="1194822"/>
            <a:ext cx="8219747" cy="4308872"/>
          </a:xfrm>
          <a:prstGeom prst="rect">
            <a:avLst/>
          </a:prstGeom>
          <a:noFill/>
        </p:spPr>
        <p:txBody>
          <a:bodyPr wrap="square">
            <a:spAutoFit/>
          </a:bodyPr>
          <a:lstStyle/>
          <a:p>
            <a:pPr lvl="0" eaLnBrk="0" fontAlgn="base" hangingPunct="0">
              <a:spcBef>
                <a:spcPts val="600"/>
              </a:spcBef>
              <a:spcAft>
                <a:spcPct val="0"/>
              </a:spcAft>
            </a:pPr>
            <a:r>
              <a:rPr lang="en-US" altLang="en-US" sz="2000" b="1" dirty="0">
                <a:latin typeface="Times New Roman" panose="02020603050405020304" pitchFamily="18" charset="0"/>
                <a:cs typeface="Times New Roman" panose="02020603050405020304" pitchFamily="18" charset="0"/>
              </a:rPr>
              <a:t>Static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Size fixed at compile time</a:t>
            </a: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stack memory</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Faster access, less flexible</a:t>
            </a:r>
          </a:p>
          <a:p>
            <a:pPr lvl="0" eaLnBrk="0" fontAlgn="base" hangingPunct="0">
              <a:spcBef>
                <a:spcPts val="600"/>
              </a:spcBef>
              <a:spcAft>
                <a:spcPct val="0"/>
              </a:spcAft>
            </a:pPr>
            <a:r>
              <a:rPr lang="en-US" altLang="en-US" sz="2000" b="1" dirty="0">
                <a:latin typeface="Times New Roman" panose="02020603050405020304" pitchFamily="18" charset="0"/>
                <a:cs typeface="Times New Roman" panose="02020603050405020304" pitchFamily="18" charset="0"/>
              </a:rPr>
              <a:t>Dynamic Arrays</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Size decided at runtime</a:t>
            </a: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Stored in </a:t>
            </a:r>
            <a:r>
              <a:rPr lang="en-US" altLang="en-US" sz="2000" b="1" dirty="0">
                <a:latin typeface="Times New Roman" panose="02020603050405020304" pitchFamily="18" charset="0"/>
                <a:cs typeface="Times New Roman" panose="02020603050405020304" pitchFamily="18" charset="0"/>
              </a:rPr>
              <a:t>heap memory</a:t>
            </a: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Flexible, efficient memory usage</a:t>
            </a:r>
          </a:p>
          <a:p>
            <a:pPr marL="342900" lvl="0" indent="-342900" eaLnBrk="0" fontAlgn="base" hangingPunct="0">
              <a:spcBef>
                <a:spcPts val="600"/>
              </a:spcBef>
              <a:spcAft>
                <a:spcPct val="0"/>
              </a:spcAf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Python </a:t>
            </a:r>
            <a:r>
              <a:rPr lang="en-US" altLang="en-US" sz="2000" b="1" dirty="0">
                <a:latin typeface="Times New Roman" panose="02020603050405020304" pitchFamily="18" charset="0"/>
                <a:cs typeface="Times New Roman" panose="02020603050405020304" pitchFamily="18" charset="0"/>
              </a:rPr>
              <a:t>list</a:t>
            </a:r>
            <a:r>
              <a:rPr lang="en-US" altLang="en-US" sz="2000" dirty="0">
                <a:latin typeface="Times New Roman" panose="02020603050405020304" pitchFamily="18" charset="0"/>
                <a:cs typeface="Times New Roman" panose="02020603050405020304" pitchFamily="18" charset="0"/>
              </a:rPr>
              <a:t> behaves as a dynamic array</a:t>
            </a:r>
          </a:p>
          <a:p>
            <a:pPr lvl="0" algn="ctr" eaLnBrk="0" fontAlgn="base" hangingPunct="0">
              <a:spcBef>
                <a:spcPts val="600"/>
              </a:spcBef>
              <a:spcAft>
                <a:spcPct val="0"/>
              </a:spcAft>
            </a:pPr>
            <a:r>
              <a:rPr lang="en-US" altLang="en-US" sz="2000" b="1" dirty="0">
                <a:latin typeface="Times New Roman" panose="02020603050405020304" pitchFamily="18" charset="0"/>
                <a:cs typeface="Times New Roman" panose="02020603050405020304" pitchFamily="18" charset="0"/>
              </a:rPr>
              <a:t>Comparison </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ts val="600"/>
              </a:spcBef>
              <a:spcAft>
                <a:spcPct val="0"/>
              </a:spcAft>
            </a:pPr>
            <a:endParaRPr lang="en-US" altLang="en-US" sz="2400" dirty="0">
              <a:latin typeface="Arial" panose="020B0604020202020204" pitchFamily="34" charset="0"/>
            </a:endParaRPr>
          </a:p>
        </p:txBody>
      </p:sp>
      <p:sp>
        <p:nvSpPr>
          <p:cNvPr id="2" name="TextBox 1">
            <a:extLst>
              <a:ext uri="{FF2B5EF4-FFF2-40B4-BE49-F238E27FC236}">
                <a16:creationId xmlns:a16="http://schemas.microsoft.com/office/drawing/2014/main" id="{7B2E394C-FB02-754E-AB96-3CF98C74026E}"/>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sz="2800" b="1" dirty="0">
                <a:solidFill>
                  <a:srgbClr val="FF0000"/>
                </a:solidFill>
              </a:rPr>
              <a:t>Revision Summary: Arrays (1D, 2D, Static &amp; Dynamic)</a:t>
            </a:r>
          </a:p>
        </p:txBody>
      </p:sp>
      <p:sp>
        <p:nvSpPr>
          <p:cNvPr id="3" name="Footer Placeholder 2">
            <a:extLst>
              <a:ext uri="{FF2B5EF4-FFF2-40B4-BE49-F238E27FC236}">
                <a16:creationId xmlns:a16="http://schemas.microsoft.com/office/drawing/2014/main" id="{8D8173AC-BCA9-9DC7-A69B-B693F18F16EE}"/>
              </a:ext>
            </a:extLst>
          </p:cNvPr>
          <p:cNvSpPr>
            <a:spLocks noGrp="1"/>
          </p:cNvSpPr>
          <p:nvPr>
            <p:ph type="ftr" sz="quarter" idx="11"/>
          </p:nvPr>
        </p:nvSpPr>
        <p:spPr/>
        <p:txBody>
          <a:bodyPr/>
          <a:lstStyle/>
          <a:p>
            <a:r>
              <a:rPr lang="en-IN"/>
              <a:t>Data  Structure         Unit2  </a:t>
            </a:r>
          </a:p>
        </p:txBody>
      </p:sp>
      <p:graphicFrame>
        <p:nvGraphicFramePr>
          <p:cNvPr id="10" name="Table 9">
            <a:extLst>
              <a:ext uri="{FF2B5EF4-FFF2-40B4-BE49-F238E27FC236}">
                <a16:creationId xmlns:a16="http://schemas.microsoft.com/office/drawing/2014/main" id="{08FD4C8B-8269-769E-A9E0-45570825E385}"/>
              </a:ext>
            </a:extLst>
          </p:cNvPr>
          <p:cNvGraphicFramePr>
            <a:graphicFrameLocks noGrp="1"/>
          </p:cNvGraphicFramePr>
          <p:nvPr>
            <p:extLst>
              <p:ext uri="{D42A27DB-BD31-4B8C-83A1-F6EECF244321}">
                <p14:modId xmlns:p14="http://schemas.microsoft.com/office/powerpoint/2010/main" val="547689039"/>
              </p:ext>
            </p:extLst>
          </p:nvPr>
        </p:nvGraphicFramePr>
        <p:xfrm>
          <a:off x="771852" y="5066704"/>
          <a:ext cx="8229600" cy="1524000"/>
        </p:xfrm>
        <a:graphic>
          <a:graphicData uri="http://schemas.openxmlformats.org/drawingml/2006/table">
            <a:tbl>
              <a:tblPr/>
              <a:tblGrid>
                <a:gridCol w="2743200">
                  <a:extLst>
                    <a:ext uri="{9D8B030D-6E8A-4147-A177-3AD203B41FA5}">
                      <a16:colId xmlns:a16="http://schemas.microsoft.com/office/drawing/2014/main" val="3695711293"/>
                    </a:ext>
                  </a:extLst>
                </a:gridCol>
                <a:gridCol w="2743200">
                  <a:extLst>
                    <a:ext uri="{9D8B030D-6E8A-4147-A177-3AD203B41FA5}">
                      <a16:colId xmlns:a16="http://schemas.microsoft.com/office/drawing/2014/main" val="803945152"/>
                    </a:ext>
                  </a:extLst>
                </a:gridCol>
                <a:gridCol w="2743200">
                  <a:extLst>
                    <a:ext uri="{9D8B030D-6E8A-4147-A177-3AD203B41FA5}">
                      <a16:colId xmlns:a16="http://schemas.microsoft.com/office/drawing/2014/main" val="4112721094"/>
                    </a:ext>
                  </a:extLst>
                </a:gridCol>
              </a:tblGrid>
              <a:tr h="0">
                <a:tc>
                  <a:txBody>
                    <a:bodyPr/>
                    <a:lstStyle/>
                    <a:p>
                      <a:pPr>
                        <a:buNone/>
                      </a:pPr>
                      <a:r>
                        <a:rPr lang="en-IN" sz="1400" b="1">
                          <a:latin typeface="Times New Roman" panose="02020603050405020304" pitchFamily="18" charset="0"/>
                          <a:cs typeface="Times New Roman" panose="02020603050405020304" pitchFamily="18"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Static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Dynamic 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4087676"/>
                  </a:ext>
                </a:extLst>
              </a:tr>
              <a:tr h="0">
                <a:tc>
                  <a:txBody>
                    <a:bodyPr/>
                    <a:lstStyle/>
                    <a:p>
                      <a:pPr>
                        <a:buNone/>
                      </a:pPr>
                      <a:r>
                        <a:rPr lang="en-IN" sz="1400">
                          <a:latin typeface="Times New Roman" panose="02020603050405020304" pitchFamily="18" charset="0"/>
                          <a:cs typeface="Times New Roman" panose="02020603050405020304" pitchFamily="18" charset="0"/>
                        </a:rPr>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Fixed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Resizable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4610229"/>
                  </a:ext>
                </a:extLst>
              </a:tr>
              <a:tr h="0">
                <a:tc>
                  <a:txBody>
                    <a:bodyPr/>
                    <a:lstStyle/>
                    <a:p>
                      <a:pPr>
                        <a:buNone/>
                      </a:pPr>
                      <a:r>
                        <a:rPr lang="en-IN" sz="1400" dirty="0">
                          <a:latin typeface="Times New Roman" panose="02020603050405020304" pitchFamily="18" charset="0"/>
                          <a:cs typeface="Times New Roman" panose="02020603050405020304" pitchFamily="18" charset="0"/>
                        </a:rPr>
                        <a:t>Memory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Heap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4694467"/>
                  </a:ext>
                </a:extLst>
              </a:tr>
              <a:tr h="0">
                <a:tc>
                  <a:txBody>
                    <a:bodyPr/>
                    <a:lstStyle/>
                    <a:p>
                      <a:pPr>
                        <a:buNone/>
                      </a:pPr>
                      <a:r>
                        <a:rPr lang="en-IN" sz="1400">
                          <a:latin typeface="Times New Roman" panose="02020603050405020304" pitchFamily="18" charset="0"/>
                          <a:cs typeface="Times New Roman" panose="02020603050405020304" pitchFamily="18" charset="0"/>
                        </a:rPr>
                        <a:t>Speed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Faster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Slightly slower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3022848"/>
                  </a:ext>
                </a:extLst>
              </a:tr>
              <a:tr h="0">
                <a:tc>
                  <a:txBody>
                    <a:bodyPr/>
                    <a:lstStyle/>
                    <a:p>
                      <a:pPr>
                        <a:buNone/>
                      </a:pPr>
                      <a:r>
                        <a:rPr lang="en-IN" sz="1400">
                          <a:latin typeface="Times New Roman" panose="02020603050405020304" pitchFamily="18" charset="0"/>
                          <a:cs typeface="Times New Roman" panose="02020603050405020304" pitchFamily="18" charset="0"/>
                        </a:rPr>
                        <a:t>Flexibility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436372"/>
                  </a:ext>
                </a:extLst>
              </a:tr>
            </a:tbl>
          </a:graphicData>
        </a:graphic>
      </p:graphicFrame>
    </p:spTree>
    <p:extLst>
      <p:ext uri="{BB962C8B-B14F-4D97-AF65-F5344CB8AC3E}">
        <p14:creationId xmlns:p14="http://schemas.microsoft.com/office/powerpoint/2010/main" val="189127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D397-CCA9-34D6-1A66-3C58740863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8A9BF83-EA6E-CDFA-4F6E-B6E8FD9734E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4481725-708D-3462-1874-F85A57F6F9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37A5152-DE04-8708-7F4D-68B1638683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7FDE406-31CE-D716-0975-54C64EFE46CE}"/>
              </a:ext>
            </a:extLst>
          </p:cNvPr>
          <p:cNvSpPr txBox="1"/>
          <p:nvPr/>
        </p:nvSpPr>
        <p:spPr>
          <a:xfrm>
            <a:off x="390853" y="1194822"/>
            <a:ext cx="8219747" cy="2416046"/>
          </a:xfrm>
          <a:prstGeom prst="rect">
            <a:avLst/>
          </a:prstGeom>
          <a:noFill/>
        </p:spPr>
        <p:txBody>
          <a:bodyPr wrap="square">
            <a:spAutoFit/>
          </a:bodyPr>
          <a:lstStyle/>
          <a:p>
            <a:pPr>
              <a:spcBef>
                <a:spcPts val="600"/>
              </a:spcBef>
            </a:pPr>
            <a:r>
              <a:rPr lang="en-IN" b="1" dirty="0">
                <a:latin typeface="Times New Roman" panose="02020603050405020304" pitchFamily="18" charset="0"/>
                <a:cs typeface="Times New Roman" panose="02020603050405020304" pitchFamily="18" charset="0"/>
              </a:rPr>
              <a:t>Linked List – Core Idea</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Linear data structure of </a:t>
            </a:r>
            <a:r>
              <a:rPr lang="en-IN" b="1" dirty="0">
                <a:latin typeface="Times New Roman" panose="02020603050405020304" pitchFamily="18" charset="0"/>
                <a:cs typeface="Times New Roman" panose="02020603050405020304" pitchFamily="18" charset="0"/>
              </a:rPr>
              <a:t>nodes</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Each node = </a:t>
            </a:r>
            <a:r>
              <a:rPr lang="en-IN" b="1" dirty="0">
                <a:latin typeface="Times New Roman" panose="02020603050405020304" pitchFamily="18" charset="0"/>
                <a:cs typeface="Times New Roman" panose="02020603050405020304" pitchFamily="18" charset="0"/>
              </a:rPr>
              <a:t>data + pointer(s)</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Stored in </a:t>
            </a:r>
            <a:r>
              <a:rPr lang="en-IN" b="1" dirty="0">
                <a:latin typeface="Times New Roman" panose="02020603050405020304" pitchFamily="18" charset="0"/>
                <a:cs typeface="Times New Roman" panose="02020603050405020304" pitchFamily="18" charset="0"/>
              </a:rPr>
              <a:t>non-contiguous memory</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First node → </a:t>
            </a:r>
            <a:r>
              <a:rPr lang="en-IN" b="1" dirty="0">
                <a:latin typeface="Times New Roman" panose="02020603050405020304" pitchFamily="18" charset="0"/>
                <a:cs typeface="Times New Roman" panose="02020603050405020304" pitchFamily="18" charset="0"/>
              </a:rPr>
              <a:t>Head</a:t>
            </a:r>
            <a:endParaRPr lang="en-IN" dirty="0">
              <a:latin typeface="Times New Roman" panose="02020603050405020304" pitchFamily="18" charset="0"/>
              <a:cs typeface="Times New Roman" panose="02020603050405020304" pitchFamily="18" charset="0"/>
            </a:endParaRPr>
          </a:p>
          <a:p>
            <a:pPr>
              <a:spcBef>
                <a:spcPts val="600"/>
              </a:spcBef>
            </a:pP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Types of Linked Lists:</a:t>
            </a:r>
          </a:p>
        </p:txBody>
      </p:sp>
      <p:sp>
        <p:nvSpPr>
          <p:cNvPr id="2" name="TextBox 1">
            <a:extLst>
              <a:ext uri="{FF2B5EF4-FFF2-40B4-BE49-F238E27FC236}">
                <a16:creationId xmlns:a16="http://schemas.microsoft.com/office/drawing/2014/main" id="{0D40BE01-CA50-192D-6053-81D7321490AA}"/>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8C896DB4-427E-5E25-29F0-D04FF29318BA}"/>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3B179785-29EF-F9D5-C03A-C92800FB3A94}"/>
              </a:ext>
            </a:extLst>
          </p:cNvPr>
          <p:cNvGraphicFramePr>
            <a:graphicFrameLocks noGrp="1"/>
          </p:cNvGraphicFramePr>
          <p:nvPr>
            <p:extLst>
              <p:ext uri="{D42A27DB-BD31-4B8C-83A1-F6EECF244321}">
                <p14:modId xmlns:p14="http://schemas.microsoft.com/office/powerpoint/2010/main" val="2630036807"/>
              </p:ext>
            </p:extLst>
          </p:nvPr>
        </p:nvGraphicFramePr>
        <p:xfrm>
          <a:off x="569198" y="3708485"/>
          <a:ext cx="8219748" cy="2331720"/>
        </p:xfrm>
        <a:graphic>
          <a:graphicData uri="http://schemas.openxmlformats.org/drawingml/2006/table">
            <a:tbl>
              <a:tblPr firstRow="1" bandRow="1">
                <a:tableStyleId>{5C22544A-7EE6-4342-B048-85BDC9FD1C3A}</a:tableStyleId>
              </a:tblPr>
              <a:tblGrid>
                <a:gridCol w="2739916">
                  <a:extLst>
                    <a:ext uri="{9D8B030D-6E8A-4147-A177-3AD203B41FA5}">
                      <a16:colId xmlns:a16="http://schemas.microsoft.com/office/drawing/2014/main" val="2785053988"/>
                    </a:ext>
                  </a:extLst>
                </a:gridCol>
                <a:gridCol w="2739916">
                  <a:extLst>
                    <a:ext uri="{9D8B030D-6E8A-4147-A177-3AD203B41FA5}">
                      <a16:colId xmlns:a16="http://schemas.microsoft.com/office/drawing/2014/main" val="928999470"/>
                    </a:ext>
                  </a:extLst>
                </a:gridCol>
                <a:gridCol w="2739916">
                  <a:extLst>
                    <a:ext uri="{9D8B030D-6E8A-4147-A177-3AD203B41FA5}">
                      <a16:colId xmlns:a16="http://schemas.microsoft.com/office/drawing/2014/main" val="3212265528"/>
                    </a:ext>
                  </a:extLst>
                </a:gridCol>
              </a:tblGrid>
              <a:tr h="0">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Singly Linked List</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Doubly Linked List</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IN" b="1" dirty="0">
                          <a:latin typeface="Times New Roman" panose="02020603050405020304" pitchFamily="18" charset="0"/>
                          <a:cs typeface="Times New Roman" panose="02020603050405020304" pitchFamily="18" charset="0"/>
                        </a:rPr>
                        <a:t>Circular Linked List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2870244"/>
                  </a:ext>
                </a:extLst>
              </a:tr>
              <a:tr h="370840">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One pointer (next)</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Forward traversal only</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Least memory usage</a:t>
                      </a:r>
                    </a:p>
                    <a:p>
                      <a:pPr>
                        <a:spcBef>
                          <a:spcPts val="600"/>
                        </a:spcBef>
                      </a:pP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Two pointers (</a:t>
                      </a:r>
                      <a:r>
                        <a:rPr lang="en-IN" dirty="0" err="1">
                          <a:latin typeface="Times New Roman" panose="02020603050405020304" pitchFamily="18" charset="0"/>
                          <a:cs typeface="Times New Roman" panose="02020603050405020304" pitchFamily="18" charset="0"/>
                        </a:rPr>
                        <a:t>prev</a:t>
                      </a:r>
                      <a:r>
                        <a:rPr lang="en-IN" dirty="0">
                          <a:latin typeface="Times New Roman" panose="02020603050405020304" pitchFamily="18" charset="0"/>
                          <a:cs typeface="Times New Roman" panose="02020603050405020304" pitchFamily="18" charset="0"/>
                        </a:rPr>
                        <a:t>, next)</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Bidirectional traversal</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More memory overhead</a:t>
                      </a:r>
                    </a:p>
                    <a:p>
                      <a:pPr>
                        <a:spcBef>
                          <a:spcPts val="600"/>
                        </a:spcBef>
                      </a:pP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Last node points to head</a:t>
                      </a: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No NULL pointer</a:t>
                      </a:r>
                    </a:p>
                    <a:p>
                      <a:pPr marL="285750" indent="-285750">
                        <a:spcBef>
                          <a:spcPts val="600"/>
                        </a:spcBef>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Circular Doubly Linked List</a:t>
                      </a:r>
                      <a:endParaRPr lang="en-IN" dirty="0">
                        <a:latin typeface="Times New Roman" panose="02020603050405020304" pitchFamily="18" charset="0"/>
                        <a:cs typeface="Times New Roman" panose="02020603050405020304" pitchFamily="18" charset="0"/>
                      </a:endParaRPr>
                    </a:p>
                    <a:p>
                      <a:pPr marL="285750" indent="-285750">
                        <a:spcBef>
                          <a:spcPts val="600"/>
                        </a:spcBef>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Combines doubly + circular features</a:t>
                      </a:r>
                    </a:p>
                  </a:txBody>
                  <a:tcPr/>
                </a:tc>
                <a:extLst>
                  <a:ext uri="{0D108BD9-81ED-4DB2-BD59-A6C34878D82A}">
                    <a16:rowId xmlns:a16="http://schemas.microsoft.com/office/drawing/2014/main" val="499162055"/>
                  </a:ext>
                </a:extLst>
              </a:tr>
            </a:tbl>
          </a:graphicData>
        </a:graphic>
      </p:graphicFrame>
    </p:spTree>
    <p:extLst>
      <p:ext uri="{BB962C8B-B14F-4D97-AF65-F5344CB8AC3E}">
        <p14:creationId xmlns:p14="http://schemas.microsoft.com/office/powerpoint/2010/main" val="1018255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F1EE-9F02-6719-43B0-F6494C36546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417163D-5BF9-2BC4-D170-C82ED0D56A4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F1FEEC22-8915-C56F-9B1A-2E22E83D52E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72E3F27-C257-6AB8-30E4-F41A3B2273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5BB8CFA3-6CBE-046B-1DBA-7CC4FAA5DEDD}"/>
              </a:ext>
            </a:extLst>
          </p:cNvPr>
          <p:cNvSpPr txBox="1"/>
          <p:nvPr/>
        </p:nvSpPr>
        <p:spPr>
          <a:xfrm>
            <a:off x="390853" y="1194822"/>
            <a:ext cx="8219747" cy="4647426"/>
          </a:xfrm>
          <a:prstGeom prst="rect">
            <a:avLst/>
          </a:prstGeom>
          <a:noFill/>
        </p:spPr>
        <p:txBody>
          <a:bodyPr wrap="square">
            <a:spAutoFit/>
          </a:bodyPr>
          <a:lstStyle/>
          <a:p>
            <a:pPr>
              <a:spcBef>
                <a:spcPts val="600"/>
              </a:spcBef>
              <a:spcAft>
                <a:spcPts val="600"/>
              </a:spcAft>
            </a:pPr>
            <a:r>
              <a:rPr lang="en-IN" sz="2400" b="1" dirty="0">
                <a:latin typeface="Times New Roman" panose="02020603050405020304" pitchFamily="18" charset="0"/>
                <a:cs typeface="Times New Roman" panose="02020603050405020304" pitchFamily="18" charset="0"/>
              </a:rPr>
              <a:t>Linked List Operations</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Traversal</a:t>
            </a:r>
            <a:r>
              <a:rPr lang="en-IN" sz="2400" dirty="0">
                <a:latin typeface="Times New Roman" panose="02020603050405020304" pitchFamily="18" charset="0"/>
                <a:cs typeface="Times New Roman" panose="02020603050405020304" pitchFamily="18" charset="0"/>
              </a:rPr>
              <a:t> – visit all nodes (O(n))</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Insertion</a:t>
            </a:r>
            <a:endParaRPr lang="en-IN" sz="2400" dirty="0">
              <a:latin typeface="Times New Roman" panose="02020603050405020304" pitchFamily="18" charset="0"/>
              <a:cs typeface="Times New Roman" panose="02020603050405020304" pitchFamily="18" charset="0"/>
            </a:endParaRP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Beginning → O(1) (fastest)</a:t>
            </a: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End / Middle → O(n)</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Deletion</a:t>
            </a:r>
            <a:endParaRPr lang="en-IN" sz="2400" dirty="0">
              <a:latin typeface="Times New Roman" panose="02020603050405020304" pitchFamily="18" charset="0"/>
              <a:cs typeface="Times New Roman" panose="02020603050405020304" pitchFamily="18" charset="0"/>
            </a:endParaRP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Beginning → O(1)</a:t>
            </a:r>
          </a:p>
          <a:p>
            <a:pPr lvl="1">
              <a:spcBef>
                <a:spcPts val="600"/>
              </a:spcBef>
              <a:spcAft>
                <a:spcPts val="600"/>
              </a:spcAft>
            </a:pPr>
            <a:r>
              <a:rPr lang="en-IN" sz="2400" dirty="0">
                <a:latin typeface="Times New Roman" panose="02020603050405020304" pitchFamily="18" charset="0"/>
                <a:cs typeface="Times New Roman" panose="02020603050405020304" pitchFamily="18" charset="0"/>
              </a:rPr>
              <a:t>End / Middle → O(n)</a:t>
            </a:r>
          </a:p>
          <a:p>
            <a:pPr marL="285750" indent="-285750">
              <a:spcBef>
                <a:spcPts val="600"/>
              </a:spcBef>
              <a:spcAft>
                <a:spcPts val="600"/>
              </a:spcAf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Search</a:t>
            </a:r>
            <a:r>
              <a:rPr lang="en-IN" sz="2400" dirty="0">
                <a:latin typeface="Times New Roman" panose="02020603050405020304" pitchFamily="18" charset="0"/>
                <a:cs typeface="Times New Roman" panose="02020603050405020304" pitchFamily="18" charset="0"/>
              </a:rPr>
              <a:t> → O(n)</a:t>
            </a:r>
          </a:p>
        </p:txBody>
      </p:sp>
      <p:sp>
        <p:nvSpPr>
          <p:cNvPr id="2" name="TextBox 1">
            <a:extLst>
              <a:ext uri="{FF2B5EF4-FFF2-40B4-BE49-F238E27FC236}">
                <a16:creationId xmlns:a16="http://schemas.microsoft.com/office/drawing/2014/main" id="{90638064-335F-6EFC-F5CC-4BBF1D7B78F0}"/>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DF9850E8-2C90-4983-D82F-822C60DE5025}"/>
              </a:ext>
            </a:extLst>
          </p:cNvPr>
          <p:cNvSpPr>
            <a:spLocks noGrp="1"/>
          </p:cNvSpPr>
          <p:nvPr>
            <p:ph type="ftr" sz="quarter" idx="11"/>
          </p:nvPr>
        </p:nvSpPr>
        <p:spPr/>
        <p:txBody>
          <a:bodyPr/>
          <a:lstStyle/>
          <a:p>
            <a:r>
              <a:rPr lang="en-IN" dirty="0"/>
              <a:t>Data  Structure         Unit2  </a:t>
            </a:r>
          </a:p>
        </p:txBody>
      </p:sp>
    </p:spTree>
    <p:extLst>
      <p:ext uri="{BB962C8B-B14F-4D97-AF65-F5344CB8AC3E}">
        <p14:creationId xmlns:p14="http://schemas.microsoft.com/office/powerpoint/2010/main" val="345193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0223-23D7-B128-1E3C-01DAD832119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58A7BC6-52E7-6FBD-66C2-2B3450D1CE0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E2FB9CD-4381-AF07-1F3B-EC88C016911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1D574D0-17AA-C861-9B76-373F77866A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46FAF40-3957-686F-F355-3B974385624B}"/>
              </a:ext>
            </a:extLst>
          </p:cNvPr>
          <p:cNvSpPr txBox="1"/>
          <p:nvPr/>
        </p:nvSpPr>
        <p:spPr>
          <a:xfrm>
            <a:off x="390853" y="1194822"/>
            <a:ext cx="8219747" cy="4457952"/>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Key Advantages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Dynamic size</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Efficient insertion &amp; deletion</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No memory wastage due to resizing</a:t>
            </a:r>
          </a:p>
          <a:p>
            <a:pPr>
              <a:lnSpc>
                <a:spcPct val="150000"/>
              </a:lnSpc>
            </a:pPr>
            <a:r>
              <a:rPr lang="en-IN" sz="2400" b="1" dirty="0">
                <a:latin typeface="Times New Roman" panose="02020603050405020304" pitchFamily="18" charset="0"/>
                <a:cs typeface="Times New Roman" panose="02020603050405020304" pitchFamily="18" charset="0"/>
              </a:rPr>
              <a:t>Key Disadvantages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No direct access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Extra memory for pointers</a:t>
            </a:r>
          </a:p>
          <a:p>
            <a:pPr marL="342900" indent="-342900">
              <a:lnSpc>
                <a:spcPct val="150000"/>
              </a:lnSpc>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Slower traversal than arrays</a:t>
            </a:r>
            <a:endParaRPr lang="en-US"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251BA3D-0048-F69B-535C-E32A52F27900}"/>
              </a:ext>
            </a:extLst>
          </p:cNvPr>
          <p:cNvSpPr txBox="1"/>
          <p:nvPr/>
        </p:nvSpPr>
        <p:spPr>
          <a:xfrm>
            <a:off x="178969" y="269114"/>
            <a:ext cx="8643513" cy="523220"/>
          </a:xfrm>
          <a:prstGeom prst="rect">
            <a:avLst/>
          </a:prstGeom>
          <a:noFill/>
        </p:spPr>
        <p:txBody>
          <a:bodyPr wrap="square" rtlCol="0">
            <a:spAutoFit/>
          </a:bodyPr>
          <a:lstStyle/>
          <a:p>
            <a:r>
              <a:rPr lang="en-US" sz="2800" b="1" dirty="0">
                <a:solidFill>
                  <a:srgbClr val="FF0000"/>
                </a:solidFill>
              </a:rPr>
              <a:t>Revision Summary: Linked Lists (Types &amp; Operations)</a:t>
            </a:r>
          </a:p>
        </p:txBody>
      </p:sp>
      <p:sp>
        <p:nvSpPr>
          <p:cNvPr id="3" name="Footer Placeholder 2">
            <a:extLst>
              <a:ext uri="{FF2B5EF4-FFF2-40B4-BE49-F238E27FC236}">
                <a16:creationId xmlns:a16="http://schemas.microsoft.com/office/drawing/2014/main" id="{F53F3798-6B38-9A0B-8055-0A3435BF7AFF}"/>
              </a:ext>
            </a:extLst>
          </p:cNvPr>
          <p:cNvSpPr>
            <a:spLocks noGrp="1"/>
          </p:cNvSpPr>
          <p:nvPr>
            <p:ph type="ftr" sz="quarter" idx="11"/>
          </p:nvPr>
        </p:nvSpPr>
        <p:spPr/>
        <p:txBody>
          <a:bodyPr/>
          <a:lstStyle/>
          <a:p>
            <a:r>
              <a:rPr lang="en-IN" dirty="0"/>
              <a:t>Data  Structure         Unit2  </a:t>
            </a:r>
          </a:p>
        </p:txBody>
      </p:sp>
    </p:spTree>
    <p:extLst>
      <p:ext uri="{BB962C8B-B14F-4D97-AF65-F5344CB8AC3E}">
        <p14:creationId xmlns:p14="http://schemas.microsoft.com/office/powerpoint/2010/main" val="87018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1900C-9688-B1F5-34E4-1C9AF71F4F7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C949653-51B8-DF87-1AA7-B6FDDFB2699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97E5504A-2538-CA21-7F36-EF223050FDF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0706691-A73D-F0E3-14BD-303A13A11A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735F723-8A00-5A6E-1C83-6C352EC30862}"/>
              </a:ext>
            </a:extLst>
          </p:cNvPr>
          <p:cNvSpPr txBox="1"/>
          <p:nvPr/>
        </p:nvSpPr>
        <p:spPr>
          <a:xfrm>
            <a:off x="390853" y="1194822"/>
            <a:ext cx="8219747" cy="5343129"/>
          </a:xfrm>
          <a:prstGeom prst="rect">
            <a:avLst/>
          </a:prstGeom>
          <a:noFill/>
        </p:spPr>
        <p:txBody>
          <a:bodyPr wrap="square">
            <a:spAutoFit/>
          </a:bodyPr>
          <a:lstStyle/>
          <a:p>
            <a:pPr algn="just" fontAlgn="base">
              <a:lnSpc>
                <a:spcPct val="107000"/>
              </a:lnSpc>
              <a:spcBef>
                <a:spcPts val="600"/>
              </a:spcBef>
              <a:spcAft>
                <a:spcPts val="600"/>
              </a:spcAft>
            </a:pPr>
            <a:r>
              <a:rPr lang="en-IN" sz="2400" dirty="0">
                <a:latin typeface="Times New Roman" panose="02020603050405020304" pitchFamily="18" charset="0"/>
                <a:cs typeface="Times New Roman" panose="02020603050405020304" pitchFamily="18" charset="0"/>
                <a:sym typeface="Arial"/>
              </a:rPr>
              <a:t>A Stack is a linear data structure that follows a particular order in which operations are performed. The order may be LIFO (Last In, First Out) or FILO (First In, Last Out). </a:t>
            </a:r>
          </a:p>
          <a:p>
            <a:pPr algn="just" fontAlgn="base">
              <a:lnSpc>
                <a:spcPct val="107000"/>
              </a:lnSpc>
              <a:spcBef>
                <a:spcPts val="600"/>
              </a:spcBef>
              <a:spcAft>
                <a:spcPts val="600"/>
              </a:spcAft>
            </a:pPr>
            <a:r>
              <a:rPr lang="en-IN" sz="2400" b="1" dirty="0">
                <a:latin typeface="Times New Roman" panose="02020603050405020304" pitchFamily="18" charset="0"/>
                <a:cs typeface="Times New Roman" panose="02020603050405020304" pitchFamily="18" charset="0"/>
                <a:sym typeface="Arial"/>
              </a:rPr>
              <a:t>Key Characteristics:</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Abstract Data Type (ADT): Defined by its </a:t>
            </a:r>
            <a:r>
              <a:rPr lang="en-IN" sz="2400" dirty="0" err="1">
                <a:latin typeface="Times New Roman" panose="02020603050405020304" pitchFamily="18" charset="0"/>
                <a:cs typeface="Times New Roman" panose="02020603050405020304" pitchFamily="18" charset="0"/>
                <a:sym typeface="Arial"/>
              </a:rPr>
              <a:t>behavior</a:t>
            </a:r>
            <a:r>
              <a:rPr lang="en-IN" sz="2400" dirty="0">
                <a:latin typeface="Times New Roman" panose="02020603050405020304" pitchFamily="18" charset="0"/>
                <a:cs typeface="Times New Roman" panose="02020603050405020304" pitchFamily="18" charset="0"/>
                <a:sym typeface="Arial"/>
              </a:rPr>
              <a:t> rather than its implementation.</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Restricted Access: Elements can only be added or removed from one end, called the TOP.</a:t>
            </a:r>
          </a:p>
          <a:p>
            <a:pPr algn="just" fontAlgn="base">
              <a:lnSpc>
                <a:spcPct val="107000"/>
              </a:lnSpc>
              <a:spcBef>
                <a:spcPts val="600"/>
              </a:spcBef>
              <a:spcAft>
                <a:spcPts val="600"/>
              </a:spcAft>
            </a:pPr>
            <a:r>
              <a:rPr lang="en-IN" sz="2400" b="1" dirty="0">
                <a:latin typeface="Times New Roman" panose="02020603050405020304" pitchFamily="18" charset="0"/>
                <a:cs typeface="Times New Roman" panose="02020603050405020304" pitchFamily="18" charset="0"/>
              </a:rPr>
              <a:t>Stack Operations:</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Push</a:t>
            </a:r>
          </a:p>
          <a:p>
            <a:pPr marL="342900" indent="-342900" algn="just" fontAlgn="base">
              <a:lnSpc>
                <a:spcPct val="107000"/>
              </a:lnSpc>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Pop</a:t>
            </a: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3492F9C-8529-0EDA-7308-1CB584201BC9}"/>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What is a Stack?</a:t>
            </a:r>
            <a:endParaRPr lang="en-US" sz="3600" b="1" dirty="0">
              <a:solidFill>
                <a:srgbClr val="FF0000"/>
              </a:solidFill>
            </a:endParaRPr>
          </a:p>
        </p:txBody>
      </p:sp>
      <p:sp>
        <p:nvSpPr>
          <p:cNvPr id="3" name="Footer Placeholder 2">
            <a:extLst>
              <a:ext uri="{FF2B5EF4-FFF2-40B4-BE49-F238E27FC236}">
                <a16:creationId xmlns:a16="http://schemas.microsoft.com/office/drawing/2014/main" id="{6939A03C-387D-B8B8-C160-B99F50E7F279}"/>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230707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7124-EDBC-7F27-6D7B-EE129F33D9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06DF78-CD3E-FD5D-084A-AAB90092DB3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40CF8EB-FC1D-F1E7-64D5-DD2D74BF42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ACA5F1-01F7-4950-5B32-70A064A5B3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9F1F3D7-778F-7217-2F86-5A62630E6FF3}"/>
              </a:ext>
            </a:extLst>
          </p:cNvPr>
          <p:cNvSpPr txBox="1"/>
          <p:nvPr/>
        </p:nvSpPr>
        <p:spPr>
          <a:xfrm>
            <a:off x="390853" y="1194822"/>
            <a:ext cx="8219747" cy="5011052"/>
          </a:xfrm>
          <a:prstGeom prst="rect">
            <a:avLst/>
          </a:prstGeom>
          <a:noFill/>
        </p:spPr>
        <p:txBody>
          <a:bodyPr wrap="square">
            <a:spAutoFit/>
          </a:bodyPr>
          <a:lstStyle/>
          <a:p>
            <a:pPr algn="just">
              <a:spcBef>
                <a:spcPts val="600"/>
              </a:spcBef>
              <a:spcAft>
                <a:spcPts val="600"/>
              </a:spcAft>
            </a:pPr>
            <a:r>
              <a:rPr lang="en-IN" sz="2400" dirty="0">
                <a:latin typeface="Times New Roman" panose="02020603050405020304" pitchFamily="18" charset="0"/>
                <a:cs typeface="Times New Roman" panose="02020603050405020304" pitchFamily="18" charset="0"/>
              </a:rPr>
              <a:t>Perform the following sequence of operations on an initially empty stack and show the stack's contents after each operation:</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PUSH(10)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PUSH(20)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PUSH(30)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PUSH(40)</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457200" indent="-457200" algn="just">
              <a:spcBef>
                <a:spcPts val="600"/>
              </a:spcBef>
              <a:spcAft>
                <a:spcPts val="600"/>
              </a:spcAft>
              <a:buFont typeface="+mj-lt"/>
              <a:buAutoNum type="arabicPeriod"/>
            </a:pPr>
            <a:r>
              <a:rPr lang="en-IN" sz="2400" dirty="0">
                <a:latin typeface="Times New Roman" panose="02020603050405020304" pitchFamily="18" charset="0"/>
                <a:cs typeface="Times New Roman" panose="02020603050405020304" pitchFamily="18" charset="0"/>
              </a:rPr>
              <a:t>POP()</a:t>
            </a:r>
          </a:p>
          <a:p>
            <a:pPr marL="0" marR="0" algn="just" fontAlgn="base">
              <a:lnSpc>
                <a:spcPct val="107000"/>
              </a:lnSpc>
              <a:spcBef>
                <a:spcPts val="0"/>
              </a:spcBef>
              <a:spcAft>
                <a:spcPts val="0"/>
              </a:spcAft>
            </a:pP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E172D1B-B742-9334-E000-064306872213}"/>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Operations on Stack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1DAF053F-D848-5E9D-4B72-7C3566255919}"/>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173580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6A238-F833-287D-AB57-99603E74FB3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4F1792-B75F-29D9-00CA-A05FF846EE7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52C322A-A694-664D-96FB-27D8AD8C7E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FBFA690-A29F-0AF3-CC13-2F872C333B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775E1E80-B3A3-8ED8-4E6B-7C039B1FA0B1}"/>
              </a:ext>
            </a:extLst>
          </p:cNvPr>
          <p:cNvSpPr txBox="1"/>
          <p:nvPr/>
        </p:nvSpPr>
        <p:spPr>
          <a:xfrm>
            <a:off x="390853" y="1194822"/>
            <a:ext cx="8219747" cy="530594"/>
          </a:xfrm>
          <a:prstGeom prst="rect">
            <a:avLst/>
          </a:prstGeom>
          <a:noFill/>
        </p:spPr>
        <p:txBody>
          <a:bodyPr wrap="square">
            <a:spAutoFit/>
          </a:bodyPr>
          <a:lstStyle/>
          <a:p>
            <a:pPr marL="0" marR="0" algn="just" fontAlgn="base">
              <a:lnSpc>
                <a:spcPct val="107000"/>
              </a:lnSpc>
              <a:spcBef>
                <a:spcPts val="0"/>
              </a:spcBef>
              <a:spcAft>
                <a:spcPts val="0"/>
              </a:spcAft>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endParaRPr lang="en-US" sz="2800" kern="100" dirty="0">
              <a:solidFill>
                <a:srgbClr val="00B0F0"/>
              </a:solidFill>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94638AE-E561-7C65-DBD6-93EC97D771E7}"/>
              </a:ext>
            </a:extLst>
          </p:cNvPr>
          <p:cNvSpPr txBox="1"/>
          <p:nvPr/>
        </p:nvSpPr>
        <p:spPr>
          <a:xfrm>
            <a:off x="179512" y="53136"/>
            <a:ext cx="8643513"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Operations on Stack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364CE955-4876-957C-6E08-5561916D5615}"/>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EEDC8A2C-B9AA-D008-566F-DCC57B11018C}"/>
              </a:ext>
            </a:extLst>
          </p:cNvPr>
          <p:cNvGraphicFramePr>
            <a:graphicFrameLocks noGrp="1"/>
          </p:cNvGraphicFramePr>
          <p:nvPr>
            <p:extLst>
              <p:ext uri="{D42A27DB-BD31-4B8C-83A1-F6EECF244321}">
                <p14:modId xmlns:p14="http://schemas.microsoft.com/office/powerpoint/2010/main" val="3835272176"/>
              </p:ext>
            </p:extLst>
          </p:nvPr>
        </p:nvGraphicFramePr>
        <p:xfrm>
          <a:off x="533400" y="1707809"/>
          <a:ext cx="7839618" cy="4114800"/>
        </p:xfrm>
        <a:graphic>
          <a:graphicData uri="http://schemas.openxmlformats.org/drawingml/2006/table">
            <a:tbl>
              <a:tblPr/>
              <a:tblGrid>
                <a:gridCol w="2540313">
                  <a:extLst>
                    <a:ext uri="{9D8B030D-6E8A-4147-A177-3AD203B41FA5}">
                      <a16:colId xmlns:a16="http://schemas.microsoft.com/office/drawing/2014/main" val="901497235"/>
                    </a:ext>
                  </a:extLst>
                </a:gridCol>
                <a:gridCol w="5299305">
                  <a:extLst>
                    <a:ext uri="{9D8B030D-6E8A-4147-A177-3AD203B41FA5}">
                      <a16:colId xmlns:a16="http://schemas.microsoft.com/office/drawing/2014/main" val="714669689"/>
                    </a:ext>
                  </a:extLst>
                </a:gridCol>
              </a:tblGrid>
              <a:tr h="0">
                <a:tc>
                  <a:txBody>
                    <a:bodyPr/>
                    <a:lstStyle/>
                    <a:p>
                      <a:pPr>
                        <a:buNone/>
                      </a:pPr>
                      <a:r>
                        <a:rPr lang="en-IN" sz="2400"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latin typeface="Times New Roman" panose="02020603050405020304" pitchFamily="18" charset="0"/>
                          <a:cs typeface="Times New Roman" panose="02020603050405020304" pitchFamily="18" charset="0"/>
                        </a:rPr>
                        <a:t>Stack Contents (from bottom to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183698"/>
                  </a:ext>
                </a:extLst>
              </a:tr>
              <a:tr h="0">
                <a:tc>
                  <a:txBody>
                    <a:bodyPr/>
                    <a:lstStyle/>
                    <a:p>
                      <a:pPr>
                        <a:buNone/>
                      </a:pPr>
                      <a:r>
                        <a:rPr lang="en-IN" sz="2400">
                          <a:latin typeface="Times New Roman" panose="02020603050405020304" pitchFamily="18" charset="0"/>
                          <a:cs typeface="Times New Roman" panose="02020603050405020304" pitchFamily="18" charset="0"/>
                        </a:rPr>
                        <a:t>Initially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334440"/>
                  </a:ext>
                </a:extLst>
              </a:tr>
              <a:tr h="0">
                <a:tc>
                  <a:txBody>
                    <a:bodyPr/>
                    <a:lstStyle/>
                    <a:p>
                      <a:pPr>
                        <a:buNone/>
                      </a:pPr>
                      <a:r>
                        <a:rPr lang="en-IN" sz="2400">
                          <a:latin typeface="Times New Roman" panose="02020603050405020304" pitchFamily="18" charset="0"/>
                          <a:cs typeface="Times New Roman" panose="02020603050405020304" pitchFamily="18" charset="0"/>
                        </a:rPr>
                        <a:t>PUSH(10)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136870"/>
                  </a:ext>
                </a:extLst>
              </a:tr>
              <a:tr h="0">
                <a:tc>
                  <a:txBody>
                    <a:bodyPr/>
                    <a:lstStyle/>
                    <a:p>
                      <a:pPr>
                        <a:buNone/>
                      </a:pPr>
                      <a:r>
                        <a:rPr lang="en-IN" sz="2400" dirty="0">
                          <a:latin typeface="Times New Roman" panose="02020603050405020304" pitchFamily="18" charset="0"/>
                          <a:cs typeface="Times New Roman" panose="02020603050405020304" pitchFamily="18" charset="0"/>
                        </a:rPr>
                        <a:t>PUSH(20)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5522093"/>
                  </a:ext>
                </a:extLst>
              </a:tr>
              <a:tr h="0">
                <a:tc>
                  <a:txBody>
                    <a:bodyPr/>
                    <a:lstStyle/>
                    <a:p>
                      <a:pPr>
                        <a:buNone/>
                      </a:pPr>
                      <a:r>
                        <a:rPr lang="en-IN" sz="2400" dirty="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(20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6486650"/>
                  </a:ext>
                </a:extLst>
              </a:tr>
              <a:tr h="0">
                <a:tc>
                  <a:txBody>
                    <a:bodyPr/>
                    <a:lstStyle/>
                    <a:p>
                      <a:pPr>
                        <a:buNone/>
                      </a:pPr>
                      <a:r>
                        <a:rPr lang="en-IN" sz="2400">
                          <a:latin typeface="Times New Roman" panose="02020603050405020304" pitchFamily="18" charset="0"/>
                          <a:cs typeface="Times New Roman" panose="02020603050405020304" pitchFamily="18" charset="0"/>
                        </a:rPr>
                        <a:t>PUSH(30)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6666015"/>
                  </a:ext>
                </a:extLst>
              </a:tr>
              <a:tr h="0">
                <a:tc>
                  <a:txBody>
                    <a:bodyPr/>
                    <a:lstStyle/>
                    <a:p>
                      <a:pPr>
                        <a:buNone/>
                      </a:pPr>
                      <a:r>
                        <a:rPr lang="en-IN" sz="2400">
                          <a:latin typeface="Times New Roman" panose="02020603050405020304" pitchFamily="18" charset="0"/>
                          <a:cs typeface="Times New Roman" panose="02020603050405020304" pitchFamily="18" charset="0"/>
                        </a:rPr>
                        <a:t>PUSH(40)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7170333"/>
                  </a:ext>
                </a:extLst>
              </a:tr>
              <a:tr h="0">
                <a:tc>
                  <a:txBody>
                    <a:bodyPr/>
                    <a:lstStyle/>
                    <a:p>
                      <a:pPr>
                        <a:buNone/>
                      </a:pPr>
                      <a:r>
                        <a:rPr lang="en-IN" sz="2400" dirty="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latin typeface="Times New Roman" panose="02020603050405020304" pitchFamily="18" charset="0"/>
                          <a:cs typeface="Times New Roman" panose="02020603050405020304" pitchFamily="18" charset="0"/>
                        </a:rPr>
                        <a:t>[10, 30] (40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996983"/>
                  </a:ext>
                </a:extLst>
              </a:tr>
              <a:tr h="0">
                <a:tc>
                  <a:txBody>
                    <a:bodyPr/>
                    <a:lstStyle/>
                    <a:p>
                      <a:pPr>
                        <a:buNone/>
                      </a:pPr>
                      <a:r>
                        <a:rPr lang="en-IN" sz="2400">
                          <a:latin typeface="Times New Roman" panose="02020603050405020304" pitchFamily="18" charset="0"/>
                          <a:cs typeface="Times New Roman" panose="02020603050405020304" pitchFamily="18" charset="0"/>
                        </a:rPr>
                        <a:t>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latin typeface="Times New Roman" panose="02020603050405020304" pitchFamily="18" charset="0"/>
                          <a:cs typeface="Times New Roman" panose="02020603050405020304" pitchFamily="18" charset="0"/>
                        </a:rPr>
                        <a:t>[10] (30 is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2252566"/>
                  </a:ext>
                </a:extLst>
              </a:tr>
            </a:tbl>
          </a:graphicData>
        </a:graphic>
      </p:graphicFrame>
    </p:spTree>
    <p:extLst>
      <p:ext uri="{BB962C8B-B14F-4D97-AF65-F5344CB8AC3E}">
        <p14:creationId xmlns:p14="http://schemas.microsoft.com/office/powerpoint/2010/main" val="1548783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B8A91-C8AB-DB26-0DEC-015C56DEA6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FD64129-A144-A39C-2397-1D35AD22EBE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FD728DF-CD62-2355-6D13-230E31809FC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BD8D5FD-CF2B-BCD3-8701-C87B266A19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9D6E6936-E517-E12E-2D35-24CCC5507B39}"/>
              </a:ext>
            </a:extLst>
          </p:cNvPr>
          <p:cNvSpPr txBox="1"/>
          <p:nvPr/>
        </p:nvSpPr>
        <p:spPr>
          <a:xfrm>
            <a:off x="539552" y="1367476"/>
            <a:ext cx="7908795" cy="3601371"/>
          </a:xfrm>
          <a:prstGeom prst="rect">
            <a:avLst/>
          </a:prstGeom>
          <a:noFill/>
        </p:spPr>
        <p:txBody>
          <a:bodyPr wrap="square">
            <a:spAutoFit/>
          </a:bodyPr>
          <a:lstStyle/>
          <a:p>
            <a:pPr marL="0" marR="0" algn="just" fontAlgn="base">
              <a:lnSpc>
                <a:spcPct val="107000"/>
              </a:lnSpc>
              <a:spcBef>
                <a:spcPts val="600"/>
              </a:spcBef>
              <a:spcAft>
                <a:spcPts val="60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Postfix: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Operators appear after their operands (e.g., AB+).</a:t>
            </a:r>
          </a:p>
          <a:p>
            <a:pPr marL="0" marR="0" algn="just" fontAlgn="base">
              <a:lnSpc>
                <a:spcPct val="107000"/>
              </a:lnSpc>
              <a:spcBef>
                <a:spcPts val="600"/>
              </a:spcBef>
              <a:spcAft>
                <a:spcPts val="60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Evaluation using Stack: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Scan expression left-to-right.</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If operand, push onto stack.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If operator, pop two operands, perform operation, push result back.</a:t>
            </a:r>
          </a:p>
          <a:p>
            <a:pPr marL="360363" marR="0" indent="-360363" algn="just" fontAlgn="base">
              <a:lnSpc>
                <a:spcPct val="107000"/>
              </a:lnSpc>
              <a:spcBef>
                <a:spcPts val="600"/>
              </a:spcBef>
              <a:spcAft>
                <a:spcPts val="600"/>
              </a:spcAft>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Final result is the single value left on stack.</a:t>
            </a:r>
          </a:p>
        </p:txBody>
      </p:sp>
      <p:sp>
        <p:nvSpPr>
          <p:cNvPr id="2" name="TextBox 1">
            <a:extLst>
              <a:ext uri="{FF2B5EF4-FFF2-40B4-BE49-F238E27FC236}">
                <a16:creationId xmlns:a16="http://schemas.microsoft.com/office/drawing/2014/main" id="{22AFB4C8-9691-B669-59B1-24AF78600DF2}"/>
              </a:ext>
            </a:extLst>
          </p:cNvPr>
          <p:cNvSpPr txBox="1"/>
          <p:nvPr/>
        </p:nvSpPr>
        <p:spPr>
          <a:xfrm>
            <a:off x="395536" y="53136"/>
            <a:ext cx="8427489"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Postfix Expression Evaluation</a:t>
            </a:r>
            <a:endParaRPr lang="en-US" sz="3600" b="1" dirty="0">
              <a:solidFill>
                <a:srgbClr val="FF0000"/>
              </a:solidFill>
            </a:endParaRPr>
          </a:p>
        </p:txBody>
      </p:sp>
    </p:spTree>
    <p:extLst>
      <p:ext uri="{BB962C8B-B14F-4D97-AF65-F5344CB8AC3E}">
        <p14:creationId xmlns:p14="http://schemas.microsoft.com/office/powerpoint/2010/main" val="1200917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F812-B700-7417-66C5-21E5D28A0E9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0F2C8A5-3661-1757-F008-61F0DCA2679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8EDB1FB2-24DE-754E-CE98-364F77A8AC0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57EE45B-BAD2-E88C-7218-B7F25934B4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6328276"/>
            <a:ext cx="2411760" cy="346691"/>
          </a:xfrm>
          <a:prstGeom prst="rect">
            <a:avLst/>
          </a:prstGeom>
        </p:spPr>
      </p:pic>
      <p:sp>
        <p:nvSpPr>
          <p:cNvPr id="6" name="TextBox 5">
            <a:extLst>
              <a:ext uri="{FF2B5EF4-FFF2-40B4-BE49-F238E27FC236}">
                <a16:creationId xmlns:a16="http://schemas.microsoft.com/office/drawing/2014/main" id="{4AB94EC5-13B5-5EFF-CFFC-07A728CF07A2}"/>
              </a:ext>
            </a:extLst>
          </p:cNvPr>
          <p:cNvSpPr txBox="1"/>
          <p:nvPr/>
        </p:nvSpPr>
        <p:spPr>
          <a:xfrm>
            <a:off x="611560" y="1251329"/>
            <a:ext cx="7920880" cy="532903"/>
          </a:xfrm>
          <a:prstGeom prst="rect">
            <a:avLst/>
          </a:prstGeom>
          <a:noFill/>
        </p:spPr>
        <p:txBody>
          <a:bodyPr wrap="square">
            <a:spAutoFit/>
          </a:bodyPr>
          <a:lstStyle/>
          <a:p>
            <a:pPr marL="0" marR="0" algn="just" fontAlgn="base">
              <a:lnSpc>
                <a:spcPct val="107000"/>
              </a:lnSpc>
              <a:spcBef>
                <a:spcPts val="0"/>
              </a:spcBef>
              <a:spcAft>
                <a:spcPts val="0"/>
              </a:spcAft>
            </a:pPr>
            <a:r>
              <a:rPr lang="en-IN" sz="2800" kern="100" dirty="0">
                <a:effectLst/>
                <a:latin typeface="Times New Roman" panose="02020603050405020304" pitchFamily="18" charset="0"/>
                <a:ea typeface="Calibri" panose="020F0502020204030204" pitchFamily="34" charset="0"/>
                <a:cs typeface="Times New Roman" panose="02020603050405020304" pitchFamily="18" charset="0"/>
              </a:rPr>
              <a:t>Evaluate the postfix expression: 5 2 + 8 4 / - 3 *</a:t>
            </a:r>
            <a:endParaRPr lang="en-IN" sz="2800" kern="1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210AA6F-E331-0E0B-4B65-A8883560EC56}"/>
              </a:ext>
            </a:extLst>
          </p:cNvPr>
          <p:cNvSpPr txBox="1"/>
          <p:nvPr/>
        </p:nvSpPr>
        <p:spPr>
          <a:xfrm>
            <a:off x="323528" y="17035"/>
            <a:ext cx="849949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Postfix Expression Evaluation Numerical</a:t>
            </a:r>
            <a:endParaRPr lang="en-US" sz="3600" b="1" dirty="0">
              <a:solidFill>
                <a:srgbClr val="FF0000"/>
              </a:solidFill>
            </a:endParaRPr>
          </a:p>
        </p:txBody>
      </p:sp>
      <p:sp>
        <p:nvSpPr>
          <p:cNvPr id="3" name="Footer Placeholder 2">
            <a:extLst>
              <a:ext uri="{FF2B5EF4-FFF2-40B4-BE49-F238E27FC236}">
                <a16:creationId xmlns:a16="http://schemas.microsoft.com/office/drawing/2014/main" id="{89C9CC7A-8177-0699-7DE7-05FC0903E1AF}"/>
              </a:ext>
            </a:extLst>
          </p:cNvPr>
          <p:cNvSpPr>
            <a:spLocks noGrp="1"/>
          </p:cNvSpPr>
          <p:nvPr>
            <p:ph type="ftr" sz="quarter" idx="11"/>
          </p:nvPr>
        </p:nvSpPr>
        <p:spPr>
          <a:xfrm>
            <a:off x="3142456" y="6624278"/>
            <a:ext cx="2895600" cy="365125"/>
          </a:xfrm>
        </p:spPr>
        <p:txBody>
          <a:bodyPr/>
          <a:lstStyle/>
          <a:p>
            <a:r>
              <a:rPr lang="en-IN" dirty="0">
                <a:solidFill>
                  <a:schemeClr val="tx1"/>
                </a:solidFill>
              </a:rPr>
              <a:t>Data  Structure         Unit2  </a:t>
            </a:r>
          </a:p>
        </p:txBody>
      </p:sp>
      <p:graphicFrame>
        <p:nvGraphicFramePr>
          <p:cNvPr id="8" name="Table 7">
            <a:extLst>
              <a:ext uri="{FF2B5EF4-FFF2-40B4-BE49-F238E27FC236}">
                <a16:creationId xmlns:a16="http://schemas.microsoft.com/office/drawing/2014/main" id="{408B5FB7-4142-CBAD-E8B3-0DF76E9D70FA}"/>
              </a:ext>
            </a:extLst>
          </p:cNvPr>
          <p:cNvGraphicFramePr>
            <a:graphicFrameLocks noGrp="1"/>
          </p:cNvGraphicFramePr>
          <p:nvPr>
            <p:extLst>
              <p:ext uri="{D42A27DB-BD31-4B8C-83A1-F6EECF244321}">
                <p14:modId xmlns:p14="http://schemas.microsoft.com/office/powerpoint/2010/main" val="3192727228"/>
              </p:ext>
            </p:extLst>
          </p:nvPr>
        </p:nvGraphicFramePr>
        <p:xfrm>
          <a:off x="611560" y="2072750"/>
          <a:ext cx="7920880" cy="3967008"/>
        </p:xfrm>
        <a:graphic>
          <a:graphicData uri="http://schemas.openxmlformats.org/drawingml/2006/table">
            <a:tbl>
              <a:tblPr/>
              <a:tblGrid>
                <a:gridCol w="1937888">
                  <a:extLst>
                    <a:ext uri="{9D8B030D-6E8A-4147-A177-3AD203B41FA5}">
                      <a16:colId xmlns:a16="http://schemas.microsoft.com/office/drawing/2014/main" val="1370561742"/>
                    </a:ext>
                  </a:extLst>
                </a:gridCol>
                <a:gridCol w="3577641">
                  <a:extLst>
                    <a:ext uri="{9D8B030D-6E8A-4147-A177-3AD203B41FA5}">
                      <a16:colId xmlns:a16="http://schemas.microsoft.com/office/drawing/2014/main" val="1692473297"/>
                    </a:ext>
                  </a:extLst>
                </a:gridCol>
                <a:gridCol w="2405351">
                  <a:extLst>
                    <a:ext uri="{9D8B030D-6E8A-4147-A177-3AD203B41FA5}">
                      <a16:colId xmlns:a16="http://schemas.microsoft.com/office/drawing/2014/main" val="2115925767"/>
                    </a:ext>
                  </a:extLst>
                </a:gridCol>
              </a:tblGrid>
              <a:tr h="345511">
                <a:tc>
                  <a:txBody>
                    <a:bodyPr/>
                    <a:lstStyle/>
                    <a:p>
                      <a:pPr>
                        <a:buNone/>
                      </a:pPr>
                      <a:r>
                        <a:rPr lang="en-IN" sz="1600" b="1" dirty="0">
                          <a:latin typeface="Times New Roman" panose="02020603050405020304" pitchFamily="18" charset="0"/>
                          <a:cs typeface="Times New Roman" panose="02020603050405020304" pitchFamily="18" charset="0"/>
                        </a:rPr>
                        <a:t>Scanned Element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Operation/Stack State</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latin typeface="Times New Roman" panose="02020603050405020304" pitchFamily="18" charset="0"/>
                          <a:cs typeface="Times New Roman" panose="02020603050405020304" pitchFamily="18" charset="0"/>
                        </a:rPr>
                        <a:t>Stack (bottom to top)</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201031"/>
                  </a:ext>
                </a:extLst>
              </a:tr>
              <a:tr h="300510">
                <a:tc>
                  <a:txBody>
                    <a:bodyPr/>
                    <a:lstStyle/>
                    <a:p>
                      <a:pPr>
                        <a:buNone/>
                      </a:pPr>
                      <a:r>
                        <a:rPr lang="en-IN" sz="1600" dirty="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6870815"/>
                  </a:ext>
                </a:extLst>
              </a:tr>
              <a:tr h="300510">
                <a:tc>
                  <a:txBody>
                    <a:bodyPr/>
                    <a:lstStyle/>
                    <a:p>
                      <a:pPr>
                        <a:buNone/>
                      </a:pPr>
                      <a:r>
                        <a:rPr lang="en-IN" sz="1600">
                          <a:latin typeface="Times New Roman" panose="02020603050405020304" pitchFamily="18" charset="0"/>
                          <a:cs typeface="Times New Roman" panose="02020603050405020304" pitchFamily="18" charset="0"/>
                        </a:rPr>
                        <a:t>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793922"/>
                  </a:ext>
                </a:extLst>
              </a:tr>
              <a:tr h="300510">
                <a:tc>
                  <a:txBody>
                    <a:bodyPr/>
                    <a:lstStyle/>
                    <a:p>
                      <a:pPr>
                        <a:buNone/>
                      </a:pPr>
                      <a:r>
                        <a:rPr lang="en-IN" sz="1600" dirty="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Pop 2, Pop 5. Calculate 5 + 2 = 7. Push 7.</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4245943"/>
                  </a:ext>
                </a:extLst>
              </a:tr>
              <a:tr h="300510">
                <a:tc>
                  <a:txBody>
                    <a:bodyPr/>
                    <a:lstStyle/>
                    <a:p>
                      <a:pPr>
                        <a:buNone/>
                      </a:pPr>
                      <a:r>
                        <a:rPr lang="en-IN" sz="1600" dirty="0">
                          <a:latin typeface="Times New Roman" panose="02020603050405020304" pitchFamily="18" charset="0"/>
                          <a:cs typeface="Times New Roman" panose="02020603050405020304" pitchFamily="18" charset="0"/>
                        </a:rPr>
                        <a:t>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8]</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9458588"/>
                  </a:ext>
                </a:extLst>
              </a:tr>
              <a:tr h="300510">
                <a:tc>
                  <a:txBody>
                    <a:bodyPr/>
                    <a:lstStyle/>
                    <a:p>
                      <a:pPr>
                        <a:buNone/>
                      </a:pPr>
                      <a:r>
                        <a:rPr lang="en-IN" sz="1600">
                          <a:latin typeface="Times New Roman" panose="02020603050405020304" pitchFamily="18" charset="0"/>
                          <a:cs typeface="Times New Roman" panose="02020603050405020304" pitchFamily="18" charset="0"/>
                        </a:rPr>
                        <a:t>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Push 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8, 4]</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047576"/>
                  </a:ext>
                </a:extLst>
              </a:tr>
              <a:tr h="300510">
                <a:tc>
                  <a:txBody>
                    <a:bodyPr/>
                    <a:lstStyle/>
                    <a:p>
                      <a:pPr>
                        <a:buNone/>
                      </a:pPr>
                      <a:r>
                        <a:rPr lang="en-IN" sz="160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Pop 4, Pop 8. Calculate 8 / 4 = 2. Push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[7, 2]</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34813473"/>
                  </a:ext>
                </a:extLst>
              </a:tr>
              <a:tr h="300510">
                <a:tc>
                  <a:txBody>
                    <a:bodyPr/>
                    <a:lstStyle/>
                    <a:p>
                      <a:pPr>
                        <a:buNone/>
                      </a:pPr>
                      <a:r>
                        <a:rPr lang="en-IN" sz="1600" dirty="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Pop 2, Pop 7. Calculate 7 - 2 = 5. Push 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5209137"/>
                  </a:ext>
                </a:extLst>
              </a:tr>
              <a:tr h="300510">
                <a:tc>
                  <a:txBody>
                    <a:bodyPr/>
                    <a:lstStyle/>
                    <a:p>
                      <a:pPr>
                        <a:buNone/>
                      </a:pPr>
                      <a:r>
                        <a:rPr lang="en-IN" sz="1600">
                          <a:latin typeface="Times New Roman" panose="02020603050405020304" pitchFamily="18" charset="0"/>
                          <a:cs typeface="Times New Roman" panose="02020603050405020304" pitchFamily="18" charset="0"/>
                        </a:rPr>
                        <a:t>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Push 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[5, 3]</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027122"/>
                  </a:ext>
                </a:extLst>
              </a:tr>
              <a:tr h="300510">
                <a:tc>
                  <a:txBody>
                    <a:bodyPr/>
                    <a:lstStyle/>
                    <a:p>
                      <a:pPr>
                        <a:buNone/>
                      </a:pPr>
                      <a:r>
                        <a:rPr lang="en-IN" sz="1600">
                          <a:latin typeface="Times New Roman" panose="02020603050405020304" pitchFamily="18" charset="0"/>
                          <a:cs typeface="Times New Roman" panose="02020603050405020304" pitchFamily="18" charset="0"/>
                        </a:rPr>
                        <a:t>*</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Pop 3, Pop 5. Calculate 5 * 3 = 15. Push 15.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[15]</a:t>
                      </a:r>
                    </a:p>
                  </a:txBody>
                  <a:tcPr marL="76711" marR="76711" marT="38356" marB="383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6992107"/>
                  </a:ext>
                </a:extLst>
              </a:tr>
              <a:tr h="492689">
                <a:tc>
                  <a:txBody>
                    <a:bodyPr/>
                    <a:lstStyle/>
                    <a:p>
                      <a:pPr>
                        <a:buNone/>
                      </a:pPr>
                      <a:r>
                        <a:rPr lang="en-IN" sz="1600" b="1" dirty="0">
                          <a:latin typeface="Times New Roman" panose="02020603050405020304" pitchFamily="18" charset="0"/>
                          <a:cs typeface="Times New Roman" panose="02020603050405020304" pitchFamily="18" charset="0"/>
                        </a:rPr>
                        <a:t>Result</a:t>
                      </a:r>
                      <a:endParaRPr lang="en-IN" sz="1600" dirty="0">
                        <a:latin typeface="Times New Roman" panose="02020603050405020304" pitchFamily="18" charset="0"/>
                        <a:cs typeface="Times New Roman" panose="02020603050405020304" pitchFamily="18" charset="0"/>
                      </a:endParaRP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The final value on the stack is </a:t>
                      </a:r>
                      <a:r>
                        <a:rPr lang="en-IN" sz="1600" b="1" dirty="0">
                          <a:latin typeface="Times New Roman" panose="02020603050405020304" pitchFamily="18" charset="0"/>
                          <a:cs typeface="Times New Roman" panose="02020603050405020304" pitchFamily="18" charset="0"/>
                        </a:rPr>
                        <a:t>15</a:t>
                      </a:r>
                      <a:r>
                        <a:rPr lang="en-IN" sz="1600" dirty="0">
                          <a:latin typeface="Times New Roman" panose="02020603050405020304" pitchFamily="18" charset="0"/>
                          <a:cs typeface="Times New Roman" panose="02020603050405020304" pitchFamily="18" charset="0"/>
                        </a:rPr>
                        <a:t>.</a:t>
                      </a: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[15]</a:t>
                      </a:r>
                    </a:p>
                  </a:txBody>
                  <a:tcPr marL="76711" marR="76711" marT="38356" marB="3835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166488"/>
                  </a:ext>
                </a:extLst>
              </a:tr>
            </a:tbl>
          </a:graphicData>
        </a:graphic>
      </p:graphicFrame>
    </p:spTree>
    <p:extLst>
      <p:ext uri="{BB962C8B-B14F-4D97-AF65-F5344CB8AC3E}">
        <p14:creationId xmlns:p14="http://schemas.microsoft.com/office/powerpoint/2010/main" val="1766814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774EF-8DC0-DD28-0BB4-70C2CAAF83C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69A9E50-F316-FA23-F278-121921FFEC4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4070BD78-4E6A-AC9E-4139-702B2887C0A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8F83789-C135-4546-69E2-2DB8E4659E5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6379723"/>
            <a:ext cx="2411760" cy="346691"/>
          </a:xfrm>
          <a:prstGeom prst="rect">
            <a:avLst/>
          </a:prstGeom>
        </p:spPr>
      </p:pic>
      <p:sp>
        <p:nvSpPr>
          <p:cNvPr id="6" name="TextBox 5">
            <a:extLst>
              <a:ext uri="{FF2B5EF4-FFF2-40B4-BE49-F238E27FC236}">
                <a16:creationId xmlns:a16="http://schemas.microsoft.com/office/drawing/2014/main" id="{B281ECB2-5835-2758-B921-85C16999330E}"/>
              </a:ext>
            </a:extLst>
          </p:cNvPr>
          <p:cNvSpPr txBox="1"/>
          <p:nvPr/>
        </p:nvSpPr>
        <p:spPr>
          <a:xfrm>
            <a:off x="415068" y="1303136"/>
            <a:ext cx="8064896" cy="4797339"/>
          </a:xfrm>
          <a:prstGeom prst="rect">
            <a:avLst/>
          </a:prstGeom>
          <a:noFill/>
        </p:spPr>
        <p:txBody>
          <a:bodyPr wrap="square">
            <a:spAutoFit/>
          </a:bodyPr>
          <a:lstStyle/>
          <a:p>
            <a:pPr marL="0" marR="0" algn="just" fontAlgn="base">
              <a:lnSpc>
                <a:spcPct val="107000"/>
              </a:lnSpc>
              <a:spcBef>
                <a:spcPts val="600"/>
              </a:spcBef>
              <a:spcAft>
                <a:spcPts val="0"/>
              </a:spcAft>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Infix:</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Standard notation with operators between operands (e.g., A + B).</a:t>
            </a:r>
          </a:p>
          <a:p>
            <a:pPr marL="0" marR="0" algn="just" fontAlgn="base">
              <a:lnSpc>
                <a:spcPct val="107000"/>
              </a:lnSpc>
              <a:spcBef>
                <a:spcPts val="600"/>
              </a:spcBef>
              <a:spcAft>
                <a:spcPts val="0"/>
              </a:spcAft>
            </a:pPr>
            <a:r>
              <a:rPr lang="en-IN" sz="2400" b="1" kern="100" dirty="0">
                <a:latin typeface="Times New Roman" panose="02020603050405020304" pitchFamily="18" charset="0"/>
                <a:cs typeface="Times New Roman" panose="02020603050405020304" pitchFamily="18" charset="0"/>
              </a:rPr>
              <a:t>Conversion using Stack: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Uses an operator stack and considers operator precedence and associativity.</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Operand:</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Append to postfix string.</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Push onto stack.</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 Pop operators from stack and append to postfix until '(' is encountered (pop '(' too).</a:t>
            </a:r>
          </a:p>
          <a:p>
            <a:pPr marL="268288" lvl="1" indent="-268288" algn="just" fontAlgn="base">
              <a:lnSpc>
                <a:spcPct val="107000"/>
              </a:lnSpc>
              <a:spcBef>
                <a:spcPts val="600"/>
              </a:spcBef>
              <a:buFont typeface="Arial" panose="020B0604020202020204" pitchFamily="34" charset="0"/>
              <a:buChar char="•"/>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Operator: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Pop operators from the stack and append to the postfix while the stack’s top operator has a higher or equal precedence. Then push the current operator.</a:t>
            </a:r>
          </a:p>
        </p:txBody>
      </p:sp>
      <p:sp>
        <p:nvSpPr>
          <p:cNvPr id="2" name="TextBox 1">
            <a:extLst>
              <a:ext uri="{FF2B5EF4-FFF2-40B4-BE49-F238E27FC236}">
                <a16:creationId xmlns:a16="http://schemas.microsoft.com/office/drawing/2014/main" id="{905B7224-4C80-9ECA-DA23-3B1F29739DF6}"/>
              </a:ext>
            </a:extLst>
          </p:cNvPr>
          <p:cNvSpPr txBox="1"/>
          <p:nvPr/>
        </p:nvSpPr>
        <p:spPr>
          <a:xfrm>
            <a:off x="251520" y="17035"/>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a:t>
            </a:r>
            <a:endParaRPr lang="en-US" sz="3600" b="1" dirty="0">
              <a:solidFill>
                <a:srgbClr val="FF0000"/>
              </a:solidFill>
            </a:endParaRPr>
          </a:p>
        </p:txBody>
      </p:sp>
    </p:spTree>
    <p:extLst>
      <p:ext uri="{BB962C8B-B14F-4D97-AF65-F5344CB8AC3E}">
        <p14:creationId xmlns:p14="http://schemas.microsoft.com/office/powerpoint/2010/main" val="277691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3637A-E338-6E1A-C6E9-DBA624CE4B3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8A2797F-6386-2350-F793-2E592064468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13692"/>
            <a:ext cx="9180512" cy="6885384"/>
          </a:xfrm>
        </p:spPr>
      </p:pic>
      <p:cxnSp>
        <p:nvCxnSpPr>
          <p:cNvPr id="7" name="Straight Connector 6">
            <a:extLst>
              <a:ext uri="{FF2B5EF4-FFF2-40B4-BE49-F238E27FC236}">
                <a16:creationId xmlns:a16="http://schemas.microsoft.com/office/drawing/2014/main" id="{30467F0D-C551-F032-3363-FE48FB74B52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C5E21F-AE30-D7BA-5201-F1E2A8A7758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04" y="6333557"/>
            <a:ext cx="2411760" cy="346691"/>
          </a:xfrm>
          <a:prstGeom prst="rect">
            <a:avLst/>
          </a:prstGeom>
        </p:spPr>
      </p:pic>
      <p:sp>
        <p:nvSpPr>
          <p:cNvPr id="6" name="TextBox 5">
            <a:extLst>
              <a:ext uri="{FF2B5EF4-FFF2-40B4-BE49-F238E27FC236}">
                <a16:creationId xmlns:a16="http://schemas.microsoft.com/office/drawing/2014/main" id="{AE62E621-84A2-DCFA-F655-D6EB42A8A626}"/>
              </a:ext>
            </a:extLst>
          </p:cNvPr>
          <p:cNvSpPr txBox="1"/>
          <p:nvPr/>
        </p:nvSpPr>
        <p:spPr>
          <a:xfrm>
            <a:off x="449795" y="1316278"/>
            <a:ext cx="7995441" cy="2349361"/>
          </a:xfrm>
          <a:prstGeom prst="rect">
            <a:avLst/>
          </a:prstGeom>
          <a:noFill/>
        </p:spPr>
        <p:txBody>
          <a:bodyPr wrap="square">
            <a:spAutoFit/>
          </a:bodyPr>
          <a:lstStyle/>
          <a:p>
            <a:pPr marL="0" marR="0" algn="just" fontAlgn="base">
              <a:lnSpc>
                <a:spcPct val="107000"/>
              </a:lnSpc>
              <a:spcBef>
                <a:spcPts val="600"/>
              </a:spcBef>
            </a:pP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Precedence</a:t>
            </a:r>
          </a:p>
          <a:p>
            <a:pPr marL="0" marR="0" algn="just" fontAlgn="base">
              <a:lnSpc>
                <a:spcPct val="107000"/>
              </a:lnSpc>
              <a:spcBef>
                <a:spcPts val="600"/>
              </a:spcBef>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(Higher to Lower):</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(Exponentiation)</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p>
          <a:p>
            <a:pPr marL="971550" lvl="1" indent="-514350" algn="just" fontAlgn="base">
              <a:lnSpc>
                <a:spcPct val="107000"/>
              </a:lnSpc>
              <a:spcBef>
                <a:spcPts val="600"/>
              </a:spcBef>
              <a:buFont typeface="+mj-lt"/>
              <a:buAutoNum type="arabicPeriod"/>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 name="TextBox 1">
            <a:extLst>
              <a:ext uri="{FF2B5EF4-FFF2-40B4-BE49-F238E27FC236}">
                <a16:creationId xmlns:a16="http://schemas.microsoft.com/office/drawing/2014/main" id="{89DF8243-F550-0BA4-F1BE-805E54796A0D}"/>
              </a:ext>
            </a:extLst>
          </p:cNvPr>
          <p:cNvSpPr txBox="1"/>
          <p:nvPr/>
        </p:nvSpPr>
        <p:spPr>
          <a:xfrm>
            <a:off x="323528" y="17035"/>
            <a:ext cx="8499497"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a:t>
            </a:r>
            <a:endParaRPr lang="en-US" sz="3600" b="1" dirty="0">
              <a:solidFill>
                <a:srgbClr val="FF0000"/>
              </a:solidFill>
            </a:endParaRPr>
          </a:p>
        </p:txBody>
      </p:sp>
      <p:sp>
        <p:nvSpPr>
          <p:cNvPr id="3" name="Footer Placeholder 2">
            <a:extLst>
              <a:ext uri="{FF2B5EF4-FFF2-40B4-BE49-F238E27FC236}">
                <a16:creationId xmlns:a16="http://schemas.microsoft.com/office/drawing/2014/main" id="{A6AD3B60-99BC-2801-1F9A-F8CB6E51D62A}"/>
              </a:ext>
            </a:extLst>
          </p:cNvPr>
          <p:cNvSpPr>
            <a:spLocks noGrp="1"/>
          </p:cNvSpPr>
          <p:nvPr>
            <p:ph type="ftr" sz="quarter" idx="11"/>
          </p:nvPr>
        </p:nvSpPr>
        <p:spPr>
          <a:xfrm>
            <a:off x="3142456" y="6624278"/>
            <a:ext cx="2895600" cy="365125"/>
          </a:xfrm>
        </p:spPr>
        <p:txBody>
          <a:bodyPr/>
          <a:lstStyle/>
          <a:p>
            <a:r>
              <a:rPr lang="en-IN" dirty="0">
                <a:solidFill>
                  <a:schemeClr val="tx1"/>
                </a:solidFill>
              </a:rPr>
              <a:t>Data  Structure         Unit2  </a:t>
            </a:r>
          </a:p>
          <a:p>
            <a:endParaRPr lang="en-IN" dirty="0">
              <a:solidFill>
                <a:schemeClr val="tx1"/>
              </a:solidFill>
            </a:endParaRPr>
          </a:p>
          <a:p>
            <a:endParaRPr lang="en-IN" dirty="0">
              <a:solidFill>
                <a:schemeClr val="tx1"/>
              </a:solidFill>
            </a:endParaRPr>
          </a:p>
        </p:txBody>
      </p:sp>
    </p:spTree>
    <p:extLst>
      <p:ext uri="{BB962C8B-B14F-4D97-AF65-F5344CB8AC3E}">
        <p14:creationId xmlns:p14="http://schemas.microsoft.com/office/powerpoint/2010/main" val="2846271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1BD5-332A-F608-0058-AF6DB5F1009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1D938C-E94A-F3E3-EBC8-FD4D934FCCC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7" y="0"/>
            <a:ext cx="9180512" cy="6885384"/>
          </a:xfrm>
        </p:spPr>
      </p:pic>
      <p:cxnSp>
        <p:nvCxnSpPr>
          <p:cNvPr id="7" name="Straight Connector 6">
            <a:extLst>
              <a:ext uri="{FF2B5EF4-FFF2-40B4-BE49-F238E27FC236}">
                <a16:creationId xmlns:a16="http://schemas.microsoft.com/office/drawing/2014/main" id="{DC5E58FB-8882-76E6-01B5-49DE3D6CE98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E7B9D2B-5684-3771-DB0F-52290E0EF8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020" y="6388240"/>
            <a:ext cx="2411760" cy="346691"/>
          </a:xfrm>
          <a:prstGeom prst="rect">
            <a:avLst/>
          </a:prstGeom>
        </p:spPr>
      </p:pic>
      <p:sp>
        <p:nvSpPr>
          <p:cNvPr id="6" name="TextBox 5">
            <a:extLst>
              <a:ext uri="{FF2B5EF4-FFF2-40B4-BE49-F238E27FC236}">
                <a16:creationId xmlns:a16="http://schemas.microsoft.com/office/drawing/2014/main" id="{288F1FD2-355D-29E0-2540-A1E7618D6714}"/>
              </a:ext>
            </a:extLst>
          </p:cNvPr>
          <p:cNvSpPr txBox="1"/>
          <p:nvPr/>
        </p:nvSpPr>
        <p:spPr>
          <a:xfrm>
            <a:off x="418383" y="1335070"/>
            <a:ext cx="8751017" cy="460895"/>
          </a:xfrm>
          <a:prstGeom prst="rect">
            <a:avLst/>
          </a:prstGeom>
          <a:noFill/>
        </p:spPr>
        <p:txBody>
          <a:bodyPr wrap="square">
            <a:spAutoFit/>
          </a:bodyPr>
          <a:lstStyle/>
          <a:p>
            <a:pPr marL="0" marR="0" algn="just" fontAlgn="base">
              <a:lnSpc>
                <a:spcPct val="107000"/>
              </a:lnSpc>
              <a:spcBef>
                <a:spcPts val="0"/>
              </a:spcBef>
              <a:spcAft>
                <a:spcPts val="0"/>
              </a:spcAft>
            </a:pPr>
            <a:r>
              <a:rPr lang="en-IN" sz="2400" kern="100" dirty="0">
                <a:latin typeface="Times New Roman" panose="02020603050405020304" pitchFamily="18" charset="0"/>
                <a:ea typeface="Calibri" panose="020F0502020204030204" pitchFamily="34" charset="0"/>
                <a:cs typeface="Times New Roman" panose="02020603050405020304" pitchFamily="18" charset="0"/>
              </a:rPr>
              <a:t>Convert the infix expression (A + B) * C - D / E to postfix.</a:t>
            </a:r>
          </a:p>
        </p:txBody>
      </p:sp>
      <p:sp>
        <p:nvSpPr>
          <p:cNvPr id="2" name="TextBox 1">
            <a:extLst>
              <a:ext uri="{FF2B5EF4-FFF2-40B4-BE49-F238E27FC236}">
                <a16:creationId xmlns:a16="http://schemas.microsoft.com/office/drawing/2014/main" id="{8EDA7AA9-87ED-9B43-B59A-3165D389B195}"/>
              </a:ext>
            </a:extLst>
          </p:cNvPr>
          <p:cNvSpPr txBox="1"/>
          <p:nvPr/>
        </p:nvSpPr>
        <p:spPr>
          <a:xfrm>
            <a:off x="286247" y="0"/>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Infix to Postfix Conversion Numerical</a:t>
            </a:r>
            <a:endParaRPr lang="en-US" sz="3600" b="1" dirty="0">
              <a:solidFill>
                <a:srgbClr val="FF0000"/>
              </a:solidFill>
            </a:endParaRPr>
          </a:p>
        </p:txBody>
      </p:sp>
      <p:graphicFrame>
        <p:nvGraphicFramePr>
          <p:cNvPr id="10" name="Table 9">
            <a:extLst>
              <a:ext uri="{FF2B5EF4-FFF2-40B4-BE49-F238E27FC236}">
                <a16:creationId xmlns:a16="http://schemas.microsoft.com/office/drawing/2014/main" id="{6FF7B367-42BA-2E1D-2E53-4C1055ECFDE1}"/>
              </a:ext>
            </a:extLst>
          </p:cNvPr>
          <p:cNvGraphicFramePr>
            <a:graphicFrameLocks noGrp="1"/>
          </p:cNvGraphicFramePr>
          <p:nvPr>
            <p:extLst>
              <p:ext uri="{D42A27DB-BD31-4B8C-83A1-F6EECF244321}">
                <p14:modId xmlns:p14="http://schemas.microsoft.com/office/powerpoint/2010/main" val="915902123"/>
              </p:ext>
            </p:extLst>
          </p:nvPr>
        </p:nvGraphicFramePr>
        <p:xfrm>
          <a:off x="539552" y="2122897"/>
          <a:ext cx="8022764" cy="3718560"/>
        </p:xfrm>
        <a:graphic>
          <a:graphicData uri="http://schemas.openxmlformats.org/drawingml/2006/table">
            <a:tbl>
              <a:tblPr/>
              <a:tblGrid>
                <a:gridCol w="2304256">
                  <a:extLst>
                    <a:ext uri="{9D8B030D-6E8A-4147-A177-3AD203B41FA5}">
                      <a16:colId xmlns:a16="http://schemas.microsoft.com/office/drawing/2014/main" val="2315415176"/>
                    </a:ext>
                  </a:extLst>
                </a:gridCol>
                <a:gridCol w="1944216">
                  <a:extLst>
                    <a:ext uri="{9D8B030D-6E8A-4147-A177-3AD203B41FA5}">
                      <a16:colId xmlns:a16="http://schemas.microsoft.com/office/drawing/2014/main" val="3757902920"/>
                    </a:ext>
                  </a:extLst>
                </a:gridCol>
                <a:gridCol w="1440160">
                  <a:extLst>
                    <a:ext uri="{9D8B030D-6E8A-4147-A177-3AD203B41FA5}">
                      <a16:colId xmlns:a16="http://schemas.microsoft.com/office/drawing/2014/main" val="3491119096"/>
                    </a:ext>
                  </a:extLst>
                </a:gridCol>
                <a:gridCol w="2334132">
                  <a:extLst>
                    <a:ext uri="{9D8B030D-6E8A-4147-A177-3AD203B41FA5}">
                      <a16:colId xmlns:a16="http://schemas.microsoft.com/office/drawing/2014/main" val="682838"/>
                    </a:ext>
                  </a:extLst>
                </a:gridCol>
              </a:tblGrid>
              <a:tr h="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Scanned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Postfix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377748"/>
                  </a:ext>
                </a:extLst>
              </a:tr>
              <a:tr h="0">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735558"/>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602171"/>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Operator: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429497"/>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501739"/>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Pop until '(': '+' popped.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630942"/>
                  </a:ext>
                </a:extLst>
              </a:tr>
              <a:tr h="0">
                <a:tc>
                  <a:txBody>
                    <a:bodyPr/>
                    <a:lstStyle/>
                    <a:p>
                      <a:pPr>
                        <a:buNone/>
                      </a:pPr>
                      <a:r>
                        <a:rPr lang="en-IN">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solidFill>
                            <a:schemeClr val="tx1"/>
                          </a:solidFill>
                          <a:latin typeface="Times New Roman" panose="02020603050405020304" pitchFamily="18" charset="0"/>
                          <a:cs typeface="Times New Roman" panose="02020603050405020304" pitchFamily="18" charset="0"/>
                        </a:rPr>
                        <a:t>A B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solidFill>
                            <a:schemeClr val="tx1"/>
                          </a:solidFill>
                          <a:latin typeface="Times New Roman" panose="02020603050405020304" pitchFamily="18" charset="0"/>
                          <a:cs typeface="Times New Roman" panose="02020603050405020304" pitchFamily="18" charset="0"/>
                        </a:rPr>
                        <a:t>Operator: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709104"/>
                  </a:ext>
                </a:extLst>
              </a:tr>
            </a:tbl>
          </a:graphicData>
        </a:graphic>
      </p:graphicFrame>
    </p:spTree>
    <p:extLst>
      <p:ext uri="{BB962C8B-B14F-4D97-AF65-F5344CB8AC3E}">
        <p14:creationId xmlns:p14="http://schemas.microsoft.com/office/powerpoint/2010/main" val="3548897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7072A-9961-89A7-5687-083591FCC54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5197F51-1A52-4C84-85D3-8F6A9BFA888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334" y="-27384"/>
            <a:ext cx="9180512" cy="6885384"/>
          </a:xfrm>
        </p:spPr>
      </p:pic>
      <p:cxnSp>
        <p:nvCxnSpPr>
          <p:cNvPr id="7" name="Straight Connector 6">
            <a:extLst>
              <a:ext uri="{FF2B5EF4-FFF2-40B4-BE49-F238E27FC236}">
                <a16:creationId xmlns:a16="http://schemas.microsoft.com/office/drawing/2014/main" id="{51E370BD-EE19-4176-22DB-DAECD4614BF7}"/>
              </a:ext>
            </a:extLst>
          </p:cNvPr>
          <p:cNvCxnSpPr/>
          <p:nvPr/>
        </p:nvCxnSpPr>
        <p:spPr>
          <a:xfrm>
            <a:off x="0" y="670714"/>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6167A1A-D347-70FF-159C-EFC8EE4B194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397" y="6329519"/>
            <a:ext cx="2411760" cy="346691"/>
          </a:xfrm>
          <a:prstGeom prst="rect">
            <a:avLst/>
          </a:prstGeom>
        </p:spPr>
      </p:pic>
      <p:sp>
        <p:nvSpPr>
          <p:cNvPr id="6" name="TextBox 5">
            <a:extLst>
              <a:ext uri="{FF2B5EF4-FFF2-40B4-BE49-F238E27FC236}">
                <a16:creationId xmlns:a16="http://schemas.microsoft.com/office/drawing/2014/main" id="{6665F919-736A-697F-5CCB-233DD3A1CDC4}"/>
              </a:ext>
            </a:extLst>
          </p:cNvPr>
          <p:cNvSpPr txBox="1"/>
          <p:nvPr/>
        </p:nvSpPr>
        <p:spPr>
          <a:xfrm>
            <a:off x="251520" y="806916"/>
            <a:ext cx="8714244" cy="532903"/>
          </a:xfrm>
          <a:prstGeom prst="rect">
            <a:avLst/>
          </a:prstGeom>
          <a:noFill/>
        </p:spPr>
        <p:txBody>
          <a:bodyPr wrap="square">
            <a:spAutoFit/>
          </a:bodyPr>
          <a:lstStyle/>
          <a:p>
            <a:pPr marL="0" marR="0" algn="just" fontAlgn="base">
              <a:lnSpc>
                <a:spcPct val="107000"/>
              </a:lnSpc>
              <a:spcBef>
                <a:spcPts val="0"/>
              </a:spcBef>
              <a:spcAft>
                <a:spcPts val="0"/>
              </a:spcAft>
            </a:pPr>
            <a:r>
              <a:rPr lang="en-IN" sz="2800" kern="100" dirty="0">
                <a:latin typeface="+mj-lt"/>
                <a:ea typeface="Calibri" panose="020F0502020204030204" pitchFamily="34" charset="0"/>
                <a:cs typeface="Times New Roman" panose="02020603050405020304" pitchFamily="18" charset="0"/>
              </a:rPr>
              <a:t>    </a:t>
            </a:r>
            <a:r>
              <a:rPr lang="en-IN" sz="2400" kern="100" dirty="0">
                <a:latin typeface="Times New Roman" panose="02020603050405020304" pitchFamily="18" charset="0"/>
                <a:ea typeface="Calibri" panose="020F0502020204030204" pitchFamily="34" charset="0"/>
                <a:cs typeface="Times New Roman" panose="02020603050405020304" pitchFamily="18" charset="0"/>
              </a:rPr>
              <a:t>C - D / E</a:t>
            </a:r>
          </a:p>
        </p:txBody>
      </p:sp>
      <p:sp>
        <p:nvSpPr>
          <p:cNvPr id="2" name="TextBox 1">
            <a:extLst>
              <a:ext uri="{FF2B5EF4-FFF2-40B4-BE49-F238E27FC236}">
                <a16:creationId xmlns:a16="http://schemas.microsoft.com/office/drawing/2014/main" id="{F00E63C4-4007-DBD2-4834-CC60619E1233}"/>
              </a:ext>
            </a:extLst>
          </p:cNvPr>
          <p:cNvSpPr txBox="1"/>
          <p:nvPr/>
        </p:nvSpPr>
        <p:spPr>
          <a:xfrm>
            <a:off x="539552" y="17035"/>
            <a:ext cx="8283473" cy="646331"/>
          </a:xfrm>
          <a:prstGeom prst="rect">
            <a:avLst/>
          </a:prstGeom>
          <a:noFill/>
        </p:spPr>
        <p:txBody>
          <a:bodyPr wrap="square" rtlCol="0">
            <a:spAutoFit/>
          </a:bodyPr>
          <a:lstStyle/>
          <a:p>
            <a:r>
              <a:rPr lang="en-IN" sz="3600" b="1" dirty="0">
                <a:solidFill>
                  <a:srgbClr val="FF0000"/>
                </a:solidFill>
              </a:rPr>
              <a:t>Infix to Postfix Conversion Numerical</a:t>
            </a:r>
            <a:endParaRPr lang="en-US" sz="3600" b="1" dirty="0">
              <a:solidFill>
                <a:srgbClr val="FF0000"/>
              </a:solidFill>
            </a:endParaRPr>
          </a:p>
        </p:txBody>
      </p:sp>
      <p:graphicFrame>
        <p:nvGraphicFramePr>
          <p:cNvPr id="10" name="Table 9">
            <a:extLst>
              <a:ext uri="{FF2B5EF4-FFF2-40B4-BE49-F238E27FC236}">
                <a16:creationId xmlns:a16="http://schemas.microsoft.com/office/drawing/2014/main" id="{D41D92A1-41DB-0C26-EA2B-2506ACFB0541}"/>
              </a:ext>
            </a:extLst>
          </p:cNvPr>
          <p:cNvGraphicFramePr>
            <a:graphicFrameLocks noGrp="1"/>
          </p:cNvGraphicFramePr>
          <p:nvPr>
            <p:extLst>
              <p:ext uri="{D42A27DB-BD31-4B8C-83A1-F6EECF244321}">
                <p14:modId xmlns:p14="http://schemas.microsoft.com/office/powerpoint/2010/main" val="3158658749"/>
              </p:ext>
            </p:extLst>
          </p:nvPr>
        </p:nvGraphicFramePr>
        <p:xfrm>
          <a:off x="696268" y="1445702"/>
          <a:ext cx="8269496" cy="4663440"/>
        </p:xfrm>
        <a:graphic>
          <a:graphicData uri="http://schemas.openxmlformats.org/drawingml/2006/table">
            <a:tbl>
              <a:tblPr/>
              <a:tblGrid>
                <a:gridCol w="2067374">
                  <a:extLst>
                    <a:ext uri="{9D8B030D-6E8A-4147-A177-3AD203B41FA5}">
                      <a16:colId xmlns:a16="http://schemas.microsoft.com/office/drawing/2014/main" val="2315415176"/>
                    </a:ext>
                  </a:extLst>
                </a:gridCol>
                <a:gridCol w="2067374">
                  <a:extLst>
                    <a:ext uri="{9D8B030D-6E8A-4147-A177-3AD203B41FA5}">
                      <a16:colId xmlns:a16="http://schemas.microsoft.com/office/drawing/2014/main" val="3757902920"/>
                    </a:ext>
                  </a:extLst>
                </a:gridCol>
                <a:gridCol w="2067374">
                  <a:extLst>
                    <a:ext uri="{9D8B030D-6E8A-4147-A177-3AD203B41FA5}">
                      <a16:colId xmlns:a16="http://schemas.microsoft.com/office/drawing/2014/main" val="3491119096"/>
                    </a:ext>
                  </a:extLst>
                </a:gridCol>
                <a:gridCol w="2067374">
                  <a:extLst>
                    <a:ext uri="{9D8B030D-6E8A-4147-A177-3AD203B41FA5}">
                      <a16:colId xmlns:a16="http://schemas.microsoft.com/office/drawing/2014/main" val="682838"/>
                    </a:ext>
                  </a:extLst>
                </a:gridCol>
              </a:tblGrid>
              <a:tr h="0">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Scanned Character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Postfix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solidFill>
                            <a:schemeClr val="tx1"/>
                          </a:solidFill>
                          <a:latin typeface="Times New Roman" panose="02020603050405020304" pitchFamily="18" charset="0"/>
                          <a:cs typeface="Times New Roman" panose="02020603050405020304" pitchFamily="18" charset="0"/>
                        </a:rPr>
                        <a:t>Explanation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0377748"/>
                  </a:ext>
                </a:extLst>
              </a:tr>
              <a:tr h="0">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3735558"/>
                  </a:ext>
                </a:extLst>
              </a:tr>
              <a:tr h="0">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Operator '-': Pop '*' (higher precedence) then push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602171"/>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 B + C *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7429497"/>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A B + C *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Operator '/': Push '/' (higher precedence than '-' on stack 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9501739"/>
                  </a:ext>
                </a:extLst>
              </a:tr>
              <a:tr h="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dirty="0">
                          <a:solidFill>
                            <a:schemeClr val="tx1"/>
                          </a:solidFill>
                          <a:latin typeface="Times New Roman" panose="02020603050405020304" pitchFamily="18" charset="0"/>
                          <a:cs typeface="Times New Roman" panose="02020603050405020304" pitchFamily="18" charset="0"/>
                        </a:rPr>
                        <a:t>A B + C * D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Operand: Append to postfix.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630942"/>
                  </a:ext>
                </a:extLst>
              </a:tr>
              <a:tr h="0">
                <a:tc>
                  <a:txBody>
                    <a:bodyPr/>
                    <a:lstStyle/>
                    <a:p>
                      <a:pPr>
                        <a:buNone/>
                      </a:pPr>
                      <a:r>
                        <a:rPr lang="en-IN" sz="1600" b="1" dirty="0">
                          <a:solidFill>
                            <a:schemeClr val="tx1"/>
                          </a:solidFill>
                          <a:latin typeface="Times New Roman" panose="02020603050405020304" pitchFamily="18" charset="0"/>
                          <a:cs typeface="Times New Roman" panose="02020603050405020304" pitchFamily="18" charset="0"/>
                        </a:rPr>
                        <a:t>End</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600">
                          <a:solidFill>
                            <a:schemeClr val="tx1"/>
                          </a:solidFill>
                          <a:latin typeface="Times New Roman" panose="02020603050405020304" pitchFamily="18" charset="0"/>
                          <a:cs typeface="Times New Roman" panose="02020603050405020304" pitchFamily="18" charset="0"/>
                        </a:rPr>
                        <a:t>A B + C * D E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Pop remaining operators: '/' then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709104"/>
                  </a:ext>
                </a:extLst>
              </a:tr>
            </a:tbl>
          </a:graphicData>
        </a:graphic>
      </p:graphicFrame>
      <p:sp>
        <p:nvSpPr>
          <p:cNvPr id="5" name="Rectangle 1">
            <a:extLst>
              <a:ext uri="{FF2B5EF4-FFF2-40B4-BE49-F238E27FC236}">
                <a16:creationId xmlns:a16="http://schemas.microsoft.com/office/drawing/2014/main" id="{1F278999-C870-E0C0-723B-66ECF0B7AE1A}"/>
              </a:ext>
            </a:extLst>
          </p:cNvPr>
          <p:cNvSpPr>
            <a:spLocks noChangeArrowheads="1"/>
          </p:cNvSpPr>
          <p:nvPr/>
        </p:nvSpPr>
        <p:spPr bwMode="auto">
          <a:xfrm>
            <a:off x="2627784" y="6244474"/>
            <a:ext cx="483888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Postfix Expression: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 + C * D E / - </a:t>
            </a:r>
          </a:p>
        </p:txBody>
      </p:sp>
    </p:spTree>
    <p:extLst>
      <p:ext uri="{BB962C8B-B14F-4D97-AF65-F5344CB8AC3E}">
        <p14:creationId xmlns:p14="http://schemas.microsoft.com/office/powerpoint/2010/main" val="2074035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220"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0975" y="53136"/>
            <a:ext cx="8502050" cy="1446550"/>
          </a:xfrm>
          <a:prstGeom prst="rect">
            <a:avLst/>
          </a:prstGeom>
          <a:noFill/>
        </p:spPr>
        <p:txBody>
          <a:bodyPr wrap="square" rtlCol="0">
            <a:spAutoFit/>
          </a:bodyPr>
          <a:lstStyle/>
          <a:p>
            <a:endParaRPr lang="en-US" sz="2400" b="1" u="sng" dirty="0"/>
          </a:p>
          <a:p>
            <a:r>
              <a:rPr lang="en-US" sz="2800" b="1" kern="100" dirty="0">
                <a:solidFill>
                  <a:srgbClr val="E31E24"/>
                </a:solidFill>
                <a:latin typeface="+mj-lt"/>
                <a:cs typeface="Times New Roman" panose="02020603050405020304" pitchFamily="18" charset="0"/>
                <a:sym typeface="Arial"/>
              </a:rPr>
              <a:t>Stack ( Arithmetic Conversion Practice Question)</a:t>
            </a:r>
          </a:p>
          <a:p>
            <a:endParaRPr lang="en-US" sz="3600" b="1" dirty="0">
              <a:solidFill>
                <a:srgbClr val="FF0000"/>
              </a:solidFill>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20975" y="1325823"/>
            <a:ext cx="8283473" cy="2803140"/>
          </a:xfrm>
          <a:prstGeom prst="rect">
            <a:avLst/>
          </a:prstGeom>
          <a:noFill/>
        </p:spPr>
        <p:txBody>
          <a:bodyPr wrap="square" rtlCol="0">
            <a:spAutoFit/>
          </a:bodyPr>
          <a:lstStyle/>
          <a:p>
            <a:pPr lvl="0" algn="just">
              <a:lnSpc>
                <a:spcPct val="150000"/>
              </a:lnSpc>
              <a:spcBef>
                <a:spcPts val="600"/>
              </a:spcBef>
              <a:spcAft>
                <a:spcPts val="600"/>
              </a:spcAft>
            </a:pPr>
            <a:r>
              <a:rPr lang="en-US" sz="2400" b="1" dirty="0">
                <a:latin typeface="Times New Roman" panose="02020603050405020304" pitchFamily="18" charset="0"/>
                <a:cs typeface="Times New Roman" panose="02020603050405020304" pitchFamily="18" charset="0"/>
              </a:rPr>
              <a:t>Question 1:</a:t>
            </a:r>
            <a:r>
              <a:rPr lang="en-US" sz="2400" dirty="0">
                <a:latin typeface="Times New Roman" panose="02020603050405020304" pitchFamily="18" charset="0"/>
                <a:cs typeface="Times New Roman" panose="02020603050405020304" pitchFamily="18" charset="0"/>
              </a:rPr>
              <a:t> Translate the following infix expression to its postfix equivalent expression: A + B * (C + D) / F + D * E. Also write the algorithm that you used for this conversion and evaluate the postfix expression’s value for A=10, B=27, C=3 D=5 F=4 and E</a:t>
            </a:r>
            <a:r>
              <a:rPr lang="en-US" sz="2400" dirty="0">
                <a:latin typeface="Times New Roman" panose="02020603050405020304" pitchFamily="18" charset="0"/>
                <a:cs typeface="Times New Roman" panose="02020603050405020304" pitchFamily="18" charset="0"/>
                <a:sym typeface="Symbol"/>
              </a:rPr>
              <a:t></a:t>
            </a:r>
            <a:r>
              <a:rPr lang="en-US" sz="2400" dirty="0">
                <a:latin typeface="Times New Roman" panose="02020603050405020304" pitchFamily="18" charset="0"/>
                <a:cs typeface="Times New Roman" panose="02020603050405020304" pitchFamily="18" charset="0"/>
              </a:rPr>
              <a:t> 2.</a:t>
            </a:r>
            <a:endParaRPr lang="en-IN" dirty="0"/>
          </a:p>
        </p:txBody>
      </p:sp>
    </p:spTree>
    <p:extLst>
      <p:ext uri="{BB962C8B-B14F-4D97-AF65-F5344CB8AC3E}">
        <p14:creationId xmlns:p14="http://schemas.microsoft.com/office/powerpoint/2010/main" val="335727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23528" y="1146228"/>
            <a:ext cx="8391993" cy="5355312"/>
          </a:xfrm>
          <a:prstGeom prst="rect">
            <a:avLst/>
          </a:prstGeom>
          <a:noFill/>
        </p:spPr>
        <p:txBody>
          <a:bodyPr wrap="square" rtlCol="0">
            <a:spAutoFit/>
          </a:bodyPr>
          <a:lstStyle/>
          <a:p>
            <a:pPr>
              <a:spcBef>
                <a:spcPts val="600"/>
              </a:spcBef>
            </a:pPr>
            <a:r>
              <a:rPr lang="en-IN" sz="2400" b="1" dirty="0">
                <a:latin typeface="Times New Roman" panose="02020603050405020304" pitchFamily="18" charset="0"/>
                <a:cs typeface="Times New Roman" panose="02020603050405020304" pitchFamily="18" charset="0"/>
              </a:rPr>
              <a:t>Algorithm (Converting Infix to Postfix)</a:t>
            </a:r>
          </a:p>
          <a:p>
            <a:pPr marL="360363" indent="-360363">
              <a:spcBef>
                <a:spcPts val="600"/>
              </a:spcBef>
              <a:buFont typeface="+mj-lt"/>
              <a:buAutoNum type="arabicPeriod"/>
            </a:pPr>
            <a:r>
              <a:rPr lang="en-IN" sz="2400" b="1" dirty="0">
                <a:latin typeface="Times New Roman" panose="02020603050405020304" pitchFamily="18" charset="0"/>
                <a:cs typeface="Times New Roman" panose="02020603050405020304" pitchFamily="18" charset="0"/>
              </a:rPr>
              <a:t>Initialize an empty stack</a:t>
            </a:r>
            <a:r>
              <a:rPr lang="en-IN" sz="2400" dirty="0">
                <a:latin typeface="Times New Roman" panose="02020603050405020304" pitchFamily="18" charset="0"/>
                <a:cs typeface="Times New Roman" panose="02020603050405020304" pitchFamily="18" charset="0"/>
              </a:rPr>
              <a:t> for operators and an empty list for the output (postfix expression).</a:t>
            </a:r>
          </a:p>
          <a:p>
            <a:pPr marL="360363" indent="-360363">
              <a:spcBef>
                <a:spcPts val="600"/>
              </a:spcBef>
              <a:buFont typeface="+mj-lt"/>
              <a:buAutoNum type="arabicPeriod"/>
            </a:pPr>
            <a:r>
              <a:rPr lang="en-IN" sz="2400" b="1" dirty="0">
                <a:latin typeface="Times New Roman" panose="02020603050405020304" pitchFamily="18" charset="0"/>
                <a:cs typeface="Times New Roman" panose="02020603050405020304" pitchFamily="18" charset="0"/>
              </a:rPr>
              <a:t>Read each token</a:t>
            </a:r>
            <a:r>
              <a:rPr lang="en-IN" sz="2400" dirty="0">
                <a:latin typeface="Times New Roman" panose="02020603050405020304" pitchFamily="18" charset="0"/>
                <a:cs typeface="Times New Roman" panose="02020603050405020304" pitchFamily="18" charset="0"/>
              </a:rPr>
              <a:t> (operand, operator, or parenthesis) from the infix expression from left to right:</a:t>
            </a:r>
          </a:p>
          <a:p>
            <a:pPr marL="800100" lvl="1" indent="-342900">
              <a:spcBef>
                <a:spcPts val="600"/>
              </a:spcBef>
              <a:buFont typeface="+mj-lt"/>
              <a:buAutoNum type="alphaLcPeriod"/>
            </a:pPr>
            <a:r>
              <a:rPr lang="en-IN" sz="2400" b="1" dirty="0">
                <a:latin typeface="Times New Roman" panose="02020603050405020304" pitchFamily="18" charset="0"/>
                <a:cs typeface="Times New Roman" panose="02020603050405020304" pitchFamily="18" charset="0"/>
              </a:rPr>
              <a:t>If the token is an operand (A-Z, 0-9)</a:t>
            </a:r>
            <a:r>
              <a:rPr lang="en-IN" sz="2400" dirty="0">
                <a:latin typeface="Times New Roman" panose="02020603050405020304" pitchFamily="18" charset="0"/>
                <a:cs typeface="Times New Roman" panose="02020603050405020304" pitchFamily="18" charset="0"/>
              </a:rPr>
              <a:t>, append it to the output list.</a:t>
            </a:r>
          </a:p>
          <a:p>
            <a:pPr marL="800100" lvl="1" indent="-342900">
              <a:spcBef>
                <a:spcPts val="600"/>
              </a:spcBef>
              <a:buFont typeface="+mj-lt"/>
              <a:buAutoNum type="alphaLcPeriod"/>
            </a:pPr>
            <a:r>
              <a:rPr lang="en-IN" sz="2400" b="1" dirty="0">
                <a:latin typeface="Times New Roman" panose="02020603050405020304" pitchFamily="18" charset="0"/>
                <a:cs typeface="Times New Roman" panose="02020603050405020304" pitchFamily="18" charset="0"/>
              </a:rPr>
              <a:t>If the token is an operator (+, -, *, /, etc.)</a:t>
            </a:r>
            <a:r>
              <a:rPr lang="en-IN" sz="2400" dirty="0">
                <a:latin typeface="Times New Roman" panose="02020603050405020304" pitchFamily="18" charset="0"/>
                <a:cs typeface="Times New Roman" panose="02020603050405020304" pitchFamily="18" charset="0"/>
              </a:rPr>
              <a:t>:</a:t>
            </a:r>
          </a:p>
          <a:p>
            <a:pPr marL="1257300" lvl="2" indent="-342900">
              <a:spcBef>
                <a:spcPts val="600"/>
              </a:spcBef>
              <a:buFont typeface="+mj-lt"/>
              <a:buAutoNum type="alphaLcPeriod"/>
            </a:pPr>
            <a:r>
              <a:rPr lang="en-IN" sz="2400" dirty="0">
                <a:latin typeface="Times New Roman" panose="02020603050405020304" pitchFamily="18" charset="0"/>
                <a:cs typeface="Times New Roman" panose="02020603050405020304" pitchFamily="18" charset="0"/>
              </a:rPr>
              <a:t>While the stack is not empty and the top of the stack has an operator of greater than or equal precedence to the current token, pop operators from the stack to the output list.</a:t>
            </a:r>
          </a:p>
          <a:p>
            <a:pPr marL="1257300" lvl="2" indent="-342900">
              <a:spcBef>
                <a:spcPts val="600"/>
              </a:spcBef>
              <a:buFont typeface="+mj-lt"/>
              <a:buAutoNum type="alphaLcPeriod"/>
            </a:pPr>
            <a:r>
              <a:rPr lang="en-IN" sz="2400" dirty="0">
                <a:latin typeface="Times New Roman" panose="02020603050405020304" pitchFamily="18" charset="0"/>
                <a:cs typeface="Times New Roman" panose="02020603050405020304" pitchFamily="18" charset="0"/>
              </a:rPr>
              <a:t>Push the current token onto the stack.</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1568505-4217-B023-FD86-1025233A1547}"/>
              </a:ext>
            </a:extLst>
          </p:cNvPr>
          <p:cNvSpPr txBox="1"/>
          <p:nvPr/>
        </p:nvSpPr>
        <p:spPr>
          <a:xfrm>
            <a:off x="251520" y="324569"/>
            <a:ext cx="4668980" cy="584775"/>
          </a:xfrm>
          <a:prstGeom prst="rect">
            <a:avLst/>
          </a:prstGeom>
          <a:noFill/>
        </p:spPr>
        <p:txBody>
          <a:bodyPr wrap="square">
            <a:spAutoFit/>
          </a:bodyPr>
          <a:lstStyle/>
          <a:p>
            <a:pPr lvl="0" algn="just"/>
            <a:r>
              <a:rPr lang="en-US" sz="3200" b="1" dirty="0">
                <a:solidFill>
                  <a:srgbClr val="FF0000"/>
                </a:solidFill>
              </a:rPr>
              <a:t>Solution:-</a:t>
            </a:r>
          </a:p>
        </p:txBody>
      </p:sp>
    </p:spTree>
    <p:extLst>
      <p:ext uri="{BB962C8B-B14F-4D97-AF65-F5344CB8AC3E}">
        <p14:creationId xmlns:p14="http://schemas.microsoft.com/office/powerpoint/2010/main" val="3645342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C70A143-3037-634D-114B-C330071C784A}"/>
              </a:ext>
            </a:extLst>
          </p:cNvPr>
          <p:cNvSpPr txBox="1"/>
          <p:nvPr/>
        </p:nvSpPr>
        <p:spPr>
          <a:xfrm>
            <a:off x="395536" y="1146228"/>
            <a:ext cx="8319985" cy="4539704"/>
          </a:xfrm>
          <a:prstGeom prst="rect">
            <a:avLst/>
          </a:prstGeom>
          <a:noFill/>
        </p:spPr>
        <p:txBody>
          <a:bodyPr wrap="square" rtlCol="0">
            <a:spAutoFit/>
          </a:bodyPr>
          <a:lstStyle/>
          <a:p>
            <a:pPr lvl="1">
              <a:spcBef>
                <a:spcPts val="600"/>
              </a:spcBef>
              <a:spcAft>
                <a:spcPts val="600"/>
              </a:spcAft>
            </a:pPr>
            <a:r>
              <a:rPr lang="en-IN" sz="2400" b="1" dirty="0">
                <a:latin typeface="Times New Roman" panose="02020603050405020304" pitchFamily="18" charset="0"/>
                <a:cs typeface="Times New Roman" panose="02020603050405020304" pitchFamily="18" charset="0"/>
              </a:rPr>
              <a:t>c. If the token is a left parenthesis '('</a:t>
            </a:r>
            <a:r>
              <a:rPr lang="en-IN" sz="2400" dirty="0">
                <a:latin typeface="Times New Roman" panose="02020603050405020304" pitchFamily="18" charset="0"/>
                <a:cs typeface="Times New Roman" panose="02020603050405020304" pitchFamily="18" charset="0"/>
              </a:rPr>
              <a:t>, push it onto the stack.</a:t>
            </a:r>
          </a:p>
          <a:p>
            <a:pPr lvl="1">
              <a:spcBef>
                <a:spcPts val="600"/>
              </a:spcBef>
              <a:spcAft>
                <a:spcPts val="600"/>
              </a:spcAft>
            </a:pPr>
            <a:r>
              <a:rPr lang="en-IN" sz="2400" b="1" dirty="0">
                <a:latin typeface="Times New Roman" panose="02020603050405020304" pitchFamily="18" charset="0"/>
                <a:cs typeface="Times New Roman" panose="02020603050405020304" pitchFamily="18" charset="0"/>
              </a:rPr>
              <a:t>d. If the token is a right parenthesis ')'</a:t>
            </a:r>
            <a:r>
              <a:rPr lang="en-IN" sz="2400" dirty="0">
                <a:latin typeface="Times New Roman" panose="02020603050405020304" pitchFamily="18" charset="0"/>
                <a:cs typeface="Times New Roman" panose="02020603050405020304" pitchFamily="18" charset="0"/>
              </a:rPr>
              <a:t>:</a:t>
            </a:r>
          </a:p>
          <a:p>
            <a:pPr marL="1257300" lvl="2"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Pop from the stack to the output list until a left parenthesis is encountered.</a:t>
            </a:r>
          </a:p>
          <a:p>
            <a:pPr marL="1257300" lvl="2"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Discard the left parenthesis from the stack.</a:t>
            </a:r>
          </a:p>
          <a:p>
            <a:pPr>
              <a:spcBef>
                <a:spcPts val="600"/>
              </a:spcBef>
              <a:spcAft>
                <a:spcPts val="600"/>
              </a:spcAft>
            </a:pPr>
            <a:r>
              <a:rPr lang="en-IN" sz="2400" b="1" dirty="0">
                <a:latin typeface="Times New Roman" panose="02020603050405020304" pitchFamily="18" charset="0"/>
                <a:cs typeface="Times New Roman" panose="02020603050405020304" pitchFamily="18" charset="0"/>
              </a:rPr>
              <a:t>3. After reading all tokens</a:t>
            </a:r>
            <a:r>
              <a:rPr lang="en-IN" sz="2400" dirty="0">
                <a:latin typeface="Times New Roman" panose="02020603050405020304" pitchFamily="18" charset="0"/>
                <a:cs typeface="Times New Roman" panose="02020603050405020304" pitchFamily="18" charset="0"/>
              </a:rPr>
              <a:t>, pop any remaining operators from the stack to the output list.</a:t>
            </a:r>
          </a:p>
          <a:p>
            <a:pPr marL="342900" indent="-342900">
              <a:spcBef>
                <a:spcPts val="600"/>
              </a:spcBef>
              <a:spcAft>
                <a:spcPts val="600"/>
              </a:spcAf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The output list now contains the postfix expression.</a:t>
            </a:r>
          </a:p>
          <a:p>
            <a:pPr lvl="0" algn="just"/>
            <a:endParaRPr lang="en-US" sz="2400" dirty="0"/>
          </a:p>
          <a:p>
            <a:endParaRPr lang="en-IN" dirty="0"/>
          </a:p>
        </p:txBody>
      </p:sp>
      <p:sp>
        <p:nvSpPr>
          <p:cNvPr id="2" name="TextBox 1">
            <a:extLst>
              <a:ext uri="{FF2B5EF4-FFF2-40B4-BE49-F238E27FC236}">
                <a16:creationId xmlns:a16="http://schemas.microsoft.com/office/drawing/2014/main" id="{FAB8DCA1-4F5F-AAD0-0B23-1C77A2B7662D}"/>
              </a:ext>
            </a:extLst>
          </p:cNvPr>
          <p:cNvSpPr txBox="1"/>
          <p:nvPr/>
        </p:nvSpPr>
        <p:spPr>
          <a:xfrm>
            <a:off x="251520" y="324569"/>
            <a:ext cx="4668980" cy="584775"/>
          </a:xfrm>
          <a:prstGeom prst="rect">
            <a:avLst/>
          </a:prstGeom>
          <a:noFill/>
        </p:spPr>
        <p:txBody>
          <a:bodyPr wrap="square">
            <a:spAutoFit/>
          </a:bodyPr>
          <a:lstStyle/>
          <a:p>
            <a:pPr lvl="0" algn="just"/>
            <a:r>
              <a:rPr lang="en-US" sz="3200" b="1" dirty="0">
                <a:solidFill>
                  <a:srgbClr val="FF0000"/>
                </a:solidFill>
              </a:rPr>
              <a:t>Solution:-</a:t>
            </a:r>
          </a:p>
        </p:txBody>
      </p:sp>
    </p:spTree>
    <p:extLst>
      <p:ext uri="{BB962C8B-B14F-4D97-AF65-F5344CB8AC3E}">
        <p14:creationId xmlns:p14="http://schemas.microsoft.com/office/powerpoint/2010/main" val="299292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3BA853B2-36EF-740D-2B51-111472B0B401}"/>
              </a:ext>
            </a:extLst>
          </p:cNvPr>
          <p:cNvGraphicFramePr>
            <a:graphicFrameLocks noGrp="1"/>
          </p:cNvGraphicFramePr>
          <p:nvPr>
            <p:extLst>
              <p:ext uri="{D42A27DB-BD31-4B8C-83A1-F6EECF244321}">
                <p14:modId xmlns:p14="http://schemas.microsoft.com/office/powerpoint/2010/main" val="49935078"/>
              </p:ext>
            </p:extLst>
          </p:nvPr>
        </p:nvGraphicFramePr>
        <p:xfrm>
          <a:off x="320976" y="421523"/>
          <a:ext cx="8643512" cy="5762743"/>
        </p:xfrm>
        <a:graphic>
          <a:graphicData uri="http://schemas.openxmlformats.org/drawingml/2006/table">
            <a:tbl>
              <a:tblPr>
                <a:tableStyleId>{5940675A-B579-460E-94D1-54222C63F5DA}</a:tableStyleId>
              </a:tblPr>
              <a:tblGrid>
                <a:gridCol w="680149">
                  <a:extLst>
                    <a:ext uri="{9D8B030D-6E8A-4147-A177-3AD203B41FA5}">
                      <a16:colId xmlns:a16="http://schemas.microsoft.com/office/drawing/2014/main" val="2596632057"/>
                    </a:ext>
                  </a:extLst>
                </a:gridCol>
                <a:gridCol w="1372993">
                  <a:extLst>
                    <a:ext uri="{9D8B030D-6E8A-4147-A177-3AD203B41FA5}">
                      <a16:colId xmlns:a16="http://schemas.microsoft.com/office/drawing/2014/main" val="280522294"/>
                    </a:ext>
                  </a:extLst>
                </a:gridCol>
                <a:gridCol w="1006864">
                  <a:extLst>
                    <a:ext uri="{9D8B030D-6E8A-4147-A177-3AD203B41FA5}">
                      <a16:colId xmlns:a16="http://schemas.microsoft.com/office/drawing/2014/main" val="2809521450"/>
                    </a:ext>
                  </a:extLst>
                </a:gridCol>
                <a:gridCol w="5583506">
                  <a:extLst>
                    <a:ext uri="{9D8B030D-6E8A-4147-A177-3AD203B41FA5}">
                      <a16:colId xmlns:a16="http://schemas.microsoft.com/office/drawing/2014/main" val="56081992"/>
                    </a:ext>
                  </a:extLst>
                </a:gridCol>
              </a:tblGrid>
              <a:tr h="251951">
                <a:tc>
                  <a:txBody>
                    <a:bodyPr/>
                    <a:lstStyle/>
                    <a:p>
                      <a:r>
                        <a:rPr lang="en-IN" sz="1800" b="1" dirty="0">
                          <a:latin typeface="Times New Roman" panose="02020603050405020304" pitchFamily="18" charset="0"/>
                          <a:cs typeface="Times New Roman" panose="02020603050405020304" pitchFamily="18" charset="0"/>
                        </a:rPr>
                        <a:t>Step</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Read Token</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Stack</a:t>
                      </a:r>
                    </a:p>
                  </a:txBody>
                  <a:tcPr marL="63746" marR="63746" marT="31873" marB="31873" anchor="ctr"/>
                </a:tc>
                <a:tc>
                  <a:txBody>
                    <a:bodyPr/>
                    <a:lstStyle/>
                    <a:p>
                      <a:r>
                        <a:rPr lang="en-IN" sz="1800" b="1" dirty="0">
                          <a:latin typeface="Times New Roman" panose="02020603050405020304" pitchFamily="18" charset="0"/>
                          <a:cs typeface="Times New Roman" panose="02020603050405020304" pitchFamily="18" charset="0"/>
                        </a:rPr>
                        <a:t>Output (Postfix)</a:t>
                      </a:r>
                    </a:p>
                  </a:txBody>
                  <a:tcPr marL="63746" marR="63746" marT="31873" marB="31873" anchor="ctr"/>
                </a:tc>
                <a:extLst>
                  <a:ext uri="{0D108BD9-81ED-4DB2-BD59-A6C34878D82A}">
                    <a16:rowId xmlns:a16="http://schemas.microsoft.com/office/drawing/2014/main" val="3052618903"/>
                  </a:ext>
                </a:extLst>
              </a:tr>
              <a:tr h="279664">
                <a:tc>
                  <a:txBody>
                    <a:bodyPr/>
                    <a:lstStyle/>
                    <a:p>
                      <a:r>
                        <a:rPr lang="en-IN" sz="1800" b="0" dirty="0">
                          <a:latin typeface="Times New Roman" panose="02020603050405020304" pitchFamily="18" charset="0"/>
                          <a:cs typeface="Times New Roman" panose="02020603050405020304" pitchFamily="18" charset="0"/>
                        </a:rPr>
                        <a:t>1</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a:t>
                      </a:r>
                    </a:p>
                  </a:txBody>
                  <a:tcPr marL="63746" marR="63746" marT="31873" marB="31873" anchor="ctr"/>
                </a:tc>
                <a:tc>
                  <a:txBody>
                    <a:bodyPr/>
                    <a:lstStyle/>
                    <a:p>
                      <a:endParaRPr lang="en-IN" sz="1800" b="0" dirty="0">
                        <a:latin typeface="Times New Roman" panose="02020603050405020304" pitchFamily="18" charset="0"/>
                        <a:cs typeface="Times New Roman" panose="02020603050405020304" pitchFamily="18" charset="0"/>
                      </a:endParaRP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a:t>
                      </a:r>
                    </a:p>
                  </a:txBody>
                  <a:tcPr marL="63746" marR="63746" marT="31873" marB="31873" anchor="ctr"/>
                </a:tc>
                <a:extLst>
                  <a:ext uri="{0D108BD9-81ED-4DB2-BD59-A6C34878D82A}">
                    <a16:rowId xmlns:a16="http://schemas.microsoft.com/office/drawing/2014/main" val="1480635500"/>
                  </a:ext>
                </a:extLst>
              </a:tr>
              <a:tr h="279664">
                <a:tc>
                  <a:txBody>
                    <a:bodyPr/>
                    <a:lstStyle/>
                    <a:p>
                      <a:r>
                        <a:rPr lang="en-IN" sz="1800" b="0" dirty="0">
                          <a:latin typeface="Times New Roman" panose="02020603050405020304" pitchFamily="18" charset="0"/>
                          <a:cs typeface="Times New Roman" panose="02020603050405020304" pitchFamily="18" charset="0"/>
                        </a:rPr>
                        <a:t>2</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a:t>
                      </a:r>
                    </a:p>
                  </a:txBody>
                  <a:tcPr marL="63746" marR="63746" marT="31873" marB="31873" anchor="ctr"/>
                </a:tc>
                <a:extLst>
                  <a:ext uri="{0D108BD9-81ED-4DB2-BD59-A6C34878D82A}">
                    <a16:rowId xmlns:a16="http://schemas.microsoft.com/office/drawing/2014/main" val="2583063322"/>
                  </a:ext>
                </a:extLst>
              </a:tr>
              <a:tr h="279664">
                <a:tc>
                  <a:txBody>
                    <a:bodyPr/>
                    <a:lstStyle/>
                    <a:p>
                      <a:r>
                        <a:rPr lang="en-IN" sz="1800" b="0" dirty="0">
                          <a:latin typeface="Times New Roman" panose="02020603050405020304" pitchFamily="18" charset="0"/>
                          <a:cs typeface="Times New Roman" panose="02020603050405020304" pitchFamily="18" charset="0"/>
                        </a:rPr>
                        <a:t>3</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B</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285231509"/>
                  </a:ext>
                </a:extLst>
              </a:tr>
              <a:tr h="279664">
                <a:tc>
                  <a:txBody>
                    <a:bodyPr/>
                    <a:lstStyle/>
                    <a:p>
                      <a:r>
                        <a:rPr lang="en-IN" sz="1800" b="0" dirty="0">
                          <a:latin typeface="Times New Roman" panose="02020603050405020304" pitchFamily="18" charset="0"/>
                          <a:cs typeface="Times New Roman" panose="02020603050405020304" pitchFamily="18" charset="0"/>
                        </a:rPr>
                        <a:t>4</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2730446751"/>
                  </a:ext>
                </a:extLst>
              </a:tr>
              <a:tr h="279664">
                <a:tc>
                  <a:txBody>
                    <a:bodyPr/>
                    <a:lstStyle/>
                    <a:p>
                      <a:r>
                        <a:rPr lang="en-IN" sz="1800" b="0" dirty="0">
                          <a:latin typeface="Times New Roman" panose="02020603050405020304" pitchFamily="18" charset="0"/>
                          <a:cs typeface="Times New Roman" panose="02020603050405020304" pitchFamily="18" charset="0"/>
                        </a:rPr>
                        <a:t>5</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a:t>
                      </a:r>
                    </a:p>
                  </a:txBody>
                  <a:tcPr marL="63746" marR="63746" marT="31873" marB="31873" anchor="ctr"/>
                </a:tc>
                <a:extLst>
                  <a:ext uri="{0D108BD9-81ED-4DB2-BD59-A6C34878D82A}">
                    <a16:rowId xmlns:a16="http://schemas.microsoft.com/office/drawing/2014/main" val="1362927175"/>
                  </a:ext>
                </a:extLst>
              </a:tr>
              <a:tr h="279664">
                <a:tc>
                  <a:txBody>
                    <a:bodyPr/>
                    <a:lstStyle/>
                    <a:p>
                      <a:r>
                        <a:rPr lang="en-IN" sz="1800" b="0">
                          <a:latin typeface="Times New Roman" panose="02020603050405020304" pitchFamily="18" charset="0"/>
                          <a:cs typeface="Times New Roman" panose="02020603050405020304" pitchFamily="18" charset="0"/>
                        </a:rPr>
                        <a:t>6</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C</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a:t>
                      </a:r>
                    </a:p>
                  </a:txBody>
                  <a:tcPr marL="63746" marR="63746" marT="31873" marB="31873" anchor="ctr"/>
                </a:tc>
                <a:extLst>
                  <a:ext uri="{0D108BD9-81ED-4DB2-BD59-A6C34878D82A}">
                    <a16:rowId xmlns:a16="http://schemas.microsoft.com/office/drawing/2014/main" val="530467897"/>
                  </a:ext>
                </a:extLst>
              </a:tr>
              <a:tr h="279664">
                <a:tc>
                  <a:txBody>
                    <a:bodyPr/>
                    <a:lstStyle/>
                    <a:p>
                      <a:r>
                        <a:rPr lang="en-IN" sz="1800" b="0" dirty="0">
                          <a:latin typeface="Times New Roman" panose="02020603050405020304" pitchFamily="18" charset="0"/>
                          <a:cs typeface="Times New Roman" panose="02020603050405020304" pitchFamily="18" charset="0"/>
                        </a:rPr>
                        <a:t>7</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a:t>
                      </a:r>
                    </a:p>
                  </a:txBody>
                  <a:tcPr marL="63746" marR="63746" marT="31873" marB="31873" anchor="ctr"/>
                </a:tc>
                <a:extLst>
                  <a:ext uri="{0D108BD9-81ED-4DB2-BD59-A6C34878D82A}">
                    <a16:rowId xmlns:a16="http://schemas.microsoft.com/office/drawing/2014/main" val="2708567069"/>
                  </a:ext>
                </a:extLst>
              </a:tr>
              <a:tr h="279664">
                <a:tc>
                  <a:txBody>
                    <a:bodyPr/>
                    <a:lstStyle/>
                    <a:p>
                      <a:r>
                        <a:rPr lang="en-IN" sz="1800" b="0" dirty="0">
                          <a:latin typeface="Times New Roman" panose="02020603050405020304" pitchFamily="18" charset="0"/>
                          <a:cs typeface="Times New Roman" panose="02020603050405020304" pitchFamily="18" charset="0"/>
                        </a:rPr>
                        <a:t>8</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D</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 (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a:t>
                      </a:r>
                    </a:p>
                  </a:txBody>
                  <a:tcPr marL="63746" marR="63746" marT="31873" marB="31873" anchor="ctr"/>
                </a:tc>
                <a:extLst>
                  <a:ext uri="{0D108BD9-81ED-4DB2-BD59-A6C34878D82A}">
                    <a16:rowId xmlns:a16="http://schemas.microsoft.com/office/drawing/2014/main" val="2031593694"/>
                  </a:ext>
                </a:extLst>
              </a:tr>
              <a:tr h="279664">
                <a:tc>
                  <a:txBody>
                    <a:bodyPr/>
                    <a:lstStyle/>
                    <a:p>
                      <a:r>
                        <a:rPr lang="en-IN" sz="1800" b="0">
                          <a:latin typeface="Times New Roman" panose="02020603050405020304" pitchFamily="18" charset="0"/>
                          <a:cs typeface="Times New Roman" panose="02020603050405020304" pitchFamily="18" charset="0"/>
                        </a:rPr>
                        <a:t>9</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a:t>
                      </a:r>
                    </a:p>
                  </a:txBody>
                  <a:tcPr marL="63746" marR="63746" marT="31873" marB="31873" anchor="ctr"/>
                </a:tc>
                <a:extLst>
                  <a:ext uri="{0D108BD9-81ED-4DB2-BD59-A6C34878D82A}">
                    <a16:rowId xmlns:a16="http://schemas.microsoft.com/office/drawing/2014/main" val="2737382269"/>
                  </a:ext>
                </a:extLst>
              </a:tr>
              <a:tr h="279664">
                <a:tc>
                  <a:txBody>
                    <a:bodyPr/>
                    <a:lstStyle/>
                    <a:p>
                      <a:r>
                        <a:rPr lang="en-IN" sz="1800" b="0" dirty="0">
                          <a:latin typeface="Times New Roman" panose="02020603050405020304" pitchFamily="18" charset="0"/>
                          <a:cs typeface="Times New Roman" panose="02020603050405020304" pitchFamily="18" charset="0"/>
                        </a:rPr>
                        <a:t>10</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a:t>
                      </a:r>
                    </a:p>
                  </a:txBody>
                  <a:tcPr marL="63746" marR="63746" marT="31873" marB="31873" anchor="ctr"/>
                </a:tc>
                <a:extLst>
                  <a:ext uri="{0D108BD9-81ED-4DB2-BD59-A6C34878D82A}">
                    <a16:rowId xmlns:a16="http://schemas.microsoft.com/office/drawing/2014/main" val="1351276596"/>
                  </a:ext>
                </a:extLst>
              </a:tr>
              <a:tr h="279664">
                <a:tc>
                  <a:txBody>
                    <a:bodyPr/>
                    <a:lstStyle/>
                    <a:p>
                      <a:r>
                        <a:rPr lang="en-IN" sz="1800" b="0">
                          <a:latin typeface="Times New Roman" panose="02020603050405020304" pitchFamily="18" charset="0"/>
                          <a:cs typeface="Times New Roman" panose="02020603050405020304" pitchFamily="18" charset="0"/>
                        </a:rPr>
                        <a:t>11</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F</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a:t>
                      </a:r>
                    </a:p>
                  </a:txBody>
                  <a:tcPr marL="63746" marR="63746" marT="31873" marB="31873" anchor="ctr"/>
                </a:tc>
                <a:extLst>
                  <a:ext uri="{0D108BD9-81ED-4DB2-BD59-A6C34878D82A}">
                    <a16:rowId xmlns:a16="http://schemas.microsoft.com/office/drawing/2014/main" val="2600874279"/>
                  </a:ext>
                </a:extLst>
              </a:tr>
              <a:tr h="279664">
                <a:tc>
                  <a:txBody>
                    <a:bodyPr/>
                    <a:lstStyle/>
                    <a:p>
                      <a:r>
                        <a:rPr lang="en-IN" sz="1800" b="0" dirty="0">
                          <a:latin typeface="Times New Roman" panose="02020603050405020304" pitchFamily="18" charset="0"/>
                          <a:cs typeface="Times New Roman" panose="02020603050405020304" pitchFamily="18" charset="0"/>
                        </a:rPr>
                        <a:t>12</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a:t>
                      </a:r>
                    </a:p>
                  </a:txBody>
                  <a:tcPr marL="63746" marR="63746" marT="31873" marB="31873" anchor="ctr"/>
                </a:tc>
                <a:extLst>
                  <a:ext uri="{0D108BD9-81ED-4DB2-BD59-A6C34878D82A}">
                    <a16:rowId xmlns:a16="http://schemas.microsoft.com/office/drawing/2014/main" val="3920011675"/>
                  </a:ext>
                </a:extLst>
              </a:tr>
              <a:tr h="279664">
                <a:tc>
                  <a:txBody>
                    <a:bodyPr/>
                    <a:lstStyle/>
                    <a:p>
                      <a:r>
                        <a:rPr lang="en-IN" sz="1800" b="0">
                          <a:latin typeface="Times New Roman" panose="02020603050405020304" pitchFamily="18" charset="0"/>
                          <a:cs typeface="Times New Roman" panose="02020603050405020304" pitchFamily="18" charset="0"/>
                        </a:rPr>
                        <a:t>13</a:t>
                      </a:r>
                    </a:p>
                  </a:txBody>
                  <a:tcPr marL="63746" marR="63746" marT="31873" marB="31873" anchor="ctr"/>
                </a:tc>
                <a:tc>
                  <a:txBody>
                    <a:bodyPr/>
                    <a:lstStyle/>
                    <a:p>
                      <a:r>
                        <a:rPr lang="en-IN" sz="1800" b="0">
                          <a:latin typeface="Times New Roman" panose="02020603050405020304" pitchFamily="18" charset="0"/>
                          <a:cs typeface="Times New Roman" panose="02020603050405020304" pitchFamily="18" charset="0"/>
                        </a:rPr>
                        <a:t>D</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a:t>
                      </a:r>
                    </a:p>
                  </a:txBody>
                  <a:tcPr marL="63746" marR="63746" marT="31873" marB="31873" anchor="ctr"/>
                </a:tc>
                <a:extLst>
                  <a:ext uri="{0D108BD9-81ED-4DB2-BD59-A6C34878D82A}">
                    <a16:rowId xmlns:a16="http://schemas.microsoft.com/office/drawing/2014/main" val="784807330"/>
                  </a:ext>
                </a:extLst>
              </a:tr>
              <a:tr h="279664">
                <a:tc>
                  <a:txBody>
                    <a:bodyPr/>
                    <a:lstStyle/>
                    <a:p>
                      <a:r>
                        <a:rPr lang="en-IN" sz="1800" b="0" dirty="0">
                          <a:latin typeface="Times New Roman" panose="02020603050405020304" pitchFamily="18" charset="0"/>
                          <a:cs typeface="Times New Roman" panose="02020603050405020304" pitchFamily="18" charset="0"/>
                        </a:rPr>
                        <a:t>14</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a:t>
                      </a:r>
                    </a:p>
                  </a:txBody>
                  <a:tcPr marL="63746" marR="63746" marT="31873" marB="31873" anchor="ctr"/>
                </a:tc>
                <a:extLst>
                  <a:ext uri="{0D108BD9-81ED-4DB2-BD59-A6C34878D82A}">
                    <a16:rowId xmlns:a16="http://schemas.microsoft.com/office/drawing/2014/main" val="3138085084"/>
                  </a:ext>
                </a:extLst>
              </a:tr>
              <a:tr h="279664">
                <a:tc>
                  <a:txBody>
                    <a:bodyPr/>
                    <a:lstStyle/>
                    <a:p>
                      <a:r>
                        <a:rPr lang="en-IN" sz="1800" b="0">
                          <a:latin typeface="Times New Roman" panose="02020603050405020304" pitchFamily="18" charset="0"/>
                          <a:cs typeface="Times New Roman" panose="02020603050405020304" pitchFamily="18" charset="0"/>
                        </a:rPr>
                        <a:t>15</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E</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 *</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D E</a:t>
                      </a:r>
                    </a:p>
                  </a:txBody>
                  <a:tcPr marL="63746" marR="63746" marT="31873" marB="31873" anchor="ctr"/>
                </a:tc>
                <a:extLst>
                  <a:ext uri="{0D108BD9-81ED-4DB2-BD59-A6C34878D82A}">
                    <a16:rowId xmlns:a16="http://schemas.microsoft.com/office/drawing/2014/main" val="3411320732"/>
                  </a:ext>
                </a:extLst>
              </a:tr>
              <a:tr h="353687">
                <a:tc>
                  <a:txBody>
                    <a:bodyPr/>
                    <a:lstStyle/>
                    <a:p>
                      <a:r>
                        <a:rPr lang="en-IN" sz="1800" b="0">
                          <a:latin typeface="Times New Roman" panose="02020603050405020304" pitchFamily="18" charset="0"/>
                          <a:cs typeface="Times New Roman" panose="02020603050405020304" pitchFamily="18" charset="0"/>
                        </a:rPr>
                        <a:t>16</a:t>
                      </a: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End</a:t>
                      </a:r>
                    </a:p>
                  </a:txBody>
                  <a:tcPr marL="63746" marR="63746" marT="31873" marB="31873" anchor="ctr"/>
                </a:tc>
                <a:tc>
                  <a:txBody>
                    <a:bodyPr/>
                    <a:lstStyle/>
                    <a:p>
                      <a:endParaRPr lang="en-IN" sz="1800" b="0" dirty="0">
                        <a:latin typeface="Times New Roman" panose="02020603050405020304" pitchFamily="18" charset="0"/>
                        <a:cs typeface="Times New Roman" panose="02020603050405020304" pitchFamily="18" charset="0"/>
                      </a:endParaRPr>
                    </a:p>
                  </a:txBody>
                  <a:tcPr marL="63746" marR="63746" marT="31873" marB="31873" anchor="ctr"/>
                </a:tc>
                <a:tc>
                  <a:txBody>
                    <a:bodyPr/>
                    <a:lstStyle/>
                    <a:p>
                      <a:r>
                        <a:rPr lang="en-IN" sz="1800" b="0" dirty="0">
                          <a:latin typeface="Times New Roman" panose="02020603050405020304" pitchFamily="18" charset="0"/>
                          <a:cs typeface="Times New Roman" panose="02020603050405020304" pitchFamily="18" charset="0"/>
                        </a:rPr>
                        <a:t>A B C D + * F / + D E * +</a:t>
                      </a:r>
                    </a:p>
                  </a:txBody>
                  <a:tcPr marL="63746" marR="63746" marT="31873" marB="31873" anchor="ctr"/>
                </a:tc>
                <a:extLst>
                  <a:ext uri="{0D108BD9-81ED-4DB2-BD59-A6C34878D82A}">
                    <a16:rowId xmlns:a16="http://schemas.microsoft.com/office/drawing/2014/main" val="872796716"/>
                  </a:ext>
                </a:extLst>
              </a:tr>
            </a:tbl>
          </a:graphicData>
        </a:graphic>
      </p:graphicFrame>
    </p:spTree>
    <p:extLst>
      <p:ext uri="{BB962C8B-B14F-4D97-AF65-F5344CB8AC3E}">
        <p14:creationId xmlns:p14="http://schemas.microsoft.com/office/powerpoint/2010/main" val="644110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224601"/>
            <a:ext cx="8660492" cy="728726"/>
          </a:xfrm>
          <a:prstGeom prst="rect">
            <a:avLst/>
          </a:prstGeom>
          <a:noFill/>
        </p:spPr>
        <p:txBody>
          <a:bodyPr wrap="square">
            <a:spAutoFit/>
          </a:bodyPr>
          <a:lstStyle/>
          <a:p>
            <a:pPr marL="0" marR="0" algn="just" fontAlgn="base">
              <a:lnSpc>
                <a:spcPct val="107000"/>
              </a:lnSpc>
              <a:spcBef>
                <a:spcPts val="0"/>
              </a:spcBef>
              <a:spcAft>
                <a:spcPts val="0"/>
              </a:spcAft>
            </a:pPr>
            <a:r>
              <a:rPr lang="en-US"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Evaluating Postfix Expression Given values:</a:t>
            </a:r>
          </a:p>
          <a:p>
            <a:pPr marL="0" marR="0" algn="just" fontAlgn="base">
              <a:lnSpc>
                <a:spcPct val="107000"/>
              </a:lnSpc>
              <a:spcBef>
                <a:spcPts val="0"/>
              </a:spcBef>
              <a:spcAft>
                <a:spcPts val="0"/>
              </a:spcAft>
            </a:pP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A=10, B=27, C=3, D=5, F=4, E=2</a:t>
            </a:r>
            <a:endParaRPr lang="en-US"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65" name="Table 64">
            <a:extLst>
              <a:ext uri="{FF2B5EF4-FFF2-40B4-BE49-F238E27FC236}">
                <a16:creationId xmlns:a16="http://schemas.microsoft.com/office/drawing/2014/main" id="{A7D9EB25-4C22-4FB9-BB88-0057CB4E6895}"/>
              </a:ext>
            </a:extLst>
          </p:cNvPr>
          <p:cNvGraphicFramePr>
            <a:graphicFrameLocks noGrp="1"/>
          </p:cNvGraphicFramePr>
          <p:nvPr>
            <p:extLst>
              <p:ext uri="{D42A27DB-BD31-4B8C-83A1-F6EECF244321}">
                <p14:modId xmlns:p14="http://schemas.microsoft.com/office/powerpoint/2010/main" val="2010054634"/>
              </p:ext>
            </p:extLst>
          </p:nvPr>
        </p:nvGraphicFramePr>
        <p:xfrm>
          <a:off x="294616" y="1199404"/>
          <a:ext cx="8305800" cy="4971960"/>
        </p:xfrm>
        <a:graphic>
          <a:graphicData uri="http://schemas.openxmlformats.org/drawingml/2006/table">
            <a:tbl>
              <a:tblPr>
                <a:tableStyleId>{5940675A-B579-460E-94D1-54222C63F5DA}</a:tableStyleId>
              </a:tblPr>
              <a:tblGrid>
                <a:gridCol w="1661160">
                  <a:extLst>
                    <a:ext uri="{9D8B030D-6E8A-4147-A177-3AD203B41FA5}">
                      <a16:colId xmlns:a16="http://schemas.microsoft.com/office/drawing/2014/main" val="4035113265"/>
                    </a:ext>
                  </a:extLst>
                </a:gridCol>
                <a:gridCol w="1661160">
                  <a:extLst>
                    <a:ext uri="{9D8B030D-6E8A-4147-A177-3AD203B41FA5}">
                      <a16:colId xmlns:a16="http://schemas.microsoft.com/office/drawing/2014/main" val="1064079987"/>
                    </a:ext>
                  </a:extLst>
                </a:gridCol>
                <a:gridCol w="1661160">
                  <a:extLst>
                    <a:ext uri="{9D8B030D-6E8A-4147-A177-3AD203B41FA5}">
                      <a16:colId xmlns:a16="http://schemas.microsoft.com/office/drawing/2014/main" val="863407929"/>
                    </a:ext>
                  </a:extLst>
                </a:gridCol>
                <a:gridCol w="1661160">
                  <a:extLst>
                    <a:ext uri="{9D8B030D-6E8A-4147-A177-3AD203B41FA5}">
                      <a16:colId xmlns:a16="http://schemas.microsoft.com/office/drawing/2014/main" val="1086816890"/>
                    </a:ext>
                  </a:extLst>
                </a:gridCol>
                <a:gridCol w="1661160">
                  <a:extLst>
                    <a:ext uri="{9D8B030D-6E8A-4147-A177-3AD203B41FA5}">
                      <a16:colId xmlns:a16="http://schemas.microsoft.com/office/drawing/2014/main" val="1823471829"/>
                    </a:ext>
                  </a:extLst>
                </a:gridCol>
              </a:tblGrid>
              <a:tr h="301813">
                <a:tc>
                  <a:txBody>
                    <a:bodyPr/>
                    <a:lstStyle/>
                    <a:p>
                      <a:r>
                        <a:rPr lang="en-IN" sz="1800" b="1" dirty="0">
                          <a:latin typeface="Times New Roman" panose="02020603050405020304" pitchFamily="18" charset="0"/>
                          <a:cs typeface="Times New Roman" panose="02020603050405020304" pitchFamily="18" charset="0"/>
                        </a:rPr>
                        <a:t>Step</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Read Token</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Stack Before</a:t>
                      </a:r>
                    </a:p>
                  </a:txBody>
                  <a:tcPr marL="80821" marR="80821" marT="40410" marB="40410" anchor="ctr"/>
                </a:tc>
                <a:tc>
                  <a:txBody>
                    <a:bodyPr/>
                    <a:lstStyle/>
                    <a:p>
                      <a:r>
                        <a:rPr lang="en-IN" sz="1800" b="1">
                          <a:latin typeface="Times New Roman" panose="02020603050405020304" pitchFamily="18" charset="0"/>
                          <a:cs typeface="Times New Roman" panose="02020603050405020304" pitchFamily="18" charset="0"/>
                        </a:rPr>
                        <a:t>Operation</a:t>
                      </a:r>
                    </a:p>
                  </a:txBody>
                  <a:tcPr marL="80821" marR="80821" marT="40410" marB="40410" anchor="ctr"/>
                </a:tc>
                <a:tc>
                  <a:txBody>
                    <a:bodyPr/>
                    <a:lstStyle/>
                    <a:p>
                      <a:r>
                        <a:rPr lang="en-IN" sz="1800" b="1" dirty="0">
                          <a:latin typeface="Times New Roman" panose="02020603050405020304" pitchFamily="18" charset="0"/>
                          <a:cs typeface="Times New Roman" panose="02020603050405020304" pitchFamily="18" charset="0"/>
                        </a:rPr>
                        <a:t>Stack After</a:t>
                      </a:r>
                    </a:p>
                  </a:txBody>
                  <a:tcPr marL="80821" marR="80821" marT="40410" marB="40410" anchor="ctr"/>
                </a:tc>
                <a:extLst>
                  <a:ext uri="{0D108BD9-81ED-4DB2-BD59-A6C34878D82A}">
                    <a16:rowId xmlns:a16="http://schemas.microsoft.com/office/drawing/2014/main" val="3962972964"/>
                  </a:ext>
                </a:extLst>
              </a:tr>
              <a:tr h="301813">
                <a:tc>
                  <a:txBody>
                    <a:bodyPr/>
                    <a:lstStyle/>
                    <a:p>
                      <a:r>
                        <a:rPr lang="en-IN" sz="1800" dirty="0">
                          <a:latin typeface="Times New Roman" panose="02020603050405020304" pitchFamily="18" charset="0"/>
                          <a:cs typeface="Times New Roman" panose="02020603050405020304" pitchFamily="18" charset="0"/>
                        </a:rPr>
                        <a:t>1</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 (10)</a:t>
                      </a:r>
                    </a:p>
                  </a:txBody>
                  <a:tcPr marL="80821" marR="80821" marT="40410" marB="40410" anchor="ctr"/>
                </a:tc>
                <a:tc>
                  <a:txBody>
                    <a:bodyPr/>
                    <a:lstStyle/>
                    <a:p>
                      <a:endParaRPr lang="en-IN" sz="1800">
                        <a:latin typeface="Times New Roman" panose="02020603050405020304" pitchFamily="18" charset="0"/>
                        <a:cs typeface="Times New Roman" panose="02020603050405020304" pitchFamily="18" charset="0"/>
                      </a:endParaRP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extLst>
                  <a:ext uri="{0D108BD9-81ED-4DB2-BD59-A6C34878D82A}">
                    <a16:rowId xmlns:a16="http://schemas.microsoft.com/office/drawing/2014/main" val="1440028188"/>
                  </a:ext>
                </a:extLst>
              </a:tr>
              <a:tr h="301813">
                <a:tc>
                  <a:txBody>
                    <a:bodyPr/>
                    <a:lstStyle/>
                    <a:p>
                      <a:r>
                        <a:rPr lang="en-IN" sz="1800" dirty="0">
                          <a:latin typeface="Times New Roman" panose="02020603050405020304" pitchFamily="18" charset="0"/>
                          <a:cs typeface="Times New Roman" panose="02020603050405020304" pitchFamily="18" charset="0"/>
                        </a:rPr>
                        <a:t>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B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a:t>
                      </a:r>
                    </a:p>
                  </a:txBody>
                  <a:tcPr marL="80821" marR="80821" marT="40410" marB="40410" anchor="ctr"/>
                </a:tc>
                <a:extLst>
                  <a:ext uri="{0D108BD9-81ED-4DB2-BD59-A6C34878D82A}">
                    <a16:rowId xmlns:a16="http://schemas.microsoft.com/office/drawing/2014/main" val="2466542843"/>
                  </a:ext>
                </a:extLst>
              </a:tr>
              <a:tr h="301813">
                <a:tc>
                  <a:txBody>
                    <a:bodyPr/>
                    <a:lstStyle/>
                    <a:p>
                      <a:r>
                        <a:rPr lang="en-IN" sz="1800" dirty="0">
                          <a:latin typeface="Times New Roman" panose="02020603050405020304" pitchFamily="18" charset="0"/>
                          <a:cs typeface="Times New Roman" panose="02020603050405020304" pitchFamily="18" charset="0"/>
                        </a:rPr>
                        <a:t>3</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C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a:t>
                      </a:r>
                    </a:p>
                  </a:txBody>
                  <a:tcPr marL="80821" marR="80821" marT="40410" marB="40410" anchor="ctr"/>
                </a:tc>
                <a:extLst>
                  <a:ext uri="{0D108BD9-81ED-4DB2-BD59-A6C34878D82A}">
                    <a16:rowId xmlns:a16="http://schemas.microsoft.com/office/drawing/2014/main" val="2100142445"/>
                  </a:ext>
                </a:extLst>
              </a:tr>
              <a:tr h="301813">
                <a:tc>
                  <a:txBody>
                    <a:bodyPr/>
                    <a:lstStyle/>
                    <a:p>
                      <a:r>
                        <a:rPr lang="en-IN" sz="1800" dirty="0">
                          <a:latin typeface="Times New Roman" panose="02020603050405020304" pitchFamily="18" charset="0"/>
                          <a:cs typeface="Times New Roman" panose="02020603050405020304" pitchFamily="18" charset="0"/>
                        </a:rPr>
                        <a:t>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D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5</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10 27 3 5</a:t>
                      </a:r>
                    </a:p>
                  </a:txBody>
                  <a:tcPr marL="80821" marR="80821" marT="40410" marB="40410" anchor="ctr"/>
                </a:tc>
                <a:extLst>
                  <a:ext uri="{0D108BD9-81ED-4DB2-BD59-A6C34878D82A}">
                    <a16:rowId xmlns:a16="http://schemas.microsoft.com/office/drawing/2014/main" val="1008375098"/>
                  </a:ext>
                </a:extLst>
              </a:tr>
              <a:tr h="301813">
                <a:tc>
                  <a:txBody>
                    <a:bodyPr/>
                    <a:lstStyle/>
                    <a:p>
                      <a:r>
                        <a:rPr lang="en-IN" sz="1800">
                          <a:latin typeface="Times New Roman" panose="02020603050405020304" pitchFamily="18" charset="0"/>
                          <a:cs typeface="Times New Roman" panose="02020603050405020304" pitchFamily="18" charset="0"/>
                        </a:rPr>
                        <a:t>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10 27 3 5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3 + 5 = 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10 27 8</a:t>
                      </a:r>
                    </a:p>
                  </a:txBody>
                  <a:tcPr marL="80821" marR="80821" marT="40410" marB="40410" anchor="ctr"/>
                </a:tc>
                <a:extLst>
                  <a:ext uri="{0D108BD9-81ED-4DB2-BD59-A6C34878D82A}">
                    <a16:rowId xmlns:a16="http://schemas.microsoft.com/office/drawing/2014/main" val="231674248"/>
                  </a:ext>
                </a:extLst>
              </a:tr>
              <a:tr h="301813">
                <a:tc>
                  <a:txBody>
                    <a:bodyPr/>
                    <a:lstStyle/>
                    <a:p>
                      <a:r>
                        <a:rPr lang="en-IN" sz="1800" dirty="0">
                          <a:latin typeface="Times New Roman" panose="02020603050405020304" pitchFamily="18" charset="0"/>
                          <a:cs typeface="Times New Roman" panose="02020603050405020304" pitchFamily="18" charset="0"/>
                        </a:rPr>
                        <a:t>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10 27 8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27 * 8 = 216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a:t>
                      </a:r>
                    </a:p>
                  </a:txBody>
                  <a:tcPr marL="80821" marR="80821" marT="40410" marB="40410" anchor="ctr"/>
                </a:tc>
                <a:extLst>
                  <a:ext uri="{0D108BD9-81ED-4DB2-BD59-A6C34878D82A}">
                    <a16:rowId xmlns:a16="http://schemas.microsoft.com/office/drawing/2014/main" val="1770083901"/>
                  </a:ext>
                </a:extLst>
              </a:tr>
              <a:tr h="301813">
                <a:tc>
                  <a:txBody>
                    <a:bodyPr/>
                    <a:lstStyle/>
                    <a:p>
                      <a:r>
                        <a:rPr lang="en-IN" sz="1800" dirty="0">
                          <a:latin typeface="Times New Roman" panose="02020603050405020304" pitchFamily="18" charset="0"/>
                          <a:cs typeface="Times New Roman" panose="02020603050405020304" pitchFamily="18" charset="0"/>
                        </a:rPr>
                        <a:t>7</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F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10 216 4</a:t>
                      </a:r>
                    </a:p>
                  </a:txBody>
                  <a:tcPr marL="80821" marR="80821" marT="40410" marB="40410" anchor="ctr"/>
                </a:tc>
                <a:extLst>
                  <a:ext uri="{0D108BD9-81ED-4DB2-BD59-A6C34878D82A}">
                    <a16:rowId xmlns:a16="http://schemas.microsoft.com/office/drawing/2014/main" val="2213551503"/>
                  </a:ext>
                </a:extLst>
              </a:tr>
              <a:tr h="301813">
                <a:tc>
                  <a:txBody>
                    <a:bodyPr/>
                    <a:lstStyle/>
                    <a:p>
                      <a:r>
                        <a:rPr lang="en-IN" sz="1800">
                          <a:latin typeface="Times New Roman" panose="02020603050405020304" pitchFamily="18" charset="0"/>
                          <a:cs typeface="Times New Roman" panose="02020603050405020304" pitchFamily="18" charset="0"/>
                        </a:rPr>
                        <a:t>8</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10 216 4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216 / 4 = 54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10 54</a:t>
                      </a:r>
                    </a:p>
                  </a:txBody>
                  <a:tcPr marL="80821" marR="80821" marT="40410" marB="40410" anchor="ctr"/>
                </a:tc>
                <a:extLst>
                  <a:ext uri="{0D108BD9-81ED-4DB2-BD59-A6C34878D82A}">
                    <a16:rowId xmlns:a16="http://schemas.microsoft.com/office/drawing/2014/main" val="1533780025"/>
                  </a:ext>
                </a:extLst>
              </a:tr>
              <a:tr h="301813">
                <a:tc>
                  <a:txBody>
                    <a:bodyPr/>
                    <a:lstStyle/>
                    <a:p>
                      <a:r>
                        <a:rPr lang="en-IN" sz="1800">
                          <a:latin typeface="Times New Roman" panose="02020603050405020304" pitchFamily="18" charset="0"/>
                          <a:cs typeface="Times New Roman" panose="02020603050405020304" pitchFamily="18" charset="0"/>
                        </a:rPr>
                        <a:t>9</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10 54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10 + 54 = 64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a:t>
                      </a:r>
                    </a:p>
                  </a:txBody>
                  <a:tcPr marL="80821" marR="80821" marT="40410" marB="40410" anchor="ctr"/>
                </a:tc>
                <a:extLst>
                  <a:ext uri="{0D108BD9-81ED-4DB2-BD59-A6C34878D82A}">
                    <a16:rowId xmlns:a16="http://schemas.microsoft.com/office/drawing/2014/main" val="407978647"/>
                  </a:ext>
                </a:extLst>
              </a:tr>
              <a:tr h="301813">
                <a:tc>
                  <a:txBody>
                    <a:bodyPr/>
                    <a:lstStyle/>
                    <a:p>
                      <a:r>
                        <a:rPr lang="en-IN" sz="1800">
                          <a:latin typeface="Times New Roman" panose="02020603050405020304" pitchFamily="18" charset="0"/>
                          <a:cs typeface="Times New Roman" panose="02020603050405020304" pitchFamily="18" charset="0"/>
                        </a:rPr>
                        <a:t>10</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D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a:t>
                      </a:r>
                    </a:p>
                  </a:txBody>
                  <a:tcPr marL="80821" marR="80821" marT="40410" marB="40410" anchor="ctr"/>
                </a:tc>
                <a:extLst>
                  <a:ext uri="{0D108BD9-81ED-4DB2-BD59-A6C34878D82A}">
                    <a16:rowId xmlns:a16="http://schemas.microsoft.com/office/drawing/2014/main" val="4103520072"/>
                  </a:ext>
                </a:extLst>
              </a:tr>
              <a:tr h="301813">
                <a:tc>
                  <a:txBody>
                    <a:bodyPr/>
                    <a:lstStyle/>
                    <a:p>
                      <a:r>
                        <a:rPr lang="en-IN" sz="1800">
                          <a:latin typeface="Times New Roman" panose="02020603050405020304" pitchFamily="18" charset="0"/>
                          <a:cs typeface="Times New Roman" panose="02020603050405020304" pitchFamily="18" charset="0"/>
                        </a:rPr>
                        <a:t>11</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E (2)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Push 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64 5 2</a:t>
                      </a:r>
                    </a:p>
                  </a:txBody>
                  <a:tcPr marL="80821" marR="80821" marT="40410" marB="40410" anchor="ctr"/>
                </a:tc>
                <a:extLst>
                  <a:ext uri="{0D108BD9-81ED-4DB2-BD59-A6C34878D82A}">
                    <a16:rowId xmlns:a16="http://schemas.microsoft.com/office/drawing/2014/main" val="4185561896"/>
                  </a:ext>
                </a:extLst>
              </a:tr>
              <a:tr h="301813">
                <a:tc>
                  <a:txBody>
                    <a:bodyPr/>
                    <a:lstStyle/>
                    <a:p>
                      <a:r>
                        <a:rPr lang="en-IN" sz="1800">
                          <a:latin typeface="Times New Roman" panose="02020603050405020304" pitchFamily="18" charset="0"/>
                          <a:cs typeface="Times New Roman" panose="02020603050405020304" pitchFamily="18" charset="0"/>
                        </a:rPr>
                        <a:t>12</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64 5 2</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5 * 2 = 10</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64 10</a:t>
                      </a:r>
                    </a:p>
                  </a:txBody>
                  <a:tcPr marL="80821" marR="80821" marT="40410" marB="40410" anchor="ctr"/>
                </a:tc>
                <a:extLst>
                  <a:ext uri="{0D108BD9-81ED-4DB2-BD59-A6C34878D82A}">
                    <a16:rowId xmlns:a16="http://schemas.microsoft.com/office/drawing/2014/main" val="2422661043"/>
                  </a:ext>
                </a:extLst>
              </a:tr>
              <a:tr h="301813">
                <a:tc>
                  <a:txBody>
                    <a:bodyPr/>
                    <a:lstStyle/>
                    <a:p>
                      <a:r>
                        <a:rPr lang="en-IN" sz="1800" dirty="0">
                          <a:latin typeface="Times New Roman" panose="02020603050405020304" pitchFamily="18" charset="0"/>
                          <a:cs typeface="Times New Roman" panose="02020603050405020304" pitchFamily="18" charset="0"/>
                        </a:rPr>
                        <a:t>13</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a:t>
                      </a:r>
                    </a:p>
                  </a:txBody>
                  <a:tcPr marL="80821" marR="80821" marT="40410" marB="40410" anchor="ctr"/>
                </a:tc>
                <a:tc>
                  <a:txBody>
                    <a:bodyPr/>
                    <a:lstStyle/>
                    <a:p>
                      <a:r>
                        <a:rPr lang="en-IN" sz="1800">
                          <a:latin typeface="Times New Roman" panose="02020603050405020304" pitchFamily="18" charset="0"/>
                          <a:cs typeface="Times New Roman" panose="02020603050405020304" pitchFamily="18" charset="0"/>
                        </a:rPr>
                        <a:t>64 10</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64 + 10 = 74</a:t>
                      </a:r>
                    </a:p>
                  </a:txBody>
                  <a:tcPr marL="80821" marR="80821" marT="40410" marB="40410" anchor="ctr"/>
                </a:tc>
                <a:tc>
                  <a:txBody>
                    <a:bodyPr/>
                    <a:lstStyle/>
                    <a:p>
                      <a:r>
                        <a:rPr lang="en-IN" sz="1800" dirty="0">
                          <a:latin typeface="Times New Roman" panose="02020603050405020304" pitchFamily="18" charset="0"/>
                          <a:cs typeface="Times New Roman" panose="02020603050405020304" pitchFamily="18" charset="0"/>
                        </a:rPr>
                        <a:t>74</a:t>
                      </a:r>
                    </a:p>
                  </a:txBody>
                  <a:tcPr marL="80821" marR="80821" marT="40410" marB="40410" anchor="ctr"/>
                </a:tc>
                <a:extLst>
                  <a:ext uri="{0D108BD9-81ED-4DB2-BD59-A6C34878D82A}">
                    <a16:rowId xmlns:a16="http://schemas.microsoft.com/office/drawing/2014/main" val="1644235858"/>
                  </a:ext>
                </a:extLst>
              </a:tr>
            </a:tbl>
          </a:graphicData>
        </a:graphic>
      </p:graphicFrame>
    </p:spTree>
    <p:extLst>
      <p:ext uri="{BB962C8B-B14F-4D97-AF65-F5344CB8AC3E}">
        <p14:creationId xmlns:p14="http://schemas.microsoft.com/office/powerpoint/2010/main" val="2085962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251520" y="1163773"/>
            <a:ext cx="8605464" cy="1631216"/>
          </a:xfrm>
          <a:prstGeom prst="rect">
            <a:avLst/>
          </a:prstGeom>
          <a:noFill/>
        </p:spPr>
        <p:txBody>
          <a:bodyPr wrap="square">
            <a:spAutoFit/>
          </a:bodyPr>
          <a:lstStyle/>
          <a:p>
            <a:pPr algn="just" rtl="0" fontAlgn="base"/>
            <a:r>
              <a:rPr lang="en-US" sz="24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Question 2: </a:t>
            </a:r>
            <a:r>
              <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What is the equivalent infix expression of the following postfix expression?</a:t>
            </a:r>
          </a:p>
          <a:p>
            <a:pPr algn="l" rtl="0" fontAlgn="base"/>
            <a:endPar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l" rtl="0" fontAlgn="base"/>
            <a:r>
              <a:rPr lang="en-IN" sz="2400" b="0" i="0" dirty="0">
                <a:solidFill>
                  <a:srgbClr val="273239"/>
                </a:solidFill>
                <a:effectLst/>
                <a:highlight>
                  <a:srgbClr val="FFFFFF"/>
                </a:highlight>
                <a:latin typeface="Times New Roman" panose="02020603050405020304" pitchFamily="18" charset="0"/>
                <a:cs typeface="Times New Roman" panose="02020603050405020304" pitchFamily="18" charset="0"/>
              </a:rPr>
              <a:t>M, N, O, +, *, P, /, Q, R, S, T, /, +, *, –</a:t>
            </a:r>
          </a:p>
        </p:txBody>
      </p:sp>
      <p:sp>
        <p:nvSpPr>
          <p:cNvPr id="2" name="TextBox 1"/>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Tree>
    <p:extLst>
      <p:ext uri="{BB962C8B-B14F-4D97-AF65-F5344CB8AC3E}">
        <p14:creationId xmlns:p14="http://schemas.microsoft.com/office/powerpoint/2010/main" val="1560411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88F91-19E9-A553-FD9D-DE2ECA927FE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0BD59F3-FF67-513D-8836-012D641569F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7384"/>
            <a:ext cx="9180512" cy="6885384"/>
          </a:xfrm>
        </p:spPr>
      </p:pic>
      <p:cxnSp>
        <p:nvCxnSpPr>
          <p:cNvPr id="7" name="Straight Connector 6">
            <a:extLst>
              <a:ext uri="{FF2B5EF4-FFF2-40B4-BE49-F238E27FC236}">
                <a16:creationId xmlns:a16="http://schemas.microsoft.com/office/drawing/2014/main" id="{F5B16BDC-485D-84C3-3689-71C1CD1A52C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6B03542-888B-33BD-AEA5-901A0A871F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A3CE089-E504-FDF0-FD6F-932B58F53F22}"/>
              </a:ext>
            </a:extLst>
          </p:cNvPr>
          <p:cNvSpPr txBox="1"/>
          <p:nvPr/>
        </p:nvSpPr>
        <p:spPr>
          <a:xfrm>
            <a:off x="251520" y="1163773"/>
            <a:ext cx="8605464" cy="3349956"/>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Rule Used</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symbol is an </a:t>
            </a:r>
            <a:r>
              <a:rPr lang="en-US" sz="2400" b="1" dirty="0">
                <a:latin typeface="Times New Roman" panose="02020603050405020304" pitchFamily="18" charset="0"/>
                <a:cs typeface="Times New Roman" panose="02020603050405020304" pitchFamily="18" charset="0"/>
              </a:rPr>
              <a:t>operand</a:t>
            </a:r>
            <a:r>
              <a:rPr lang="en-US" sz="2400" dirty="0">
                <a:latin typeface="Times New Roman" panose="02020603050405020304" pitchFamily="18" charset="0"/>
                <a:cs typeface="Times New Roman" panose="02020603050405020304" pitchFamily="18" charset="0"/>
              </a:rPr>
              <a:t> → push to stack</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symbol is an </a:t>
            </a:r>
            <a:r>
              <a:rPr lang="en-US" sz="2400" b="1" dirty="0">
                <a:latin typeface="Times New Roman" panose="02020603050405020304" pitchFamily="18" charset="0"/>
                <a:cs typeface="Times New Roman" panose="02020603050405020304" pitchFamily="18" charset="0"/>
              </a:rPr>
              <a:t>operator</a:t>
            </a:r>
            <a:r>
              <a:rPr lang="en-US" sz="2400" dirty="0">
                <a:latin typeface="Times New Roman" panose="02020603050405020304" pitchFamily="18" charset="0"/>
                <a:cs typeface="Times New Roman" panose="02020603050405020304" pitchFamily="18" charset="0"/>
              </a:rPr>
              <a:t> →</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Pop </a:t>
            </a:r>
            <a:r>
              <a:rPr lang="en-US" sz="2400" b="1" dirty="0">
                <a:latin typeface="Times New Roman" panose="02020603050405020304" pitchFamily="18" charset="0"/>
                <a:cs typeface="Times New Roman" panose="02020603050405020304" pitchFamily="18" charset="0"/>
              </a:rPr>
              <a:t>two operands</a:t>
            </a:r>
            <a:r>
              <a:rPr lang="en-US" sz="2400" dirty="0">
                <a:latin typeface="Times New Roman" panose="02020603050405020304" pitchFamily="18" charset="0"/>
                <a:cs typeface="Times New Roman" panose="02020603050405020304" pitchFamily="18" charset="0"/>
              </a:rPr>
              <a:t> from stack</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Form: (operand1 operator operand2)</a:t>
            </a:r>
          </a:p>
          <a:p>
            <a:pPr marL="800100" lvl="1" indent="-342900">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Push result back to stack</a:t>
            </a:r>
          </a:p>
        </p:txBody>
      </p:sp>
      <p:sp>
        <p:nvSpPr>
          <p:cNvPr id="2" name="TextBox 1">
            <a:extLst>
              <a:ext uri="{FF2B5EF4-FFF2-40B4-BE49-F238E27FC236}">
                <a16:creationId xmlns:a16="http://schemas.microsoft.com/office/drawing/2014/main" id="{9F192C27-AC9F-14A0-5BDA-ECE89F8D2904}"/>
              </a:ext>
            </a:extLst>
          </p:cNvPr>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Tree>
    <p:extLst>
      <p:ext uri="{BB962C8B-B14F-4D97-AF65-F5344CB8AC3E}">
        <p14:creationId xmlns:p14="http://schemas.microsoft.com/office/powerpoint/2010/main" val="159537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63B3B-6E91-85C4-046A-D77279B9AE0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D63923A-03EF-660B-E36E-1245755F1B5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p:spPr>
      </p:pic>
      <p:cxnSp>
        <p:nvCxnSpPr>
          <p:cNvPr id="7" name="Straight Connector 6">
            <a:extLst>
              <a:ext uri="{FF2B5EF4-FFF2-40B4-BE49-F238E27FC236}">
                <a16:creationId xmlns:a16="http://schemas.microsoft.com/office/drawing/2014/main" id="{6BD754DA-7E49-6653-2361-162FA1D2DB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C097496-A8E4-E9D9-6091-BB4503AB73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2D1C116-D4FF-1EAF-8A90-B2F7BFB798F8}"/>
              </a:ext>
            </a:extLst>
          </p:cNvPr>
          <p:cNvSpPr txBox="1"/>
          <p:nvPr/>
        </p:nvSpPr>
        <p:spPr>
          <a:xfrm>
            <a:off x="251520" y="211194"/>
            <a:ext cx="8511481" cy="646331"/>
          </a:xfrm>
          <a:prstGeom prst="rect">
            <a:avLst/>
          </a:prstGeom>
          <a:noFill/>
        </p:spPr>
        <p:txBody>
          <a:bodyPr wrap="square" rtlCol="0">
            <a:spAutoFit/>
          </a:bodyPr>
          <a:lstStyle/>
          <a:p>
            <a:r>
              <a:rPr lang="en-US" sz="3600" b="1" kern="100" dirty="0">
                <a:solidFill>
                  <a:srgbClr val="E31E24"/>
                </a:solidFill>
                <a:latin typeface="+mj-lt"/>
                <a:cs typeface="Times New Roman" panose="02020603050405020304" pitchFamily="18" charset="0"/>
                <a:sym typeface="Arial"/>
              </a:rPr>
              <a:t>Arithmetic Conversion Practice Question</a:t>
            </a:r>
            <a:endParaRPr lang="en-US" sz="3600" b="1" dirty="0">
              <a:solidFill>
                <a:srgbClr val="FF0000"/>
              </a:solidFill>
            </a:endParaRPr>
          </a:p>
        </p:txBody>
      </p:sp>
      <p:sp>
        <p:nvSpPr>
          <p:cNvPr id="3" name="Footer Placeholder 2">
            <a:extLst>
              <a:ext uri="{FF2B5EF4-FFF2-40B4-BE49-F238E27FC236}">
                <a16:creationId xmlns:a16="http://schemas.microsoft.com/office/drawing/2014/main" id="{D90D3196-4C59-33DA-A96D-17239818281F}"/>
              </a:ext>
            </a:extLst>
          </p:cNvPr>
          <p:cNvSpPr>
            <a:spLocks noGrp="1"/>
          </p:cNvSpPr>
          <p:nvPr>
            <p:ph type="ftr" sz="quarter" idx="11"/>
          </p:nvPr>
        </p:nvSpPr>
        <p:spPr/>
        <p:txBody>
          <a:bodyPr/>
          <a:lstStyle/>
          <a:p>
            <a:r>
              <a:rPr lang="en-IN"/>
              <a:t>Data  Structure         Unit2  </a:t>
            </a:r>
            <a:endParaRPr lang="en-IN" dirty="0"/>
          </a:p>
        </p:txBody>
      </p:sp>
      <p:graphicFrame>
        <p:nvGraphicFramePr>
          <p:cNvPr id="5" name="Table 4">
            <a:extLst>
              <a:ext uri="{FF2B5EF4-FFF2-40B4-BE49-F238E27FC236}">
                <a16:creationId xmlns:a16="http://schemas.microsoft.com/office/drawing/2014/main" id="{A2188F8A-C608-E466-9B1B-AC506A835EAC}"/>
              </a:ext>
            </a:extLst>
          </p:cNvPr>
          <p:cNvGraphicFramePr>
            <a:graphicFrameLocks noGrp="1"/>
          </p:cNvGraphicFramePr>
          <p:nvPr>
            <p:extLst>
              <p:ext uri="{D42A27DB-BD31-4B8C-83A1-F6EECF244321}">
                <p14:modId xmlns:p14="http://schemas.microsoft.com/office/powerpoint/2010/main" val="1251120333"/>
              </p:ext>
            </p:extLst>
          </p:nvPr>
        </p:nvGraphicFramePr>
        <p:xfrm>
          <a:off x="343060" y="1209651"/>
          <a:ext cx="8208912" cy="4998496"/>
        </p:xfrm>
        <a:graphic>
          <a:graphicData uri="http://schemas.openxmlformats.org/drawingml/2006/table">
            <a:tbl>
              <a:tblPr/>
              <a:tblGrid>
                <a:gridCol w="1080120">
                  <a:extLst>
                    <a:ext uri="{9D8B030D-6E8A-4147-A177-3AD203B41FA5}">
                      <a16:colId xmlns:a16="http://schemas.microsoft.com/office/drawing/2014/main" val="3243067824"/>
                    </a:ext>
                  </a:extLst>
                </a:gridCol>
                <a:gridCol w="1296144">
                  <a:extLst>
                    <a:ext uri="{9D8B030D-6E8A-4147-A177-3AD203B41FA5}">
                      <a16:colId xmlns:a16="http://schemas.microsoft.com/office/drawing/2014/main" val="2204381677"/>
                    </a:ext>
                  </a:extLst>
                </a:gridCol>
                <a:gridCol w="3024336">
                  <a:extLst>
                    <a:ext uri="{9D8B030D-6E8A-4147-A177-3AD203B41FA5}">
                      <a16:colId xmlns:a16="http://schemas.microsoft.com/office/drawing/2014/main" val="1761069591"/>
                    </a:ext>
                  </a:extLst>
                </a:gridCol>
                <a:gridCol w="2808312">
                  <a:extLst>
                    <a:ext uri="{9D8B030D-6E8A-4147-A177-3AD203B41FA5}">
                      <a16:colId xmlns:a16="http://schemas.microsoft.com/office/drawing/2014/main" val="650002195"/>
                    </a:ext>
                  </a:extLst>
                </a:gridCol>
              </a:tblGrid>
              <a:tr h="205726">
                <a:tc>
                  <a:txBody>
                    <a:bodyPr/>
                    <a:lstStyle/>
                    <a:p>
                      <a:pPr>
                        <a:buNone/>
                      </a:pPr>
                      <a:r>
                        <a:rPr lang="en-IN" sz="1400" b="1" dirty="0">
                          <a:latin typeface="Times New Roman" panose="02020603050405020304" pitchFamily="18" charset="0"/>
                          <a:cs typeface="Times New Roman" panose="02020603050405020304" pitchFamily="18" charset="0"/>
                        </a:rPr>
                        <a:t>Step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Symbol</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latin typeface="Times New Roman" panose="02020603050405020304" pitchFamily="18" charset="0"/>
                          <a:cs typeface="Times New Roman" panose="02020603050405020304" pitchFamily="18" charset="0"/>
                        </a:rPr>
                        <a:t>Action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dirty="0">
                          <a:latin typeface="Times New Roman" panose="02020603050405020304" pitchFamily="18" charset="0"/>
                          <a:cs typeface="Times New Roman" panose="02020603050405020304" pitchFamily="18" charset="0"/>
                        </a:rPr>
                        <a:t>Stack Content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5426125"/>
                  </a:ext>
                </a:extLst>
              </a:tr>
              <a:tr h="205726">
                <a:tc>
                  <a:txBody>
                    <a:bodyPr/>
                    <a:lstStyle/>
                    <a:p>
                      <a:pPr>
                        <a:buNone/>
                      </a:pPr>
                      <a:r>
                        <a:rPr lang="en-IN" sz="1400" dirty="0">
                          <a:latin typeface="Times New Roman" panose="02020603050405020304" pitchFamily="18" charset="0"/>
                          <a:cs typeface="Times New Roman" panose="02020603050405020304" pitchFamily="18" charset="0"/>
                        </a:rPr>
                        <a:t>1</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2126210"/>
                  </a:ext>
                </a:extLst>
              </a:tr>
              <a:tr h="205726">
                <a:tc>
                  <a:txBody>
                    <a:bodyPr/>
                    <a:lstStyle/>
                    <a:p>
                      <a:pPr>
                        <a:buNone/>
                      </a:pPr>
                      <a:r>
                        <a:rPr lang="en-IN" sz="1400">
                          <a:latin typeface="Times New Roman" panose="02020603050405020304" pitchFamily="18" charset="0"/>
                          <a:cs typeface="Times New Roman" panose="02020603050405020304" pitchFamily="18" charset="0"/>
                        </a:rPr>
                        <a:t>2</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5931565"/>
                  </a:ext>
                </a:extLst>
              </a:tr>
              <a:tr h="205726">
                <a:tc>
                  <a:txBody>
                    <a:bodyPr/>
                    <a:lstStyle/>
                    <a:p>
                      <a:pPr>
                        <a:buNone/>
                      </a:pPr>
                      <a:r>
                        <a:rPr lang="en-IN" sz="1400" dirty="0">
                          <a:latin typeface="Times New Roman" panose="02020603050405020304" pitchFamily="18" charset="0"/>
                          <a:cs typeface="Times New Roman" panose="02020603050405020304" pitchFamily="18" charset="0"/>
                        </a:rPr>
                        <a:t>3</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 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9496195"/>
                  </a:ext>
                </a:extLst>
              </a:tr>
              <a:tr h="205726">
                <a:tc>
                  <a:txBody>
                    <a:bodyPr/>
                    <a:lstStyle/>
                    <a:p>
                      <a:pPr>
                        <a:buNone/>
                      </a:pPr>
                      <a:r>
                        <a:rPr lang="en-IN" sz="1400" dirty="0">
                          <a:latin typeface="Times New Roman" panose="02020603050405020304" pitchFamily="18" charset="0"/>
                          <a:cs typeface="Times New Roman" panose="02020603050405020304" pitchFamily="18" charset="0"/>
                        </a:rPr>
                        <a:t>4</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N, O → (N+O)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 (N+O)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2043374"/>
                  </a:ext>
                </a:extLst>
              </a:tr>
              <a:tr h="360020">
                <a:tc>
                  <a:txBody>
                    <a:bodyPr/>
                    <a:lstStyle/>
                    <a:p>
                      <a:pPr>
                        <a:buNone/>
                      </a:pPr>
                      <a:r>
                        <a:rPr lang="en-IN" sz="1400">
                          <a:latin typeface="Times New Roman" panose="02020603050405020304" pitchFamily="18" charset="0"/>
                          <a:cs typeface="Times New Roman" panose="02020603050405020304" pitchFamily="18" charset="0"/>
                        </a:rPr>
                        <a:t>5</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M, (N+O) → M*(N+O)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9177"/>
                  </a:ext>
                </a:extLst>
              </a:tr>
              <a:tr h="205726">
                <a:tc>
                  <a:txBody>
                    <a:bodyPr/>
                    <a:lstStyle/>
                    <a:p>
                      <a:pPr>
                        <a:buNone/>
                      </a:pPr>
                      <a:r>
                        <a:rPr lang="en-IN" sz="1400">
                          <a:latin typeface="Times New Roman" panose="02020603050405020304" pitchFamily="18" charset="0"/>
                          <a:cs typeface="Times New Roman" panose="02020603050405020304" pitchFamily="18" charset="0"/>
                        </a:rPr>
                        <a:t>6</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 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2486381"/>
                  </a:ext>
                </a:extLst>
              </a:tr>
              <a:tr h="360020">
                <a:tc>
                  <a:txBody>
                    <a:bodyPr/>
                    <a:lstStyle/>
                    <a:p>
                      <a:pPr>
                        <a:buNone/>
                      </a:pPr>
                      <a:r>
                        <a:rPr lang="en-IN" sz="1400">
                          <a:latin typeface="Times New Roman" panose="02020603050405020304" pitchFamily="18" charset="0"/>
                          <a:cs typeface="Times New Roman" panose="02020603050405020304" pitchFamily="18" charset="0"/>
                        </a:rPr>
                        <a:t>7</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Pop (M*(N+O)), P → (M*(N+O))/P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((M*(N+O))/P)</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9874371"/>
                  </a:ext>
                </a:extLst>
              </a:tr>
              <a:tr h="205726">
                <a:tc>
                  <a:txBody>
                    <a:bodyPr/>
                    <a:lstStyle/>
                    <a:p>
                      <a:pPr>
                        <a:buNone/>
                      </a:pPr>
                      <a:r>
                        <a:rPr lang="en-IN" sz="1400">
                          <a:latin typeface="Times New Roman" panose="02020603050405020304" pitchFamily="18" charset="0"/>
                          <a:cs typeface="Times New Roman" panose="02020603050405020304" pitchFamily="18" charset="0"/>
                        </a:rPr>
                        <a:t>8</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Q</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9641169"/>
                  </a:ext>
                </a:extLst>
              </a:tr>
              <a:tr h="205726">
                <a:tc>
                  <a:txBody>
                    <a:bodyPr/>
                    <a:lstStyle/>
                    <a:p>
                      <a:pPr>
                        <a:buNone/>
                      </a:pPr>
                      <a:r>
                        <a:rPr lang="en-IN" sz="1400">
                          <a:latin typeface="Times New Roman" panose="02020603050405020304" pitchFamily="18" charset="0"/>
                          <a:cs typeface="Times New Roman" panose="02020603050405020304" pitchFamily="18" charset="0"/>
                        </a:rPr>
                        <a:t>9</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R</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2758388"/>
                  </a:ext>
                </a:extLst>
              </a:tr>
              <a:tr h="360020">
                <a:tc>
                  <a:txBody>
                    <a:bodyPr/>
                    <a:lstStyle/>
                    <a:p>
                      <a:pPr>
                        <a:buNone/>
                      </a:pPr>
                      <a:r>
                        <a:rPr lang="en-IN" sz="1400">
                          <a:latin typeface="Times New Roman" panose="02020603050405020304" pitchFamily="18" charset="0"/>
                          <a:cs typeface="Times New Roman" panose="02020603050405020304" pitchFamily="18" charset="0"/>
                        </a:rPr>
                        <a:t>10</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S</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915507"/>
                  </a:ext>
                </a:extLst>
              </a:tr>
              <a:tr h="360020">
                <a:tc>
                  <a:txBody>
                    <a:bodyPr/>
                    <a:lstStyle/>
                    <a:p>
                      <a:pPr>
                        <a:buNone/>
                      </a:pPr>
                      <a:r>
                        <a:rPr lang="en-IN" sz="1400">
                          <a:latin typeface="Times New Roman" panose="02020603050405020304" pitchFamily="18" charset="0"/>
                          <a:cs typeface="Times New Roman" panose="02020603050405020304" pitchFamily="18" charset="0"/>
                        </a:rPr>
                        <a:t>11</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Push</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 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1279147"/>
                  </a:ext>
                </a:extLst>
              </a:tr>
              <a:tr h="360020">
                <a:tc>
                  <a:txBody>
                    <a:bodyPr/>
                    <a:lstStyle/>
                    <a:p>
                      <a:pPr>
                        <a:buNone/>
                      </a:pPr>
                      <a:r>
                        <a:rPr lang="en-IN" sz="1400">
                          <a:latin typeface="Times New Roman" panose="02020603050405020304" pitchFamily="18" charset="0"/>
                          <a:cs typeface="Times New Roman" panose="02020603050405020304" pitchFamily="18" charset="0"/>
                        </a:rPr>
                        <a:t>12</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400" dirty="0">
                          <a:latin typeface="Times New Roman" panose="02020603050405020304" pitchFamily="18" charset="0"/>
                          <a:cs typeface="Times New Roman" panose="02020603050405020304" pitchFamily="18" charset="0"/>
                        </a:rPr>
                        <a:t>Pop S, T → (S/T)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 (S/T)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7272947"/>
                  </a:ext>
                </a:extLst>
              </a:tr>
              <a:tr h="360020">
                <a:tc>
                  <a:txBody>
                    <a:bodyPr/>
                    <a:lstStyle/>
                    <a:p>
                      <a:pPr>
                        <a:buNone/>
                      </a:pPr>
                      <a:r>
                        <a:rPr lang="en-IN" sz="1400">
                          <a:latin typeface="Times New Roman" panose="02020603050405020304" pitchFamily="18" charset="0"/>
                          <a:cs typeface="Times New Roman" panose="02020603050405020304" pitchFamily="18" charset="0"/>
                        </a:rPr>
                        <a:t>13</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Pop R, (S/T) → 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a:latin typeface="Times New Roman" panose="02020603050405020304" pitchFamily="18" charset="0"/>
                          <a:cs typeface="Times New Roman" panose="02020603050405020304" pitchFamily="18" charset="0"/>
                        </a:rPr>
                        <a:t>((M*(N+O))/P), Q, (R+(S/T))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386272"/>
                  </a:ext>
                </a:extLst>
              </a:tr>
              <a:tr h="360020">
                <a:tc>
                  <a:txBody>
                    <a:bodyPr/>
                    <a:lstStyle/>
                    <a:p>
                      <a:pPr>
                        <a:buNone/>
                      </a:pPr>
                      <a:r>
                        <a:rPr lang="en-IN" sz="1400">
                          <a:latin typeface="Times New Roman" panose="02020603050405020304" pitchFamily="18" charset="0"/>
                          <a:cs typeface="Times New Roman" panose="02020603050405020304" pitchFamily="18" charset="0"/>
                        </a:rPr>
                        <a:t>14</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Pop Q, (R+(S/T)) → Q*(R+(S/T))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pt-BR" sz="1400" dirty="0">
                          <a:latin typeface="Times New Roman" panose="02020603050405020304" pitchFamily="18" charset="0"/>
                          <a:cs typeface="Times New Roman" panose="02020603050405020304" pitchFamily="18" charset="0"/>
                        </a:rPr>
                        <a:t>((M*(N+O))/P), (Q*(R+(S/T)))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1076671"/>
                  </a:ext>
                </a:extLst>
              </a:tr>
              <a:tr h="360020">
                <a:tc>
                  <a:txBody>
                    <a:bodyPr/>
                    <a:lstStyle/>
                    <a:p>
                      <a:pPr>
                        <a:buNone/>
                      </a:pPr>
                      <a:r>
                        <a:rPr lang="en-IN" sz="1400">
                          <a:latin typeface="Times New Roman" panose="02020603050405020304" pitchFamily="18" charset="0"/>
                          <a:cs typeface="Times New Roman" panose="02020603050405020304" pitchFamily="18" charset="0"/>
                        </a:rPr>
                        <a:t>15</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latin typeface="Times New Roman" panose="02020603050405020304" pitchFamily="18" charset="0"/>
                          <a:cs typeface="Times New Roman" panose="02020603050405020304" pitchFamily="18" charset="0"/>
                        </a:rPr>
                        <a:t>Pop both → Final expression</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latin typeface="Times New Roman" panose="02020603050405020304" pitchFamily="18" charset="0"/>
                          <a:cs typeface="Times New Roman" panose="02020603050405020304" pitchFamily="18" charset="0"/>
                        </a:rPr>
                        <a:t>Result</a:t>
                      </a:r>
                    </a:p>
                  </a:txBody>
                  <a:tcPr marL="51431" marR="51431" marT="25716" marB="257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764357"/>
                  </a:ext>
                </a:extLst>
              </a:tr>
            </a:tbl>
          </a:graphicData>
        </a:graphic>
      </p:graphicFrame>
    </p:spTree>
    <p:extLst>
      <p:ext uri="{BB962C8B-B14F-4D97-AF65-F5344CB8AC3E}">
        <p14:creationId xmlns:p14="http://schemas.microsoft.com/office/powerpoint/2010/main" val="2749221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81798-F377-5145-D60F-480E36658130}"/>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655CCD-0136-4F54-21EF-3B8E0FF959D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CC0843C-FFA9-81EA-0B04-4EFE5013CA9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D38DD5-7E48-9C73-238A-AA18FFEABB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3A4A28DB-7FCA-1D7A-8AF1-C9356420061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4772242-A3EB-F52C-72DE-E1C903204252}"/>
              </a:ext>
            </a:extLst>
          </p:cNvPr>
          <p:cNvSpPr txBox="1"/>
          <p:nvPr/>
        </p:nvSpPr>
        <p:spPr>
          <a:xfrm>
            <a:off x="251520" y="53136"/>
            <a:ext cx="8571505"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Applications of Stacks</a:t>
            </a:r>
            <a:endParaRPr lang="en-US" sz="3600" b="1" dirty="0">
              <a:solidFill>
                <a:srgbClr val="FF0000"/>
              </a:solidFill>
            </a:endParaRPr>
          </a:p>
        </p:txBody>
      </p:sp>
      <p:sp>
        <p:nvSpPr>
          <p:cNvPr id="3" name="Footer Placeholder 2">
            <a:extLst>
              <a:ext uri="{FF2B5EF4-FFF2-40B4-BE49-F238E27FC236}">
                <a16:creationId xmlns:a16="http://schemas.microsoft.com/office/drawing/2014/main" id="{85AD0365-4F19-171C-8190-F7A9FDE88D62}"/>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1DF914BE-D0AD-34A3-D1C0-2DC2B569DCEE}"/>
              </a:ext>
            </a:extLst>
          </p:cNvPr>
          <p:cNvSpPr txBox="1"/>
          <p:nvPr/>
        </p:nvSpPr>
        <p:spPr>
          <a:xfrm>
            <a:off x="288161" y="1619563"/>
            <a:ext cx="8498221" cy="4185761"/>
          </a:xfrm>
          <a:prstGeom prst="rect">
            <a:avLst/>
          </a:prstGeom>
          <a:noFill/>
        </p:spPr>
        <p:txBody>
          <a:bodyPr wrap="square" rtlCol="0">
            <a:spAutoFit/>
          </a:bodyPr>
          <a:lstStyle/>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Expression Evaluation and Conversion:</a:t>
            </a:r>
            <a:r>
              <a:rPr lang="en-US" sz="2400" dirty="0">
                <a:latin typeface="Times New Roman" panose="02020603050405020304" pitchFamily="18" charset="0"/>
                <a:cs typeface="Times New Roman" panose="02020603050405020304" pitchFamily="18" charset="0"/>
              </a:rPr>
              <a:t> Infix to Postfix/Prefix, Postfix Evaluation.</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Recursion Management</a:t>
            </a:r>
            <a:r>
              <a:rPr lang="en-US" sz="2400" dirty="0">
                <a:latin typeface="Times New Roman" panose="02020603050405020304" pitchFamily="18" charset="0"/>
                <a:cs typeface="Times New Roman" panose="02020603050405020304" pitchFamily="18" charset="0"/>
              </a:rPr>
              <a:t>: Function call stack.</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Undo/Redo Functionality: </a:t>
            </a:r>
            <a:r>
              <a:rPr lang="en-US" sz="2400" dirty="0">
                <a:latin typeface="Times New Roman" panose="02020603050405020304" pitchFamily="18" charset="0"/>
                <a:cs typeface="Times New Roman" panose="02020603050405020304" pitchFamily="18" charset="0"/>
              </a:rPr>
              <a:t>In text editors, software applications.</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Backtracking Algorithms</a:t>
            </a:r>
            <a:r>
              <a:rPr lang="en-US" sz="2400" dirty="0">
                <a:latin typeface="Times New Roman" panose="02020603050405020304" pitchFamily="18" charset="0"/>
                <a:cs typeface="Times New Roman" panose="02020603050405020304" pitchFamily="18" charset="0"/>
              </a:rPr>
              <a:t>: Solving mazes, knight's tour.</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Browser History:</a:t>
            </a:r>
            <a:r>
              <a:rPr lang="en-US" sz="2400" dirty="0">
                <a:latin typeface="Times New Roman" panose="02020603050405020304" pitchFamily="18" charset="0"/>
                <a:cs typeface="Times New Roman" panose="02020603050405020304" pitchFamily="18" charset="0"/>
              </a:rPr>
              <a:t> Navigating back through web pages.</a:t>
            </a:r>
          </a:p>
          <a:p>
            <a:pPr marL="342900" lvl="0" indent="-34290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Syntax Parsing: </a:t>
            </a:r>
            <a:r>
              <a:rPr lang="en-US" sz="2400" dirty="0">
                <a:latin typeface="Times New Roman" panose="02020603050405020304" pitchFamily="18" charset="0"/>
                <a:cs typeface="Times New Roman" panose="02020603050405020304" pitchFamily="18" charset="0"/>
              </a:rPr>
              <a:t>Compilers use stacks to check for balanced parentheses, braces, etc.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762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BFB5-F645-A150-0565-F629DA67B79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6707121-3C29-48BE-EA60-0C558C5A703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13692"/>
            <a:ext cx="9180512" cy="6885384"/>
          </a:xfrm>
        </p:spPr>
      </p:pic>
      <p:cxnSp>
        <p:nvCxnSpPr>
          <p:cNvPr id="7" name="Straight Connector 6">
            <a:extLst>
              <a:ext uri="{FF2B5EF4-FFF2-40B4-BE49-F238E27FC236}">
                <a16:creationId xmlns:a16="http://schemas.microsoft.com/office/drawing/2014/main" id="{03CF426E-0AF8-BFAF-2C88-5C2DE0D2497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D9C847FE-F6C7-FB7A-8B14-03F62DA1FE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A9848F-E36C-476F-1D32-2D1A0C59125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69F6673-F506-D741-6BAA-CB9C11758A55}"/>
              </a:ext>
            </a:extLst>
          </p:cNvPr>
          <p:cNvSpPr txBox="1"/>
          <p:nvPr/>
        </p:nvSpPr>
        <p:spPr>
          <a:xfrm>
            <a:off x="179512" y="53136"/>
            <a:ext cx="8643513"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Recursion</a:t>
            </a:r>
            <a:endParaRPr lang="en-US" sz="3600" b="1" dirty="0">
              <a:solidFill>
                <a:srgbClr val="FF0000"/>
              </a:solidFill>
            </a:endParaRPr>
          </a:p>
        </p:txBody>
      </p:sp>
      <p:sp>
        <p:nvSpPr>
          <p:cNvPr id="3" name="Footer Placeholder 2">
            <a:extLst>
              <a:ext uri="{FF2B5EF4-FFF2-40B4-BE49-F238E27FC236}">
                <a16:creationId xmlns:a16="http://schemas.microsoft.com/office/drawing/2014/main" id="{59D1F4A3-D875-3BF1-3707-E240A29AD232}"/>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734BEC97-8634-1CCE-1840-94C427A17CF0}"/>
              </a:ext>
            </a:extLst>
          </p:cNvPr>
          <p:cNvSpPr txBox="1"/>
          <p:nvPr/>
        </p:nvSpPr>
        <p:spPr>
          <a:xfrm>
            <a:off x="179512" y="1204097"/>
            <a:ext cx="8643513" cy="4770537"/>
          </a:xfrm>
          <a:prstGeom prst="rect">
            <a:avLst/>
          </a:prstGeom>
          <a:noFill/>
        </p:spPr>
        <p:txBody>
          <a:bodyPr wrap="square" rtlCol="0">
            <a:spAutoFit/>
          </a:bodyPr>
          <a:lstStyle/>
          <a:p>
            <a:pPr lvl="0" algn="just">
              <a:spcBef>
                <a:spcPts val="600"/>
              </a:spcBef>
              <a:spcAft>
                <a:spcPts val="600"/>
              </a:spcAft>
            </a:pPr>
            <a:r>
              <a:rPr lang="en-IN" sz="2400" dirty="0">
                <a:latin typeface="Times New Roman" panose="02020603050405020304" pitchFamily="18" charset="0"/>
                <a:cs typeface="Times New Roman" panose="02020603050405020304" pitchFamily="18" charset="0"/>
              </a:rPr>
              <a:t>A programming technique where a function calls itself, directly or indirectly, to solve a problem. </a:t>
            </a:r>
          </a:p>
          <a:p>
            <a:pPr lvl="0" algn="just">
              <a:spcBef>
                <a:spcPts val="600"/>
              </a:spcBef>
              <a:spcAft>
                <a:spcPts val="600"/>
              </a:spcAft>
            </a:pPr>
            <a:r>
              <a:rPr lang="en-IN" sz="2400" b="1" dirty="0">
                <a:latin typeface="Times New Roman" panose="02020603050405020304" pitchFamily="18" charset="0"/>
                <a:cs typeface="Times New Roman" panose="02020603050405020304" pitchFamily="18" charset="0"/>
              </a:rPr>
              <a:t>How Stacks are Involved?</a:t>
            </a:r>
          </a:p>
          <a:p>
            <a:pPr lvl="0" algn="just">
              <a:spcBef>
                <a:spcPts val="600"/>
              </a:spcBef>
              <a:spcAft>
                <a:spcPts val="600"/>
              </a:spcAft>
            </a:pPr>
            <a:r>
              <a:rPr lang="en-IN" sz="2400" dirty="0">
                <a:latin typeface="Times New Roman" panose="02020603050405020304" pitchFamily="18" charset="0"/>
                <a:cs typeface="Times New Roman" panose="02020603050405020304" pitchFamily="18" charset="0"/>
              </a:rPr>
              <a:t>The "Call Stack" (or "Execution Stack") is a crucial data structure used by the computer's operating system and programming language runtime to manage function calls.</a:t>
            </a:r>
          </a:p>
          <a:p>
            <a:pPr marL="342900" lvl="0" indent="-342900" algn="just">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a function is called, a </a:t>
            </a:r>
            <a:r>
              <a:rPr lang="en-IN" sz="2400" b="1" dirty="0">
                <a:latin typeface="Times New Roman" panose="02020603050405020304" pitchFamily="18" charset="0"/>
                <a:cs typeface="Times New Roman" panose="02020603050405020304" pitchFamily="18" charset="0"/>
              </a:rPr>
              <a:t>"stack frame" </a:t>
            </a:r>
            <a:r>
              <a:rPr lang="en-IN" sz="2400" dirty="0">
                <a:latin typeface="Times New Roman" panose="02020603050405020304" pitchFamily="18" charset="0"/>
                <a:cs typeface="Times New Roman" panose="02020603050405020304" pitchFamily="18" charset="0"/>
              </a:rPr>
              <a:t>(or "activation record") is pushed onto the call stack. This frame contains: </a:t>
            </a:r>
            <a:r>
              <a:rPr lang="en-IN" sz="2400" b="1" dirty="0">
                <a:latin typeface="Times New Roman" panose="02020603050405020304" pitchFamily="18" charset="0"/>
                <a:cs typeface="Times New Roman" panose="02020603050405020304" pitchFamily="18" charset="0"/>
              </a:rPr>
              <a:t>Local variables, Parameters &amp; Return address </a:t>
            </a:r>
          </a:p>
          <a:p>
            <a:pPr marL="342900" indent="-342900" algn="just">
              <a:spcBef>
                <a:spcPts val="600"/>
              </a:spcBef>
              <a:spcAft>
                <a:spcPts val="600"/>
              </a:spcAf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When the function finishes, its stack frame is popped from the call stack, and control returns to the address specified in the frame.</a:t>
            </a:r>
          </a:p>
        </p:txBody>
      </p:sp>
    </p:spTree>
    <p:extLst>
      <p:ext uri="{BB962C8B-B14F-4D97-AF65-F5344CB8AC3E}">
        <p14:creationId xmlns:p14="http://schemas.microsoft.com/office/powerpoint/2010/main" val="1950457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9E10A-1B9E-E8AB-3F46-FD3EFBF9EC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A92335-7EF6-4052-99EC-44D31268396F}"/>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686" y="0"/>
            <a:ext cx="9180512" cy="6885384"/>
          </a:xfrm>
        </p:spPr>
      </p:pic>
      <p:cxnSp>
        <p:nvCxnSpPr>
          <p:cNvPr id="7" name="Straight Connector 6">
            <a:extLst>
              <a:ext uri="{FF2B5EF4-FFF2-40B4-BE49-F238E27FC236}">
                <a16:creationId xmlns:a16="http://schemas.microsoft.com/office/drawing/2014/main" id="{8F4E53B0-EA3C-5CD6-AD32-06091B817A6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D9F31C4-8921-DD0A-3671-624019E054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A60373D-4307-9279-5107-135D11C33419}"/>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5EDFA24-76E3-7196-843C-FF255C260DC1}"/>
              </a:ext>
            </a:extLst>
          </p:cNvPr>
          <p:cNvSpPr txBox="1"/>
          <p:nvPr/>
        </p:nvSpPr>
        <p:spPr>
          <a:xfrm>
            <a:off x="323528" y="53136"/>
            <a:ext cx="8499497" cy="892552"/>
          </a:xfrm>
          <a:prstGeom prst="rect">
            <a:avLst/>
          </a:prstGeom>
          <a:noFill/>
        </p:spPr>
        <p:txBody>
          <a:bodyPr wrap="square" rtlCol="0">
            <a:spAutoFit/>
          </a:bodyPr>
          <a:lstStyle/>
          <a:p>
            <a:endParaRPr lang="en-US" sz="2400" b="1" u="sng" dirty="0"/>
          </a:p>
          <a:p>
            <a:r>
              <a:rPr lang="en-US" dirty="0"/>
              <a:t> </a:t>
            </a:r>
            <a:r>
              <a:rPr lang="en-US" sz="2800" b="1" kern="100" dirty="0">
                <a:solidFill>
                  <a:srgbClr val="E31E24"/>
                </a:solidFill>
                <a:latin typeface="+mj-lt"/>
                <a:cs typeface="Times New Roman" panose="02020603050405020304" pitchFamily="18" charset="0"/>
                <a:sym typeface="Arial"/>
              </a:rPr>
              <a:t>Assignment</a:t>
            </a:r>
            <a:endParaRPr lang="en-US" sz="3600" b="1" dirty="0">
              <a:solidFill>
                <a:srgbClr val="FF0000"/>
              </a:solidFill>
            </a:endParaRPr>
          </a:p>
        </p:txBody>
      </p:sp>
      <p:sp>
        <p:nvSpPr>
          <p:cNvPr id="3" name="Footer Placeholder 2">
            <a:extLst>
              <a:ext uri="{FF2B5EF4-FFF2-40B4-BE49-F238E27FC236}">
                <a16:creationId xmlns:a16="http://schemas.microsoft.com/office/drawing/2014/main" id="{CFA29D27-FE19-8096-D985-3B8022C8FD3C}"/>
              </a:ext>
            </a:extLst>
          </p:cNvPr>
          <p:cNvSpPr>
            <a:spLocks noGrp="1"/>
          </p:cNvSpPr>
          <p:nvPr>
            <p:ph type="ftr" sz="quarter" idx="11"/>
          </p:nvPr>
        </p:nvSpPr>
        <p:spPr/>
        <p:txBody>
          <a:bodyPr/>
          <a:lstStyle/>
          <a:p>
            <a:r>
              <a:rPr lang="en-IN"/>
              <a:t>Data  Structure         Unit2  </a:t>
            </a:r>
            <a:endParaRPr lang="en-IN" dirty="0"/>
          </a:p>
        </p:txBody>
      </p:sp>
      <p:sp>
        <p:nvSpPr>
          <p:cNvPr id="13" name="TextBox 12">
            <a:extLst>
              <a:ext uri="{FF2B5EF4-FFF2-40B4-BE49-F238E27FC236}">
                <a16:creationId xmlns:a16="http://schemas.microsoft.com/office/drawing/2014/main" id="{ABDFD02A-606A-89DD-6ABB-4192D72BAFB2}"/>
              </a:ext>
            </a:extLst>
          </p:cNvPr>
          <p:cNvSpPr txBox="1"/>
          <p:nvPr/>
        </p:nvSpPr>
        <p:spPr>
          <a:xfrm>
            <a:off x="323529" y="1309781"/>
            <a:ext cx="8064896" cy="4616648"/>
          </a:xfrm>
          <a:prstGeom prst="rect">
            <a:avLst/>
          </a:prstGeom>
          <a:noFill/>
        </p:spPr>
        <p:txBody>
          <a:bodyPr wrap="square" rtlCol="0">
            <a:spAutoFit/>
          </a:bodyPr>
          <a:lstStyle/>
          <a:p>
            <a:pPr marL="457200" lvl="0" indent="-457200" algn="just">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Evaluate the following postfix expressions. Show each step of the evaluation, including the stack's state.</a:t>
            </a:r>
          </a:p>
          <a:p>
            <a:pPr marL="442913" lvl="1" algn="just">
              <a:spcBef>
                <a:spcPts val="600"/>
              </a:spcBef>
            </a:pPr>
            <a:r>
              <a:rPr lang="en-IN" sz="2400" dirty="0">
                <a:latin typeface="Times New Roman" panose="02020603050405020304" pitchFamily="18" charset="0"/>
                <a:cs typeface="Times New Roman" panose="02020603050405020304" pitchFamily="18" charset="0"/>
              </a:rPr>
              <a:t>a) 8 4 2 / + 5 *</a:t>
            </a:r>
          </a:p>
          <a:p>
            <a:pPr marL="442913" lvl="1" algn="just">
              <a:spcBef>
                <a:spcPts val="600"/>
              </a:spcBef>
            </a:pPr>
            <a:r>
              <a:rPr lang="en-IN" sz="2400" dirty="0">
                <a:latin typeface="Times New Roman" panose="02020603050405020304" pitchFamily="18" charset="0"/>
                <a:cs typeface="Times New Roman" panose="02020603050405020304" pitchFamily="18" charset="0"/>
              </a:rPr>
              <a:t>b) 10 2 3 * + 6 –</a:t>
            </a:r>
          </a:p>
          <a:p>
            <a:pPr marL="360363" lvl="1" indent="-360363" algn="just">
              <a:spcBef>
                <a:spcPts val="600"/>
              </a:spcBef>
            </a:pPr>
            <a:endParaRPr lang="en-IN" sz="2400" dirty="0">
              <a:latin typeface="Times New Roman" panose="02020603050405020304" pitchFamily="18" charset="0"/>
              <a:cs typeface="Times New Roman" panose="02020603050405020304" pitchFamily="18" charset="0"/>
            </a:endParaRPr>
          </a:p>
          <a:p>
            <a:pPr marL="457200" indent="-457200" algn="just">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Convert the following infix expressions to their equivalent postfix form. Show the state of the operator stack and the postfix expression at each significant step. Assume the standard operator precedence: </a:t>
            </a:r>
          </a:p>
          <a:p>
            <a:pPr marL="720725" lvl="1" indent="-277813" algn="just">
              <a:spcBef>
                <a:spcPts val="600"/>
              </a:spcBef>
              <a:buAutoNum type="alphaLcParenR"/>
            </a:pPr>
            <a:r>
              <a:rPr lang="en-IN" sz="2400" dirty="0">
                <a:latin typeface="Times New Roman" panose="02020603050405020304" pitchFamily="18" charset="0"/>
                <a:cs typeface="Times New Roman" panose="02020603050405020304" pitchFamily="18" charset="0"/>
              </a:rPr>
              <a:t>A + B * C – D</a:t>
            </a:r>
          </a:p>
          <a:p>
            <a:pPr marL="720725" lvl="1" indent="-277813" algn="just">
              <a:spcBef>
                <a:spcPts val="600"/>
              </a:spcBef>
              <a:buAutoNum type="alphaLcParenR"/>
            </a:pPr>
            <a:r>
              <a:rPr lang="en-IN" sz="2400" dirty="0">
                <a:latin typeface="Times New Roman" panose="02020603050405020304" pitchFamily="18" charset="0"/>
                <a:cs typeface="Times New Roman" panose="02020603050405020304" pitchFamily="18" charset="0"/>
              </a:rPr>
              <a:t>(P - Q) * R + S / T</a:t>
            </a:r>
          </a:p>
        </p:txBody>
      </p:sp>
    </p:spTree>
    <p:extLst>
      <p:ext uri="{BB962C8B-B14F-4D97-AF65-F5344CB8AC3E}">
        <p14:creationId xmlns:p14="http://schemas.microsoft.com/office/powerpoint/2010/main" val="76227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5931-E8E5-4654-EF2D-06A255D67FF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596AC98-6EC5-D02D-4EFE-D35E3DD6B12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0EDCFF5-C152-2823-5351-50F020B9CBE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E308CF1-50BD-57AF-E3A0-9420C9D8E9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62B289B-EA6B-727E-EC86-0EA02F48AD6B}"/>
              </a:ext>
            </a:extLst>
          </p:cNvPr>
          <p:cNvSpPr txBox="1"/>
          <p:nvPr/>
        </p:nvSpPr>
        <p:spPr>
          <a:xfrm>
            <a:off x="390108" y="1229141"/>
            <a:ext cx="8219747" cy="4299126"/>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sym typeface="Arial"/>
              </a:rPr>
              <a:t>Definition: </a:t>
            </a:r>
            <a:r>
              <a:rPr lang="en-IN" sz="2400" dirty="0">
                <a:latin typeface="Times New Roman" panose="02020603050405020304" pitchFamily="18" charset="0"/>
                <a:cs typeface="Times New Roman" panose="02020603050405020304" pitchFamily="18" charset="0"/>
              </a:rPr>
              <a:t>A linear data structure with FIFO order.</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Analogy:</a:t>
            </a:r>
            <a:r>
              <a:rPr lang="en-IN" sz="2400" dirty="0">
                <a:latin typeface="Times New Roman" panose="02020603050405020304" pitchFamily="18" charset="0"/>
                <a:cs typeface="Times New Roman" panose="02020603050405020304" pitchFamily="18" charset="0"/>
              </a:rPr>
              <a:t> Like a ticket counter queue.</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Order:</a:t>
            </a:r>
            <a:r>
              <a:rPr lang="en-IN" sz="2400" dirty="0">
                <a:latin typeface="Times New Roman" panose="02020603050405020304" pitchFamily="18" charset="0"/>
                <a:cs typeface="Times New Roman" panose="02020603050405020304" pitchFamily="18" charset="0"/>
              </a:rPr>
              <a:t> Front = deletion end, Rear = insertion end.</a:t>
            </a:r>
          </a:p>
          <a:p>
            <a:pPr algn="just" fontAlgn="base">
              <a:lnSpc>
                <a:spcPct val="107000"/>
              </a:lnSpc>
            </a:pPr>
            <a:endParaRPr lang="en-IN" sz="2400" dirty="0">
              <a:latin typeface="Times New Roman" panose="02020603050405020304" pitchFamily="18" charset="0"/>
              <a:cs typeface="Times New Roman" panose="02020603050405020304" pitchFamily="18" charset="0"/>
              <a:sym typeface="Arial"/>
            </a:endParaRPr>
          </a:p>
          <a:p>
            <a:pPr algn="just" fontAlgn="base">
              <a:lnSpc>
                <a:spcPct val="150000"/>
              </a:lnSpc>
            </a:pPr>
            <a:r>
              <a:rPr lang="en-IN" sz="2400" b="1" dirty="0">
                <a:latin typeface="Times New Roman" panose="02020603050405020304" pitchFamily="18" charset="0"/>
                <a:cs typeface="Times New Roman" panose="02020603050405020304" pitchFamily="18" charset="0"/>
                <a:sym typeface="Arial"/>
              </a:rPr>
              <a:t>Key Characteristics:</a:t>
            </a: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Abstract Data Type (ADT): Defined by its </a:t>
            </a:r>
            <a:r>
              <a:rPr lang="en-IN" sz="2400" dirty="0" err="1">
                <a:latin typeface="Times New Roman" panose="02020603050405020304" pitchFamily="18" charset="0"/>
                <a:cs typeface="Times New Roman" panose="02020603050405020304" pitchFamily="18" charset="0"/>
                <a:sym typeface="Arial"/>
              </a:rPr>
              <a:t>behavior</a:t>
            </a:r>
            <a:r>
              <a:rPr lang="en-IN" sz="2400" dirty="0">
                <a:latin typeface="Times New Roman" panose="02020603050405020304" pitchFamily="18" charset="0"/>
                <a:cs typeface="Times New Roman" panose="02020603050405020304" pitchFamily="18" charset="0"/>
                <a:sym typeface="Arial"/>
              </a:rPr>
              <a:t>.</a:t>
            </a:r>
          </a:p>
          <a:p>
            <a:pPr marL="342900" indent="-342900" algn="just" fontAlgn="base">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Arial"/>
              </a:rPr>
              <a:t>Restricted Access: Elements are added at one end (Rear/Tail) and removed from the other end (Front/Head). </a:t>
            </a:r>
            <a:endParaRPr lang="en-US" sz="2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B2E394C-FB02-754E-AB96-3CF98C74026E}"/>
              </a:ext>
            </a:extLst>
          </p:cNvPr>
          <p:cNvSpPr txBox="1"/>
          <p:nvPr/>
        </p:nvSpPr>
        <p:spPr>
          <a:xfrm>
            <a:off x="392983" y="291405"/>
            <a:ext cx="8751017" cy="646331"/>
          </a:xfrm>
          <a:prstGeom prst="rect">
            <a:avLst/>
          </a:prstGeom>
          <a:noFill/>
        </p:spPr>
        <p:txBody>
          <a:bodyPr wrap="square" rtlCol="0">
            <a:spAutoFit/>
          </a:bodyPr>
          <a:lstStyle/>
          <a:p>
            <a:r>
              <a:rPr lang="en-US" sz="3600" b="1" dirty="0">
                <a:solidFill>
                  <a:srgbClr val="FF0000"/>
                </a:solidFill>
              </a:rPr>
              <a:t>Recap of Queues</a:t>
            </a:r>
          </a:p>
        </p:txBody>
      </p:sp>
      <p:sp>
        <p:nvSpPr>
          <p:cNvPr id="3" name="Footer Placeholder 2">
            <a:extLst>
              <a:ext uri="{FF2B5EF4-FFF2-40B4-BE49-F238E27FC236}">
                <a16:creationId xmlns:a16="http://schemas.microsoft.com/office/drawing/2014/main" id="{8D8173AC-BCA9-9DC7-A69B-B693F18F16EE}"/>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784483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51B29-DC82-C145-A380-439CAF993793}"/>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8DE53B-7BC8-2CF0-1E9D-F3A12282F85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1A5D19B7-C1D3-1AD4-ECD9-E102EC4B3695}"/>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5118693-3901-CE59-9518-27E7C5BFA4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5ED0411-DEA2-C133-9E3B-6C583213CB35}"/>
              </a:ext>
            </a:extLst>
          </p:cNvPr>
          <p:cNvSpPr txBox="1"/>
          <p:nvPr/>
        </p:nvSpPr>
        <p:spPr>
          <a:xfrm>
            <a:off x="397470" y="1270203"/>
            <a:ext cx="8219747" cy="4985980"/>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Enqueue (Insertion):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Adds an element to the rear of the queue.</a:t>
            </a:r>
          </a:p>
          <a:p>
            <a:pPr marL="1257300" lvl="2" indent="-342900" algn="just">
              <a:spcBef>
                <a:spcPts val="600"/>
              </a:spcBef>
              <a:buFont typeface="Wingdings" panose="05000000000000000000" pitchFamily="2" charset="2"/>
              <a:buChar char="Ø"/>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If the queue is full, it's an Overflow condition.</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Dequeue (Deletion): </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Removes an element from the front of the queue.</a:t>
            </a:r>
          </a:p>
          <a:p>
            <a:pPr marL="1257300" lvl="2" indent="-342900" algn="just">
              <a:spcBef>
                <a:spcPts val="600"/>
              </a:spcBef>
              <a:buFont typeface="Wingdings" panose="05000000000000000000" pitchFamily="2" charset="2"/>
              <a:buChar char="Ø"/>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If the queue is empty, it's an Underflow condition.</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Front</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Points to the first element in the queue.</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Rear:</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Points to the last element in the queue.</a:t>
            </a:r>
          </a:p>
          <a:p>
            <a:pPr marL="342900" indent="-342900" algn="just">
              <a:spcBef>
                <a:spcPts val="600"/>
              </a:spcBef>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Limitation:</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After several Dequeue operations, even if space becomes available at the front, new elements can only be added at the rear, leading to "queue full" even if the array isn't entirely used.</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6875D23-547A-4FA6-8CF9-D9894E930657}"/>
              </a:ext>
            </a:extLst>
          </p:cNvPr>
          <p:cNvSpPr txBox="1"/>
          <p:nvPr/>
        </p:nvSpPr>
        <p:spPr>
          <a:xfrm>
            <a:off x="397470" y="311936"/>
            <a:ext cx="8751017" cy="646331"/>
          </a:xfrm>
          <a:prstGeom prst="rect">
            <a:avLst/>
          </a:prstGeom>
          <a:noFill/>
        </p:spPr>
        <p:txBody>
          <a:bodyPr wrap="square" rtlCol="0">
            <a:spAutoFit/>
          </a:bodyPr>
          <a:lstStyle/>
          <a:p>
            <a:r>
              <a:rPr lang="en-US" sz="3600" b="1" dirty="0">
                <a:solidFill>
                  <a:srgbClr val="FF0000"/>
                </a:solidFill>
              </a:rPr>
              <a:t>Linear Queue Operations</a:t>
            </a:r>
          </a:p>
        </p:txBody>
      </p:sp>
      <p:sp>
        <p:nvSpPr>
          <p:cNvPr id="3" name="Footer Placeholder 2">
            <a:extLst>
              <a:ext uri="{FF2B5EF4-FFF2-40B4-BE49-F238E27FC236}">
                <a16:creationId xmlns:a16="http://schemas.microsoft.com/office/drawing/2014/main" id="{BA67CDF0-9FE9-1F0B-988E-666CB1694547}"/>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2785652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7124-EDBC-7F27-6D7B-EE129F33D91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06DF78-CD3E-FD5D-084A-AAB90092DB3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40CF8EB-FC1D-F1E7-64D5-DD2D74BF42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AACA5F1-01F7-4950-5B32-70A064A5B3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56167"/>
            <a:ext cx="2411760" cy="346691"/>
          </a:xfrm>
          <a:prstGeom prst="rect">
            <a:avLst/>
          </a:prstGeom>
        </p:spPr>
      </p:pic>
      <p:sp>
        <p:nvSpPr>
          <p:cNvPr id="6" name="TextBox 5">
            <a:extLst>
              <a:ext uri="{FF2B5EF4-FFF2-40B4-BE49-F238E27FC236}">
                <a16:creationId xmlns:a16="http://schemas.microsoft.com/office/drawing/2014/main" id="{D9F1F3D7-778F-7217-2F86-5A62630E6FF3}"/>
              </a:ext>
            </a:extLst>
          </p:cNvPr>
          <p:cNvSpPr txBox="1"/>
          <p:nvPr/>
        </p:nvSpPr>
        <p:spPr>
          <a:xfrm>
            <a:off x="467544" y="1117771"/>
            <a:ext cx="8089845" cy="5294719"/>
          </a:xfrm>
          <a:prstGeom prst="rect">
            <a:avLst/>
          </a:prstGeom>
          <a:noFill/>
        </p:spPr>
        <p:txBody>
          <a:bodyPr wrap="square">
            <a:spAutoFit/>
          </a:bodyPr>
          <a:lstStyle/>
          <a:p>
            <a:pPr marL="0" marR="0" algn="just" fontAlgn="base">
              <a:spcBef>
                <a:spcPts val="0"/>
              </a:spcBef>
              <a:spcAft>
                <a:spcPts val="0"/>
              </a:spcAft>
            </a:pPr>
            <a:r>
              <a:rPr lang="en-US" sz="2600" b="1" kern="100" dirty="0">
                <a:effectLst/>
                <a:latin typeface="Times New Roman" panose="02020603050405020304" pitchFamily="18" charset="0"/>
                <a:ea typeface="Calibri" panose="020F0502020204030204" pitchFamily="34" charset="0"/>
                <a:cs typeface="Times New Roman" panose="02020603050405020304" pitchFamily="18" charset="0"/>
              </a:rPr>
              <a:t>Perform the following sequence of operations on an initially empty linear queue with a maximum size of 5. Show the queue's contents and the Front and Rear pointers after each operation.</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ENQUEUE(10)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ENQUEUE(20)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ENQUEUE(30)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ENQUEUE(40)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ENQUEUE(50)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ENQUEUE(60)</a:t>
            </a:r>
          </a:p>
          <a:p>
            <a:pPr marL="914400" lvl="1" indent="-457200" algn="just" fontAlgn="base">
              <a:lnSpc>
                <a:spcPct val="107000"/>
              </a:lnSpc>
              <a:buFont typeface="+mj-lt"/>
              <a:buAutoNum type="arabicPeriod"/>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DEQUEUE()</a:t>
            </a:r>
            <a:endParaRPr lang="en-US" sz="2800" kern="100" dirty="0">
              <a:solidFill>
                <a:srgbClr val="00B0F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E172D1B-B742-9334-E000-064306872213}"/>
              </a:ext>
            </a:extLst>
          </p:cNvPr>
          <p:cNvSpPr txBox="1"/>
          <p:nvPr/>
        </p:nvSpPr>
        <p:spPr>
          <a:xfrm>
            <a:off x="226713" y="272677"/>
            <a:ext cx="8571505" cy="646331"/>
          </a:xfrm>
          <a:prstGeom prst="rect">
            <a:avLst/>
          </a:prstGeom>
          <a:noFill/>
        </p:spPr>
        <p:txBody>
          <a:bodyPr wrap="square" rtlCol="0">
            <a:spAutoFit/>
          </a:bodyPr>
          <a:lstStyle/>
          <a:p>
            <a:r>
              <a:rPr lang="en-US" dirty="0"/>
              <a:t> </a:t>
            </a:r>
            <a:r>
              <a:rPr lang="en-IN" sz="3600" dirty="0"/>
              <a:t> </a:t>
            </a:r>
            <a:r>
              <a:rPr lang="en-IN" sz="3600" b="1" dirty="0">
                <a:solidFill>
                  <a:srgbClr val="FF0000"/>
                </a:solidFill>
              </a:rPr>
              <a:t>Numerical Problem: Linear Queue Trace</a:t>
            </a:r>
            <a:endParaRPr lang="en-US" sz="3600" b="1" dirty="0">
              <a:solidFill>
                <a:srgbClr val="FF0000"/>
              </a:solidFill>
            </a:endParaRPr>
          </a:p>
        </p:txBody>
      </p:sp>
      <p:sp>
        <p:nvSpPr>
          <p:cNvPr id="3" name="Footer Placeholder 2">
            <a:extLst>
              <a:ext uri="{FF2B5EF4-FFF2-40B4-BE49-F238E27FC236}">
                <a16:creationId xmlns:a16="http://schemas.microsoft.com/office/drawing/2014/main" id="{1DAF053F-D848-5E9D-4B72-7C3566255919}"/>
              </a:ext>
            </a:extLst>
          </p:cNvPr>
          <p:cNvSpPr>
            <a:spLocks noGrp="1"/>
          </p:cNvSpPr>
          <p:nvPr>
            <p:ph type="ftr" sz="quarter" idx="11"/>
          </p:nvPr>
        </p:nvSpPr>
        <p:spPr>
          <a:xfrm>
            <a:off x="3142456" y="6408814"/>
            <a:ext cx="2895600" cy="365125"/>
          </a:xfrm>
        </p:spPr>
        <p:txBody>
          <a:bodyPr/>
          <a:lstStyle/>
          <a:p>
            <a:r>
              <a:rPr lang="en-IN" dirty="0"/>
              <a:t>Data  Structure         Unit2  </a:t>
            </a:r>
          </a:p>
        </p:txBody>
      </p:sp>
    </p:spTree>
    <p:extLst>
      <p:ext uri="{BB962C8B-B14F-4D97-AF65-F5344CB8AC3E}">
        <p14:creationId xmlns:p14="http://schemas.microsoft.com/office/powerpoint/2010/main" val="2352265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EA229-6884-2CC2-79A1-BEF0CFDF73F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17D421A-E655-A336-9AF3-0FDDE5D2B9E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6C78126-F4F2-B4C3-4329-63BF4E45F2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AD07628-BBCA-EFE7-AAFE-3AA8B95F8E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56167"/>
            <a:ext cx="2411760" cy="346691"/>
          </a:xfrm>
          <a:prstGeom prst="rect">
            <a:avLst/>
          </a:prstGeom>
        </p:spPr>
      </p:pic>
      <p:sp>
        <p:nvSpPr>
          <p:cNvPr id="6" name="TextBox 5">
            <a:extLst>
              <a:ext uri="{FF2B5EF4-FFF2-40B4-BE49-F238E27FC236}">
                <a16:creationId xmlns:a16="http://schemas.microsoft.com/office/drawing/2014/main" id="{DD8AE84D-788E-AAC2-DA50-C96FBFC7BC9E}"/>
              </a:ext>
            </a:extLst>
          </p:cNvPr>
          <p:cNvSpPr txBox="1"/>
          <p:nvPr/>
        </p:nvSpPr>
        <p:spPr>
          <a:xfrm>
            <a:off x="467544" y="1117771"/>
            <a:ext cx="8089845" cy="461665"/>
          </a:xfrm>
          <a:prstGeom prst="rect">
            <a:avLst/>
          </a:prstGeom>
          <a:noFill/>
        </p:spPr>
        <p:txBody>
          <a:bodyPr wrap="square">
            <a:spAutoFit/>
          </a:bodyPr>
          <a:lstStyle/>
          <a:p>
            <a:pPr marL="0" marR="0" algn="just" fontAlgn="base">
              <a:spcBef>
                <a:spcPts val="0"/>
              </a:spcBef>
              <a:spcAft>
                <a:spcPts val="0"/>
              </a:spcAft>
            </a:pPr>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p>
        </p:txBody>
      </p:sp>
      <p:sp>
        <p:nvSpPr>
          <p:cNvPr id="2" name="TextBox 1">
            <a:extLst>
              <a:ext uri="{FF2B5EF4-FFF2-40B4-BE49-F238E27FC236}">
                <a16:creationId xmlns:a16="http://schemas.microsoft.com/office/drawing/2014/main" id="{3D207E04-864C-B8DA-4EA5-DE551EC2585C}"/>
              </a:ext>
            </a:extLst>
          </p:cNvPr>
          <p:cNvSpPr txBox="1"/>
          <p:nvPr/>
        </p:nvSpPr>
        <p:spPr>
          <a:xfrm>
            <a:off x="251520" y="53136"/>
            <a:ext cx="8571505" cy="1015663"/>
          </a:xfrm>
          <a:prstGeom prst="rect">
            <a:avLst/>
          </a:prstGeom>
          <a:noFill/>
        </p:spPr>
        <p:txBody>
          <a:bodyPr wrap="square" rtlCol="0">
            <a:spAutoFit/>
          </a:bodyPr>
          <a:lstStyle/>
          <a:p>
            <a:endParaRPr lang="en-US" sz="2400" b="1" u="sng" dirty="0"/>
          </a:p>
          <a:p>
            <a:r>
              <a:rPr lang="en-US" dirty="0"/>
              <a:t> </a:t>
            </a:r>
            <a:r>
              <a:rPr lang="en-IN" sz="3600" dirty="0"/>
              <a:t> </a:t>
            </a:r>
            <a:r>
              <a:rPr lang="en-IN" sz="3600" b="1" dirty="0">
                <a:solidFill>
                  <a:srgbClr val="FF0000"/>
                </a:solidFill>
              </a:rPr>
              <a:t>Numerical Problem: Linear Queue Trace</a:t>
            </a:r>
            <a:endParaRPr lang="en-US" sz="3600" b="1" dirty="0">
              <a:solidFill>
                <a:srgbClr val="FF0000"/>
              </a:solidFill>
            </a:endParaRPr>
          </a:p>
        </p:txBody>
      </p:sp>
      <p:sp>
        <p:nvSpPr>
          <p:cNvPr id="3" name="Footer Placeholder 2">
            <a:extLst>
              <a:ext uri="{FF2B5EF4-FFF2-40B4-BE49-F238E27FC236}">
                <a16:creationId xmlns:a16="http://schemas.microsoft.com/office/drawing/2014/main" id="{9CAA34D5-D01F-B480-B623-61D2EE3D92E8}"/>
              </a:ext>
            </a:extLst>
          </p:cNvPr>
          <p:cNvSpPr>
            <a:spLocks noGrp="1"/>
          </p:cNvSpPr>
          <p:nvPr>
            <p:ph type="ftr" sz="quarter" idx="11"/>
          </p:nvPr>
        </p:nvSpPr>
        <p:spPr>
          <a:xfrm>
            <a:off x="3142456" y="6408814"/>
            <a:ext cx="2895600" cy="365125"/>
          </a:xfrm>
        </p:spPr>
        <p:txBody>
          <a:bodyPr/>
          <a:lstStyle/>
          <a:p>
            <a:r>
              <a:rPr lang="en-IN" dirty="0"/>
              <a:t>Data  Structure         Unit2  </a:t>
            </a:r>
          </a:p>
        </p:txBody>
      </p:sp>
      <p:graphicFrame>
        <p:nvGraphicFramePr>
          <p:cNvPr id="5" name="Table 4">
            <a:extLst>
              <a:ext uri="{FF2B5EF4-FFF2-40B4-BE49-F238E27FC236}">
                <a16:creationId xmlns:a16="http://schemas.microsoft.com/office/drawing/2014/main" id="{C99F59C5-C3DA-D0DA-124F-AFC27CBCB094}"/>
              </a:ext>
            </a:extLst>
          </p:cNvPr>
          <p:cNvGraphicFramePr>
            <a:graphicFrameLocks noGrp="1"/>
          </p:cNvGraphicFramePr>
          <p:nvPr>
            <p:extLst>
              <p:ext uri="{D42A27DB-BD31-4B8C-83A1-F6EECF244321}">
                <p14:modId xmlns:p14="http://schemas.microsoft.com/office/powerpoint/2010/main" val="3858286547"/>
              </p:ext>
            </p:extLst>
          </p:nvPr>
        </p:nvGraphicFramePr>
        <p:xfrm>
          <a:off x="467544" y="1589872"/>
          <a:ext cx="8424935" cy="4812676"/>
        </p:xfrm>
        <a:graphic>
          <a:graphicData uri="http://schemas.openxmlformats.org/drawingml/2006/table">
            <a:tbl>
              <a:tblPr/>
              <a:tblGrid>
                <a:gridCol w="2232248">
                  <a:extLst>
                    <a:ext uri="{9D8B030D-6E8A-4147-A177-3AD203B41FA5}">
                      <a16:colId xmlns:a16="http://schemas.microsoft.com/office/drawing/2014/main" val="3103830137"/>
                    </a:ext>
                  </a:extLst>
                </a:gridCol>
                <a:gridCol w="2132440">
                  <a:extLst>
                    <a:ext uri="{9D8B030D-6E8A-4147-A177-3AD203B41FA5}">
                      <a16:colId xmlns:a16="http://schemas.microsoft.com/office/drawing/2014/main" val="778301311"/>
                    </a:ext>
                  </a:extLst>
                </a:gridCol>
                <a:gridCol w="891896">
                  <a:extLst>
                    <a:ext uri="{9D8B030D-6E8A-4147-A177-3AD203B41FA5}">
                      <a16:colId xmlns:a16="http://schemas.microsoft.com/office/drawing/2014/main" val="3078355459"/>
                    </a:ext>
                  </a:extLst>
                </a:gridCol>
                <a:gridCol w="792088">
                  <a:extLst>
                    <a:ext uri="{9D8B030D-6E8A-4147-A177-3AD203B41FA5}">
                      <a16:colId xmlns:a16="http://schemas.microsoft.com/office/drawing/2014/main" val="4035906243"/>
                    </a:ext>
                  </a:extLst>
                </a:gridCol>
                <a:gridCol w="2376263">
                  <a:extLst>
                    <a:ext uri="{9D8B030D-6E8A-4147-A177-3AD203B41FA5}">
                      <a16:colId xmlns:a16="http://schemas.microsoft.com/office/drawing/2014/main" val="2973066271"/>
                    </a:ext>
                  </a:extLst>
                </a:gridCol>
              </a:tblGrid>
              <a:tr h="808208">
                <a:tc>
                  <a:txBody>
                    <a:bodyPr/>
                    <a:lstStyle/>
                    <a:p>
                      <a:pPr>
                        <a:buNone/>
                      </a:pPr>
                      <a:r>
                        <a:rPr lang="en-IN" sz="1800" b="1" dirty="0">
                          <a:latin typeface="Times New Roman" panose="02020603050405020304" pitchFamily="18" charset="0"/>
                          <a:cs typeface="Times New Roman" panose="02020603050405020304" pitchFamily="18" charset="0"/>
                        </a:rPr>
                        <a:t>Operation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Contents (Front to Rear)</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Front</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Rear</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Notes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1396177"/>
                  </a:ext>
                </a:extLst>
              </a:tr>
              <a:tr h="323283">
                <a:tc>
                  <a:txBody>
                    <a:bodyPr/>
                    <a:lstStyle/>
                    <a:p>
                      <a:pPr>
                        <a:buNone/>
                      </a:pPr>
                      <a:r>
                        <a:rPr lang="en-IN" sz="1800" dirty="0">
                          <a:latin typeface="Times New Roman" panose="02020603050405020304" pitchFamily="18" charset="0"/>
                          <a:cs typeface="Times New Roman" panose="02020603050405020304" pitchFamily="18" charset="0"/>
                        </a:rPr>
                        <a:t>Initially Empty</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058903"/>
                  </a:ext>
                </a:extLst>
              </a:tr>
              <a:tr h="323283">
                <a:tc>
                  <a:txBody>
                    <a:bodyPr/>
                    <a:lstStyle/>
                    <a:p>
                      <a:pPr>
                        <a:buNone/>
                      </a:pPr>
                      <a:r>
                        <a:rPr lang="en-IN" sz="1800">
                          <a:latin typeface="Times New Roman" panose="02020603050405020304" pitchFamily="18" charset="0"/>
                          <a:cs typeface="Times New Roman" panose="02020603050405020304" pitchFamily="18" charset="0"/>
                        </a:rPr>
                        <a:t>ENQUEUE(10)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1706067"/>
                  </a:ext>
                </a:extLst>
              </a:tr>
              <a:tr h="323283">
                <a:tc>
                  <a:txBody>
                    <a:bodyPr/>
                    <a:lstStyle/>
                    <a:p>
                      <a:pPr>
                        <a:buNone/>
                      </a:pPr>
                      <a:r>
                        <a:rPr lang="en-IN" sz="1800">
                          <a:latin typeface="Times New Roman" panose="02020603050405020304" pitchFamily="18" charset="0"/>
                          <a:cs typeface="Times New Roman" panose="02020603050405020304" pitchFamily="18" charset="0"/>
                        </a:rPr>
                        <a:t>ENQUEUE(20)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 20]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0082876"/>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10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9304456"/>
                  </a:ext>
                </a:extLst>
              </a:tr>
              <a:tr h="323283">
                <a:tc>
                  <a:txBody>
                    <a:bodyPr/>
                    <a:lstStyle/>
                    <a:p>
                      <a:pPr>
                        <a:buNone/>
                      </a:pPr>
                      <a:r>
                        <a:rPr lang="en-IN" sz="1800">
                          <a:latin typeface="Times New Roman" panose="02020603050405020304" pitchFamily="18" charset="0"/>
                          <a:cs typeface="Times New Roman" panose="02020603050405020304" pitchFamily="18" charset="0"/>
                        </a:rPr>
                        <a:t>ENQUEUE(30)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30]</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3335632"/>
                  </a:ext>
                </a:extLst>
              </a:tr>
              <a:tr h="323283">
                <a:tc>
                  <a:txBody>
                    <a:bodyPr/>
                    <a:lstStyle/>
                    <a:p>
                      <a:pPr>
                        <a:buNone/>
                      </a:pPr>
                      <a:r>
                        <a:rPr lang="en-IN" sz="1800" dirty="0">
                          <a:latin typeface="Times New Roman" panose="02020603050405020304" pitchFamily="18" charset="0"/>
                          <a:cs typeface="Times New Roman" panose="02020603050405020304" pitchFamily="18" charset="0"/>
                        </a:rPr>
                        <a:t>ENQUEUE(40)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30, 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495834"/>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 40]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5756532"/>
                  </a:ext>
                </a:extLst>
              </a:tr>
              <a:tr h="323283">
                <a:tc>
                  <a:txBody>
                    <a:bodyPr/>
                    <a:lstStyle/>
                    <a:p>
                      <a:pPr>
                        <a:buNone/>
                      </a:pPr>
                      <a:r>
                        <a:rPr lang="en-IN" sz="1800">
                          <a:latin typeface="Times New Roman" panose="02020603050405020304" pitchFamily="18" charset="0"/>
                          <a:cs typeface="Times New Roman" panose="02020603050405020304" pitchFamily="18" charset="0"/>
                        </a:rPr>
                        <a:t>ENQUEUE(50)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[30, 40, 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7917523"/>
                  </a:ext>
                </a:extLst>
              </a:tr>
              <a:tr h="808208">
                <a:tc>
                  <a:txBody>
                    <a:bodyPr/>
                    <a:lstStyle/>
                    <a:p>
                      <a:pPr>
                        <a:buNone/>
                      </a:pPr>
                      <a:r>
                        <a:rPr lang="en-IN" sz="1800">
                          <a:latin typeface="Times New Roman" panose="02020603050405020304" pitchFamily="18" charset="0"/>
                          <a:cs typeface="Times New Roman" panose="02020603050405020304" pitchFamily="18" charset="0"/>
                        </a:rPr>
                        <a:t>ENQUEUE(60)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Full</a:t>
                      </a:r>
                      <a:endParaRPr lang="en-IN" sz="1800" dirty="0">
                        <a:latin typeface="Times New Roman" panose="02020603050405020304" pitchFamily="18" charset="0"/>
                        <a:cs typeface="Times New Roman" panose="02020603050405020304" pitchFamily="18" charset="0"/>
                      </a:endParaRP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Cannot add 60. Array size is 5 (indices 0-4).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2131486"/>
                  </a:ext>
                </a:extLst>
              </a:tr>
              <a:tr h="323283">
                <a:tc>
                  <a:txBody>
                    <a:bodyPr/>
                    <a:lstStyle/>
                    <a:p>
                      <a:pPr>
                        <a:buNone/>
                      </a:pPr>
                      <a:r>
                        <a:rPr lang="en-IN" sz="1800">
                          <a:latin typeface="Times New Roman" panose="02020603050405020304" pitchFamily="18" charset="0"/>
                          <a:cs typeface="Times New Roman" panose="02020603050405020304" pitchFamily="18" charset="0"/>
                        </a:rPr>
                        <a:t>DEQUEUE()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[40, 50]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3</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30 removed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6560672"/>
                  </a:ext>
                </a:extLst>
              </a:tr>
            </a:tbl>
          </a:graphicData>
        </a:graphic>
      </p:graphicFrame>
    </p:spTree>
    <p:extLst>
      <p:ext uri="{BB962C8B-B14F-4D97-AF65-F5344CB8AC3E}">
        <p14:creationId xmlns:p14="http://schemas.microsoft.com/office/powerpoint/2010/main" val="42225840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1C943-9B93-72BC-F41B-EBD40863445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AEDE9CB-C931-F08B-F288-66CD0CA0FC4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C8C92AB-0036-555E-98AC-3AD8B515117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7486EEF-B608-FE86-FF01-BCCE332349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169CFBEE-5D75-C1A2-E862-578FB45F3FA2}"/>
              </a:ext>
            </a:extLst>
          </p:cNvPr>
          <p:cNvSpPr txBox="1"/>
          <p:nvPr/>
        </p:nvSpPr>
        <p:spPr>
          <a:xfrm>
            <a:off x="539552" y="1209163"/>
            <a:ext cx="8071048" cy="446705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Enqueue: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Adds to the rear. </a:t>
            </a:r>
          </a:p>
          <a:p>
            <a:pPr lvl="2" algn="just">
              <a:lnSpc>
                <a:spcPct val="150000"/>
              </a:lnSpc>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Rear = (Rear + 1) % MaxSize.</a:t>
            </a:r>
          </a:p>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Dequeue</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Removes from the front. </a:t>
            </a:r>
          </a:p>
          <a:p>
            <a:pPr lvl="2" algn="just">
              <a:lnSpc>
                <a:spcPct val="150000"/>
              </a:lnSpc>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Front = (Front + 1) % MaxSize.</a:t>
            </a:r>
          </a:p>
          <a:p>
            <a:pPr marL="342900"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Conditions:</a:t>
            </a:r>
          </a:p>
          <a:p>
            <a:pPr marL="800100" lvl="1"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Empty:</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Front = -1 (or Front = Rear depending on implementation).</a:t>
            </a:r>
          </a:p>
          <a:p>
            <a:pPr marL="800100" lvl="1" indent="-342900" algn="just">
              <a:lnSpc>
                <a:spcPct val="150000"/>
              </a:lnSpc>
              <a:buFont typeface="Arial" panose="020B0604020202020204" pitchFamily="34" charset="0"/>
              <a:buChar char="•"/>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Full</a:t>
            </a: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 (Rear + 1) % MaxSize == Front.</a:t>
            </a:r>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230C926-8CF3-0854-D513-F15C73ECE706}"/>
              </a:ext>
            </a:extLst>
          </p:cNvPr>
          <p:cNvSpPr txBox="1"/>
          <p:nvPr/>
        </p:nvSpPr>
        <p:spPr>
          <a:xfrm>
            <a:off x="390853" y="347557"/>
            <a:ext cx="8751017" cy="646331"/>
          </a:xfrm>
          <a:prstGeom prst="rect">
            <a:avLst/>
          </a:prstGeom>
          <a:noFill/>
        </p:spPr>
        <p:txBody>
          <a:bodyPr wrap="square" rtlCol="0">
            <a:spAutoFit/>
          </a:bodyPr>
          <a:lstStyle/>
          <a:p>
            <a:r>
              <a:rPr lang="en-US" sz="3600" b="1" dirty="0">
                <a:solidFill>
                  <a:srgbClr val="FF0000"/>
                </a:solidFill>
              </a:rPr>
              <a:t>Circular Queue Operations</a:t>
            </a:r>
          </a:p>
        </p:txBody>
      </p:sp>
      <p:sp>
        <p:nvSpPr>
          <p:cNvPr id="3" name="Footer Placeholder 2">
            <a:extLst>
              <a:ext uri="{FF2B5EF4-FFF2-40B4-BE49-F238E27FC236}">
                <a16:creationId xmlns:a16="http://schemas.microsoft.com/office/drawing/2014/main" id="{D12F9699-E112-301D-89C9-75B768C724CB}"/>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221279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5C0C-0837-C422-9B3A-213A5758826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5EFA15D-FE66-A834-63B5-2E85B0E6411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E838589A-673C-D2E7-383B-F6E5D06A8B1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39A1EA9-2E91-EF7C-3CA5-3E149BB5400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EF10E5F0-5363-E099-4B1C-AE56E838578E}"/>
              </a:ext>
            </a:extLst>
          </p:cNvPr>
          <p:cNvSpPr txBox="1"/>
          <p:nvPr/>
        </p:nvSpPr>
        <p:spPr>
          <a:xfrm>
            <a:off x="374620" y="1062943"/>
            <a:ext cx="8219747" cy="5401479"/>
          </a:xfrm>
          <a:prstGeom prst="rect">
            <a:avLst/>
          </a:prstGeom>
          <a:noFill/>
        </p:spPr>
        <p:txBody>
          <a:bodyPr wrap="square">
            <a:spAutoFit/>
          </a:bodyPr>
          <a:lstStyle/>
          <a:p>
            <a:pPr marL="342900" indent="-342900" algn="just">
              <a:spcBef>
                <a:spcPts val="600"/>
              </a:spcBef>
              <a:buFont typeface="Arial" panose="020B0604020202020204" pitchFamily="34" charset="0"/>
              <a:buChar char="•"/>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Perform the following sequence of operations on an initially empty circular queue with a maximum size of 5. Show the queue's contents and the Front and Rear pointers after each operation. Assume Front = -1 and Rear = -1 for an empty 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ENQUEUE(A)</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ENQUEUE(B)</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ENQUEUE(C)</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ENQUEUE(D)</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DEQUEUE()</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ENQUEUE(F)</a:t>
            </a:r>
          </a:p>
          <a:p>
            <a:pPr marL="914400" lvl="1" indent="-457200" algn="just">
              <a:spcBef>
                <a:spcPts val="600"/>
              </a:spcBef>
              <a:buFont typeface="+mj-lt"/>
              <a:buAutoNum type="arabicPeriod"/>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ENQUEUE(G)</a:t>
            </a:r>
          </a:p>
        </p:txBody>
      </p:sp>
      <p:sp>
        <p:nvSpPr>
          <p:cNvPr id="2" name="TextBox 1">
            <a:extLst>
              <a:ext uri="{FF2B5EF4-FFF2-40B4-BE49-F238E27FC236}">
                <a16:creationId xmlns:a16="http://schemas.microsoft.com/office/drawing/2014/main" id="{88181634-3071-EC34-A318-E8BBE26241E7}"/>
              </a:ext>
            </a:extLst>
          </p:cNvPr>
          <p:cNvSpPr txBox="1"/>
          <p:nvPr/>
        </p:nvSpPr>
        <p:spPr>
          <a:xfrm>
            <a:off x="374620" y="302434"/>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EFAD2F86-FB35-C2FD-B2E6-A59DFF42C510}"/>
              </a:ext>
            </a:extLst>
          </p:cNvPr>
          <p:cNvSpPr>
            <a:spLocks noGrp="1"/>
          </p:cNvSpPr>
          <p:nvPr>
            <p:ph type="ftr" sz="quarter" idx="11"/>
          </p:nvPr>
        </p:nvSpPr>
        <p:spPr/>
        <p:txBody>
          <a:bodyPr/>
          <a:lstStyle/>
          <a:p>
            <a:r>
              <a:rPr lang="en-IN"/>
              <a:t>Data  Structure         Unit2  </a:t>
            </a:r>
          </a:p>
        </p:txBody>
      </p:sp>
    </p:spTree>
    <p:extLst>
      <p:ext uri="{BB962C8B-B14F-4D97-AF65-F5344CB8AC3E}">
        <p14:creationId xmlns:p14="http://schemas.microsoft.com/office/powerpoint/2010/main" val="3347695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C2C8-AED5-80B7-5730-009DD2F9980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F46A083-B495-8F49-1871-57AF0BA83EE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65CD0C7-0871-F465-8F49-37683AA1F23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602CBC9-368C-6780-2D9F-C638BF9D40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F466AF0-5D02-9920-D37B-7705A44C292E}"/>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EC16BCDA-DC1D-EE51-19A5-9852E3BFD9CD}"/>
              </a:ext>
            </a:extLst>
          </p:cNvPr>
          <p:cNvSpPr txBox="1"/>
          <p:nvPr/>
        </p:nvSpPr>
        <p:spPr>
          <a:xfrm>
            <a:off x="410209" y="304236"/>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4324E4C6-1244-B080-0136-2179AC4DFF66}"/>
              </a:ext>
            </a:extLst>
          </p:cNvPr>
          <p:cNvSpPr>
            <a:spLocks noGrp="1"/>
          </p:cNvSpPr>
          <p:nvPr>
            <p:ph type="ftr" sz="quarter" idx="11"/>
          </p:nvPr>
        </p:nvSpPr>
        <p:spPr/>
        <p:txBody>
          <a:bodyPr/>
          <a:lstStyle/>
          <a:p>
            <a:r>
              <a:rPr lang="en-IN"/>
              <a:t>Data  Structure         Unit2  </a:t>
            </a:r>
          </a:p>
        </p:txBody>
      </p:sp>
      <p:graphicFrame>
        <p:nvGraphicFramePr>
          <p:cNvPr id="5" name="Table 4">
            <a:extLst>
              <a:ext uri="{FF2B5EF4-FFF2-40B4-BE49-F238E27FC236}">
                <a16:creationId xmlns:a16="http://schemas.microsoft.com/office/drawing/2014/main" id="{9DD91F8A-CFF5-AE04-A32F-FC382B721F71}"/>
              </a:ext>
            </a:extLst>
          </p:cNvPr>
          <p:cNvGraphicFramePr>
            <a:graphicFrameLocks noGrp="1"/>
          </p:cNvGraphicFramePr>
          <p:nvPr>
            <p:extLst>
              <p:ext uri="{D42A27DB-BD31-4B8C-83A1-F6EECF244321}">
                <p14:modId xmlns:p14="http://schemas.microsoft.com/office/powerpoint/2010/main" val="2708902492"/>
              </p:ext>
            </p:extLst>
          </p:nvPr>
        </p:nvGraphicFramePr>
        <p:xfrm>
          <a:off x="665957" y="1942889"/>
          <a:ext cx="7944645" cy="3505200"/>
        </p:xfrm>
        <a:graphic>
          <a:graphicData uri="http://schemas.openxmlformats.org/drawingml/2006/table">
            <a:tbl>
              <a:tblPr/>
              <a:tblGrid>
                <a:gridCol w="1588929">
                  <a:extLst>
                    <a:ext uri="{9D8B030D-6E8A-4147-A177-3AD203B41FA5}">
                      <a16:colId xmlns:a16="http://schemas.microsoft.com/office/drawing/2014/main" val="2505234438"/>
                    </a:ext>
                  </a:extLst>
                </a:gridCol>
                <a:gridCol w="1588929">
                  <a:extLst>
                    <a:ext uri="{9D8B030D-6E8A-4147-A177-3AD203B41FA5}">
                      <a16:colId xmlns:a16="http://schemas.microsoft.com/office/drawing/2014/main" val="3067887145"/>
                    </a:ext>
                  </a:extLst>
                </a:gridCol>
                <a:gridCol w="1588929">
                  <a:extLst>
                    <a:ext uri="{9D8B030D-6E8A-4147-A177-3AD203B41FA5}">
                      <a16:colId xmlns:a16="http://schemas.microsoft.com/office/drawing/2014/main" val="1617717424"/>
                    </a:ext>
                  </a:extLst>
                </a:gridCol>
                <a:gridCol w="1588929">
                  <a:extLst>
                    <a:ext uri="{9D8B030D-6E8A-4147-A177-3AD203B41FA5}">
                      <a16:colId xmlns:a16="http://schemas.microsoft.com/office/drawing/2014/main" val="2654133747"/>
                    </a:ext>
                  </a:extLst>
                </a:gridCol>
                <a:gridCol w="1588929">
                  <a:extLst>
                    <a:ext uri="{9D8B030D-6E8A-4147-A177-3AD203B41FA5}">
                      <a16:colId xmlns:a16="http://schemas.microsoft.com/office/drawing/2014/main" val="2227369646"/>
                    </a:ext>
                  </a:extLst>
                </a:gridCol>
              </a:tblGrid>
              <a:tr h="529170">
                <a:tc>
                  <a:txBody>
                    <a:bodyPr/>
                    <a:lstStyle/>
                    <a:p>
                      <a:pPr>
                        <a:buNone/>
                      </a:pPr>
                      <a:r>
                        <a:rPr lang="en-IN" sz="2000"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Queue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Front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Rear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latin typeface="Times New Roman" panose="02020603050405020304" pitchFamily="18" charset="0"/>
                          <a:cs typeface="Times New Roman" panose="02020603050405020304" pitchFamily="18" charset="0"/>
                        </a:rPr>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7978449"/>
                  </a:ext>
                </a:extLst>
              </a:tr>
              <a:tr h="563411">
                <a:tc>
                  <a:txBody>
                    <a:bodyPr/>
                    <a:lstStyle/>
                    <a:p>
                      <a:pPr>
                        <a:buNone/>
                      </a:pPr>
                      <a:r>
                        <a:rPr lang="en-IN" sz="2000">
                          <a:latin typeface="Times New Roman" panose="02020603050405020304" pitchFamily="18" charset="0"/>
                          <a:cs typeface="Times New Roman" panose="02020603050405020304" pitchFamily="18" charset="0"/>
                        </a:rPr>
                        <a:t>Initially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 ,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360720"/>
                  </a:ext>
                </a:extLst>
              </a:tr>
              <a:tr h="563411">
                <a:tc>
                  <a:txBody>
                    <a:bodyPr/>
                    <a:lstStyle/>
                    <a:p>
                      <a:pPr>
                        <a:buNone/>
                      </a:pPr>
                      <a:r>
                        <a:rPr lang="en-IN" sz="2000">
                          <a:latin typeface="Times New Roman" panose="02020603050405020304" pitchFamily="18" charset="0"/>
                          <a:cs typeface="Times New Roman" panose="02020603050405020304" pitchFamily="18" charset="0"/>
                        </a:rPr>
                        <a:t>ENQUEUE(A)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r>
                        <a:rPr lang="en-IN" sz="2000" b="1">
                          <a:latin typeface="Times New Roman" panose="02020603050405020304" pitchFamily="18" charset="0"/>
                          <a:cs typeface="Times New Roman" panose="02020603050405020304" pitchFamily="18" charset="0"/>
                        </a:rPr>
                        <a:t>A</a:t>
                      </a:r>
                      <a:r>
                        <a:rPr lang="en-IN" sz="2000">
                          <a:latin typeface="Times New Roman" panose="02020603050405020304" pitchFamily="18" charset="0"/>
                          <a:cs typeface="Times New Roman" panose="02020603050405020304" pitchFamily="18" charset="0"/>
                        </a:rPr>
                        <a:t>, ,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0958709"/>
                  </a:ext>
                </a:extLst>
              </a:tr>
              <a:tr h="563411">
                <a:tc>
                  <a:txBody>
                    <a:bodyPr/>
                    <a:lstStyle/>
                    <a:p>
                      <a:pPr>
                        <a:buNone/>
                      </a:pPr>
                      <a:r>
                        <a:rPr lang="en-IN" sz="2000">
                          <a:latin typeface="Times New Roman" panose="02020603050405020304" pitchFamily="18" charset="0"/>
                          <a:cs typeface="Times New Roman" panose="02020603050405020304" pitchFamily="18" charset="0"/>
                        </a:rPr>
                        <a:t>ENQUEUE(B)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a:t>
                      </a:r>
                      <a:r>
                        <a:rPr lang="en-IN" sz="2000" b="1">
                          <a:latin typeface="Times New Roman" panose="02020603050405020304" pitchFamily="18" charset="0"/>
                          <a:cs typeface="Times New Roman" panose="02020603050405020304" pitchFamily="18" charset="0"/>
                        </a:rPr>
                        <a:t>A</a:t>
                      </a:r>
                      <a:r>
                        <a:rPr lang="en-IN" sz="2000">
                          <a:latin typeface="Times New Roman" panose="02020603050405020304" pitchFamily="18" charset="0"/>
                          <a:cs typeface="Times New Roman" panose="02020603050405020304" pitchFamily="18" charset="0"/>
                        </a:rPr>
                        <a:t>, </a:t>
                      </a:r>
                      <a:r>
                        <a:rPr lang="en-IN" sz="2000" b="1">
                          <a:latin typeface="Times New Roman" panose="02020603050405020304" pitchFamily="18" charset="0"/>
                          <a:cs typeface="Times New Roman" panose="02020603050405020304" pitchFamily="18" charset="0"/>
                        </a:rPr>
                        <a:t>B</a:t>
                      </a:r>
                      <a:r>
                        <a:rPr lang="en-IN" sz="2000">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20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2482128"/>
                  </a:ext>
                </a:extLst>
              </a:tr>
              <a:tr h="563411">
                <a:tc>
                  <a:txBody>
                    <a:bodyPr/>
                    <a:lstStyle/>
                    <a:p>
                      <a:pPr>
                        <a:buNone/>
                      </a:pPr>
                      <a:r>
                        <a:rPr lang="en-IN" sz="2000">
                          <a:latin typeface="Times New Roman" panose="02020603050405020304" pitchFamily="18" charset="0"/>
                          <a:cs typeface="Times New Roman" panose="02020603050405020304" pitchFamily="18" charset="0"/>
                        </a:rPr>
                        <a:t>DEQUEUE()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 , </a:t>
                      </a:r>
                      <a:r>
                        <a:rPr lang="en-IN" sz="2000" b="1">
                          <a:latin typeface="Times New Roman" panose="02020603050405020304" pitchFamily="18" charset="0"/>
                          <a:cs typeface="Times New Roman" panose="02020603050405020304" pitchFamily="18" charset="0"/>
                        </a:rPr>
                        <a:t>B</a:t>
                      </a:r>
                      <a:r>
                        <a:rPr lang="en-IN" sz="2000">
                          <a:latin typeface="Times New Roman" panose="02020603050405020304" pitchFamily="18" charset="0"/>
                          <a:cs typeface="Times New Roman" panose="02020603050405020304" pitchFamily="18" charset="0"/>
                        </a:rPr>
                        <a:t>, ,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Times New Roman" panose="02020603050405020304" pitchFamily="18" charset="0"/>
                          <a:cs typeface="Times New Roman" panose="02020603050405020304" pitchFamily="18" charset="0"/>
                        </a:rPr>
                        <a:t>'A' removed.</a:t>
                      </a:r>
                    </a:p>
                    <a:p>
                      <a:pPr>
                        <a:buNone/>
                      </a:pPr>
                      <a:endParaRPr lang="en-IN" sz="20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6559275"/>
                  </a:ext>
                </a:extLst>
              </a:tr>
            </a:tbl>
          </a:graphicData>
        </a:graphic>
      </p:graphicFrame>
      <p:sp>
        <p:nvSpPr>
          <p:cNvPr id="8" name="Rectangle 1">
            <a:extLst>
              <a:ext uri="{FF2B5EF4-FFF2-40B4-BE49-F238E27FC236}">
                <a16:creationId xmlns:a16="http://schemas.microsoft.com/office/drawing/2014/main" id="{8E3AFA72-E88F-30AE-AD67-EE0DEA3CDDCC}"/>
              </a:ext>
            </a:extLst>
          </p:cNvPr>
          <p:cNvSpPr>
            <a:spLocks noChangeArrowheads="1"/>
          </p:cNvSpPr>
          <p:nvPr/>
        </p:nvSpPr>
        <p:spPr bwMode="auto">
          <a:xfrm>
            <a:off x="520309" y="1234104"/>
            <a:ext cx="138211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9955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708FD-0BF9-D6A5-6523-320F12CF51B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F1DF72B-47D1-D72A-A747-62FD09A53D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BB005150-2B7B-6E51-432A-A231A634D3B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C03C302-242E-07F0-1E4B-5A30BFD8B5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B1F8957-E880-4512-8FC1-52EFF90C63AD}"/>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0D2058D5-B3D3-BD89-C52F-21F94DB7CBB9}"/>
              </a:ext>
            </a:extLst>
          </p:cNvPr>
          <p:cNvSpPr txBox="1"/>
          <p:nvPr/>
        </p:nvSpPr>
        <p:spPr>
          <a:xfrm>
            <a:off x="390853" y="336228"/>
            <a:ext cx="8751017" cy="646331"/>
          </a:xfrm>
          <a:prstGeom prst="rect">
            <a:avLst/>
          </a:prstGeom>
          <a:noFill/>
        </p:spPr>
        <p:txBody>
          <a:bodyPr wrap="square" rtlCol="0">
            <a:spAutoFit/>
          </a:bodyPr>
          <a:lstStyle/>
          <a:p>
            <a:r>
              <a:rPr lang="en-US" sz="3600" b="1" dirty="0">
                <a:solidFill>
                  <a:srgbClr val="FF0000"/>
                </a:solidFill>
              </a:rPr>
              <a:t>Circular Queue Numerical problem</a:t>
            </a:r>
          </a:p>
        </p:txBody>
      </p:sp>
      <p:sp>
        <p:nvSpPr>
          <p:cNvPr id="3" name="Footer Placeholder 2">
            <a:extLst>
              <a:ext uri="{FF2B5EF4-FFF2-40B4-BE49-F238E27FC236}">
                <a16:creationId xmlns:a16="http://schemas.microsoft.com/office/drawing/2014/main" id="{BD03A3F9-61DA-4E0F-FA4E-9B4DA139200F}"/>
              </a:ext>
            </a:extLst>
          </p:cNvPr>
          <p:cNvSpPr>
            <a:spLocks noGrp="1"/>
          </p:cNvSpPr>
          <p:nvPr>
            <p:ph type="ftr" sz="quarter" idx="11"/>
          </p:nvPr>
        </p:nvSpPr>
        <p:spPr/>
        <p:txBody>
          <a:bodyPr/>
          <a:lstStyle/>
          <a:p>
            <a:r>
              <a:rPr lang="en-IN"/>
              <a:t>Data  Structure         Unit2  </a:t>
            </a:r>
          </a:p>
        </p:txBody>
      </p:sp>
      <p:graphicFrame>
        <p:nvGraphicFramePr>
          <p:cNvPr id="12" name="Content Placeholder 11">
            <a:extLst>
              <a:ext uri="{FF2B5EF4-FFF2-40B4-BE49-F238E27FC236}">
                <a16:creationId xmlns:a16="http://schemas.microsoft.com/office/drawing/2014/main" id="{676AE7EC-DD6C-7CAD-F2C4-55B3A5B8197B}"/>
              </a:ext>
            </a:extLst>
          </p:cNvPr>
          <p:cNvGraphicFramePr>
            <a:graphicFrameLocks noGrp="1"/>
          </p:cNvGraphicFramePr>
          <p:nvPr>
            <p:ph idx="1"/>
            <p:extLst>
              <p:ext uri="{D42A27DB-BD31-4B8C-83A1-F6EECF244321}">
                <p14:modId xmlns:p14="http://schemas.microsoft.com/office/powerpoint/2010/main" val="2173414169"/>
              </p:ext>
            </p:extLst>
          </p:nvPr>
        </p:nvGraphicFramePr>
        <p:xfrm>
          <a:off x="614527" y="1297352"/>
          <a:ext cx="7914945" cy="4812234"/>
        </p:xfrm>
        <a:graphic>
          <a:graphicData uri="http://schemas.openxmlformats.org/drawingml/2006/table">
            <a:tbl>
              <a:tblPr/>
              <a:tblGrid>
                <a:gridCol w="1582989">
                  <a:extLst>
                    <a:ext uri="{9D8B030D-6E8A-4147-A177-3AD203B41FA5}">
                      <a16:colId xmlns:a16="http://schemas.microsoft.com/office/drawing/2014/main" val="3679150871"/>
                    </a:ext>
                  </a:extLst>
                </a:gridCol>
                <a:gridCol w="1582989">
                  <a:extLst>
                    <a:ext uri="{9D8B030D-6E8A-4147-A177-3AD203B41FA5}">
                      <a16:colId xmlns:a16="http://schemas.microsoft.com/office/drawing/2014/main" val="420941564"/>
                    </a:ext>
                  </a:extLst>
                </a:gridCol>
                <a:gridCol w="800614">
                  <a:extLst>
                    <a:ext uri="{9D8B030D-6E8A-4147-A177-3AD203B41FA5}">
                      <a16:colId xmlns:a16="http://schemas.microsoft.com/office/drawing/2014/main" val="3984934169"/>
                    </a:ext>
                  </a:extLst>
                </a:gridCol>
                <a:gridCol w="1022867">
                  <a:extLst>
                    <a:ext uri="{9D8B030D-6E8A-4147-A177-3AD203B41FA5}">
                      <a16:colId xmlns:a16="http://schemas.microsoft.com/office/drawing/2014/main" val="3093293976"/>
                    </a:ext>
                  </a:extLst>
                </a:gridCol>
                <a:gridCol w="2925486">
                  <a:extLst>
                    <a:ext uri="{9D8B030D-6E8A-4147-A177-3AD203B41FA5}">
                      <a16:colId xmlns:a16="http://schemas.microsoft.com/office/drawing/2014/main" val="325274550"/>
                    </a:ext>
                  </a:extLst>
                </a:gridCol>
              </a:tblGrid>
              <a:tr h="614515">
                <a:tc>
                  <a:txBody>
                    <a:bodyPr/>
                    <a:lstStyle/>
                    <a:p>
                      <a:pPr>
                        <a:buNone/>
                      </a:pPr>
                      <a:r>
                        <a:rPr lang="en-IN" b="1" dirty="0">
                          <a:latin typeface="Times New Roman" panose="02020603050405020304" pitchFamily="18" charset="0"/>
                          <a:cs typeface="Times New Roman" panose="02020603050405020304" pitchFamily="18" charset="0"/>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Queue Contents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Front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Rear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latin typeface="Times New Roman" panose="02020603050405020304" pitchFamily="18" charset="0"/>
                          <a:cs typeface="Times New Roman" panose="02020603050405020304" pitchFamily="18" charset="0"/>
                        </a:rPr>
                        <a:t>Notes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3679270"/>
                  </a:ext>
                </a:extLst>
              </a:tr>
              <a:tr h="321299">
                <a:tc>
                  <a:txBody>
                    <a:bodyPr/>
                    <a:lstStyle/>
                    <a:p>
                      <a:pPr>
                        <a:buNone/>
                      </a:pPr>
                      <a:r>
                        <a:rPr lang="en-IN" sz="1800" dirty="0">
                          <a:latin typeface="Times New Roman" panose="02020603050405020304" pitchFamily="18" charset="0"/>
                          <a:cs typeface="Times New Roman" panose="02020603050405020304" pitchFamily="18" charset="0"/>
                        </a:rPr>
                        <a:t>ENQUEUE(D)</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 , </a:t>
                      </a:r>
                      <a:r>
                        <a:rPr lang="en-IN" sz="1800" b="1" dirty="0">
                          <a:latin typeface="Times New Roman" panose="02020603050405020304" pitchFamily="18" charset="0"/>
                          <a:cs typeface="Times New Roman" panose="02020603050405020304" pitchFamily="18" charset="0"/>
                        </a:rPr>
                        <a:t>B</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C</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a:t>
                      </a:r>
                      <a:r>
                        <a:rPr lang="en-IN" sz="1800" dirty="0">
                          <a:latin typeface="Times New Roman" panose="02020603050405020304" pitchFamily="18" charset="0"/>
                          <a:cs typeface="Times New Roman" panose="02020603050405020304" pitchFamily="18" charset="0"/>
                        </a:rPr>
                        <a:t>, ]</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3</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dirty="0">
                        <a:latin typeface="Times New Roman" panose="02020603050405020304" pitchFamily="18" charset="0"/>
                        <a:cs typeface="Times New Roman" panose="02020603050405020304" pitchFamily="18" charset="0"/>
                      </a:endParaRP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9341000"/>
                  </a:ext>
                </a:extLst>
              </a:tr>
              <a:tr h="321299">
                <a:tc>
                  <a:txBody>
                    <a:bodyPr/>
                    <a:lstStyle/>
                    <a:p>
                      <a:pPr>
                        <a:buNone/>
                      </a:pPr>
                      <a:r>
                        <a:rPr lang="en-IN" sz="1800">
                          <a:latin typeface="Times New Roman" panose="02020603050405020304" pitchFamily="18" charset="0"/>
                          <a:cs typeface="Times New Roman" panose="02020603050405020304" pitchFamily="18" charset="0"/>
                        </a:rPr>
                        <a:t>ENQUEUE(E)</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 </a:t>
                      </a:r>
                      <a:r>
                        <a:rPr lang="en-IN" sz="1800" b="1">
                          <a:latin typeface="Times New Roman" panose="02020603050405020304" pitchFamily="18" charset="0"/>
                          <a:cs typeface="Times New Roman" panose="02020603050405020304" pitchFamily="18" charset="0"/>
                        </a:rPr>
                        <a:t>B</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C</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D</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E</a:t>
                      </a:r>
                      <a:r>
                        <a:rPr lang="en-IN" sz="180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1</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endParaRPr lang="en-IN" sz="1800">
                        <a:latin typeface="Times New Roman" panose="02020603050405020304" pitchFamily="18" charset="0"/>
                        <a:cs typeface="Times New Roman" panose="02020603050405020304" pitchFamily="18" charset="0"/>
                      </a:endParaRP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2392143"/>
                  </a:ext>
                </a:extLst>
              </a:tr>
              <a:tr h="321299">
                <a:tc>
                  <a:txBody>
                    <a:bodyPr/>
                    <a:lstStyle/>
                    <a:p>
                      <a:pPr>
                        <a:buNone/>
                      </a:pPr>
                      <a:r>
                        <a:rPr lang="en-IN" sz="1800" dirty="0">
                          <a:latin typeface="Times New Roman" panose="02020603050405020304" pitchFamily="18" charset="0"/>
                          <a:cs typeface="Times New Roman" panose="02020603050405020304" pitchFamily="18" charset="0"/>
                        </a:rPr>
                        <a:t>DEQUEUE()</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 , , </a:t>
                      </a:r>
                      <a:r>
                        <a:rPr lang="en-IN" sz="1800" b="1">
                          <a:latin typeface="Times New Roman" panose="02020603050405020304" pitchFamily="18" charset="0"/>
                          <a:cs typeface="Times New Roman" panose="02020603050405020304" pitchFamily="18" charset="0"/>
                        </a:rPr>
                        <a:t>C</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D</a:t>
                      </a:r>
                      <a:r>
                        <a:rPr lang="en-IN" sz="1800">
                          <a:latin typeface="Times New Roman" panose="02020603050405020304" pitchFamily="18" charset="0"/>
                          <a:cs typeface="Times New Roman" panose="02020603050405020304" pitchFamily="18" charset="0"/>
                        </a:rPr>
                        <a:t>, </a:t>
                      </a:r>
                      <a:r>
                        <a:rPr lang="en-IN" sz="1800" b="1">
                          <a:latin typeface="Times New Roman" panose="02020603050405020304" pitchFamily="18" charset="0"/>
                          <a:cs typeface="Times New Roman" panose="02020603050405020304" pitchFamily="18" charset="0"/>
                        </a:rPr>
                        <a:t>E</a:t>
                      </a:r>
                      <a:r>
                        <a:rPr lang="en-IN" sz="180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4</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'B' removed.</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3076758"/>
                  </a:ext>
                </a:extLst>
              </a:tr>
              <a:tr h="850177">
                <a:tc>
                  <a:txBody>
                    <a:bodyPr/>
                    <a:lstStyle/>
                    <a:p>
                      <a:pPr>
                        <a:buNone/>
                      </a:pPr>
                      <a:r>
                        <a:rPr lang="en-IN" sz="1800" dirty="0">
                          <a:latin typeface="Times New Roman" panose="02020603050405020304" pitchFamily="18" charset="0"/>
                          <a:cs typeface="Times New Roman" panose="02020603050405020304" pitchFamily="18" charset="0"/>
                        </a:rPr>
                        <a:t>ENQUEUE(F)</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a:t>
                      </a:r>
                      <a:r>
                        <a:rPr lang="en-IN" sz="1800" b="1" dirty="0">
                          <a:latin typeface="Times New Roman" panose="02020603050405020304" pitchFamily="18" charset="0"/>
                          <a:cs typeface="Times New Roman" panose="02020603050405020304" pitchFamily="18" charset="0"/>
                        </a:rPr>
                        <a:t>F</a:t>
                      </a:r>
                      <a:r>
                        <a:rPr lang="en-IN" sz="1800" dirty="0">
                          <a:latin typeface="Times New Roman" panose="02020603050405020304" pitchFamily="18" charset="0"/>
                          <a:cs typeface="Times New Roman" panose="02020603050405020304" pitchFamily="18" charset="0"/>
                        </a:rPr>
                        <a:t>, , </a:t>
                      </a:r>
                      <a:r>
                        <a:rPr lang="en-IN" sz="1800" b="1" dirty="0">
                          <a:latin typeface="Times New Roman" panose="02020603050405020304" pitchFamily="18" charset="0"/>
                          <a:cs typeface="Times New Roman" panose="02020603050405020304" pitchFamily="18" charset="0"/>
                        </a:rPr>
                        <a:t>C</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D</a:t>
                      </a: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latin typeface="Times New Roman" panose="02020603050405020304" pitchFamily="18" charset="0"/>
                          <a:cs typeface="Times New Roman" panose="02020603050405020304" pitchFamily="18" charset="0"/>
                        </a:rPr>
                        <a:t>'F' added at index 0 (circular wrap-around, Rear = (4+1)%5 = 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8284683"/>
                  </a:ext>
                </a:extLst>
              </a:tr>
              <a:tr h="2284850">
                <a:tc>
                  <a:txBody>
                    <a:bodyPr/>
                    <a:lstStyle/>
                    <a:p>
                      <a:pPr>
                        <a:buNone/>
                      </a:pPr>
                      <a:r>
                        <a:rPr lang="en-IN" sz="1800">
                          <a:latin typeface="Times New Roman" panose="02020603050405020304" pitchFamily="18" charset="0"/>
                          <a:cs typeface="Times New Roman" panose="02020603050405020304" pitchFamily="18" charset="0"/>
                        </a:rPr>
                        <a:t>ENQUEUE(G)</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latin typeface="Times New Roman" panose="02020603050405020304" pitchFamily="18" charset="0"/>
                          <a:cs typeface="Times New Roman" panose="02020603050405020304" pitchFamily="18" charset="0"/>
                        </a:rPr>
                        <a:t>Queue Full</a:t>
                      </a:r>
                      <a:r>
                        <a:rPr lang="en-IN" sz="1800" dirty="0">
                          <a:latin typeface="Times New Roman" panose="02020603050405020304" pitchFamily="18" charset="0"/>
                          <a:cs typeface="Times New Roman" panose="02020603050405020304" pitchFamily="18" charset="0"/>
                        </a:rPr>
                        <a:t> (B,C,D,E,F -&gt; 5 elements)</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2</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0</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Times New Roman" panose="02020603050405020304" pitchFamily="18" charset="0"/>
                          <a:cs typeface="Times New Roman" panose="02020603050405020304" pitchFamily="18" charset="0"/>
                        </a:rPr>
                        <a:t>Cannot add 'G'. (Rear + 1) % MaxSize == Front ((0+1)%5 == 1 which is not 2). Let's recheck full condition. If (Rear+1)%MaxSize == Front, it is full. Here (0+1)%5 = 1, and Front is 2. So not full.</a:t>
                      </a:r>
                    </a:p>
                  </a:txBody>
                  <a:tcPr marL="60346" marR="60346" marT="30173" marB="301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3713427"/>
                  </a:ext>
                </a:extLst>
              </a:tr>
            </a:tbl>
          </a:graphicData>
        </a:graphic>
      </p:graphicFrame>
    </p:spTree>
    <p:extLst>
      <p:ext uri="{BB962C8B-B14F-4D97-AF65-F5344CB8AC3E}">
        <p14:creationId xmlns:p14="http://schemas.microsoft.com/office/powerpoint/2010/main" val="1548837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3528" y="53136"/>
            <a:ext cx="8499497" cy="1569660"/>
          </a:xfrm>
          <a:prstGeom prst="rect">
            <a:avLst/>
          </a:prstGeom>
          <a:noFill/>
        </p:spPr>
        <p:txBody>
          <a:bodyPr wrap="square" rtlCol="0">
            <a:spAutoFit/>
          </a:bodyPr>
          <a:lstStyle/>
          <a:p>
            <a:endParaRPr lang="en-US" sz="2400" b="1" u="sng" dirty="0"/>
          </a:p>
          <a:p>
            <a:r>
              <a:rPr lang="en-US" dirty="0"/>
              <a:t> </a:t>
            </a:r>
            <a:r>
              <a:rPr lang="en-US" sz="3600" b="1" kern="100" dirty="0">
                <a:solidFill>
                  <a:srgbClr val="E31E24"/>
                </a:solidFill>
                <a:latin typeface="+mj-lt"/>
                <a:cs typeface="Times New Roman" panose="02020603050405020304" pitchFamily="18" charset="0"/>
                <a:sym typeface="Arial"/>
              </a:rPr>
              <a:t>Queue Practice Question</a:t>
            </a:r>
          </a:p>
          <a:p>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503048" y="1244408"/>
            <a:ext cx="7726551" cy="3349956"/>
          </a:xfrm>
          <a:prstGeom prst="rect">
            <a:avLst/>
          </a:prstGeom>
          <a:noFill/>
        </p:spPr>
        <p:txBody>
          <a:bodyPr wrap="square">
            <a:spAutoFit/>
          </a:bodyPr>
          <a:lstStyle/>
          <a:p>
            <a:pPr algn="just">
              <a:lnSpc>
                <a:spcPct val="150000"/>
              </a:lnSpc>
              <a:spcBef>
                <a:spcPts val="600"/>
              </a:spcBef>
              <a:spcAft>
                <a:spcPts val="600"/>
              </a:spcAft>
            </a:pPr>
            <a:r>
              <a:rPr lang="en-IN" sz="2400" b="1" dirty="0">
                <a:latin typeface="Times New Roman" panose="02020603050405020304" pitchFamily="18" charset="0"/>
                <a:cs typeface="Times New Roman" panose="02020603050405020304" pitchFamily="18" charset="0"/>
              </a:rPr>
              <a:t>Question 1. </a:t>
            </a:r>
            <a:r>
              <a:rPr lang="en-IN" sz="2400" dirty="0">
                <a:latin typeface="Times New Roman" panose="02020603050405020304" pitchFamily="18" charset="0"/>
                <a:cs typeface="Times New Roman" panose="02020603050405020304" pitchFamily="18" charset="0"/>
              </a:rPr>
              <a:t>Suppose a circular queue of capacity (n – 1) elements is implemented with an array of n elements. Assume that the insertion and deletion operations are carried out using REAR and FRONT as array index variables, respectively. Initially, REAR = FRONT = 0. What are the conditions to detect a queue full and a queue empty?</a:t>
            </a:r>
          </a:p>
        </p:txBody>
      </p:sp>
    </p:spTree>
    <p:extLst>
      <p:ext uri="{BB962C8B-B14F-4D97-AF65-F5344CB8AC3E}">
        <p14:creationId xmlns:p14="http://schemas.microsoft.com/office/powerpoint/2010/main" val="3345933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402118" y="316041"/>
            <a:ext cx="8090795" cy="5878532"/>
          </a:xfrm>
          <a:prstGeom prst="rect">
            <a:avLst/>
          </a:prstGeom>
          <a:noFill/>
        </p:spPr>
        <p:txBody>
          <a:bodyPr wrap="square">
            <a:spAutoFit/>
          </a:bodyPr>
          <a:lstStyle/>
          <a:p>
            <a:pPr algn="just">
              <a:spcBef>
                <a:spcPts val="600"/>
              </a:spcBef>
              <a:spcAft>
                <a:spcPts val="600"/>
              </a:spcAft>
            </a:pPr>
            <a:r>
              <a:rPr lang="en-IN" sz="3600" b="1" dirty="0">
                <a:solidFill>
                  <a:srgbClr val="FF0000"/>
                </a:solidFill>
                <a:latin typeface="+mj-lt"/>
                <a:cs typeface="Times New Roman" panose="02020603050405020304" pitchFamily="18" charset="0"/>
              </a:rPr>
              <a:t>Solution:</a:t>
            </a:r>
          </a:p>
          <a:p>
            <a:pPr algn="just">
              <a:spcBef>
                <a:spcPts val="600"/>
              </a:spcBef>
              <a:spcAft>
                <a:spcPts val="600"/>
              </a:spcAft>
            </a:pPr>
            <a:endParaRPr lang="en-IN"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IN" sz="2000" b="1" i="1" dirty="0">
                <a:latin typeface="Times New Roman" panose="02020603050405020304" pitchFamily="18" charset="0"/>
                <a:cs typeface="Times New Roman" panose="02020603050405020304" pitchFamily="18" charset="0"/>
              </a:rPr>
              <a:t>Explanation: </a:t>
            </a:r>
            <a:r>
              <a:rPr lang="en-IN" sz="2000" dirty="0">
                <a:latin typeface="Times New Roman" panose="02020603050405020304" pitchFamily="18" charset="0"/>
                <a:cs typeface="Times New Roman" panose="02020603050405020304" pitchFamily="18" charset="0"/>
              </a:rPr>
              <a:t>Suppose we start filling the queue.</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Let the </a:t>
            </a:r>
            <a:r>
              <a:rPr lang="en-US" sz="2000" dirty="0">
                <a:latin typeface="Times New Roman" panose="02020603050405020304" pitchFamily="18" charset="0"/>
                <a:cs typeface="Times New Roman" panose="02020603050405020304" pitchFamily="18" charset="0"/>
              </a:rPr>
              <a:t>maximum </a:t>
            </a:r>
            <a:r>
              <a:rPr lang="en-US" sz="2000" dirty="0" err="1">
                <a:latin typeface="Times New Roman" panose="02020603050405020304" pitchFamily="18" charset="0"/>
                <a:cs typeface="Times New Roman" panose="02020603050405020304" pitchFamily="18" charset="0"/>
              </a:rPr>
              <a:t>QueueSize</a:t>
            </a:r>
            <a:r>
              <a:rPr lang="en-US" sz="2000" dirty="0">
                <a:latin typeface="Times New Roman" panose="02020603050405020304" pitchFamily="18" charset="0"/>
                <a:cs typeface="Times New Roman" panose="02020603050405020304" pitchFamily="18" charset="0"/>
              </a:rPr>
              <a:t> (Capacity of the Queue) be</a:t>
            </a:r>
            <a:r>
              <a:rPr lang="en-IN" sz="2000" dirty="0">
                <a:latin typeface="Times New Roman" panose="02020603050405020304" pitchFamily="18" charset="0"/>
                <a:cs typeface="Times New Roman" panose="02020603050405020304" pitchFamily="18" charset="0"/>
              </a:rPr>
              <a:t> 4. Therefore, the size of the array used to implement this circular queue is 5, which is n. In the beginning when the queue is empty, FRONT and REAR point to 0 index in the array. REAR represents insertion at the REAR index. FRONT represents deletion from the FRONT index.</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enqueue(“a”); REAR = (REAR+1)%5; ( FRONT = 0, REAR = 1)</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enqueue(“b”); REAR = (REAR+1)%5; ( FRONT = 0, REAR = 2)</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enqueue(“c”); REAR = (REAR+1)%5; ( FRONT = 0, REAR = 3)</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enqueue(“d”); REAR = (REAR+1)%5; ( FRONT = 0, REAR = 4)</a:t>
            </a:r>
          </a:p>
          <a:p>
            <a:pPr algn="just">
              <a:spcBef>
                <a:spcPts val="600"/>
              </a:spcBef>
              <a:spcAft>
                <a:spcPts val="600"/>
              </a:spcAft>
            </a:pPr>
            <a:r>
              <a:rPr lang="en-IN" sz="2000" dirty="0">
                <a:latin typeface="Times New Roman" panose="02020603050405020304" pitchFamily="18" charset="0"/>
                <a:cs typeface="Times New Roman" panose="02020603050405020304" pitchFamily="18" charset="0"/>
              </a:rPr>
              <a:t>Now the queue size is 4, which is equal to the </a:t>
            </a:r>
            <a:r>
              <a:rPr lang="en-IN" sz="2000" dirty="0" err="1">
                <a:latin typeface="Times New Roman" panose="02020603050405020304" pitchFamily="18" charset="0"/>
                <a:cs typeface="Times New Roman" panose="02020603050405020304" pitchFamily="18" charset="0"/>
              </a:rPr>
              <a:t>maxQueueSize</a:t>
            </a:r>
            <a:r>
              <a:rPr lang="en-IN" sz="2000" dirty="0">
                <a:latin typeface="Times New Roman" panose="02020603050405020304" pitchFamily="18" charset="0"/>
                <a:cs typeface="Times New Roman" panose="02020603050405020304" pitchFamily="18" charset="0"/>
              </a:rPr>
              <a:t>. Hence overflow condition is reached.</a:t>
            </a:r>
            <a:endParaRPr lang="en-IN" sz="2400" dirty="0"/>
          </a:p>
        </p:txBody>
      </p:sp>
    </p:spTree>
    <p:extLst>
      <p:ext uri="{BB962C8B-B14F-4D97-AF65-F5344CB8AC3E}">
        <p14:creationId xmlns:p14="http://schemas.microsoft.com/office/powerpoint/2010/main" val="1203641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13692"/>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395536" y="1308662"/>
            <a:ext cx="8064897" cy="4851777"/>
          </a:xfrm>
          <a:prstGeom prst="rect">
            <a:avLst/>
          </a:prstGeom>
          <a:noFill/>
        </p:spPr>
        <p:txBody>
          <a:bodyPr wrap="square">
            <a:spAutoFit/>
          </a:bodyPr>
          <a:lstStyle/>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Now, we can check for the conditions.</a:t>
            </a:r>
          </a:p>
          <a:p>
            <a:pPr algn="just">
              <a:lnSpc>
                <a:spcPct val="150000"/>
              </a:lnSpc>
              <a:spcBef>
                <a:spcPts val="600"/>
              </a:spcBef>
            </a:pPr>
            <a:r>
              <a:rPr lang="en-IN" sz="2400" b="1" dirty="0">
                <a:latin typeface="Times New Roman" panose="02020603050405020304" pitchFamily="18" charset="0"/>
                <a:cs typeface="Times New Roman" panose="02020603050405020304" pitchFamily="18" charset="0"/>
              </a:rPr>
              <a:t>When Queue Full :</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 REAR+1)%n = (4+1)%5 = 0</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FRONT is also 0. Hence, ( REAR + 1 ) %n is equal to FRONT.</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When the Queue is Empty :</a:t>
            </a:r>
          </a:p>
          <a:p>
            <a:pPr algn="just">
              <a:lnSpc>
                <a:spcPct val="150000"/>
              </a:lnSpc>
              <a:spcBef>
                <a:spcPts val="600"/>
              </a:spcBef>
            </a:pPr>
            <a:r>
              <a:rPr lang="en-IN" sz="2400" dirty="0">
                <a:latin typeface="Times New Roman" panose="02020603050405020304" pitchFamily="18" charset="0"/>
                <a:cs typeface="Times New Roman" panose="02020603050405020304" pitchFamily="18" charset="0"/>
              </a:rPr>
              <a:t>REAR was equal to FRONT when empty (because in the starting before filling the queue, FRONT = REAR = 0 )</a:t>
            </a:r>
          </a:p>
          <a:p>
            <a:pPr algn="just">
              <a:lnSpc>
                <a:spcPct val="150000"/>
              </a:lnSpc>
            </a:pPr>
            <a:endParaRPr lang="en-IN" sz="2400" dirty="0"/>
          </a:p>
        </p:txBody>
      </p:sp>
      <p:sp>
        <p:nvSpPr>
          <p:cNvPr id="5" name="TextBox 4">
            <a:extLst>
              <a:ext uri="{FF2B5EF4-FFF2-40B4-BE49-F238E27FC236}">
                <a16:creationId xmlns:a16="http://schemas.microsoft.com/office/drawing/2014/main" id="{6EAB51F0-C0A2-E59D-DD3E-9B6A46A40E89}"/>
              </a:ext>
            </a:extLst>
          </p:cNvPr>
          <p:cNvSpPr txBox="1"/>
          <p:nvPr/>
        </p:nvSpPr>
        <p:spPr>
          <a:xfrm>
            <a:off x="395536" y="296715"/>
            <a:ext cx="4599708" cy="646331"/>
          </a:xfrm>
          <a:prstGeom prst="rect">
            <a:avLst/>
          </a:prstGeom>
          <a:noFill/>
        </p:spPr>
        <p:txBody>
          <a:bodyPr wrap="square">
            <a:spAutoFit/>
          </a:bodyPr>
          <a:lstStyle/>
          <a:p>
            <a:pPr algn="just">
              <a:spcBef>
                <a:spcPts val="600"/>
              </a:spcBef>
            </a:pPr>
            <a:r>
              <a:rPr lang="en-IN" sz="3600" b="1" dirty="0">
                <a:solidFill>
                  <a:srgbClr val="FF0000"/>
                </a:solidFill>
                <a:latin typeface="+mj-lt"/>
                <a:cs typeface="Times New Roman" panose="02020603050405020304" pitchFamily="18" charset="0"/>
              </a:rPr>
              <a:t>Solution:</a:t>
            </a:r>
          </a:p>
        </p:txBody>
      </p:sp>
    </p:spTree>
    <p:extLst>
      <p:ext uri="{BB962C8B-B14F-4D97-AF65-F5344CB8AC3E}">
        <p14:creationId xmlns:p14="http://schemas.microsoft.com/office/powerpoint/2010/main" val="26520677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1456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0975" y="53136"/>
            <a:ext cx="8502050" cy="1569660"/>
          </a:xfrm>
          <a:prstGeom prst="rect">
            <a:avLst/>
          </a:prstGeom>
          <a:noFill/>
        </p:spPr>
        <p:txBody>
          <a:bodyPr wrap="square" rtlCol="0">
            <a:spAutoFit/>
          </a:bodyPr>
          <a:lstStyle/>
          <a:p>
            <a:endParaRPr lang="en-US" sz="2400" b="1" u="sng" dirty="0"/>
          </a:p>
          <a:p>
            <a:r>
              <a:rPr lang="en-US" sz="3600" b="1" kern="100" dirty="0">
                <a:solidFill>
                  <a:srgbClr val="E31E24"/>
                </a:solidFill>
                <a:latin typeface="+mj-lt"/>
                <a:cs typeface="Times New Roman" panose="02020603050405020304" pitchFamily="18" charset="0"/>
                <a:sym typeface="Arial"/>
              </a:rPr>
              <a:t>Queue</a:t>
            </a:r>
          </a:p>
          <a:p>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22838" y="1619902"/>
            <a:ext cx="864351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63100444-C7EA-6D6F-18E3-83F8113DFD10}"/>
              </a:ext>
            </a:extLst>
          </p:cNvPr>
          <p:cNvSpPr txBox="1"/>
          <p:nvPr/>
        </p:nvSpPr>
        <p:spPr>
          <a:xfrm>
            <a:off x="320975" y="1308662"/>
            <a:ext cx="8283473" cy="3359061"/>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Question 2:</a:t>
            </a:r>
          </a:p>
          <a:p>
            <a:pPr algn="just">
              <a:lnSpc>
                <a:spcPct val="150000"/>
              </a:lnSpc>
            </a:pPr>
            <a:r>
              <a:rPr lang="en-IN" sz="2400" dirty="0">
                <a:latin typeface="Times New Roman" panose="02020603050405020304" pitchFamily="18" charset="0"/>
                <a:cs typeface="Times New Roman" panose="02020603050405020304" pitchFamily="18" charset="0"/>
              </a:rPr>
              <a:t>Implement a circular queue using an array with a capacity of 5 elements. Perform enqueue operations with values 2, 4, 6, and 8. What will be the front and rear indices of the queue after these operations?</a:t>
            </a:r>
          </a:p>
          <a:p>
            <a:pPr algn="just">
              <a:lnSpc>
                <a:spcPct val="150000"/>
              </a:lnSpc>
            </a:pPr>
            <a:endParaRPr lang="en-IN" sz="2400" dirty="0"/>
          </a:p>
        </p:txBody>
      </p:sp>
    </p:spTree>
    <p:extLst>
      <p:ext uri="{BB962C8B-B14F-4D97-AF65-F5344CB8AC3E}">
        <p14:creationId xmlns:p14="http://schemas.microsoft.com/office/powerpoint/2010/main" val="3263746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12007" y="157237"/>
            <a:ext cx="8319985" cy="6217087"/>
          </a:xfrm>
          <a:prstGeom prst="rect">
            <a:avLst/>
          </a:prstGeom>
          <a:noFill/>
        </p:spPr>
        <p:txBody>
          <a:bodyPr wrap="square" rtlCol="0">
            <a:spAutoFit/>
          </a:bodyPr>
          <a:lstStyle/>
          <a:p>
            <a:pPr lvl="0" algn="just">
              <a:spcBef>
                <a:spcPts val="600"/>
              </a:spcBef>
            </a:pPr>
            <a:r>
              <a:rPr lang="en-US" sz="3600" b="1" dirty="0">
                <a:solidFill>
                  <a:srgbClr val="FF0000"/>
                </a:solidFill>
                <a:latin typeface="+mj-lt"/>
                <a:cs typeface="Times New Roman" panose="02020603050405020304" pitchFamily="18" charset="0"/>
              </a:rPr>
              <a:t>Solutions:-</a:t>
            </a:r>
          </a:p>
          <a:p>
            <a:pPr lvl="0" algn="just">
              <a:spcBef>
                <a:spcPts val="600"/>
              </a:spcBef>
            </a:pPr>
            <a:endParaRPr lang="en-IN" sz="2400" dirty="0">
              <a:latin typeface="Times New Roman" panose="02020603050405020304" pitchFamily="18" charset="0"/>
              <a:cs typeface="Times New Roman" panose="02020603050405020304" pitchFamily="18" charset="0"/>
            </a:endParaRPr>
          </a:p>
          <a:p>
            <a:pPr>
              <a:spcBef>
                <a:spcPts val="600"/>
              </a:spcBef>
            </a:pPr>
            <a:r>
              <a:rPr lang="en-IN" sz="2400" dirty="0">
                <a:latin typeface="Times New Roman" panose="02020603050405020304" pitchFamily="18" charset="0"/>
                <a:cs typeface="Times New Roman" panose="02020603050405020304" pitchFamily="18" charset="0"/>
              </a:rPr>
              <a:t>To implement a circular queue using an array with a capacity of 5 elements and perform the specified operations, let's follow these steps:</a:t>
            </a:r>
          </a:p>
          <a:p>
            <a:pPr marL="457200" indent="-457200">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Initialize the circular queue:</a:t>
            </a:r>
          </a:p>
          <a:p>
            <a:pPr marL="914400" lvl="1" indent="-4572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an array of size 5.</a:t>
            </a:r>
          </a:p>
          <a:p>
            <a:pPr marL="914400" lvl="1" indent="-4572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Initialize front and rear indices to -1 to indicate that the queue is initially empty.</a:t>
            </a:r>
          </a:p>
          <a:p>
            <a:pPr marL="457200" indent="-457200">
              <a:spcBef>
                <a:spcPts val="600"/>
              </a:spcBef>
              <a:buFont typeface="+mj-lt"/>
              <a:buAutoNum type="arabicPeriod"/>
            </a:pPr>
            <a:r>
              <a:rPr lang="en-IN" sz="2400" dirty="0">
                <a:latin typeface="Times New Roman" panose="02020603050405020304" pitchFamily="18" charset="0"/>
                <a:cs typeface="Times New Roman" panose="02020603050405020304" pitchFamily="18" charset="0"/>
              </a:rPr>
              <a:t>Enqueue operations:</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2</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4</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6</a:t>
            </a:r>
          </a:p>
          <a:p>
            <a:pPr marL="800100" lvl="1" indent="-342900">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Enqueue 8</a:t>
            </a:r>
          </a:p>
        </p:txBody>
      </p:sp>
    </p:spTree>
    <p:extLst>
      <p:ext uri="{BB962C8B-B14F-4D97-AF65-F5344CB8AC3E}">
        <p14:creationId xmlns:p14="http://schemas.microsoft.com/office/powerpoint/2010/main" val="18765968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82932" y="404664"/>
            <a:ext cx="8066173" cy="4708981"/>
          </a:xfrm>
          <a:prstGeom prst="rect">
            <a:avLst/>
          </a:prstGeom>
          <a:noFill/>
        </p:spPr>
        <p:txBody>
          <a:bodyPr wrap="square" rtlCol="0">
            <a:spAutoFit/>
          </a:bodyPr>
          <a:lstStyle/>
          <a:p>
            <a:pPr lvl="0" algn="just"/>
            <a:r>
              <a:rPr lang="en-US" sz="3600" b="1" dirty="0">
                <a:solidFill>
                  <a:srgbClr val="FF0000"/>
                </a:solidFill>
                <a:latin typeface="+mj-lt"/>
                <a:cs typeface="Times New Roman" panose="02020603050405020304" pitchFamily="18" charset="0"/>
              </a:rPr>
              <a:t>Solution:-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Circular Queue Initialization</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Array: [ , , , , ]  // Initial empty array of size 5 , Front: -1, Rear: -1</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Enqueue Operation 1: Enqueue 2</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Since the queue is initially empty (front is -1), set front to 0.</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Increment rear to 0 and place the value at index 0.makefile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Array: [2, , , , ] Front: 0 Rear: 0</a:t>
            </a:r>
          </a:p>
        </p:txBody>
      </p:sp>
    </p:spTree>
    <p:extLst>
      <p:ext uri="{BB962C8B-B14F-4D97-AF65-F5344CB8AC3E}">
        <p14:creationId xmlns:p14="http://schemas.microsoft.com/office/powerpoint/2010/main" val="1785474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55" y="-27384"/>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IN" dirty="0" err="1"/>
              <a:t>Ms.Suman</a:t>
            </a:r>
            <a:r>
              <a:rPr lang="en-IN" dirty="0"/>
              <a:t>           Data  Structure         Unit2  </a:t>
            </a:r>
          </a:p>
        </p:txBody>
      </p:sp>
      <p:sp>
        <p:nvSpPr>
          <p:cNvPr id="13" name="TextBox 12">
            <a:extLst>
              <a:ext uri="{FF2B5EF4-FFF2-40B4-BE49-F238E27FC236}">
                <a16:creationId xmlns:a16="http://schemas.microsoft.com/office/drawing/2014/main" id="{DC70A143-3037-634D-114B-C330071C784A}"/>
              </a:ext>
            </a:extLst>
          </p:cNvPr>
          <p:cNvSpPr txBox="1"/>
          <p:nvPr/>
        </p:nvSpPr>
        <p:spPr>
          <a:xfrm>
            <a:off x="413792" y="192859"/>
            <a:ext cx="8352928" cy="5970865"/>
          </a:xfrm>
          <a:prstGeom prst="rect">
            <a:avLst/>
          </a:prstGeom>
          <a:noFill/>
        </p:spPr>
        <p:txBody>
          <a:bodyPr wrap="square" rtlCol="0">
            <a:spAutoFit/>
          </a:bodyPr>
          <a:lstStyle/>
          <a:p>
            <a:pPr lvl="0" algn="just"/>
            <a:r>
              <a:rPr lang="en-US" sz="3600" b="1" dirty="0">
                <a:solidFill>
                  <a:srgbClr val="FF0000"/>
                </a:solidFill>
                <a:latin typeface="+mj-lt"/>
                <a:cs typeface="Times New Roman" panose="02020603050405020304" pitchFamily="18" charset="0"/>
              </a:rPr>
              <a:t>Solution:-</a:t>
            </a:r>
          </a:p>
          <a:p>
            <a:pPr lvl="0" algn="just"/>
            <a:endParaRPr lang="en-IN" sz="2400" dirty="0">
              <a:latin typeface="Times New Roman" panose="02020603050405020304" pitchFamily="18" charset="0"/>
              <a:cs typeface="Times New Roman" panose="02020603050405020304" pitchFamily="18" charset="0"/>
            </a:endParaRPr>
          </a:p>
          <a:p>
            <a:pPr lvl="0" algn="just"/>
            <a:r>
              <a:rPr lang="en-IN" sz="2300" b="1" dirty="0">
                <a:latin typeface="Times New Roman" panose="02020603050405020304" pitchFamily="18" charset="0"/>
                <a:cs typeface="Times New Roman" panose="02020603050405020304" pitchFamily="18" charset="0"/>
              </a:rPr>
              <a:t>Enqueue Operation 2: </a:t>
            </a:r>
            <a:r>
              <a:rPr lang="en-IN" sz="2300" dirty="0">
                <a:latin typeface="Times New Roman" panose="02020603050405020304" pitchFamily="18" charset="0"/>
                <a:cs typeface="Times New Roman" panose="02020603050405020304" pitchFamily="18" charset="0"/>
              </a:rPr>
              <a:t>Enqueue 4, Increment rear to 1, and place the value at index 1.</a:t>
            </a:r>
          </a:p>
          <a:p>
            <a:pPr lvl="0" algn="just"/>
            <a:r>
              <a:rPr lang="en-IN" sz="2300" dirty="0">
                <a:latin typeface="Times New Roman" panose="02020603050405020304" pitchFamily="18" charset="0"/>
                <a:cs typeface="Times New Roman" panose="02020603050405020304" pitchFamily="18" charset="0"/>
              </a:rPr>
              <a:t>Array: [2, 4, , , ] Front: 0, Rear: 1</a:t>
            </a:r>
          </a:p>
          <a:p>
            <a:pPr lvl="0" algn="just"/>
            <a:r>
              <a:rPr lang="en-IN" sz="2300" b="1" dirty="0">
                <a:latin typeface="Times New Roman" panose="02020603050405020304" pitchFamily="18" charset="0"/>
                <a:cs typeface="Times New Roman" panose="02020603050405020304" pitchFamily="18" charset="0"/>
              </a:rPr>
              <a:t>Enqueue Operation 3: </a:t>
            </a:r>
            <a:r>
              <a:rPr lang="en-IN" sz="2300" dirty="0">
                <a:latin typeface="Times New Roman" panose="02020603050405020304" pitchFamily="18" charset="0"/>
                <a:cs typeface="Times New Roman" panose="02020603050405020304" pitchFamily="18" charset="0"/>
              </a:rPr>
              <a:t>Enqueue 6, Increment rear to 2, and place the value at index 2.</a:t>
            </a:r>
          </a:p>
          <a:p>
            <a:pPr lvl="0" algn="just"/>
            <a:r>
              <a:rPr lang="en-IN" sz="2300" dirty="0">
                <a:latin typeface="Times New Roman" panose="02020603050405020304" pitchFamily="18" charset="0"/>
                <a:cs typeface="Times New Roman" panose="02020603050405020304" pitchFamily="18" charset="0"/>
              </a:rPr>
              <a:t>Array: [2, 4, 6, , ]Front: 0, Rear: 2</a:t>
            </a:r>
          </a:p>
          <a:p>
            <a:pPr lvl="0" algn="just"/>
            <a:r>
              <a:rPr lang="en-IN" sz="2300" b="1" dirty="0">
                <a:latin typeface="Times New Roman" panose="02020603050405020304" pitchFamily="18" charset="0"/>
                <a:cs typeface="Times New Roman" panose="02020603050405020304" pitchFamily="18" charset="0"/>
              </a:rPr>
              <a:t>Enqueue Operation 4: </a:t>
            </a:r>
            <a:r>
              <a:rPr lang="en-IN" sz="2300" dirty="0">
                <a:latin typeface="Times New Roman" panose="02020603050405020304" pitchFamily="18" charset="0"/>
                <a:cs typeface="Times New Roman" panose="02020603050405020304" pitchFamily="18" charset="0"/>
              </a:rPr>
              <a:t>Enqueue 8, Increment rear to 3, and place the value at index 3.</a:t>
            </a:r>
          </a:p>
          <a:p>
            <a:pPr lvl="0" algn="just"/>
            <a:r>
              <a:rPr lang="en-IN" sz="2300" dirty="0">
                <a:latin typeface="Times New Roman" panose="02020603050405020304" pitchFamily="18" charset="0"/>
                <a:cs typeface="Times New Roman" panose="02020603050405020304" pitchFamily="18" charset="0"/>
              </a:rPr>
              <a:t>Array: [2, 4, 6, 8, ] Front: 0, Rear: 3</a:t>
            </a:r>
          </a:p>
          <a:p>
            <a:pPr lvl="0" algn="just"/>
            <a:endParaRPr lang="en-IN" sz="2300" dirty="0">
              <a:latin typeface="Times New Roman" panose="02020603050405020304" pitchFamily="18" charset="0"/>
              <a:cs typeface="Times New Roman" panose="02020603050405020304" pitchFamily="18" charset="0"/>
            </a:endParaRPr>
          </a:p>
          <a:p>
            <a:r>
              <a:rPr lang="en-IN" sz="2300" b="1" dirty="0">
                <a:latin typeface="Times New Roman" panose="02020603050405020304" pitchFamily="18" charset="0"/>
                <a:cs typeface="Times New Roman" panose="02020603050405020304" pitchFamily="18" charset="0"/>
              </a:rPr>
              <a:t>Final State of the Circular Queue</a:t>
            </a:r>
          </a:p>
          <a:p>
            <a:r>
              <a:rPr lang="en-IN" sz="2300" dirty="0">
                <a:latin typeface="Times New Roman" panose="02020603050405020304" pitchFamily="18" charset="0"/>
                <a:cs typeface="Times New Roman" panose="02020603050405020304" pitchFamily="18" charset="0"/>
              </a:rPr>
              <a:t>After performing all the enqueue operations, the circular queue looks like this:</a:t>
            </a:r>
          </a:p>
          <a:p>
            <a:r>
              <a:rPr lang="en-IN" sz="2300" dirty="0">
                <a:latin typeface="Times New Roman" panose="02020603050405020304" pitchFamily="18" charset="0"/>
                <a:cs typeface="Times New Roman" panose="02020603050405020304" pitchFamily="18" charset="0"/>
              </a:rPr>
              <a:t>Array: [2, 4, 6, 8, ] Front: 0, Rear: 3</a:t>
            </a:r>
            <a:endParaRPr lang="en-US" sz="2300" dirty="0"/>
          </a:p>
        </p:txBody>
      </p:sp>
    </p:spTree>
    <p:extLst>
      <p:ext uri="{BB962C8B-B14F-4D97-AF65-F5344CB8AC3E}">
        <p14:creationId xmlns:p14="http://schemas.microsoft.com/office/powerpoint/2010/main" val="3110973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542D7-BC10-C39D-065B-76026F706F0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437B89A-2364-93F4-EBB8-C15D29EDB9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338E794D-79AB-EFED-5148-D75BFD2BE84A}"/>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C027D7-0DB6-14B1-D338-33C95483A4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DFF4A50-691F-5804-65AC-E4C4576AF3E9}"/>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1CC5BA0-6639-F449-EB20-3A9971F35A96}"/>
              </a:ext>
            </a:extLst>
          </p:cNvPr>
          <p:cNvSpPr txBox="1"/>
          <p:nvPr/>
        </p:nvSpPr>
        <p:spPr>
          <a:xfrm>
            <a:off x="457200" y="300023"/>
            <a:ext cx="8674620" cy="646331"/>
          </a:xfrm>
          <a:prstGeom prst="rect">
            <a:avLst/>
          </a:prstGeom>
          <a:noFill/>
        </p:spPr>
        <p:txBody>
          <a:bodyPr wrap="square" rtlCol="0">
            <a:spAutoFit/>
          </a:bodyPr>
          <a:lstStyle/>
          <a:p>
            <a:r>
              <a:rPr lang="en-US" sz="3600" b="1" dirty="0">
                <a:solidFill>
                  <a:srgbClr val="FF0000"/>
                </a:solidFill>
              </a:rPr>
              <a:t>Queue Applications</a:t>
            </a:r>
          </a:p>
        </p:txBody>
      </p:sp>
      <p:sp>
        <p:nvSpPr>
          <p:cNvPr id="3" name="Footer Placeholder 2">
            <a:extLst>
              <a:ext uri="{FF2B5EF4-FFF2-40B4-BE49-F238E27FC236}">
                <a16:creationId xmlns:a16="http://schemas.microsoft.com/office/drawing/2014/main" id="{7C00D4FD-6A0A-62E3-6A67-28AB1D75453D}"/>
              </a:ext>
            </a:extLst>
          </p:cNvPr>
          <p:cNvSpPr>
            <a:spLocks noGrp="1"/>
          </p:cNvSpPr>
          <p:nvPr>
            <p:ph type="ftr" sz="quarter" idx="11"/>
          </p:nvPr>
        </p:nvSpPr>
        <p:spPr/>
        <p:txBody>
          <a:bodyPr/>
          <a:lstStyle/>
          <a:p>
            <a:r>
              <a:rPr lang="en-IN"/>
              <a:t>Data  Structure         Unit2  </a:t>
            </a:r>
          </a:p>
        </p:txBody>
      </p:sp>
      <p:sp>
        <p:nvSpPr>
          <p:cNvPr id="5" name="Content Placeholder 4">
            <a:extLst>
              <a:ext uri="{FF2B5EF4-FFF2-40B4-BE49-F238E27FC236}">
                <a16:creationId xmlns:a16="http://schemas.microsoft.com/office/drawing/2014/main" id="{6551C775-AFE0-5998-C3A5-AE2F03B87FF7}"/>
              </a:ext>
            </a:extLst>
          </p:cNvPr>
          <p:cNvSpPr>
            <a:spLocks noGrp="1"/>
          </p:cNvSpPr>
          <p:nvPr>
            <p:ph idx="1"/>
          </p:nvPr>
        </p:nvSpPr>
        <p:spPr>
          <a:xfrm>
            <a:off x="457200" y="1307308"/>
            <a:ext cx="8229600" cy="4525963"/>
          </a:xfrm>
        </p:spPr>
        <p:txBody>
          <a:bodyPr>
            <a:no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Operating Systems:</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CPU Scheduling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Printer Spooling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Disk Scheduling</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Networking: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Packet Buffering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Traffic Management: </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Data Processing:</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Asynchronous Data Transfer</a:t>
            </a:r>
          </a:p>
          <a:p>
            <a:pPr lvl="1">
              <a:spcBef>
                <a:spcPts val="600"/>
              </a:spcBef>
              <a:spcAft>
                <a:spcPts val="600"/>
              </a:spcAft>
            </a:pPr>
            <a:r>
              <a:rPr lang="en-IN" sz="2000" dirty="0">
                <a:latin typeface="Times New Roman" panose="02020603050405020304" pitchFamily="18" charset="0"/>
                <a:cs typeface="Times New Roman" panose="02020603050405020304" pitchFamily="18" charset="0"/>
              </a:rPr>
              <a:t>Breadth-First Search (BFS): Graph traversal algorithm.</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Simulation</a:t>
            </a:r>
          </a:p>
        </p:txBody>
      </p:sp>
    </p:spTree>
    <p:extLst>
      <p:ext uri="{BB962C8B-B14F-4D97-AF65-F5344CB8AC3E}">
        <p14:creationId xmlns:p14="http://schemas.microsoft.com/office/powerpoint/2010/main" val="40309998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119FE-5807-BB64-E5D3-333E2130C38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D97AB3-5301-3B1E-ACE1-190C4E22B1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3692"/>
            <a:ext cx="9180512" cy="6885384"/>
          </a:xfrm>
          <a:prstGeom prst="rect">
            <a:avLst/>
          </a:prstGeom>
        </p:spPr>
      </p:pic>
      <p:cxnSp>
        <p:nvCxnSpPr>
          <p:cNvPr id="7" name="Straight Connector 6">
            <a:extLst>
              <a:ext uri="{FF2B5EF4-FFF2-40B4-BE49-F238E27FC236}">
                <a16:creationId xmlns:a16="http://schemas.microsoft.com/office/drawing/2014/main" id="{DE09B821-0CDF-2108-C4F9-C77C481F6DD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E877E7-9BF0-83AA-9E91-42A852EDFE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04286716-5A46-A43C-C0C8-3D9701B886B6}"/>
              </a:ext>
            </a:extLst>
          </p:cNvPr>
          <p:cNvSpPr txBox="1"/>
          <p:nvPr/>
        </p:nvSpPr>
        <p:spPr>
          <a:xfrm>
            <a:off x="390853" y="1572658"/>
            <a:ext cx="8219747" cy="400110"/>
          </a:xfrm>
          <a:prstGeom prst="rect">
            <a:avLst/>
          </a:prstGeom>
          <a:noFill/>
        </p:spPr>
        <p:txBody>
          <a:bodyPr wrap="square">
            <a:spAutoFit/>
          </a:bodyPr>
          <a:lstStyle/>
          <a:p>
            <a:pPr marL="342900" indent="-342900" algn="just">
              <a:buFont typeface="Arial" panose="020B0604020202020204" pitchFamily="34" charset="0"/>
              <a:buChar char="•"/>
            </a:pPr>
            <a:endParaRPr lang="en-US" sz="2000" kern="100" dirty="0">
              <a:effectLs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7AF2BF-F451-6A42-AEE7-B9FC5A23AF69}"/>
              </a:ext>
            </a:extLst>
          </p:cNvPr>
          <p:cNvSpPr txBox="1"/>
          <p:nvPr/>
        </p:nvSpPr>
        <p:spPr>
          <a:xfrm>
            <a:off x="457200" y="300023"/>
            <a:ext cx="8674620" cy="646331"/>
          </a:xfrm>
          <a:prstGeom prst="rect">
            <a:avLst/>
          </a:prstGeom>
          <a:noFill/>
        </p:spPr>
        <p:txBody>
          <a:bodyPr wrap="square" rtlCol="0">
            <a:spAutoFit/>
          </a:bodyPr>
          <a:lstStyle/>
          <a:p>
            <a:r>
              <a:rPr lang="en-US" sz="3600" b="1" dirty="0">
                <a:solidFill>
                  <a:srgbClr val="FF0000"/>
                </a:solidFill>
              </a:rPr>
              <a:t>Key Takeaways</a:t>
            </a:r>
          </a:p>
        </p:txBody>
      </p:sp>
      <p:sp>
        <p:nvSpPr>
          <p:cNvPr id="3" name="Footer Placeholder 2">
            <a:extLst>
              <a:ext uri="{FF2B5EF4-FFF2-40B4-BE49-F238E27FC236}">
                <a16:creationId xmlns:a16="http://schemas.microsoft.com/office/drawing/2014/main" id="{58815DEE-6F91-9C68-9D22-F918033112C4}"/>
              </a:ext>
            </a:extLst>
          </p:cNvPr>
          <p:cNvSpPr>
            <a:spLocks noGrp="1"/>
          </p:cNvSpPr>
          <p:nvPr>
            <p:ph type="ftr" sz="quarter" idx="11"/>
          </p:nvPr>
        </p:nvSpPr>
        <p:spPr/>
        <p:txBody>
          <a:bodyPr/>
          <a:lstStyle/>
          <a:p>
            <a:r>
              <a:rPr lang="en-IN"/>
              <a:t>Data  Structure         Unit2  </a:t>
            </a:r>
          </a:p>
        </p:txBody>
      </p:sp>
      <p:sp>
        <p:nvSpPr>
          <p:cNvPr id="5" name="Content Placeholder 4">
            <a:extLst>
              <a:ext uri="{FF2B5EF4-FFF2-40B4-BE49-F238E27FC236}">
                <a16:creationId xmlns:a16="http://schemas.microsoft.com/office/drawing/2014/main" id="{B38F06A6-760A-EE84-293C-56909AAC9CAB}"/>
              </a:ext>
            </a:extLst>
          </p:cNvPr>
          <p:cNvSpPr>
            <a:spLocks noGrp="1"/>
          </p:cNvSpPr>
          <p:nvPr>
            <p:ph idx="1"/>
          </p:nvPr>
        </p:nvSpPr>
        <p:spPr>
          <a:xfrm>
            <a:off x="457200" y="1176543"/>
            <a:ext cx="8229600" cy="4525963"/>
          </a:xfrm>
        </p:spPr>
        <p:txBody>
          <a:bodyPr>
            <a:noAutofit/>
          </a:bodyPr>
          <a:lstStyle/>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Arrays store elements in </a:t>
            </a:r>
            <a:r>
              <a:rPr lang="en-US" altLang="en-US" sz="2300" b="1" dirty="0">
                <a:latin typeface="Times New Roman" panose="02020603050405020304" pitchFamily="18" charset="0"/>
                <a:cs typeface="Times New Roman" panose="02020603050405020304" pitchFamily="18" charset="0"/>
              </a:rPr>
              <a:t>contiguous memory</a:t>
            </a:r>
            <a:r>
              <a:rPr lang="en-US" altLang="en-US" sz="2300" dirty="0">
                <a:latin typeface="Times New Roman" panose="02020603050405020304" pitchFamily="18" charset="0"/>
                <a:cs typeface="Times New Roman" panose="02020603050405020304" pitchFamily="18" charset="0"/>
              </a:rPr>
              <a:t>; linked lists use </a:t>
            </a:r>
            <a:r>
              <a:rPr lang="en-US" altLang="en-US" sz="2300" b="1" dirty="0">
                <a:latin typeface="Times New Roman" panose="02020603050405020304" pitchFamily="18" charset="0"/>
                <a:cs typeface="Times New Roman" panose="02020603050405020304" pitchFamily="18" charset="0"/>
              </a:rPr>
              <a:t>non-contiguous memory</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Static arrays have </a:t>
            </a:r>
            <a:r>
              <a:rPr lang="en-US" altLang="en-US" sz="2300" b="1" dirty="0">
                <a:latin typeface="Times New Roman" panose="02020603050405020304" pitchFamily="18" charset="0"/>
                <a:cs typeface="Times New Roman" panose="02020603050405020304" pitchFamily="18" charset="0"/>
              </a:rPr>
              <a:t>fixed size</a:t>
            </a:r>
            <a:r>
              <a:rPr lang="en-US" altLang="en-US" sz="2300" dirty="0">
                <a:latin typeface="Times New Roman" panose="02020603050405020304" pitchFamily="18" charset="0"/>
                <a:cs typeface="Times New Roman" panose="02020603050405020304" pitchFamily="18" charset="0"/>
              </a:rPr>
              <a:t>; dynamic arrays are </a:t>
            </a:r>
            <a:r>
              <a:rPr lang="en-US" altLang="en-US" sz="2300" b="1" dirty="0">
                <a:latin typeface="Times New Roman" panose="02020603050405020304" pitchFamily="18" charset="0"/>
                <a:cs typeface="Times New Roman" panose="02020603050405020304" pitchFamily="18" charset="0"/>
              </a:rPr>
              <a:t>resizable</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Linked lists support </a:t>
            </a:r>
            <a:r>
              <a:rPr lang="en-US" altLang="en-US" sz="2300" b="1" dirty="0">
                <a:latin typeface="Times New Roman" panose="02020603050405020304" pitchFamily="18" charset="0"/>
                <a:cs typeface="Times New Roman" panose="02020603050405020304" pitchFamily="18" charset="0"/>
              </a:rPr>
              <a:t>efficient insertion/deletion</a:t>
            </a:r>
            <a:r>
              <a:rPr lang="en-US" altLang="en-US" sz="2300" dirty="0">
                <a:latin typeface="Times New Roman" panose="02020603050405020304" pitchFamily="18" charset="0"/>
                <a:cs typeface="Times New Roman" panose="02020603050405020304" pitchFamily="18" charset="0"/>
              </a:rPr>
              <a:t> but lack direct access.</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Stack is a </a:t>
            </a:r>
            <a:r>
              <a:rPr lang="en-US" altLang="en-US" sz="2300" b="1" dirty="0">
                <a:latin typeface="Times New Roman" panose="02020603050405020304" pitchFamily="18" charset="0"/>
                <a:cs typeface="Times New Roman" panose="02020603050405020304" pitchFamily="18" charset="0"/>
              </a:rPr>
              <a:t>LIFO</a:t>
            </a:r>
            <a:r>
              <a:rPr lang="en-US" altLang="en-US" sz="2300" dirty="0">
                <a:latin typeface="Times New Roman" panose="02020603050405020304" pitchFamily="18" charset="0"/>
                <a:cs typeface="Times New Roman" panose="02020603050405020304" pitchFamily="18" charset="0"/>
              </a:rPr>
              <a:t> structure used in expression evaluation, recursion, and backtracking.</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Queue is a </a:t>
            </a:r>
            <a:r>
              <a:rPr lang="en-US" altLang="en-US" sz="2300" b="1" dirty="0">
                <a:latin typeface="Times New Roman" panose="02020603050405020304" pitchFamily="18" charset="0"/>
                <a:cs typeface="Times New Roman" panose="02020603050405020304" pitchFamily="18" charset="0"/>
              </a:rPr>
              <a:t>FIFO</a:t>
            </a:r>
            <a:r>
              <a:rPr lang="en-US" altLang="en-US" sz="2300" dirty="0">
                <a:latin typeface="Times New Roman" panose="02020603050405020304" pitchFamily="18" charset="0"/>
                <a:cs typeface="Times New Roman" panose="02020603050405020304" pitchFamily="18" charset="0"/>
              </a:rPr>
              <a:t> structure used in scheduling, buffering, and BFS.</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Circular queues improve </a:t>
            </a:r>
            <a:r>
              <a:rPr lang="en-US" altLang="en-US" sz="2300" b="1" dirty="0">
                <a:latin typeface="Times New Roman" panose="02020603050405020304" pitchFamily="18" charset="0"/>
                <a:cs typeface="Times New Roman" panose="02020603050405020304" pitchFamily="18" charset="0"/>
              </a:rPr>
              <a:t>memory utilization</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BFS traverses graphs </a:t>
            </a:r>
            <a:r>
              <a:rPr lang="en-US" altLang="en-US" sz="2300" b="1" dirty="0">
                <a:latin typeface="Times New Roman" panose="02020603050405020304" pitchFamily="18" charset="0"/>
                <a:cs typeface="Times New Roman" panose="02020603050405020304" pitchFamily="18" charset="0"/>
              </a:rPr>
              <a:t>level by level using a queue</a:t>
            </a:r>
            <a:r>
              <a:rPr lang="en-US" altLang="en-US" sz="2300" dirty="0">
                <a:latin typeface="Times New Roman" panose="02020603050405020304" pitchFamily="18" charset="0"/>
                <a:cs typeface="Times New Roman" panose="02020603050405020304" pitchFamily="18" charset="0"/>
              </a:rPr>
              <a:t>.</a:t>
            </a:r>
          </a:p>
          <a:p>
            <a:pPr marL="268288" lvl="0" indent="-268288" algn="just" eaLnBrk="0" fontAlgn="base" hangingPunct="0">
              <a:spcBef>
                <a:spcPts val="600"/>
              </a:spcBef>
              <a:spcAft>
                <a:spcPct val="0"/>
              </a:spcAft>
              <a:buFontTx/>
              <a:buChar char="•"/>
            </a:pPr>
            <a:r>
              <a:rPr lang="en-US" altLang="en-US" sz="2300" dirty="0">
                <a:latin typeface="Times New Roman" panose="02020603050405020304" pitchFamily="18" charset="0"/>
                <a:cs typeface="Times New Roman" panose="02020603050405020304" pitchFamily="18" charset="0"/>
              </a:rPr>
              <a:t>Correct pointer/index updates are crucial in stack and queue operations.</a:t>
            </a:r>
          </a:p>
        </p:txBody>
      </p:sp>
    </p:spTree>
    <p:extLst>
      <p:ext uri="{BB962C8B-B14F-4D97-AF65-F5344CB8AC3E}">
        <p14:creationId xmlns:p14="http://schemas.microsoft.com/office/powerpoint/2010/main" val="34213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2B4D2-A8D2-0540-3D5D-90E5BA475FD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D900CBD-7349-29E5-A527-8D5E36E2681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E71710B-EADB-A893-E51E-4B9FC6AEA2E6}"/>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6CCA9003-DCCB-0DCC-8549-4CB39D7CDF6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7A9C69-F778-7CFA-FDB3-A5169FE7A5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0741" y="6337479"/>
            <a:ext cx="2411760" cy="346691"/>
          </a:xfrm>
          <a:prstGeom prst="rect">
            <a:avLst/>
          </a:prstGeom>
        </p:spPr>
      </p:pic>
      <p:sp>
        <p:nvSpPr>
          <p:cNvPr id="6" name="TextBox 5">
            <a:extLst>
              <a:ext uri="{FF2B5EF4-FFF2-40B4-BE49-F238E27FC236}">
                <a16:creationId xmlns:a16="http://schemas.microsoft.com/office/drawing/2014/main" id="{02E9FB76-187A-1829-B7CF-1D3F94E6D4D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FC89C9F6-4D83-9C8C-B249-11BE1F82B3B6}"/>
              </a:ext>
            </a:extLst>
          </p:cNvPr>
          <p:cNvSpPr txBox="1"/>
          <p:nvPr/>
        </p:nvSpPr>
        <p:spPr>
          <a:xfrm>
            <a:off x="216025" y="1144192"/>
            <a:ext cx="8748463" cy="4816703"/>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fontAlgn="ctr">
              <a:spcBef>
                <a:spcPts val="600"/>
              </a:spcBef>
            </a:pPr>
            <a:r>
              <a:rPr lang="en-IN" dirty="0">
                <a:latin typeface="Times New Roman" panose="02020603050405020304" pitchFamily="18" charset="0"/>
                <a:cs typeface="Times New Roman" panose="02020603050405020304" pitchFamily="18" charset="0"/>
                <a:hlinkClick r:id="rId5"/>
              </a:rPr>
              <a:t>https://www.geeksforgeeks.org/dsa/dsa-tutorial-learn-data-structures-and-algorithms/</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Id6"/>
              </a:rPr>
              <a:t>https://www.w3schools.com/dsa/dsa_data_stacks.php</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Id7"/>
              </a:rPr>
              <a:t>https://www.programiz.com/dsa/queue</a:t>
            </a:r>
            <a:r>
              <a:rPr lang="en-IN" dirty="0">
                <a:latin typeface="Times New Roman" panose="02020603050405020304" pitchFamily="18" charset="0"/>
                <a:cs typeface="Times New Roman" panose="02020603050405020304" pitchFamily="18" charset="0"/>
              </a:rPr>
              <a:t> </a:t>
            </a:r>
          </a:p>
          <a:p>
            <a:pPr fontAlgn="ctr">
              <a:spcBef>
                <a:spcPts val="600"/>
              </a:spcBef>
            </a:pPr>
            <a:r>
              <a:rPr lang="en-IN" dirty="0">
                <a:latin typeface="Times New Roman" panose="02020603050405020304" pitchFamily="18" charset="0"/>
                <a:cs typeface="Times New Roman" panose="02020603050405020304" pitchFamily="18" charset="0"/>
                <a:hlinkClick r:id="rId8"/>
              </a:rPr>
              <a:t>https://www.tutorialspoint.com/data_structures_algorithms/linked_list_algorithms.htm</a:t>
            </a:r>
            <a:endParaRPr lang="en-IN" dirty="0">
              <a:latin typeface="Times New Roman" panose="02020603050405020304" pitchFamily="18" charset="0"/>
              <a:cs typeface="Times New Roman" panose="02020603050405020304" pitchFamily="18" charset="0"/>
            </a:endParaRPr>
          </a:p>
          <a:p>
            <a:pPr fontAlgn="ctr">
              <a:spcBef>
                <a:spcPts val="600"/>
              </a:spcBef>
            </a:pPr>
            <a:endParaRPr lang="en-IN"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E8AF5305-A19D-A366-0884-D99B02E512A8}"/>
              </a:ext>
            </a:extLst>
          </p:cNvPr>
          <p:cNvSpPr>
            <a:spLocks noGrp="1"/>
          </p:cNvSpPr>
          <p:nvPr>
            <p:ph type="sldNum" sz="quarter" idx="12"/>
          </p:nvPr>
        </p:nvSpPr>
        <p:spPr/>
        <p:txBody>
          <a:bodyPr/>
          <a:lstStyle/>
          <a:p>
            <a:fld id="{C421C46D-3F04-4F73-BF36-E6D9DA5AE143}" type="slidenum">
              <a:rPr lang="en-IN" smtClean="0"/>
              <a:t>47</a:t>
            </a:fld>
            <a:endParaRPr lang="en-IN"/>
          </a:p>
        </p:txBody>
      </p:sp>
    </p:spTree>
    <p:extLst>
      <p:ext uri="{BB962C8B-B14F-4D97-AF65-F5344CB8AC3E}">
        <p14:creationId xmlns:p14="http://schemas.microsoft.com/office/powerpoint/2010/main" val="31501337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86BD4-0C46-7723-3D33-4A396A199EC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9D137C-AB62-EEE0-8D48-C1AC00FB7F1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a:extLst>
              <a:ext uri="{FF2B5EF4-FFF2-40B4-BE49-F238E27FC236}">
                <a16:creationId xmlns:a16="http://schemas.microsoft.com/office/drawing/2014/main" id="{DF0AD931-41F5-5766-D306-C893F5B163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106362-5908-0850-F1E0-F9372D054593}"/>
              </a:ext>
            </a:extLst>
          </p:cNvPr>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a:extLst>
              <a:ext uri="{FF2B5EF4-FFF2-40B4-BE49-F238E27FC236}">
                <a16:creationId xmlns:a16="http://schemas.microsoft.com/office/drawing/2014/main" id="{C05C6DA1-3C0A-0EB2-3E6B-C7CFCA827C6C}"/>
              </a:ext>
            </a:extLst>
          </p:cNvPr>
          <p:cNvSpPr>
            <a:spLocks noGrp="1"/>
          </p:cNvSpPr>
          <p:nvPr>
            <p:ph type="sldNum" sz="quarter" idx="12"/>
          </p:nvPr>
        </p:nvSpPr>
        <p:spPr/>
        <p:txBody>
          <a:bodyPr/>
          <a:lstStyle/>
          <a:p>
            <a:fld id="{C421C46D-3F04-4F73-BF36-E6D9DA5AE143}" type="slidenum">
              <a:rPr lang="en-IN" smtClean="0"/>
              <a:t>48</a:t>
            </a:fld>
            <a:endParaRPr lang="en-IN"/>
          </a:p>
        </p:txBody>
      </p:sp>
    </p:spTree>
    <p:extLst>
      <p:ext uri="{BB962C8B-B14F-4D97-AF65-F5344CB8AC3E}">
        <p14:creationId xmlns:p14="http://schemas.microsoft.com/office/powerpoint/2010/main" val="27849606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23772</TotalTime>
  <Words>5169</Words>
  <Application>Microsoft Office PowerPoint</Application>
  <PresentationFormat>On-screen Show (4:3)</PresentationFormat>
  <Paragraphs>1005</Paragraphs>
  <Slides>48</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1474</cp:revision>
  <cp:lastPrinted>2022-09-05T08:43:44Z</cp:lastPrinted>
  <dcterms:created xsi:type="dcterms:W3CDTF">2020-01-16T09:05:56Z</dcterms:created>
  <dcterms:modified xsi:type="dcterms:W3CDTF">2026-02-10T20:58:08Z</dcterms:modified>
</cp:coreProperties>
</file>