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575" r:id="rId2"/>
    <p:sldId id="565" r:id="rId3"/>
    <p:sldId id="576" r:id="rId4"/>
    <p:sldId id="520" r:id="rId5"/>
    <p:sldId id="513" r:id="rId6"/>
    <p:sldId id="515" r:id="rId7"/>
    <p:sldId id="256" r:id="rId8"/>
    <p:sldId id="257" r:id="rId9"/>
    <p:sldId id="258" r:id="rId10"/>
    <p:sldId id="259" r:id="rId11"/>
    <p:sldId id="260" r:id="rId12"/>
    <p:sldId id="261" r:id="rId13"/>
    <p:sldId id="262" r:id="rId14"/>
    <p:sldId id="263" r:id="rId15"/>
    <p:sldId id="264" r:id="rId16"/>
    <p:sldId id="265" r:id="rId17"/>
    <p:sldId id="516" r:id="rId18"/>
    <p:sldId id="518" r:id="rId19"/>
    <p:sldId id="519" r:id="rId20"/>
    <p:sldId id="572" r:id="rId21"/>
    <p:sldId id="573" r:id="rId22"/>
    <p:sldId id="285" r:id="rId23"/>
    <p:sldId id="58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0E4210-17AE-9819-B803-70D30DB4ECB5}" v="2" dt="2025-10-27T04:00:36.587"/>
    <p1510:client id="{F60EC628-DCC2-F4DC-4C52-5F31B7E5F72B}" v="3" dt="2025-10-27T04:48:34.0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amta Raj" userId="S::mamta.raj@krmangalam.edu.in::0a76fcc5-297e-428b-90ab-28c83dfed7e1" providerId="AD" clId="Web-{270E4210-17AE-9819-B803-70D30DB4ECB5}"/>
    <pc:docChg chg="modSld">
      <pc:chgData name="Dr. Mamta Raj" userId="S::mamta.raj@krmangalam.edu.in::0a76fcc5-297e-428b-90ab-28c83dfed7e1" providerId="AD" clId="Web-{270E4210-17AE-9819-B803-70D30DB4ECB5}" dt="2025-10-27T04:00:36.587" v="1"/>
      <pc:docMkLst>
        <pc:docMk/>
      </pc:docMkLst>
      <pc:sldChg chg="modSp">
        <pc:chgData name="Dr. Mamta Raj" userId="S::mamta.raj@krmangalam.edu.in::0a76fcc5-297e-428b-90ab-28c83dfed7e1" providerId="AD" clId="Web-{270E4210-17AE-9819-B803-70D30DB4ECB5}" dt="2025-10-27T04:00:36.587" v="1"/>
        <pc:sldMkLst>
          <pc:docMk/>
          <pc:sldMk cId="1007366914" sldId="565"/>
        </pc:sldMkLst>
        <pc:graphicFrameChg chg="modGraphic">
          <ac:chgData name="Dr. Mamta Raj" userId="S::mamta.raj@krmangalam.edu.in::0a76fcc5-297e-428b-90ab-28c83dfed7e1" providerId="AD" clId="Web-{270E4210-17AE-9819-B803-70D30DB4ECB5}" dt="2025-10-27T04:00:36.587" v="1"/>
          <ac:graphicFrameMkLst>
            <pc:docMk/>
            <pc:sldMk cId="1007366914" sldId="565"/>
            <ac:graphicFrameMk id="5" creationId="{51130B51-5D20-E559-24C6-4BFE42A43613}"/>
          </ac:graphicFrameMkLst>
        </pc:graphicFrameChg>
      </pc:sldChg>
    </pc:docChg>
  </pc:docChgLst>
  <pc:docChgLst>
    <pc:chgData name="Dr. Mehak Ahuja" userId="S::mehak.ahuja@krmangalam.edu.in::c5c841d9-01a2-49ff-87b7-111eb2ad3848" providerId="AD" clId="Web-{F60EC628-DCC2-F4DC-4C52-5F31B7E5F72B}"/>
    <pc:docChg chg="modSld">
      <pc:chgData name="Dr. Mehak Ahuja" userId="S::mehak.ahuja@krmangalam.edu.in::c5c841d9-01a2-49ff-87b7-111eb2ad3848" providerId="AD" clId="Web-{F60EC628-DCC2-F4DC-4C52-5F31B7E5F72B}" dt="2025-10-27T04:48:34.044" v="2" actId="1076"/>
      <pc:docMkLst>
        <pc:docMk/>
      </pc:docMkLst>
      <pc:sldChg chg="addSp delSp modSp">
        <pc:chgData name="Dr. Mehak Ahuja" userId="S::mehak.ahuja@krmangalam.edu.in::c5c841d9-01a2-49ff-87b7-111eb2ad3848" providerId="AD" clId="Web-{F60EC628-DCC2-F4DC-4C52-5F31B7E5F72B}" dt="2025-10-27T04:48:34.044" v="2" actId="1076"/>
        <pc:sldMkLst>
          <pc:docMk/>
          <pc:sldMk cId="1007366914" sldId="565"/>
        </pc:sldMkLst>
        <pc:graphicFrameChg chg="add mod">
          <ac:chgData name="Dr. Mehak Ahuja" userId="S::mehak.ahuja@krmangalam.edu.in::c5c841d9-01a2-49ff-87b7-111eb2ad3848" providerId="AD" clId="Web-{F60EC628-DCC2-F4DC-4C52-5F31B7E5F72B}" dt="2025-10-27T04:48:34.044" v="2" actId="1076"/>
          <ac:graphicFrameMkLst>
            <pc:docMk/>
            <pc:sldMk cId="1007366914" sldId="565"/>
            <ac:graphicFrameMk id="4" creationId="{D898C527-33DB-8386-9A36-7F97E07E5410}"/>
          </ac:graphicFrameMkLst>
        </pc:graphicFrameChg>
        <pc:graphicFrameChg chg="del">
          <ac:chgData name="Dr. Mehak Ahuja" userId="S::mehak.ahuja@krmangalam.edu.in::c5c841d9-01a2-49ff-87b7-111eb2ad3848" providerId="AD" clId="Web-{F60EC628-DCC2-F4DC-4C52-5F31B7E5F72B}" dt="2025-10-27T04:28:16.892" v="0"/>
          <ac:graphicFrameMkLst>
            <pc:docMk/>
            <pc:sldMk cId="1007366914" sldId="565"/>
            <ac:graphicFrameMk id="5" creationId="{51130B51-5D20-E559-24C6-4BFE42A43613}"/>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197D1C-C8C7-4B7D-A14A-F8DDC3A6DCE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E7A032A-16F1-46AF-8B22-86037CEB9DA0}">
      <dgm:prSet/>
      <dgm:spPr/>
      <dgm:t>
        <a:bodyPr/>
        <a:lstStyle/>
        <a:p>
          <a:pPr>
            <a:lnSpc>
              <a:spcPct val="100000"/>
            </a:lnSpc>
          </a:pPr>
          <a:r>
            <a:rPr lang="en-IN" b="1" dirty="0"/>
            <a:t>CO1: </a:t>
          </a:r>
          <a:r>
            <a:rPr lang="en-US" b="1" dirty="0"/>
            <a:t>Understand</a:t>
          </a:r>
          <a:r>
            <a:rPr lang="en-US" dirty="0"/>
            <a:t> the methods for water hardness and the basics of boiler water treatment and analyze fuel calorific values and battery.</a:t>
          </a:r>
        </a:p>
      </dgm:t>
    </dgm:pt>
    <dgm:pt modelId="{F86E09F7-486D-4BEF-A923-F14FEC225C64}" type="parTrans" cxnId="{3320C3F2-A6CD-41CE-AF17-60423ED069A6}">
      <dgm:prSet/>
      <dgm:spPr/>
      <dgm:t>
        <a:bodyPr/>
        <a:lstStyle/>
        <a:p>
          <a:endParaRPr lang="en-US"/>
        </a:p>
      </dgm:t>
    </dgm:pt>
    <dgm:pt modelId="{3FC4EF5E-B808-440A-9E2C-4F7831C8CE8C}" type="sibTrans" cxnId="{3320C3F2-A6CD-41CE-AF17-60423ED069A6}">
      <dgm:prSet/>
      <dgm:spPr/>
      <dgm:t>
        <a:bodyPr/>
        <a:lstStyle/>
        <a:p>
          <a:endParaRPr lang="en-US"/>
        </a:p>
      </dgm:t>
    </dgm:pt>
    <dgm:pt modelId="{0B198A1D-F0DF-4034-A8BC-B066E7FF3EDB}">
      <dgm:prSet/>
      <dgm:spPr/>
      <dgm:t>
        <a:bodyPr/>
        <a:lstStyle/>
        <a:p>
          <a:pPr>
            <a:lnSpc>
              <a:spcPct val="100000"/>
            </a:lnSpc>
          </a:pPr>
          <a:r>
            <a:rPr lang="en-IN" b="1" dirty="0"/>
            <a:t>CO2: </a:t>
          </a:r>
          <a:r>
            <a:rPr lang="en-US" b="1" dirty="0"/>
            <a:t>Explain</a:t>
          </a:r>
          <a:r>
            <a:rPr lang="en-US" dirty="0"/>
            <a:t> the characteristics and working principles of different battery types and types of fuels. </a:t>
          </a:r>
          <a:endParaRPr lang="en-IN" dirty="0"/>
        </a:p>
      </dgm:t>
    </dgm:pt>
    <dgm:pt modelId="{134E97FE-7EA1-4ADC-83A6-E3D5A6596EBE}" type="parTrans" cxnId="{3D6D94CC-9AFE-4BCD-A5DC-7F3DCEE6B33F}">
      <dgm:prSet/>
      <dgm:spPr/>
      <dgm:t>
        <a:bodyPr/>
        <a:lstStyle/>
        <a:p>
          <a:endParaRPr lang="en-IN"/>
        </a:p>
      </dgm:t>
    </dgm:pt>
    <dgm:pt modelId="{04E66C80-9E50-4D38-B67A-F4FA2D865CE3}" type="sibTrans" cxnId="{3D6D94CC-9AFE-4BCD-A5DC-7F3DCEE6B33F}">
      <dgm:prSet/>
      <dgm:spPr/>
      <dgm:t>
        <a:bodyPr/>
        <a:lstStyle/>
        <a:p>
          <a:endParaRPr lang="en-IN"/>
        </a:p>
      </dgm:t>
    </dgm:pt>
    <dgm:pt modelId="{EEB38B72-A912-468A-BFC3-8EE4A0CB542B}">
      <dgm:prSet/>
      <dgm:spPr/>
      <dgm:t>
        <a:bodyPr/>
        <a:lstStyle/>
        <a:p>
          <a:pPr>
            <a:lnSpc>
              <a:spcPct val="100000"/>
            </a:lnSpc>
          </a:pPr>
          <a:r>
            <a:rPr lang="en-IN" b="1" dirty="0"/>
            <a:t>CO3: </a:t>
          </a:r>
          <a:r>
            <a:rPr lang="en-US" b="1" dirty="0"/>
            <a:t>Determine</a:t>
          </a:r>
          <a:r>
            <a:rPr lang="en-US" dirty="0"/>
            <a:t> the differences between batteries and fuel cells and classify fuel cell types based on their components.</a:t>
          </a:r>
          <a:r>
            <a:rPr lang="en-IN" dirty="0"/>
            <a:t>. </a:t>
          </a:r>
        </a:p>
      </dgm:t>
    </dgm:pt>
    <dgm:pt modelId="{740ADBB8-CDAC-40D3-99FE-E2752AA6F6F5}" type="parTrans" cxnId="{5AC764CA-156A-405F-A245-8AE6D91B80B0}">
      <dgm:prSet/>
      <dgm:spPr/>
      <dgm:t>
        <a:bodyPr/>
        <a:lstStyle/>
        <a:p>
          <a:endParaRPr lang="en-IN"/>
        </a:p>
      </dgm:t>
    </dgm:pt>
    <dgm:pt modelId="{B2634535-4686-436F-A9EC-5C2A6D4668CD}" type="sibTrans" cxnId="{5AC764CA-156A-405F-A245-8AE6D91B80B0}">
      <dgm:prSet/>
      <dgm:spPr/>
      <dgm:t>
        <a:bodyPr/>
        <a:lstStyle/>
        <a:p>
          <a:endParaRPr lang="en-IN"/>
        </a:p>
      </dgm:t>
    </dgm:pt>
    <dgm:pt modelId="{862F3A91-D739-459C-AA59-ACC91F401002}">
      <dgm:prSet/>
      <dgm:spPr/>
      <dgm:t>
        <a:bodyPr/>
        <a:lstStyle/>
        <a:p>
          <a:pPr>
            <a:lnSpc>
              <a:spcPct val="100000"/>
            </a:lnSpc>
          </a:pPr>
          <a:r>
            <a:rPr lang="en-IN" b="1" dirty="0"/>
            <a:t>CO4: </a:t>
          </a:r>
          <a:r>
            <a:rPr lang="en-US" b="1" dirty="0"/>
            <a:t>Identify</a:t>
          </a:r>
          <a:r>
            <a:rPr lang="en-US" dirty="0"/>
            <a:t> between hard and soft water, solve the related numerical problems on water purification and emf and its significance in industry and daily life.</a:t>
          </a:r>
          <a:endParaRPr lang="en-IN" dirty="0"/>
        </a:p>
      </dgm:t>
    </dgm:pt>
    <dgm:pt modelId="{921011F5-0208-4207-BF03-301150786E64}" type="parTrans" cxnId="{3D8F8866-8328-49C1-81AE-8F591F259B99}">
      <dgm:prSet/>
      <dgm:spPr/>
      <dgm:t>
        <a:bodyPr/>
        <a:lstStyle/>
        <a:p>
          <a:endParaRPr lang="en-IN"/>
        </a:p>
      </dgm:t>
    </dgm:pt>
    <dgm:pt modelId="{831DC015-3E12-4E16-A5EC-98A7F0C54591}" type="sibTrans" cxnId="{3D8F8866-8328-49C1-81AE-8F591F259B99}">
      <dgm:prSet/>
      <dgm:spPr/>
      <dgm:t>
        <a:bodyPr/>
        <a:lstStyle/>
        <a:p>
          <a:endParaRPr lang="en-IN"/>
        </a:p>
      </dgm:t>
    </dgm:pt>
    <dgm:pt modelId="{2536D237-47EA-4B37-A454-BB90BD199B6A}" type="pres">
      <dgm:prSet presAssocID="{98197D1C-C8C7-4B7D-A14A-F8DDC3A6DCEA}" presName="root" presStyleCnt="0">
        <dgm:presLayoutVars>
          <dgm:dir/>
          <dgm:resizeHandles val="exact"/>
        </dgm:presLayoutVars>
      </dgm:prSet>
      <dgm:spPr/>
    </dgm:pt>
    <dgm:pt modelId="{379558B8-FE68-46C2-8D91-F37CFA5AF511}" type="pres">
      <dgm:prSet presAssocID="{1E7A032A-16F1-46AF-8B22-86037CEB9DA0}" presName="compNode" presStyleCnt="0"/>
      <dgm:spPr/>
    </dgm:pt>
    <dgm:pt modelId="{F41D418F-7B3C-47CC-81B2-AE3147FC537D}" type="pres">
      <dgm:prSet presAssocID="{1E7A032A-16F1-46AF-8B22-86037CEB9DA0}" presName="bgRect" presStyleLbl="bgShp" presStyleIdx="0" presStyleCnt="4"/>
      <dgm:spPr/>
    </dgm:pt>
    <dgm:pt modelId="{8CBEF6DD-AA1D-47DF-9638-57CD9E704645}" type="pres">
      <dgm:prSet presAssocID="{1E7A032A-16F1-46AF-8B22-86037CEB9DA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croscope"/>
        </a:ext>
      </dgm:extLst>
    </dgm:pt>
    <dgm:pt modelId="{D399F639-EE39-4BCB-8E7E-86EA8EBD54FF}" type="pres">
      <dgm:prSet presAssocID="{1E7A032A-16F1-46AF-8B22-86037CEB9DA0}" presName="spaceRect" presStyleCnt="0"/>
      <dgm:spPr/>
    </dgm:pt>
    <dgm:pt modelId="{C859899F-9E11-47BC-ABD7-B1ADA39E6E4E}" type="pres">
      <dgm:prSet presAssocID="{1E7A032A-16F1-46AF-8B22-86037CEB9DA0}" presName="parTx" presStyleLbl="revTx" presStyleIdx="0" presStyleCnt="4">
        <dgm:presLayoutVars>
          <dgm:chMax val="0"/>
          <dgm:chPref val="0"/>
        </dgm:presLayoutVars>
      </dgm:prSet>
      <dgm:spPr/>
    </dgm:pt>
    <dgm:pt modelId="{90216848-D318-4661-B39E-EF10D6A71FA1}" type="pres">
      <dgm:prSet presAssocID="{3FC4EF5E-B808-440A-9E2C-4F7831C8CE8C}" presName="sibTrans" presStyleCnt="0"/>
      <dgm:spPr/>
    </dgm:pt>
    <dgm:pt modelId="{F95D8AB0-6A9B-485A-BDE4-E4A68A9A505E}" type="pres">
      <dgm:prSet presAssocID="{0B198A1D-F0DF-4034-A8BC-B066E7FF3EDB}" presName="compNode" presStyleCnt="0"/>
      <dgm:spPr/>
    </dgm:pt>
    <dgm:pt modelId="{C012FC80-3824-4EFE-9F5A-114D1483AA54}" type="pres">
      <dgm:prSet presAssocID="{0B198A1D-F0DF-4034-A8BC-B066E7FF3EDB}" presName="bgRect" presStyleLbl="bgShp" presStyleIdx="1" presStyleCnt="4"/>
      <dgm:spPr/>
    </dgm:pt>
    <dgm:pt modelId="{B4D3A1C4-4BA4-4014-841A-6B71C45548B0}" type="pres">
      <dgm:prSet presAssocID="{0B198A1D-F0DF-4034-A8BC-B066E7FF3ED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ientist"/>
        </a:ext>
      </dgm:extLst>
    </dgm:pt>
    <dgm:pt modelId="{7EBC6868-9C28-4991-8CF1-9D70A6D813FC}" type="pres">
      <dgm:prSet presAssocID="{0B198A1D-F0DF-4034-A8BC-B066E7FF3EDB}" presName="spaceRect" presStyleCnt="0"/>
      <dgm:spPr/>
    </dgm:pt>
    <dgm:pt modelId="{D44C2E2F-D83F-4A52-A6C0-E2CA822CE068}" type="pres">
      <dgm:prSet presAssocID="{0B198A1D-F0DF-4034-A8BC-B066E7FF3EDB}" presName="parTx" presStyleLbl="revTx" presStyleIdx="1" presStyleCnt="4">
        <dgm:presLayoutVars>
          <dgm:chMax val="0"/>
          <dgm:chPref val="0"/>
        </dgm:presLayoutVars>
      </dgm:prSet>
      <dgm:spPr/>
    </dgm:pt>
    <dgm:pt modelId="{B24887C3-295A-4F94-953B-202027765959}" type="pres">
      <dgm:prSet presAssocID="{04E66C80-9E50-4D38-B67A-F4FA2D865CE3}" presName="sibTrans" presStyleCnt="0"/>
      <dgm:spPr/>
    </dgm:pt>
    <dgm:pt modelId="{9E014CA1-8CB7-4B47-837C-FDA9CD13B899}" type="pres">
      <dgm:prSet presAssocID="{EEB38B72-A912-468A-BFC3-8EE4A0CB542B}" presName="compNode" presStyleCnt="0"/>
      <dgm:spPr/>
    </dgm:pt>
    <dgm:pt modelId="{1AE007B7-B3F8-4079-A7C6-8FECDDD7FCAC}" type="pres">
      <dgm:prSet presAssocID="{EEB38B72-A912-468A-BFC3-8EE4A0CB542B}" presName="bgRect" presStyleLbl="bgShp" presStyleIdx="2" presStyleCnt="4"/>
      <dgm:spPr/>
    </dgm:pt>
    <dgm:pt modelId="{78CE3D94-A17F-4373-8F94-FFA0F916D308}" type="pres">
      <dgm:prSet presAssocID="{EEB38B72-A912-468A-BFC3-8EE4A0CB542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tom"/>
        </a:ext>
      </dgm:extLst>
    </dgm:pt>
    <dgm:pt modelId="{2320A3BD-2636-4C64-8E3B-441C52220EBB}" type="pres">
      <dgm:prSet presAssocID="{EEB38B72-A912-468A-BFC3-8EE4A0CB542B}" presName="spaceRect" presStyleCnt="0"/>
      <dgm:spPr/>
    </dgm:pt>
    <dgm:pt modelId="{CDF8F216-6DF1-4747-B11D-32515D5ADACC}" type="pres">
      <dgm:prSet presAssocID="{EEB38B72-A912-468A-BFC3-8EE4A0CB542B}" presName="parTx" presStyleLbl="revTx" presStyleIdx="2" presStyleCnt="4">
        <dgm:presLayoutVars>
          <dgm:chMax val="0"/>
          <dgm:chPref val="0"/>
        </dgm:presLayoutVars>
      </dgm:prSet>
      <dgm:spPr/>
    </dgm:pt>
    <dgm:pt modelId="{CD869F62-C8BC-47A1-9B89-E65DF783C3B1}" type="pres">
      <dgm:prSet presAssocID="{B2634535-4686-436F-A9EC-5C2A6D4668CD}" presName="sibTrans" presStyleCnt="0"/>
      <dgm:spPr/>
    </dgm:pt>
    <dgm:pt modelId="{F41339C3-1E4E-4314-A8CA-390171776897}" type="pres">
      <dgm:prSet presAssocID="{862F3A91-D739-459C-AA59-ACC91F401002}" presName="compNode" presStyleCnt="0"/>
      <dgm:spPr/>
    </dgm:pt>
    <dgm:pt modelId="{9CC8D97A-242E-4192-9D22-094C754722C1}" type="pres">
      <dgm:prSet presAssocID="{862F3A91-D739-459C-AA59-ACC91F401002}" presName="bgRect" presStyleLbl="bgShp" presStyleIdx="3" presStyleCnt="4"/>
      <dgm:spPr/>
    </dgm:pt>
    <dgm:pt modelId="{E3801F28-382D-48CB-999F-D64AC321BFEA}" type="pres">
      <dgm:prSet presAssocID="{862F3A91-D739-459C-AA59-ACC91F40100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NA"/>
        </a:ext>
      </dgm:extLst>
    </dgm:pt>
    <dgm:pt modelId="{0EA0F913-274C-4385-B0AF-55AA690A1A7F}" type="pres">
      <dgm:prSet presAssocID="{862F3A91-D739-459C-AA59-ACC91F401002}" presName="spaceRect" presStyleCnt="0"/>
      <dgm:spPr/>
    </dgm:pt>
    <dgm:pt modelId="{C5518254-9836-41F1-BF89-7570967DD110}" type="pres">
      <dgm:prSet presAssocID="{862F3A91-D739-459C-AA59-ACC91F401002}" presName="parTx" presStyleLbl="revTx" presStyleIdx="3" presStyleCnt="4">
        <dgm:presLayoutVars>
          <dgm:chMax val="0"/>
          <dgm:chPref val="0"/>
        </dgm:presLayoutVars>
      </dgm:prSet>
      <dgm:spPr/>
    </dgm:pt>
  </dgm:ptLst>
  <dgm:cxnLst>
    <dgm:cxn modelId="{3D8F8866-8328-49C1-81AE-8F591F259B99}" srcId="{98197D1C-C8C7-4B7D-A14A-F8DDC3A6DCEA}" destId="{862F3A91-D739-459C-AA59-ACC91F401002}" srcOrd="3" destOrd="0" parTransId="{921011F5-0208-4207-BF03-301150786E64}" sibTransId="{831DC015-3E12-4E16-A5EC-98A7F0C54591}"/>
    <dgm:cxn modelId="{7FF79680-C74E-4147-8765-BB0459743B26}" type="presOf" srcId="{0B198A1D-F0DF-4034-A8BC-B066E7FF3EDB}" destId="{D44C2E2F-D83F-4A52-A6C0-E2CA822CE068}" srcOrd="0" destOrd="0" presId="urn:microsoft.com/office/officeart/2018/2/layout/IconVerticalSolidList"/>
    <dgm:cxn modelId="{F2724193-C788-48B3-869C-44D64BE70F35}" type="presOf" srcId="{98197D1C-C8C7-4B7D-A14A-F8DDC3A6DCEA}" destId="{2536D237-47EA-4B37-A454-BB90BD199B6A}" srcOrd="0" destOrd="0" presId="urn:microsoft.com/office/officeart/2018/2/layout/IconVerticalSolidList"/>
    <dgm:cxn modelId="{4D6F67AE-90DC-485B-BE19-E2CDF252AE39}" type="presOf" srcId="{1E7A032A-16F1-46AF-8B22-86037CEB9DA0}" destId="{C859899F-9E11-47BC-ABD7-B1ADA39E6E4E}" srcOrd="0" destOrd="0" presId="urn:microsoft.com/office/officeart/2018/2/layout/IconVerticalSolidList"/>
    <dgm:cxn modelId="{5AC764CA-156A-405F-A245-8AE6D91B80B0}" srcId="{98197D1C-C8C7-4B7D-A14A-F8DDC3A6DCEA}" destId="{EEB38B72-A912-468A-BFC3-8EE4A0CB542B}" srcOrd="2" destOrd="0" parTransId="{740ADBB8-CDAC-40D3-99FE-E2752AA6F6F5}" sibTransId="{B2634535-4686-436F-A9EC-5C2A6D4668CD}"/>
    <dgm:cxn modelId="{3D6D94CC-9AFE-4BCD-A5DC-7F3DCEE6B33F}" srcId="{98197D1C-C8C7-4B7D-A14A-F8DDC3A6DCEA}" destId="{0B198A1D-F0DF-4034-A8BC-B066E7FF3EDB}" srcOrd="1" destOrd="0" parTransId="{134E97FE-7EA1-4ADC-83A6-E3D5A6596EBE}" sibTransId="{04E66C80-9E50-4D38-B67A-F4FA2D865CE3}"/>
    <dgm:cxn modelId="{90315EDD-841C-4C65-B532-5FDF41F45327}" type="presOf" srcId="{862F3A91-D739-459C-AA59-ACC91F401002}" destId="{C5518254-9836-41F1-BF89-7570967DD110}" srcOrd="0" destOrd="0" presId="urn:microsoft.com/office/officeart/2018/2/layout/IconVerticalSolidList"/>
    <dgm:cxn modelId="{0B1CC3F2-2869-45FB-B2DC-E7696F446ED2}" type="presOf" srcId="{EEB38B72-A912-468A-BFC3-8EE4A0CB542B}" destId="{CDF8F216-6DF1-4747-B11D-32515D5ADACC}" srcOrd="0" destOrd="0" presId="urn:microsoft.com/office/officeart/2018/2/layout/IconVerticalSolidList"/>
    <dgm:cxn modelId="{3320C3F2-A6CD-41CE-AF17-60423ED069A6}" srcId="{98197D1C-C8C7-4B7D-A14A-F8DDC3A6DCEA}" destId="{1E7A032A-16F1-46AF-8B22-86037CEB9DA0}" srcOrd="0" destOrd="0" parTransId="{F86E09F7-486D-4BEF-A923-F14FEC225C64}" sibTransId="{3FC4EF5E-B808-440A-9E2C-4F7831C8CE8C}"/>
    <dgm:cxn modelId="{A7E58C7C-9633-4835-8FF9-137585CDD281}" type="presParOf" srcId="{2536D237-47EA-4B37-A454-BB90BD199B6A}" destId="{379558B8-FE68-46C2-8D91-F37CFA5AF511}" srcOrd="0" destOrd="0" presId="urn:microsoft.com/office/officeart/2018/2/layout/IconVerticalSolidList"/>
    <dgm:cxn modelId="{D6839034-7F36-4C87-877D-BCEA1DF0AAE2}" type="presParOf" srcId="{379558B8-FE68-46C2-8D91-F37CFA5AF511}" destId="{F41D418F-7B3C-47CC-81B2-AE3147FC537D}" srcOrd="0" destOrd="0" presId="urn:microsoft.com/office/officeart/2018/2/layout/IconVerticalSolidList"/>
    <dgm:cxn modelId="{C772F475-AEC7-4165-8E78-CA78B73AC580}" type="presParOf" srcId="{379558B8-FE68-46C2-8D91-F37CFA5AF511}" destId="{8CBEF6DD-AA1D-47DF-9638-57CD9E704645}" srcOrd="1" destOrd="0" presId="urn:microsoft.com/office/officeart/2018/2/layout/IconVerticalSolidList"/>
    <dgm:cxn modelId="{B9C7E122-50C4-492F-BACB-FBF01BE7CFB4}" type="presParOf" srcId="{379558B8-FE68-46C2-8D91-F37CFA5AF511}" destId="{D399F639-EE39-4BCB-8E7E-86EA8EBD54FF}" srcOrd="2" destOrd="0" presId="urn:microsoft.com/office/officeart/2018/2/layout/IconVerticalSolidList"/>
    <dgm:cxn modelId="{F950B035-4802-415D-9C4D-9A0A42946510}" type="presParOf" srcId="{379558B8-FE68-46C2-8D91-F37CFA5AF511}" destId="{C859899F-9E11-47BC-ABD7-B1ADA39E6E4E}" srcOrd="3" destOrd="0" presId="urn:microsoft.com/office/officeart/2018/2/layout/IconVerticalSolidList"/>
    <dgm:cxn modelId="{A58F67E3-027C-4BB9-9E5D-14FE5448C7E7}" type="presParOf" srcId="{2536D237-47EA-4B37-A454-BB90BD199B6A}" destId="{90216848-D318-4661-B39E-EF10D6A71FA1}" srcOrd="1" destOrd="0" presId="urn:microsoft.com/office/officeart/2018/2/layout/IconVerticalSolidList"/>
    <dgm:cxn modelId="{AFF4472D-11E2-44EF-AEE9-BC46928775DB}" type="presParOf" srcId="{2536D237-47EA-4B37-A454-BB90BD199B6A}" destId="{F95D8AB0-6A9B-485A-BDE4-E4A68A9A505E}" srcOrd="2" destOrd="0" presId="urn:microsoft.com/office/officeart/2018/2/layout/IconVerticalSolidList"/>
    <dgm:cxn modelId="{16EBCC3C-736D-4D2A-8013-62BA698A83A1}" type="presParOf" srcId="{F95D8AB0-6A9B-485A-BDE4-E4A68A9A505E}" destId="{C012FC80-3824-4EFE-9F5A-114D1483AA54}" srcOrd="0" destOrd="0" presId="urn:microsoft.com/office/officeart/2018/2/layout/IconVerticalSolidList"/>
    <dgm:cxn modelId="{1C3F6AF7-4688-4FE7-BBAF-6D6D009A92C1}" type="presParOf" srcId="{F95D8AB0-6A9B-485A-BDE4-E4A68A9A505E}" destId="{B4D3A1C4-4BA4-4014-841A-6B71C45548B0}" srcOrd="1" destOrd="0" presId="urn:microsoft.com/office/officeart/2018/2/layout/IconVerticalSolidList"/>
    <dgm:cxn modelId="{741DDDD6-1A7A-49A0-A205-695A360CD3D5}" type="presParOf" srcId="{F95D8AB0-6A9B-485A-BDE4-E4A68A9A505E}" destId="{7EBC6868-9C28-4991-8CF1-9D70A6D813FC}" srcOrd="2" destOrd="0" presId="urn:microsoft.com/office/officeart/2018/2/layout/IconVerticalSolidList"/>
    <dgm:cxn modelId="{473E02D5-9413-4752-9FD7-748EB0176B1B}" type="presParOf" srcId="{F95D8AB0-6A9B-485A-BDE4-E4A68A9A505E}" destId="{D44C2E2F-D83F-4A52-A6C0-E2CA822CE068}" srcOrd="3" destOrd="0" presId="urn:microsoft.com/office/officeart/2018/2/layout/IconVerticalSolidList"/>
    <dgm:cxn modelId="{2D14FF92-2CE5-48DF-BA8A-3D26E76DB63F}" type="presParOf" srcId="{2536D237-47EA-4B37-A454-BB90BD199B6A}" destId="{B24887C3-295A-4F94-953B-202027765959}" srcOrd="3" destOrd="0" presId="urn:microsoft.com/office/officeart/2018/2/layout/IconVerticalSolidList"/>
    <dgm:cxn modelId="{C6437333-FA7E-49ED-B122-6D318377C414}" type="presParOf" srcId="{2536D237-47EA-4B37-A454-BB90BD199B6A}" destId="{9E014CA1-8CB7-4B47-837C-FDA9CD13B899}" srcOrd="4" destOrd="0" presId="urn:microsoft.com/office/officeart/2018/2/layout/IconVerticalSolidList"/>
    <dgm:cxn modelId="{EC635338-9943-4F64-9AD4-47109EE7231A}" type="presParOf" srcId="{9E014CA1-8CB7-4B47-837C-FDA9CD13B899}" destId="{1AE007B7-B3F8-4079-A7C6-8FECDDD7FCAC}" srcOrd="0" destOrd="0" presId="urn:microsoft.com/office/officeart/2018/2/layout/IconVerticalSolidList"/>
    <dgm:cxn modelId="{5B4BE7A5-A3D9-4F81-A48A-C883D324BD01}" type="presParOf" srcId="{9E014CA1-8CB7-4B47-837C-FDA9CD13B899}" destId="{78CE3D94-A17F-4373-8F94-FFA0F916D308}" srcOrd="1" destOrd="0" presId="urn:microsoft.com/office/officeart/2018/2/layout/IconVerticalSolidList"/>
    <dgm:cxn modelId="{6AFFA396-8C5F-4D9A-91DA-B320C31EEB85}" type="presParOf" srcId="{9E014CA1-8CB7-4B47-837C-FDA9CD13B899}" destId="{2320A3BD-2636-4C64-8E3B-441C52220EBB}" srcOrd="2" destOrd="0" presId="urn:microsoft.com/office/officeart/2018/2/layout/IconVerticalSolidList"/>
    <dgm:cxn modelId="{B68984CC-3A55-4DD2-9B98-E4509ED4CE58}" type="presParOf" srcId="{9E014CA1-8CB7-4B47-837C-FDA9CD13B899}" destId="{CDF8F216-6DF1-4747-B11D-32515D5ADACC}" srcOrd="3" destOrd="0" presId="urn:microsoft.com/office/officeart/2018/2/layout/IconVerticalSolidList"/>
    <dgm:cxn modelId="{92C9A28A-550C-473E-9379-C3ECA8579662}" type="presParOf" srcId="{2536D237-47EA-4B37-A454-BB90BD199B6A}" destId="{CD869F62-C8BC-47A1-9B89-E65DF783C3B1}" srcOrd="5" destOrd="0" presId="urn:microsoft.com/office/officeart/2018/2/layout/IconVerticalSolidList"/>
    <dgm:cxn modelId="{01CA2A13-DD93-4DA8-AA24-124810860048}" type="presParOf" srcId="{2536D237-47EA-4B37-A454-BB90BD199B6A}" destId="{F41339C3-1E4E-4314-A8CA-390171776897}" srcOrd="6" destOrd="0" presId="urn:microsoft.com/office/officeart/2018/2/layout/IconVerticalSolidList"/>
    <dgm:cxn modelId="{7D57C925-29C7-474F-BF3E-5E31B5E7207F}" type="presParOf" srcId="{F41339C3-1E4E-4314-A8CA-390171776897}" destId="{9CC8D97A-242E-4192-9D22-094C754722C1}" srcOrd="0" destOrd="0" presId="urn:microsoft.com/office/officeart/2018/2/layout/IconVerticalSolidList"/>
    <dgm:cxn modelId="{E9CDB2B8-0FDC-4228-85DE-7DD2C23DD343}" type="presParOf" srcId="{F41339C3-1E4E-4314-A8CA-390171776897}" destId="{E3801F28-382D-48CB-999F-D64AC321BFEA}" srcOrd="1" destOrd="0" presId="urn:microsoft.com/office/officeart/2018/2/layout/IconVerticalSolidList"/>
    <dgm:cxn modelId="{72612AEB-4519-4A62-9E83-A46F32ED653C}" type="presParOf" srcId="{F41339C3-1E4E-4314-A8CA-390171776897}" destId="{0EA0F913-274C-4385-B0AF-55AA690A1A7F}" srcOrd="2" destOrd="0" presId="urn:microsoft.com/office/officeart/2018/2/layout/IconVerticalSolidList"/>
    <dgm:cxn modelId="{814CA231-7D7A-489D-861E-E27CB4DE072E}" type="presParOf" srcId="{F41339C3-1E4E-4314-A8CA-390171776897}" destId="{C5518254-9836-41F1-BF89-7570967DD11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1D418F-7B3C-47CC-81B2-AE3147FC537D}">
      <dsp:nvSpPr>
        <dsp:cNvPr id="0" name=""/>
        <dsp:cNvSpPr/>
      </dsp:nvSpPr>
      <dsp:spPr>
        <a:xfrm>
          <a:off x="0" y="3314"/>
          <a:ext cx="4381571" cy="114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BEF6DD-AA1D-47DF-9638-57CD9E704645}">
      <dsp:nvSpPr>
        <dsp:cNvPr id="0" name=""/>
        <dsp:cNvSpPr/>
      </dsp:nvSpPr>
      <dsp:spPr>
        <a:xfrm>
          <a:off x="346792" y="261259"/>
          <a:ext cx="631148" cy="6305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59899F-9E11-47BC-ABD7-B1ADA39E6E4E}">
      <dsp:nvSpPr>
        <dsp:cNvPr id="0" name=""/>
        <dsp:cNvSpPr/>
      </dsp:nvSpPr>
      <dsp:spPr>
        <a:xfrm>
          <a:off x="1324733" y="3314"/>
          <a:ext cx="2762446" cy="114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48" tIns="121448" rIns="121448" bIns="121448" numCol="1" spcCol="1270" anchor="ctr" anchorCtr="0">
          <a:noAutofit/>
        </a:bodyPr>
        <a:lstStyle/>
        <a:p>
          <a:pPr marL="0" lvl="0" indent="0" algn="l" defTabSz="622300">
            <a:lnSpc>
              <a:spcPct val="100000"/>
            </a:lnSpc>
            <a:spcBef>
              <a:spcPct val="0"/>
            </a:spcBef>
            <a:spcAft>
              <a:spcPct val="35000"/>
            </a:spcAft>
            <a:buNone/>
          </a:pPr>
          <a:r>
            <a:rPr lang="en-IN" sz="1400" b="1" kern="1200" dirty="0"/>
            <a:t>CO1: </a:t>
          </a:r>
          <a:r>
            <a:rPr lang="en-US" sz="1400" b="1" kern="1200" dirty="0"/>
            <a:t>Understand</a:t>
          </a:r>
          <a:r>
            <a:rPr lang="en-US" sz="1400" kern="1200" dirty="0"/>
            <a:t> the methods for water hardness and the basics of boiler water treatment and analyze fuel calorific values and battery.</a:t>
          </a:r>
        </a:p>
      </dsp:txBody>
      <dsp:txXfrm>
        <a:off x="1324733" y="3314"/>
        <a:ext cx="2762446" cy="1147542"/>
      </dsp:txXfrm>
    </dsp:sp>
    <dsp:sp modelId="{C012FC80-3824-4EFE-9F5A-114D1483AA54}">
      <dsp:nvSpPr>
        <dsp:cNvPr id="0" name=""/>
        <dsp:cNvSpPr/>
      </dsp:nvSpPr>
      <dsp:spPr>
        <a:xfrm>
          <a:off x="0" y="1429049"/>
          <a:ext cx="4381571" cy="114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D3A1C4-4BA4-4014-841A-6B71C45548B0}">
      <dsp:nvSpPr>
        <dsp:cNvPr id="0" name=""/>
        <dsp:cNvSpPr/>
      </dsp:nvSpPr>
      <dsp:spPr>
        <a:xfrm>
          <a:off x="346792" y="1686994"/>
          <a:ext cx="631148" cy="6305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4C2E2F-D83F-4A52-A6C0-E2CA822CE068}">
      <dsp:nvSpPr>
        <dsp:cNvPr id="0" name=""/>
        <dsp:cNvSpPr/>
      </dsp:nvSpPr>
      <dsp:spPr>
        <a:xfrm>
          <a:off x="1324733" y="1429049"/>
          <a:ext cx="2762446" cy="114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48" tIns="121448" rIns="121448" bIns="121448" numCol="1" spcCol="1270" anchor="ctr" anchorCtr="0">
          <a:noAutofit/>
        </a:bodyPr>
        <a:lstStyle/>
        <a:p>
          <a:pPr marL="0" lvl="0" indent="0" algn="l" defTabSz="622300">
            <a:lnSpc>
              <a:spcPct val="100000"/>
            </a:lnSpc>
            <a:spcBef>
              <a:spcPct val="0"/>
            </a:spcBef>
            <a:spcAft>
              <a:spcPct val="35000"/>
            </a:spcAft>
            <a:buNone/>
          </a:pPr>
          <a:r>
            <a:rPr lang="en-IN" sz="1400" b="1" kern="1200" dirty="0"/>
            <a:t>CO2: </a:t>
          </a:r>
          <a:r>
            <a:rPr lang="en-US" sz="1400" b="1" kern="1200" dirty="0"/>
            <a:t>Explain</a:t>
          </a:r>
          <a:r>
            <a:rPr lang="en-US" sz="1400" kern="1200" dirty="0"/>
            <a:t> the characteristics and working principles of different battery types and types of fuels. </a:t>
          </a:r>
          <a:endParaRPr lang="en-IN" sz="1400" kern="1200" dirty="0"/>
        </a:p>
      </dsp:txBody>
      <dsp:txXfrm>
        <a:off x="1324733" y="1429049"/>
        <a:ext cx="2762446" cy="1147542"/>
      </dsp:txXfrm>
    </dsp:sp>
    <dsp:sp modelId="{1AE007B7-B3F8-4079-A7C6-8FECDDD7FCAC}">
      <dsp:nvSpPr>
        <dsp:cNvPr id="0" name=""/>
        <dsp:cNvSpPr/>
      </dsp:nvSpPr>
      <dsp:spPr>
        <a:xfrm>
          <a:off x="0" y="2854784"/>
          <a:ext cx="4381571" cy="114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CE3D94-A17F-4373-8F94-FFA0F916D308}">
      <dsp:nvSpPr>
        <dsp:cNvPr id="0" name=""/>
        <dsp:cNvSpPr/>
      </dsp:nvSpPr>
      <dsp:spPr>
        <a:xfrm>
          <a:off x="346792" y="3112729"/>
          <a:ext cx="631148" cy="6305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F8F216-6DF1-4747-B11D-32515D5ADACC}">
      <dsp:nvSpPr>
        <dsp:cNvPr id="0" name=""/>
        <dsp:cNvSpPr/>
      </dsp:nvSpPr>
      <dsp:spPr>
        <a:xfrm>
          <a:off x="1324733" y="2854784"/>
          <a:ext cx="2762446" cy="114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48" tIns="121448" rIns="121448" bIns="121448" numCol="1" spcCol="1270" anchor="ctr" anchorCtr="0">
          <a:noAutofit/>
        </a:bodyPr>
        <a:lstStyle/>
        <a:p>
          <a:pPr marL="0" lvl="0" indent="0" algn="l" defTabSz="622300">
            <a:lnSpc>
              <a:spcPct val="100000"/>
            </a:lnSpc>
            <a:spcBef>
              <a:spcPct val="0"/>
            </a:spcBef>
            <a:spcAft>
              <a:spcPct val="35000"/>
            </a:spcAft>
            <a:buNone/>
          </a:pPr>
          <a:r>
            <a:rPr lang="en-IN" sz="1400" b="1" kern="1200" dirty="0"/>
            <a:t>CO3: </a:t>
          </a:r>
          <a:r>
            <a:rPr lang="en-US" sz="1400" b="1" kern="1200" dirty="0"/>
            <a:t>Determine</a:t>
          </a:r>
          <a:r>
            <a:rPr lang="en-US" sz="1400" kern="1200" dirty="0"/>
            <a:t> the differences between batteries and fuel cells and classify fuel cell types based on their components.</a:t>
          </a:r>
          <a:r>
            <a:rPr lang="en-IN" sz="1400" kern="1200" dirty="0"/>
            <a:t>. </a:t>
          </a:r>
        </a:p>
      </dsp:txBody>
      <dsp:txXfrm>
        <a:off x="1324733" y="2854784"/>
        <a:ext cx="2762446" cy="1147542"/>
      </dsp:txXfrm>
    </dsp:sp>
    <dsp:sp modelId="{9CC8D97A-242E-4192-9D22-094C754722C1}">
      <dsp:nvSpPr>
        <dsp:cNvPr id="0" name=""/>
        <dsp:cNvSpPr/>
      </dsp:nvSpPr>
      <dsp:spPr>
        <a:xfrm>
          <a:off x="0" y="4280518"/>
          <a:ext cx="4381571" cy="114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801F28-382D-48CB-999F-D64AC321BFEA}">
      <dsp:nvSpPr>
        <dsp:cNvPr id="0" name=""/>
        <dsp:cNvSpPr/>
      </dsp:nvSpPr>
      <dsp:spPr>
        <a:xfrm>
          <a:off x="346792" y="4538463"/>
          <a:ext cx="631148" cy="63053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518254-9836-41F1-BF89-7570967DD110}">
      <dsp:nvSpPr>
        <dsp:cNvPr id="0" name=""/>
        <dsp:cNvSpPr/>
      </dsp:nvSpPr>
      <dsp:spPr>
        <a:xfrm>
          <a:off x="1324733" y="4280518"/>
          <a:ext cx="2762446" cy="114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48" tIns="121448" rIns="121448" bIns="121448" numCol="1" spcCol="1270" anchor="ctr" anchorCtr="0">
          <a:noAutofit/>
        </a:bodyPr>
        <a:lstStyle/>
        <a:p>
          <a:pPr marL="0" lvl="0" indent="0" algn="l" defTabSz="622300">
            <a:lnSpc>
              <a:spcPct val="100000"/>
            </a:lnSpc>
            <a:spcBef>
              <a:spcPct val="0"/>
            </a:spcBef>
            <a:spcAft>
              <a:spcPct val="35000"/>
            </a:spcAft>
            <a:buNone/>
          </a:pPr>
          <a:r>
            <a:rPr lang="en-IN" sz="1400" b="1" kern="1200" dirty="0"/>
            <a:t>CO4: </a:t>
          </a:r>
          <a:r>
            <a:rPr lang="en-US" sz="1400" b="1" kern="1200" dirty="0"/>
            <a:t>Identify</a:t>
          </a:r>
          <a:r>
            <a:rPr lang="en-US" sz="1400" kern="1200" dirty="0"/>
            <a:t> between hard and soft water, solve the related numerical problems on water purification and emf and its significance in industry and daily life.</a:t>
          </a:r>
          <a:endParaRPr lang="en-IN" sz="1400" kern="1200" dirty="0"/>
        </a:p>
      </dsp:txBody>
      <dsp:txXfrm>
        <a:off x="1324733" y="4280518"/>
        <a:ext cx="2762446" cy="11475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E0FFEE-6213-4274-9E9B-9981941ABF06}" type="datetimeFigureOut">
              <a:rPr lang="en-IN" smtClean="0"/>
              <a:t>26-10-2025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DF36BB-13D8-4B3C-8FE5-FBEEFFAD8348}" type="slidenum">
              <a:rPr lang="en-IN" smtClean="0"/>
              <a:t>‹#›</a:t>
            </a:fld>
            <a:endParaRPr lang="en-IN"/>
          </a:p>
        </p:txBody>
      </p:sp>
    </p:spTree>
    <p:extLst>
      <p:ext uri="{BB962C8B-B14F-4D97-AF65-F5344CB8AC3E}">
        <p14:creationId xmlns:p14="http://schemas.microsoft.com/office/powerpoint/2010/main" val="2861131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9F4C811-DA96-46FA-BC8F-4500A40C51F1}" type="slidenum">
              <a:rPr lang="en-IN" smtClean="0"/>
              <a:t>1</a:t>
            </a:fld>
            <a:endParaRPr lang="en-IN"/>
          </a:p>
        </p:txBody>
      </p:sp>
    </p:spTree>
    <p:extLst>
      <p:ext uri="{BB962C8B-B14F-4D97-AF65-F5344CB8AC3E}">
        <p14:creationId xmlns:p14="http://schemas.microsoft.com/office/powerpoint/2010/main" val="3242234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52C0A-5BAA-BF88-3455-F66752E51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4B637-3722-E45C-B8ED-6C2496E10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A0D78-B8C2-070C-A75D-39390A1F04D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61FB704-FDF4-DE6A-D204-FC9442B687AE}"/>
              </a:ext>
            </a:extLst>
          </p:cNvPr>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818838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43377-FAD9-161B-014A-3BD018266A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030E154-5EA4-3439-4931-2D341120A4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50A43FA-3E50-7B3A-393E-5C61319D219B}"/>
              </a:ext>
            </a:extLst>
          </p:cNvPr>
          <p:cNvSpPr>
            <a:spLocks noGrp="1"/>
          </p:cNvSpPr>
          <p:nvPr>
            <p:ph type="dt" sz="half" idx="10"/>
          </p:nvPr>
        </p:nvSpPr>
        <p:spPr/>
        <p:txBody>
          <a:bodyPr/>
          <a:lstStyle/>
          <a:p>
            <a:fld id="{018CDA7F-DE44-4269-BCE9-E5015AD3C859}" type="datetimeFigureOut">
              <a:rPr lang="en-IN" smtClean="0"/>
              <a:t>26-10-2025</a:t>
            </a:fld>
            <a:endParaRPr lang="en-IN"/>
          </a:p>
        </p:txBody>
      </p:sp>
      <p:sp>
        <p:nvSpPr>
          <p:cNvPr id="5" name="Footer Placeholder 4">
            <a:extLst>
              <a:ext uri="{FF2B5EF4-FFF2-40B4-BE49-F238E27FC236}">
                <a16:creationId xmlns:a16="http://schemas.microsoft.com/office/drawing/2014/main" id="{15772F35-7057-D745-AAB5-EC9BB9E7B7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02059C-D8F0-C8C5-7D22-D752BD614326}"/>
              </a:ext>
            </a:extLst>
          </p:cNvPr>
          <p:cNvSpPr>
            <a:spLocks noGrp="1"/>
          </p:cNvSpPr>
          <p:nvPr>
            <p:ph type="sldNum" sz="quarter" idx="12"/>
          </p:nvPr>
        </p:nvSpPr>
        <p:spPr/>
        <p:txBody>
          <a:bodyPr/>
          <a:lstStyle/>
          <a:p>
            <a:fld id="{8AED1806-3F42-49D6-A018-EC9A3C2941AE}" type="slidenum">
              <a:rPr lang="en-IN" smtClean="0"/>
              <a:t>‹#›</a:t>
            </a:fld>
            <a:endParaRPr lang="en-IN"/>
          </a:p>
        </p:txBody>
      </p:sp>
    </p:spTree>
    <p:extLst>
      <p:ext uri="{BB962C8B-B14F-4D97-AF65-F5344CB8AC3E}">
        <p14:creationId xmlns:p14="http://schemas.microsoft.com/office/powerpoint/2010/main" val="3688370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363D0-F388-24F4-C37C-F324DB987F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FD3ECF-1AAB-595C-335B-166036D2D4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D5A077-2E92-4955-7FA8-FE14D069C843}"/>
              </a:ext>
            </a:extLst>
          </p:cNvPr>
          <p:cNvSpPr>
            <a:spLocks noGrp="1"/>
          </p:cNvSpPr>
          <p:nvPr>
            <p:ph type="dt" sz="half" idx="10"/>
          </p:nvPr>
        </p:nvSpPr>
        <p:spPr/>
        <p:txBody>
          <a:bodyPr/>
          <a:lstStyle/>
          <a:p>
            <a:fld id="{018CDA7F-DE44-4269-BCE9-E5015AD3C859}" type="datetimeFigureOut">
              <a:rPr lang="en-IN" smtClean="0"/>
              <a:t>26-10-2025</a:t>
            </a:fld>
            <a:endParaRPr lang="en-IN"/>
          </a:p>
        </p:txBody>
      </p:sp>
      <p:sp>
        <p:nvSpPr>
          <p:cNvPr id="5" name="Footer Placeholder 4">
            <a:extLst>
              <a:ext uri="{FF2B5EF4-FFF2-40B4-BE49-F238E27FC236}">
                <a16:creationId xmlns:a16="http://schemas.microsoft.com/office/drawing/2014/main" id="{860C25CD-2AD0-7F55-5E42-15543A71D2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9FFA4C-B2F9-8861-B234-EB583EB6547A}"/>
              </a:ext>
            </a:extLst>
          </p:cNvPr>
          <p:cNvSpPr>
            <a:spLocks noGrp="1"/>
          </p:cNvSpPr>
          <p:nvPr>
            <p:ph type="sldNum" sz="quarter" idx="12"/>
          </p:nvPr>
        </p:nvSpPr>
        <p:spPr/>
        <p:txBody>
          <a:bodyPr/>
          <a:lstStyle/>
          <a:p>
            <a:fld id="{8AED1806-3F42-49D6-A018-EC9A3C2941AE}" type="slidenum">
              <a:rPr lang="en-IN" smtClean="0"/>
              <a:t>‹#›</a:t>
            </a:fld>
            <a:endParaRPr lang="en-IN"/>
          </a:p>
        </p:txBody>
      </p:sp>
    </p:spTree>
    <p:extLst>
      <p:ext uri="{BB962C8B-B14F-4D97-AF65-F5344CB8AC3E}">
        <p14:creationId xmlns:p14="http://schemas.microsoft.com/office/powerpoint/2010/main" val="1041344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5705E-7FC3-A1E1-B04E-EC50D70480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69A56E-839F-AD88-C907-1EE47775A3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37917D-E796-C3D3-8B41-98EC8A21DF04}"/>
              </a:ext>
            </a:extLst>
          </p:cNvPr>
          <p:cNvSpPr>
            <a:spLocks noGrp="1"/>
          </p:cNvSpPr>
          <p:nvPr>
            <p:ph type="dt" sz="half" idx="10"/>
          </p:nvPr>
        </p:nvSpPr>
        <p:spPr/>
        <p:txBody>
          <a:bodyPr/>
          <a:lstStyle/>
          <a:p>
            <a:fld id="{018CDA7F-DE44-4269-BCE9-E5015AD3C859}" type="datetimeFigureOut">
              <a:rPr lang="en-IN" smtClean="0"/>
              <a:t>26-10-2025</a:t>
            </a:fld>
            <a:endParaRPr lang="en-IN"/>
          </a:p>
        </p:txBody>
      </p:sp>
      <p:sp>
        <p:nvSpPr>
          <p:cNvPr id="5" name="Footer Placeholder 4">
            <a:extLst>
              <a:ext uri="{FF2B5EF4-FFF2-40B4-BE49-F238E27FC236}">
                <a16:creationId xmlns:a16="http://schemas.microsoft.com/office/drawing/2014/main" id="{FEED60D2-E88B-B62B-BEAE-0205AED1A9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3E2DD7-6DF0-98EA-67F1-AFE2198736FB}"/>
              </a:ext>
            </a:extLst>
          </p:cNvPr>
          <p:cNvSpPr>
            <a:spLocks noGrp="1"/>
          </p:cNvSpPr>
          <p:nvPr>
            <p:ph type="sldNum" sz="quarter" idx="12"/>
          </p:nvPr>
        </p:nvSpPr>
        <p:spPr/>
        <p:txBody>
          <a:bodyPr/>
          <a:lstStyle/>
          <a:p>
            <a:fld id="{8AED1806-3F42-49D6-A018-EC9A3C2941AE}" type="slidenum">
              <a:rPr lang="en-IN" smtClean="0"/>
              <a:t>‹#›</a:t>
            </a:fld>
            <a:endParaRPr lang="en-IN"/>
          </a:p>
        </p:txBody>
      </p:sp>
    </p:spTree>
    <p:extLst>
      <p:ext uri="{BB962C8B-B14F-4D97-AF65-F5344CB8AC3E}">
        <p14:creationId xmlns:p14="http://schemas.microsoft.com/office/powerpoint/2010/main" val="356355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A462E-3A2E-3952-D7E3-E2601E1C72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D05443-F604-E098-DAA2-587628BE8E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447E16-C513-23A4-6246-3B92350AD5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AA9018-3CDF-F6C3-2CEA-D3AF92B78CF9}"/>
              </a:ext>
            </a:extLst>
          </p:cNvPr>
          <p:cNvSpPr>
            <a:spLocks noGrp="1"/>
          </p:cNvSpPr>
          <p:nvPr>
            <p:ph type="dt" sz="half" idx="10"/>
          </p:nvPr>
        </p:nvSpPr>
        <p:spPr/>
        <p:txBody>
          <a:bodyPr/>
          <a:lstStyle/>
          <a:p>
            <a:fld id="{018CDA7F-DE44-4269-BCE9-E5015AD3C859}" type="datetimeFigureOut">
              <a:rPr lang="en-IN" smtClean="0"/>
              <a:t>26-10-2025</a:t>
            </a:fld>
            <a:endParaRPr lang="en-IN"/>
          </a:p>
        </p:txBody>
      </p:sp>
      <p:sp>
        <p:nvSpPr>
          <p:cNvPr id="6" name="Footer Placeholder 5">
            <a:extLst>
              <a:ext uri="{FF2B5EF4-FFF2-40B4-BE49-F238E27FC236}">
                <a16:creationId xmlns:a16="http://schemas.microsoft.com/office/drawing/2014/main" id="{60A7E71C-1DB6-C3AC-9571-15D0DD8DBC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623FC4-2467-DF6C-41E5-87F3EB7ED2D5}"/>
              </a:ext>
            </a:extLst>
          </p:cNvPr>
          <p:cNvSpPr>
            <a:spLocks noGrp="1"/>
          </p:cNvSpPr>
          <p:nvPr>
            <p:ph type="sldNum" sz="quarter" idx="12"/>
          </p:nvPr>
        </p:nvSpPr>
        <p:spPr/>
        <p:txBody>
          <a:bodyPr/>
          <a:lstStyle/>
          <a:p>
            <a:fld id="{8AED1806-3F42-49D6-A018-EC9A3C2941AE}" type="slidenum">
              <a:rPr lang="en-IN" smtClean="0"/>
              <a:t>‹#›</a:t>
            </a:fld>
            <a:endParaRPr lang="en-IN"/>
          </a:p>
        </p:txBody>
      </p:sp>
    </p:spTree>
    <p:extLst>
      <p:ext uri="{BB962C8B-B14F-4D97-AF65-F5344CB8AC3E}">
        <p14:creationId xmlns:p14="http://schemas.microsoft.com/office/powerpoint/2010/main" val="2549464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79B4C-A37B-E695-EC22-5B4F93EABB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7B11E7-902C-23CD-95D3-3F9FE008E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59CB5D-74E1-A1DB-0411-F040AEA8AD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5E3FAA6-FBF1-31FB-1810-79255FCFBC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8202BA-9D5F-67FD-4AD2-2DB25E423C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D2ECAD9-5607-36A9-95FD-9B80AAA2D9A7}"/>
              </a:ext>
            </a:extLst>
          </p:cNvPr>
          <p:cNvSpPr>
            <a:spLocks noGrp="1"/>
          </p:cNvSpPr>
          <p:nvPr>
            <p:ph type="dt" sz="half" idx="10"/>
          </p:nvPr>
        </p:nvSpPr>
        <p:spPr/>
        <p:txBody>
          <a:bodyPr/>
          <a:lstStyle/>
          <a:p>
            <a:fld id="{018CDA7F-DE44-4269-BCE9-E5015AD3C859}" type="datetimeFigureOut">
              <a:rPr lang="en-IN" smtClean="0"/>
              <a:t>26-10-2025</a:t>
            </a:fld>
            <a:endParaRPr lang="en-IN"/>
          </a:p>
        </p:txBody>
      </p:sp>
      <p:sp>
        <p:nvSpPr>
          <p:cNvPr id="8" name="Footer Placeholder 7">
            <a:extLst>
              <a:ext uri="{FF2B5EF4-FFF2-40B4-BE49-F238E27FC236}">
                <a16:creationId xmlns:a16="http://schemas.microsoft.com/office/drawing/2014/main" id="{17AFEB72-742C-F52A-12A8-6EC70D1431B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1A641D1-D413-BF97-8398-F0BE6E1F7C41}"/>
              </a:ext>
            </a:extLst>
          </p:cNvPr>
          <p:cNvSpPr>
            <a:spLocks noGrp="1"/>
          </p:cNvSpPr>
          <p:nvPr>
            <p:ph type="sldNum" sz="quarter" idx="12"/>
          </p:nvPr>
        </p:nvSpPr>
        <p:spPr/>
        <p:txBody>
          <a:bodyPr/>
          <a:lstStyle/>
          <a:p>
            <a:fld id="{8AED1806-3F42-49D6-A018-EC9A3C2941AE}" type="slidenum">
              <a:rPr lang="en-IN" smtClean="0"/>
              <a:t>‹#›</a:t>
            </a:fld>
            <a:endParaRPr lang="en-IN"/>
          </a:p>
        </p:txBody>
      </p:sp>
    </p:spTree>
    <p:extLst>
      <p:ext uri="{BB962C8B-B14F-4D97-AF65-F5344CB8AC3E}">
        <p14:creationId xmlns:p14="http://schemas.microsoft.com/office/powerpoint/2010/main" val="2534116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F417D-168D-8958-C158-CA09F39546E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0671AE-DCFB-F649-1082-B984387A02E3}"/>
              </a:ext>
            </a:extLst>
          </p:cNvPr>
          <p:cNvSpPr>
            <a:spLocks noGrp="1"/>
          </p:cNvSpPr>
          <p:nvPr>
            <p:ph type="dt" sz="half" idx="10"/>
          </p:nvPr>
        </p:nvSpPr>
        <p:spPr/>
        <p:txBody>
          <a:bodyPr/>
          <a:lstStyle/>
          <a:p>
            <a:fld id="{018CDA7F-DE44-4269-BCE9-E5015AD3C859}" type="datetimeFigureOut">
              <a:rPr lang="en-IN" smtClean="0"/>
              <a:t>26-10-2025</a:t>
            </a:fld>
            <a:endParaRPr lang="en-IN"/>
          </a:p>
        </p:txBody>
      </p:sp>
      <p:sp>
        <p:nvSpPr>
          <p:cNvPr id="4" name="Footer Placeholder 3">
            <a:extLst>
              <a:ext uri="{FF2B5EF4-FFF2-40B4-BE49-F238E27FC236}">
                <a16:creationId xmlns:a16="http://schemas.microsoft.com/office/drawing/2014/main" id="{FD9661C8-8BD3-55B3-A1C2-07CEB8C6E12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394162C-DC8B-F6B9-9ACB-6DC4EF252401}"/>
              </a:ext>
            </a:extLst>
          </p:cNvPr>
          <p:cNvSpPr>
            <a:spLocks noGrp="1"/>
          </p:cNvSpPr>
          <p:nvPr>
            <p:ph type="sldNum" sz="quarter" idx="12"/>
          </p:nvPr>
        </p:nvSpPr>
        <p:spPr/>
        <p:txBody>
          <a:bodyPr/>
          <a:lstStyle/>
          <a:p>
            <a:fld id="{8AED1806-3F42-49D6-A018-EC9A3C2941AE}" type="slidenum">
              <a:rPr lang="en-IN" smtClean="0"/>
              <a:t>‹#›</a:t>
            </a:fld>
            <a:endParaRPr lang="en-IN"/>
          </a:p>
        </p:txBody>
      </p:sp>
    </p:spTree>
    <p:extLst>
      <p:ext uri="{BB962C8B-B14F-4D97-AF65-F5344CB8AC3E}">
        <p14:creationId xmlns:p14="http://schemas.microsoft.com/office/powerpoint/2010/main" val="2308567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A9169-6820-0961-4A0C-3FF00E9CE8FA}"/>
              </a:ext>
            </a:extLst>
          </p:cNvPr>
          <p:cNvSpPr>
            <a:spLocks noGrp="1"/>
          </p:cNvSpPr>
          <p:nvPr>
            <p:ph type="dt" sz="half" idx="10"/>
          </p:nvPr>
        </p:nvSpPr>
        <p:spPr/>
        <p:txBody>
          <a:bodyPr/>
          <a:lstStyle/>
          <a:p>
            <a:fld id="{018CDA7F-DE44-4269-BCE9-E5015AD3C859}" type="datetimeFigureOut">
              <a:rPr lang="en-IN" smtClean="0"/>
              <a:t>26-10-2025</a:t>
            </a:fld>
            <a:endParaRPr lang="en-IN"/>
          </a:p>
        </p:txBody>
      </p:sp>
      <p:sp>
        <p:nvSpPr>
          <p:cNvPr id="3" name="Footer Placeholder 2">
            <a:extLst>
              <a:ext uri="{FF2B5EF4-FFF2-40B4-BE49-F238E27FC236}">
                <a16:creationId xmlns:a16="http://schemas.microsoft.com/office/drawing/2014/main" id="{50CE8CDA-1D7D-89FC-9137-3D235A6A41A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80B08D-C1B3-9A92-C47C-B898CA32EDF8}"/>
              </a:ext>
            </a:extLst>
          </p:cNvPr>
          <p:cNvSpPr>
            <a:spLocks noGrp="1"/>
          </p:cNvSpPr>
          <p:nvPr>
            <p:ph type="sldNum" sz="quarter" idx="12"/>
          </p:nvPr>
        </p:nvSpPr>
        <p:spPr/>
        <p:txBody>
          <a:bodyPr/>
          <a:lstStyle/>
          <a:p>
            <a:fld id="{8AED1806-3F42-49D6-A018-EC9A3C2941AE}" type="slidenum">
              <a:rPr lang="en-IN" smtClean="0"/>
              <a:t>‹#›</a:t>
            </a:fld>
            <a:endParaRPr lang="en-IN"/>
          </a:p>
        </p:txBody>
      </p:sp>
    </p:spTree>
    <p:extLst>
      <p:ext uri="{BB962C8B-B14F-4D97-AF65-F5344CB8AC3E}">
        <p14:creationId xmlns:p14="http://schemas.microsoft.com/office/powerpoint/2010/main" val="4267832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E96BC-2190-8722-2ECD-B2B9CFFEB1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7BBA729-9425-EE73-828A-34FA5B267D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414AB9-075F-C3C7-9ED3-C79C01A09D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F51783-B93F-7ED0-4DA5-81C0E8F80ED0}"/>
              </a:ext>
            </a:extLst>
          </p:cNvPr>
          <p:cNvSpPr>
            <a:spLocks noGrp="1"/>
          </p:cNvSpPr>
          <p:nvPr>
            <p:ph type="dt" sz="half" idx="10"/>
          </p:nvPr>
        </p:nvSpPr>
        <p:spPr/>
        <p:txBody>
          <a:bodyPr/>
          <a:lstStyle/>
          <a:p>
            <a:fld id="{018CDA7F-DE44-4269-BCE9-E5015AD3C859}" type="datetimeFigureOut">
              <a:rPr lang="en-IN" smtClean="0"/>
              <a:t>26-10-2025</a:t>
            </a:fld>
            <a:endParaRPr lang="en-IN"/>
          </a:p>
        </p:txBody>
      </p:sp>
      <p:sp>
        <p:nvSpPr>
          <p:cNvPr id="6" name="Footer Placeholder 5">
            <a:extLst>
              <a:ext uri="{FF2B5EF4-FFF2-40B4-BE49-F238E27FC236}">
                <a16:creationId xmlns:a16="http://schemas.microsoft.com/office/drawing/2014/main" id="{19EA61E2-6973-E369-C332-365E5139DD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FDB984-86B3-BBDB-BE19-AA504619C8C8}"/>
              </a:ext>
            </a:extLst>
          </p:cNvPr>
          <p:cNvSpPr>
            <a:spLocks noGrp="1"/>
          </p:cNvSpPr>
          <p:nvPr>
            <p:ph type="sldNum" sz="quarter" idx="12"/>
          </p:nvPr>
        </p:nvSpPr>
        <p:spPr/>
        <p:txBody>
          <a:bodyPr/>
          <a:lstStyle/>
          <a:p>
            <a:fld id="{8AED1806-3F42-49D6-A018-EC9A3C2941AE}" type="slidenum">
              <a:rPr lang="en-IN" smtClean="0"/>
              <a:t>‹#›</a:t>
            </a:fld>
            <a:endParaRPr lang="en-IN"/>
          </a:p>
        </p:txBody>
      </p:sp>
    </p:spTree>
    <p:extLst>
      <p:ext uri="{BB962C8B-B14F-4D97-AF65-F5344CB8AC3E}">
        <p14:creationId xmlns:p14="http://schemas.microsoft.com/office/powerpoint/2010/main" val="3559001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F27D-A67A-48DB-247D-FC4A884502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61EB10-1E04-60DF-05E7-3BFE8A76D7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D81B034-1C0E-8A2E-C334-F9CB154ED4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196671-194D-53AE-A893-EDBB8A715943}"/>
              </a:ext>
            </a:extLst>
          </p:cNvPr>
          <p:cNvSpPr>
            <a:spLocks noGrp="1"/>
          </p:cNvSpPr>
          <p:nvPr>
            <p:ph type="dt" sz="half" idx="10"/>
          </p:nvPr>
        </p:nvSpPr>
        <p:spPr/>
        <p:txBody>
          <a:bodyPr/>
          <a:lstStyle/>
          <a:p>
            <a:fld id="{018CDA7F-DE44-4269-BCE9-E5015AD3C859}" type="datetimeFigureOut">
              <a:rPr lang="en-IN" smtClean="0"/>
              <a:t>26-10-2025</a:t>
            </a:fld>
            <a:endParaRPr lang="en-IN"/>
          </a:p>
        </p:txBody>
      </p:sp>
      <p:sp>
        <p:nvSpPr>
          <p:cNvPr id="6" name="Footer Placeholder 5">
            <a:extLst>
              <a:ext uri="{FF2B5EF4-FFF2-40B4-BE49-F238E27FC236}">
                <a16:creationId xmlns:a16="http://schemas.microsoft.com/office/drawing/2014/main" id="{CA5C0559-8673-35AE-0BFC-2C29C86204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2345C3-9F36-8FA8-2A78-4C60705DB70D}"/>
              </a:ext>
            </a:extLst>
          </p:cNvPr>
          <p:cNvSpPr>
            <a:spLocks noGrp="1"/>
          </p:cNvSpPr>
          <p:nvPr>
            <p:ph type="sldNum" sz="quarter" idx="12"/>
          </p:nvPr>
        </p:nvSpPr>
        <p:spPr/>
        <p:txBody>
          <a:bodyPr/>
          <a:lstStyle/>
          <a:p>
            <a:fld id="{8AED1806-3F42-49D6-A018-EC9A3C2941AE}" type="slidenum">
              <a:rPr lang="en-IN" smtClean="0"/>
              <a:t>‹#›</a:t>
            </a:fld>
            <a:endParaRPr lang="en-IN"/>
          </a:p>
        </p:txBody>
      </p:sp>
    </p:spTree>
    <p:extLst>
      <p:ext uri="{BB962C8B-B14F-4D97-AF65-F5344CB8AC3E}">
        <p14:creationId xmlns:p14="http://schemas.microsoft.com/office/powerpoint/2010/main" val="1681131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AFD32-A5CB-7CDC-D1FA-5ADC622C50A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D6E1FB-1E64-F64A-CBF7-CEA1E4BFEA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464162-62BD-04DC-23F6-F6C9BD98CEDE}"/>
              </a:ext>
            </a:extLst>
          </p:cNvPr>
          <p:cNvSpPr>
            <a:spLocks noGrp="1"/>
          </p:cNvSpPr>
          <p:nvPr>
            <p:ph type="dt" sz="half" idx="10"/>
          </p:nvPr>
        </p:nvSpPr>
        <p:spPr/>
        <p:txBody>
          <a:bodyPr/>
          <a:lstStyle/>
          <a:p>
            <a:fld id="{018CDA7F-DE44-4269-BCE9-E5015AD3C859}" type="datetimeFigureOut">
              <a:rPr lang="en-IN" smtClean="0"/>
              <a:t>26-10-2025</a:t>
            </a:fld>
            <a:endParaRPr lang="en-IN"/>
          </a:p>
        </p:txBody>
      </p:sp>
      <p:sp>
        <p:nvSpPr>
          <p:cNvPr id="5" name="Footer Placeholder 4">
            <a:extLst>
              <a:ext uri="{FF2B5EF4-FFF2-40B4-BE49-F238E27FC236}">
                <a16:creationId xmlns:a16="http://schemas.microsoft.com/office/drawing/2014/main" id="{57B69010-7A6B-3C9F-A64D-9C70F81CDC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4350D1-0BFD-FB5A-797E-AFAFFD281172}"/>
              </a:ext>
            </a:extLst>
          </p:cNvPr>
          <p:cNvSpPr>
            <a:spLocks noGrp="1"/>
          </p:cNvSpPr>
          <p:nvPr>
            <p:ph type="sldNum" sz="quarter" idx="12"/>
          </p:nvPr>
        </p:nvSpPr>
        <p:spPr/>
        <p:txBody>
          <a:bodyPr/>
          <a:lstStyle/>
          <a:p>
            <a:fld id="{8AED1806-3F42-49D6-A018-EC9A3C2941AE}" type="slidenum">
              <a:rPr lang="en-IN" smtClean="0"/>
              <a:t>‹#›</a:t>
            </a:fld>
            <a:endParaRPr lang="en-IN"/>
          </a:p>
        </p:txBody>
      </p:sp>
    </p:spTree>
    <p:extLst>
      <p:ext uri="{BB962C8B-B14F-4D97-AF65-F5344CB8AC3E}">
        <p14:creationId xmlns:p14="http://schemas.microsoft.com/office/powerpoint/2010/main" val="3413680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338940-FF2F-978C-EA7B-A009FF0200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492332-3FF0-25EF-F8A0-00E06E4006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1614C6-1052-C218-8CFE-B6C879FEACA6}"/>
              </a:ext>
            </a:extLst>
          </p:cNvPr>
          <p:cNvSpPr>
            <a:spLocks noGrp="1"/>
          </p:cNvSpPr>
          <p:nvPr>
            <p:ph type="dt" sz="half" idx="10"/>
          </p:nvPr>
        </p:nvSpPr>
        <p:spPr/>
        <p:txBody>
          <a:bodyPr/>
          <a:lstStyle/>
          <a:p>
            <a:fld id="{018CDA7F-DE44-4269-BCE9-E5015AD3C859}" type="datetimeFigureOut">
              <a:rPr lang="en-IN" smtClean="0"/>
              <a:t>26-10-2025</a:t>
            </a:fld>
            <a:endParaRPr lang="en-IN"/>
          </a:p>
        </p:txBody>
      </p:sp>
      <p:sp>
        <p:nvSpPr>
          <p:cNvPr id="5" name="Footer Placeholder 4">
            <a:extLst>
              <a:ext uri="{FF2B5EF4-FFF2-40B4-BE49-F238E27FC236}">
                <a16:creationId xmlns:a16="http://schemas.microsoft.com/office/drawing/2014/main" id="{FD738253-0723-F290-0AF4-3879AA6281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A17ABE-756E-D87D-8A6B-AC41FBBC185D}"/>
              </a:ext>
            </a:extLst>
          </p:cNvPr>
          <p:cNvSpPr>
            <a:spLocks noGrp="1"/>
          </p:cNvSpPr>
          <p:nvPr>
            <p:ph type="sldNum" sz="quarter" idx="12"/>
          </p:nvPr>
        </p:nvSpPr>
        <p:spPr/>
        <p:txBody>
          <a:bodyPr/>
          <a:lstStyle/>
          <a:p>
            <a:fld id="{8AED1806-3F42-49D6-A018-EC9A3C2941AE}" type="slidenum">
              <a:rPr lang="en-IN" smtClean="0"/>
              <a:t>‹#›</a:t>
            </a:fld>
            <a:endParaRPr lang="en-IN"/>
          </a:p>
        </p:txBody>
      </p:sp>
    </p:spTree>
    <p:extLst>
      <p:ext uri="{BB962C8B-B14F-4D97-AF65-F5344CB8AC3E}">
        <p14:creationId xmlns:p14="http://schemas.microsoft.com/office/powerpoint/2010/main" val="3198403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A3DA1B-7BE8-E8F5-8A64-29D079F062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1E57E9-E259-D481-8B2B-EDB035ADC7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01520B-2B41-D571-0286-B31F093AA3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8CDA7F-DE44-4269-BCE9-E5015AD3C859}" type="datetimeFigureOut">
              <a:rPr lang="en-IN" smtClean="0"/>
              <a:t>26-10-2025</a:t>
            </a:fld>
            <a:endParaRPr lang="en-IN"/>
          </a:p>
        </p:txBody>
      </p:sp>
      <p:sp>
        <p:nvSpPr>
          <p:cNvPr id="5" name="Footer Placeholder 4">
            <a:extLst>
              <a:ext uri="{FF2B5EF4-FFF2-40B4-BE49-F238E27FC236}">
                <a16:creationId xmlns:a16="http://schemas.microsoft.com/office/drawing/2014/main" id="{70174F58-ED3E-621D-BAB7-C884C7CA31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ECD1E18-988B-FFA1-6236-C67CE97617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AED1806-3F42-49D6-A018-EC9A3C2941AE}" type="slidenum">
              <a:rPr lang="en-IN" smtClean="0"/>
              <a:t>‹#›</a:t>
            </a:fld>
            <a:endParaRPr lang="en-IN"/>
          </a:p>
        </p:txBody>
      </p:sp>
    </p:spTree>
    <p:extLst>
      <p:ext uri="{BB962C8B-B14F-4D97-AF65-F5344CB8AC3E}">
        <p14:creationId xmlns:p14="http://schemas.microsoft.com/office/powerpoint/2010/main" val="1954308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hyperlink" Target="https://gamma.app/?utm_source=made-with-gamma"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19.png"/><Relationship Id="rId4" Type="http://schemas.openxmlformats.org/officeDocument/2006/relationships/hyperlink" Target="https://gamma.app/?utm_source=made-with-gamma"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8.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19.png"/><Relationship Id="rId4" Type="http://schemas.openxmlformats.org/officeDocument/2006/relationships/hyperlink" Target="https://gamma.app/?utm_source=made-with-gamma" TargetMode="External"/><Relationship Id="rId9"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31.jpe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10.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0.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EB6A25-0621-10C8-9539-F4E23EC1891E}"/>
              </a:ext>
            </a:extLst>
          </p:cNvPr>
          <p:cNvSpPr/>
          <p:nvPr/>
        </p:nvSpPr>
        <p:spPr>
          <a:xfrm>
            <a:off x="1508786" y="1251438"/>
            <a:ext cx="9159214" cy="5297705"/>
          </a:xfrm>
          <a:prstGeom prst="rect">
            <a:avLst/>
          </a:prstGeom>
          <a:blipFill dpi="0" rotWithShape="1">
            <a:blip r:embed="rId3">
              <a:alphaModFix amt="50000"/>
            </a:blip>
            <a:srcRect/>
            <a:stretch>
              <a:fillRect t="-3862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dirty="0">
              <a:solidFill>
                <a:prstClr val="white"/>
              </a:solidFill>
              <a:latin typeface="Aptos" panose="02110004020202020204"/>
            </a:endParaRPr>
          </a:p>
        </p:txBody>
      </p:sp>
      <p:grpSp>
        <p:nvGrpSpPr>
          <p:cNvPr id="2" name="Group 1">
            <a:extLst>
              <a:ext uri="{FF2B5EF4-FFF2-40B4-BE49-F238E27FC236}">
                <a16:creationId xmlns:a16="http://schemas.microsoft.com/office/drawing/2014/main" id="{7910B384-7E13-233A-9F37-02109640C973}"/>
              </a:ext>
            </a:extLst>
          </p:cNvPr>
          <p:cNvGrpSpPr/>
          <p:nvPr/>
        </p:nvGrpSpPr>
        <p:grpSpPr>
          <a:xfrm>
            <a:off x="1508787" y="0"/>
            <a:ext cx="9159213" cy="304800"/>
            <a:chOff x="1143000" y="857250"/>
            <a:chExt cx="6858000" cy="162000"/>
          </a:xfrm>
        </p:grpSpPr>
        <p:sp>
          <p:nvSpPr>
            <p:cNvPr id="5" name="Rectangle 4">
              <a:extLst>
                <a:ext uri="{FF2B5EF4-FFF2-40B4-BE49-F238E27FC236}">
                  <a16:creationId xmlns:a16="http://schemas.microsoft.com/office/drawing/2014/main" id="{DA3C5C49-EEE1-635D-59E5-7808D54395A4}"/>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7" name="Rectangle 6">
              <a:extLst>
                <a:ext uri="{FF2B5EF4-FFF2-40B4-BE49-F238E27FC236}">
                  <a16:creationId xmlns:a16="http://schemas.microsoft.com/office/drawing/2014/main" id="{526EC0BF-23F7-8D74-28AC-EB3330F5685B}"/>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
        <p:nvSpPr>
          <p:cNvPr id="10" name="TextBox 9">
            <a:extLst>
              <a:ext uri="{FF2B5EF4-FFF2-40B4-BE49-F238E27FC236}">
                <a16:creationId xmlns:a16="http://schemas.microsoft.com/office/drawing/2014/main" id="{54417709-EA2B-EEB2-0124-DBC679B75F59}"/>
              </a:ext>
            </a:extLst>
          </p:cNvPr>
          <p:cNvSpPr txBox="1"/>
          <p:nvPr/>
        </p:nvSpPr>
        <p:spPr>
          <a:xfrm>
            <a:off x="3280081" y="4894133"/>
            <a:ext cx="5616624" cy="1446550"/>
          </a:xfrm>
          <a:prstGeom prst="rect">
            <a:avLst/>
          </a:prstGeom>
          <a:noFill/>
        </p:spPr>
        <p:txBody>
          <a:bodyPr wrap="square">
            <a:spAutoFit/>
          </a:bodyPr>
          <a:lstStyle/>
          <a:p>
            <a:pPr algn="ctr">
              <a:defRPr/>
            </a:pPr>
            <a:r>
              <a:rPr lang="en-GB" sz="2000" b="1" dirty="0">
                <a:solidFill>
                  <a:srgbClr val="7030A0"/>
                </a:solidFill>
                <a:latin typeface="Times New Roman" panose="02020603050405020304" pitchFamily="18" charset="0"/>
                <a:cs typeface="Times New Roman" panose="02020603050405020304" pitchFamily="18" charset="0"/>
              </a:rPr>
              <a:t>Dr. Mehak Ahuja</a:t>
            </a:r>
          </a:p>
          <a:p>
            <a:pPr algn="ctr">
              <a:defRPr/>
            </a:pPr>
            <a:r>
              <a:rPr lang="en-GB" sz="2000" b="1" dirty="0">
                <a:solidFill>
                  <a:srgbClr val="7030A0"/>
                </a:solidFill>
                <a:latin typeface="Times New Roman" panose="02020603050405020304" pitchFamily="18" charset="0"/>
                <a:cs typeface="Times New Roman" panose="02020603050405020304" pitchFamily="18" charset="0"/>
              </a:rPr>
              <a:t>Assistant Professor, </a:t>
            </a:r>
            <a:r>
              <a:rPr lang="en-US" sz="1600" b="1" dirty="0">
                <a:solidFill>
                  <a:srgbClr val="7030A0"/>
                </a:solidFill>
                <a:latin typeface="Times New Roman" panose="02020603050405020304" pitchFamily="18" charset="0"/>
                <a:cs typeface="Times New Roman" panose="02020603050405020304" pitchFamily="18" charset="0"/>
              </a:rPr>
              <a:t>Department of Chemistry </a:t>
            </a:r>
          </a:p>
          <a:p>
            <a:pPr algn="ctr">
              <a:defRPr/>
            </a:pPr>
            <a:r>
              <a:rPr lang="en-US" sz="1600" b="1" dirty="0">
                <a:solidFill>
                  <a:srgbClr val="7030A0"/>
                </a:solidFill>
                <a:latin typeface="Times New Roman" panose="02020603050405020304" pitchFamily="18" charset="0"/>
                <a:cs typeface="Times New Roman" panose="02020603050405020304" pitchFamily="18" charset="0"/>
              </a:rPr>
              <a:t> School of Basic and Applied Sciences</a:t>
            </a:r>
          </a:p>
          <a:p>
            <a:pPr algn="ctr" defTabSz="342900">
              <a:defRPr/>
            </a:pPr>
            <a:r>
              <a:rPr lang="en-US" sz="1600" b="1" dirty="0">
                <a:solidFill>
                  <a:srgbClr val="7030A0"/>
                </a:solidFill>
                <a:latin typeface="Times New Roman" panose="02020603050405020304" pitchFamily="18" charset="0"/>
                <a:cs typeface="Times New Roman" panose="02020603050405020304" pitchFamily="18" charset="0"/>
              </a:rPr>
              <a:t>K.R. Mangalam University</a:t>
            </a:r>
          </a:p>
          <a:p>
            <a:pPr algn="ctr" defTabSz="342900">
              <a:defRPr/>
            </a:pPr>
            <a:r>
              <a:rPr lang="en-US" sz="1600" b="1" dirty="0">
                <a:solidFill>
                  <a:srgbClr val="7030A0"/>
                </a:solidFill>
                <a:latin typeface="Times New Roman" panose="02020603050405020304" pitchFamily="18" charset="0"/>
                <a:cs typeface="Times New Roman" panose="02020603050405020304" pitchFamily="18" charset="0"/>
              </a:rPr>
              <a:t>Sohna Road, Gurugram</a:t>
            </a:r>
            <a:endParaRPr lang="en-IN" sz="1600" b="1" dirty="0">
              <a:solidFill>
                <a:srgbClr val="7030A0"/>
              </a:solidFill>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21708C23-8D0C-B7D6-5018-8B0190278737}"/>
              </a:ext>
            </a:extLst>
          </p:cNvPr>
          <p:cNvPicPr>
            <a:picLocks noChangeAspect="1"/>
          </p:cNvPicPr>
          <p:nvPr/>
        </p:nvPicPr>
        <p:blipFill>
          <a:blip r:embed="rId4"/>
          <a:stretch>
            <a:fillRect/>
          </a:stretch>
        </p:blipFill>
        <p:spPr>
          <a:xfrm>
            <a:off x="1819275" y="308857"/>
            <a:ext cx="8572501" cy="927678"/>
          </a:xfrm>
          <a:prstGeom prst="rect">
            <a:avLst/>
          </a:prstGeom>
        </p:spPr>
      </p:pic>
      <p:sp>
        <p:nvSpPr>
          <p:cNvPr id="4" name="TextBox 3">
            <a:extLst>
              <a:ext uri="{FF2B5EF4-FFF2-40B4-BE49-F238E27FC236}">
                <a16:creationId xmlns:a16="http://schemas.microsoft.com/office/drawing/2014/main" id="{B644A3F9-E1EE-5DBD-6D95-67CF95DACB77}"/>
              </a:ext>
            </a:extLst>
          </p:cNvPr>
          <p:cNvSpPr txBox="1"/>
          <p:nvPr/>
        </p:nvSpPr>
        <p:spPr>
          <a:xfrm>
            <a:off x="1524000" y="1960483"/>
            <a:ext cx="9159214" cy="2918748"/>
          </a:xfrm>
          <a:prstGeom prst="rect">
            <a:avLst/>
          </a:prstGeom>
          <a:noFill/>
        </p:spPr>
        <p:txBody>
          <a:bodyPr wrap="square">
            <a:spAutoFit/>
          </a:bodyPr>
          <a:lstStyle/>
          <a:p>
            <a:pPr marR="27623" algn="ctr">
              <a:spcBef>
                <a:spcPts val="75"/>
              </a:spcBef>
            </a:pPr>
            <a:r>
              <a:rPr lang="en-US" sz="3200" b="1" dirty="0">
                <a:solidFill>
                  <a:schemeClr val="accent5">
                    <a:lumMod val="75000"/>
                  </a:schemeClr>
                </a:solidFill>
              </a:rPr>
              <a:t>Introduction to Water Chemistry &amp; Hardness </a:t>
            </a:r>
          </a:p>
          <a:p>
            <a:pPr marR="27623" algn="ctr">
              <a:spcBef>
                <a:spcPts val="75"/>
              </a:spcBef>
            </a:pPr>
            <a:r>
              <a:rPr lang="en-US" sz="3000" b="1" dirty="0">
                <a:latin typeface="Times New Roman"/>
                <a:cs typeface="Times New Roman"/>
              </a:rPr>
              <a:t>Course</a:t>
            </a:r>
            <a:r>
              <a:rPr lang="en-US" sz="3000" b="1" spc="-38" dirty="0">
                <a:latin typeface="Times New Roman"/>
                <a:cs typeface="Times New Roman"/>
              </a:rPr>
              <a:t> </a:t>
            </a:r>
            <a:r>
              <a:rPr lang="en-US" sz="3000" b="1" dirty="0">
                <a:latin typeface="Times New Roman"/>
                <a:cs typeface="Times New Roman"/>
              </a:rPr>
              <a:t>Code:</a:t>
            </a:r>
            <a:r>
              <a:rPr lang="en-US" sz="3000" b="1" spc="-38" dirty="0">
                <a:latin typeface="Times New Roman"/>
                <a:cs typeface="Times New Roman"/>
              </a:rPr>
              <a:t> </a:t>
            </a:r>
            <a:r>
              <a:rPr lang="en-US" sz="3000" spc="-8" dirty="0">
                <a:latin typeface="Times New Roman" panose="02020603050405020304" pitchFamily="18" charset="0"/>
                <a:ea typeface="Times New Roman" panose="02020603050405020304" pitchFamily="18" charset="0"/>
              </a:rPr>
              <a:t>ETMLCH104</a:t>
            </a:r>
          </a:p>
          <a:p>
            <a:pPr marR="27623" algn="ctr">
              <a:spcBef>
                <a:spcPts val="75"/>
              </a:spcBef>
            </a:pPr>
            <a:r>
              <a:rPr lang="en-US" sz="3000" b="1" dirty="0">
                <a:latin typeface="Times New Roman"/>
                <a:cs typeface="Times New Roman"/>
              </a:rPr>
              <a:t>Course</a:t>
            </a:r>
            <a:r>
              <a:rPr lang="en-US" sz="3000" b="1" spc="-4" dirty="0">
                <a:latin typeface="Times New Roman"/>
                <a:cs typeface="Times New Roman"/>
              </a:rPr>
              <a:t> </a:t>
            </a:r>
            <a:r>
              <a:rPr lang="en-US" sz="3000" b="1" dirty="0">
                <a:latin typeface="Times New Roman"/>
                <a:cs typeface="Times New Roman"/>
              </a:rPr>
              <a:t>Name: </a:t>
            </a:r>
            <a:r>
              <a:rPr lang="en-GB" sz="3000" spc="-8" dirty="0">
                <a:latin typeface="Times New Roman" panose="02020603050405020304" pitchFamily="18" charset="0"/>
                <a:ea typeface="Times New Roman" panose="02020603050405020304" pitchFamily="18" charset="0"/>
              </a:rPr>
              <a:t>Engineering Chemistry</a:t>
            </a:r>
            <a:endParaRPr lang="en-US" sz="3000" dirty="0">
              <a:latin typeface="Times New Roman"/>
              <a:cs typeface="Times New Roman"/>
            </a:endParaRPr>
          </a:p>
          <a:p>
            <a:pPr marR="27623" algn="ctr"/>
            <a:r>
              <a:rPr lang="en-US" sz="3000" b="1" dirty="0">
                <a:latin typeface="Times New Roman"/>
                <a:cs typeface="Times New Roman"/>
              </a:rPr>
              <a:t>Program:</a:t>
            </a:r>
            <a:r>
              <a:rPr lang="en-US" sz="3000" b="1" spc="-34" dirty="0">
                <a:latin typeface="Times New Roman"/>
                <a:cs typeface="Times New Roman"/>
              </a:rPr>
              <a:t> </a:t>
            </a:r>
            <a:r>
              <a:rPr lang="en-US" sz="3000" dirty="0">
                <a:latin typeface="Times New Roman"/>
                <a:cs typeface="Times New Roman"/>
              </a:rPr>
              <a:t>B.Tech. (AI/ML)</a:t>
            </a:r>
            <a:endParaRPr lang="en-US" sz="3000" b="1" dirty="0">
              <a:latin typeface="Times New Roman"/>
              <a:cs typeface="Times New Roman"/>
            </a:endParaRPr>
          </a:p>
          <a:p>
            <a:pPr algn="ctr"/>
            <a:r>
              <a:rPr lang="en-GB" sz="3000" b="1" dirty="0">
                <a:latin typeface="Times New Roman" panose="02020603050405020304" pitchFamily="18" charset="0"/>
                <a:cs typeface="Times New Roman" panose="02020603050405020304" pitchFamily="18" charset="0"/>
              </a:rPr>
              <a:t>Unit1:</a:t>
            </a:r>
            <a:r>
              <a:rPr lang="en-GB" sz="3000" dirty="0">
                <a:latin typeface="Times New Roman" panose="02020603050405020304" pitchFamily="18" charset="0"/>
                <a:cs typeface="Times New Roman" panose="02020603050405020304" pitchFamily="18" charset="0"/>
              </a:rPr>
              <a:t>Water technology &amp; Chemical Fuels</a:t>
            </a:r>
          </a:p>
          <a:p>
            <a:pPr algn="ctr"/>
            <a:endParaRPr lang="en-GB" sz="3000" b="1" dirty="0">
              <a:solidFill>
                <a:srgbClr val="7030A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36AFDA2C-02FC-7805-B01D-415947BDEB3A}"/>
              </a:ext>
            </a:extLst>
          </p:cNvPr>
          <p:cNvGrpSpPr/>
          <p:nvPr/>
        </p:nvGrpSpPr>
        <p:grpSpPr>
          <a:xfrm>
            <a:off x="1524001" y="6549143"/>
            <a:ext cx="9159213" cy="304800"/>
            <a:chOff x="1143000" y="857250"/>
            <a:chExt cx="6858000" cy="162000"/>
          </a:xfrm>
        </p:grpSpPr>
        <p:sp>
          <p:nvSpPr>
            <p:cNvPr id="11" name="Rectangle 10">
              <a:extLst>
                <a:ext uri="{FF2B5EF4-FFF2-40B4-BE49-F238E27FC236}">
                  <a16:creationId xmlns:a16="http://schemas.microsoft.com/office/drawing/2014/main" id="{973F716C-7323-768B-D8E3-06127E29334B}"/>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2" name="Rectangle 11">
              <a:extLst>
                <a:ext uri="{FF2B5EF4-FFF2-40B4-BE49-F238E27FC236}">
                  <a16:creationId xmlns:a16="http://schemas.microsoft.com/office/drawing/2014/main" id="{4426B9DC-430E-BCAA-1219-94197EAAEDFD}"/>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Tree>
    <p:extLst>
      <p:ext uri="{BB962C8B-B14F-4D97-AF65-F5344CB8AC3E}">
        <p14:creationId xmlns:p14="http://schemas.microsoft.com/office/powerpoint/2010/main" val="1223824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D4566-EF07-295A-8614-F69B473B0E35}"/>
              </a:ext>
            </a:extLst>
          </p:cNvPr>
          <p:cNvSpPr>
            <a:spLocks noGrp="1"/>
          </p:cNvSpPr>
          <p:nvPr>
            <p:ph type="title"/>
          </p:nvPr>
        </p:nvSpPr>
        <p:spPr>
          <a:xfrm>
            <a:off x="2364700" y="413160"/>
            <a:ext cx="5605629" cy="994172"/>
          </a:xfrm>
        </p:spPr>
        <p:txBody>
          <a:bodyPr>
            <a:normAutofit/>
          </a:bodyPr>
          <a:lstStyle/>
          <a:p>
            <a:r>
              <a:rPr lang="en-GB" sz="3850" b="1" dirty="0"/>
              <a:t>Course Overview</a:t>
            </a:r>
            <a:endParaRPr lang="en-IN" sz="3850" b="1" dirty="0"/>
          </a:p>
        </p:txBody>
      </p:sp>
      <p:pic>
        <p:nvPicPr>
          <p:cNvPr id="16" name="Graphic 15" descr="Light Bulb and Gear">
            <a:extLst>
              <a:ext uri="{FF2B5EF4-FFF2-40B4-BE49-F238E27FC236}">
                <a16:creationId xmlns:a16="http://schemas.microsoft.com/office/drawing/2014/main" id="{FCFFB6F3-DA0B-3412-C8A2-1BE79E7120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7623" y="409574"/>
            <a:ext cx="1143455" cy="1143455"/>
          </a:xfrm>
          <a:prstGeom prst="rect">
            <a:avLst/>
          </a:prstGeom>
        </p:spPr>
      </p:pic>
      <p:grpSp>
        <p:nvGrpSpPr>
          <p:cNvPr id="6" name="Group 5">
            <a:extLst>
              <a:ext uri="{FF2B5EF4-FFF2-40B4-BE49-F238E27FC236}">
                <a16:creationId xmlns:a16="http://schemas.microsoft.com/office/drawing/2014/main" id="{40C2CCBA-4E1D-3A3B-542F-B4ACC7D7DBAD}"/>
              </a:ext>
            </a:extLst>
          </p:cNvPr>
          <p:cNvGrpSpPr/>
          <p:nvPr/>
        </p:nvGrpSpPr>
        <p:grpSpPr>
          <a:xfrm>
            <a:off x="1508787" y="0"/>
            <a:ext cx="9159213" cy="304800"/>
            <a:chOff x="1143000" y="857250"/>
            <a:chExt cx="6858000" cy="162000"/>
          </a:xfrm>
        </p:grpSpPr>
        <p:sp>
          <p:nvSpPr>
            <p:cNvPr id="7" name="Rectangle 6">
              <a:extLst>
                <a:ext uri="{FF2B5EF4-FFF2-40B4-BE49-F238E27FC236}">
                  <a16:creationId xmlns:a16="http://schemas.microsoft.com/office/drawing/2014/main" id="{A1815C64-3024-75F8-6AC5-869F89444FDE}"/>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8" name="Rectangle 7">
              <a:extLst>
                <a:ext uri="{FF2B5EF4-FFF2-40B4-BE49-F238E27FC236}">
                  <a16:creationId xmlns:a16="http://schemas.microsoft.com/office/drawing/2014/main" id="{44ADBD06-79D6-2925-3AF8-7D0CF6747C7B}"/>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9" name="Group 8">
            <a:extLst>
              <a:ext uri="{FF2B5EF4-FFF2-40B4-BE49-F238E27FC236}">
                <a16:creationId xmlns:a16="http://schemas.microsoft.com/office/drawing/2014/main" id="{106CFBC4-5F21-F275-9EBD-9D9241AC9F11}"/>
              </a:ext>
            </a:extLst>
          </p:cNvPr>
          <p:cNvGrpSpPr/>
          <p:nvPr/>
        </p:nvGrpSpPr>
        <p:grpSpPr>
          <a:xfrm>
            <a:off x="1506502" y="6556237"/>
            <a:ext cx="9159213" cy="304800"/>
            <a:chOff x="1143000" y="857250"/>
            <a:chExt cx="6858000" cy="162000"/>
          </a:xfrm>
        </p:grpSpPr>
        <p:sp>
          <p:nvSpPr>
            <p:cNvPr id="10" name="Rectangle 9">
              <a:extLst>
                <a:ext uri="{FF2B5EF4-FFF2-40B4-BE49-F238E27FC236}">
                  <a16:creationId xmlns:a16="http://schemas.microsoft.com/office/drawing/2014/main" id="{B2948CE7-0FC8-1E4D-141E-056A81D5DA70}"/>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1" name="Rectangle 10">
              <a:extLst>
                <a:ext uri="{FF2B5EF4-FFF2-40B4-BE49-F238E27FC236}">
                  <a16:creationId xmlns:a16="http://schemas.microsoft.com/office/drawing/2014/main" id="{F0C2A5FB-F07D-39FF-D06E-537DECD7D789}"/>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aphicFrame>
        <p:nvGraphicFramePr>
          <p:cNvPr id="4" name="Table 3">
            <a:extLst>
              <a:ext uri="{FF2B5EF4-FFF2-40B4-BE49-F238E27FC236}">
                <a16:creationId xmlns:a16="http://schemas.microsoft.com/office/drawing/2014/main" id="{D898C527-33DB-8386-9A36-7F97E07E5410}"/>
              </a:ext>
            </a:extLst>
          </p:cNvPr>
          <p:cNvGraphicFramePr>
            <a:graphicFrameLocks noGrp="1"/>
          </p:cNvGraphicFramePr>
          <p:nvPr>
            <p:extLst>
              <p:ext uri="{D42A27DB-BD31-4B8C-83A1-F6EECF244321}">
                <p14:modId xmlns:p14="http://schemas.microsoft.com/office/powerpoint/2010/main" val="1685736236"/>
              </p:ext>
            </p:extLst>
          </p:nvPr>
        </p:nvGraphicFramePr>
        <p:xfrm>
          <a:off x="1452921" y="1218510"/>
          <a:ext cx="7877175" cy="5053584"/>
        </p:xfrm>
        <a:graphic>
          <a:graphicData uri="http://schemas.openxmlformats.org/drawingml/2006/table">
            <a:tbl>
              <a:tblPr bandRow="1">
                <a:tableStyleId>{5C22544A-7EE6-4342-B048-85BDC9FD1C3A}</a:tableStyleId>
              </a:tblPr>
              <a:tblGrid>
                <a:gridCol w="1457325">
                  <a:extLst>
                    <a:ext uri="{9D8B030D-6E8A-4147-A177-3AD203B41FA5}">
                      <a16:colId xmlns:a16="http://schemas.microsoft.com/office/drawing/2014/main" val="1405306892"/>
                    </a:ext>
                  </a:extLst>
                </a:gridCol>
                <a:gridCol w="4410075">
                  <a:extLst>
                    <a:ext uri="{9D8B030D-6E8A-4147-A177-3AD203B41FA5}">
                      <a16:colId xmlns:a16="http://schemas.microsoft.com/office/drawing/2014/main" val="3658069238"/>
                    </a:ext>
                  </a:extLst>
                </a:gridCol>
                <a:gridCol w="2009775">
                  <a:extLst>
                    <a:ext uri="{9D8B030D-6E8A-4147-A177-3AD203B41FA5}">
                      <a16:colId xmlns:a16="http://schemas.microsoft.com/office/drawing/2014/main" val="2392116525"/>
                    </a:ext>
                  </a:extLst>
                </a:gridCol>
              </a:tblGrid>
              <a:tr h="342900">
                <a:tc>
                  <a:txBody>
                    <a:bodyPr/>
                    <a:lstStyle/>
                    <a:p>
                      <a:pPr algn="ctr" fontAlgn="base">
                        <a:lnSpc>
                          <a:spcPts val="1425"/>
                        </a:lnSpc>
                        <a:buNone/>
                      </a:pPr>
                      <a:r>
                        <a:rPr lang="en-US" sz="1200" b="1">
                          <a:solidFill>
                            <a:srgbClr val="FFFFFF"/>
                          </a:solidFill>
                          <a:effectLst/>
                          <a:latin typeface="Aptos" panose="020B0004020202020204" pitchFamily="34" charset="0"/>
                        </a:rPr>
                        <a:t>Unit Number: 1</a:t>
                      </a:r>
                      <a:endParaRPr lang="en-US" b="1">
                        <a:solidFill>
                          <a:srgbClr val="FFFFFF"/>
                        </a:solidFill>
                        <a:effectLst/>
                      </a:endParaRPr>
                    </a:p>
                  </a:txBody>
                  <a:tcPr marL="62341" marR="62341" anchor="ctr">
                    <a:lnL w="17069" cap="flat" cmpd="sng" algn="ctr">
                      <a:solidFill>
                        <a:srgbClr val="0F9ED5"/>
                      </a:solidFill>
                      <a:prstDash val="solid"/>
                      <a:round/>
                      <a:headEnd type="none" w="med" len="med"/>
                      <a:tailEnd type="none" w="med" len="med"/>
                    </a:lnL>
                    <a:lnR w="12700" cap="flat" cmpd="sng" algn="ctr">
                      <a:solidFill>
                        <a:srgbClr val="FFFFFF"/>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0F9ED5"/>
                    </a:solidFill>
                  </a:tcPr>
                </a:tc>
                <a:tc>
                  <a:txBody>
                    <a:bodyPr/>
                    <a:lstStyle/>
                    <a:p>
                      <a:pPr fontAlgn="base">
                        <a:lnSpc>
                          <a:spcPts val="1425"/>
                        </a:lnSpc>
                        <a:buNone/>
                      </a:pPr>
                      <a:r>
                        <a:rPr lang="en-US" sz="1200" b="1">
                          <a:solidFill>
                            <a:srgbClr val="FFFFFF"/>
                          </a:solidFill>
                          <a:effectLst/>
                          <a:latin typeface="Aptos" panose="020B0004020202020204" pitchFamily="34" charset="0"/>
                        </a:rPr>
                        <a:t>Title: Water technology</a:t>
                      </a:r>
                      <a:endParaRPr lang="en-US" b="1">
                        <a:solidFill>
                          <a:srgbClr val="FFFFFF"/>
                        </a:solidFill>
                        <a:effectLst/>
                      </a:endParaRPr>
                    </a:p>
                  </a:txBody>
                  <a:tcPr marL="62341" marR="6234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0F9ED5"/>
                    </a:solidFill>
                  </a:tcPr>
                </a:tc>
                <a:tc>
                  <a:txBody>
                    <a:bodyPr/>
                    <a:lstStyle/>
                    <a:p>
                      <a:pPr fontAlgn="base">
                        <a:lnSpc>
                          <a:spcPts val="1425"/>
                        </a:lnSpc>
                        <a:buNone/>
                      </a:pPr>
                      <a:r>
                        <a:rPr lang="en-US" sz="1200" b="1">
                          <a:solidFill>
                            <a:srgbClr val="FFFFFF"/>
                          </a:solidFill>
                          <a:effectLst/>
                          <a:latin typeface="Aptos" panose="020B0004020202020204" pitchFamily="34" charset="0"/>
                        </a:rPr>
                        <a:t>No. of hours: 6 </a:t>
                      </a:r>
                      <a:endParaRPr lang="en-US" b="1">
                        <a:solidFill>
                          <a:srgbClr val="FFFFFF"/>
                        </a:solidFill>
                        <a:effectLst/>
                      </a:endParaRPr>
                    </a:p>
                  </a:txBody>
                  <a:tcPr marL="62341" marR="62341" anchor="ctr">
                    <a:lnL w="12700" cap="flat" cmpd="sng" algn="ctr">
                      <a:solidFill>
                        <a:srgbClr val="FFFFFF"/>
                      </a:solidFill>
                      <a:prstDash val="solid"/>
                      <a:round/>
                      <a:headEnd type="none" w="med" len="med"/>
                      <a:tailEnd type="none" w="med" len="med"/>
                    </a:lnL>
                    <a:lnR w="17069" cap="flat" cmpd="sng" algn="ctr">
                      <a:solidFill>
                        <a:srgbClr val="0F9ED5"/>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0F9ED5"/>
                    </a:solidFill>
                  </a:tcPr>
                </a:tc>
                <a:extLst>
                  <a:ext uri="{0D108BD9-81ED-4DB2-BD59-A6C34878D82A}">
                    <a16:rowId xmlns:a16="http://schemas.microsoft.com/office/drawing/2014/main" val="18589857"/>
                  </a:ext>
                </a:extLst>
              </a:tr>
              <a:tr h="657225">
                <a:tc gridSpan="3">
                  <a:txBody>
                    <a:bodyPr/>
                    <a:lstStyle/>
                    <a:p>
                      <a:pPr algn="just" fontAlgn="base">
                        <a:lnSpc>
                          <a:spcPts val="1425"/>
                        </a:lnSpc>
                        <a:buNone/>
                      </a:pPr>
                      <a:r>
                        <a:rPr lang="en-US" sz="1200">
                          <a:effectLst/>
                          <a:latin typeface="Aptos" panose="020B0004020202020204" pitchFamily="34" charset="0"/>
                        </a:rPr>
                        <a:t>Introduction, water analysis: Hardness-determination by EDTA method, Treatment of boiler feed water: Internal treatment (Phosphate, Colloidal and Calgon conditioning). External treatments: Ion exchange and lime-soda process, Zeolite processes. Boiler scales formation and ill effects, methods of prevention of scales. Numerical problems</a:t>
                      </a:r>
                      <a:endParaRPr lang="en-US">
                        <a:effectLst/>
                      </a:endParaRPr>
                    </a:p>
                  </a:txBody>
                  <a:tcPr marL="62341" marR="62341" anchor="ctr">
                    <a:lnL w="17069" cap="flat" cmpd="sng" algn="ctr">
                      <a:solidFill>
                        <a:srgbClr val="0F9ED5"/>
                      </a:solidFill>
                      <a:prstDash val="solid"/>
                      <a:round/>
                      <a:headEnd type="none" w="med" len="med"/>
                      <a:tailEnd type="none" w="med" len="med"/>
                    </a:lnL>
                    <a:lnR w="17069" cap="flat" cmpd="sng" algn="ctr">
                      <a:solidFill>
                        <a:srgbClr val="0F9ED5"/>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E7F0F7"/>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90094578"/>
                  </a:ext>
                </a:extLst>
              </a:tr>
              <a:tr h="342900">
                <a:tc>
                  <a:txBody>
                    <a:bodyPr/>
                    <a:lstStyle/>
                    <a:p>
                      <a:pPr fontAlgn="base">
                        <a:lnSpc>
                          <a:spcPts val="1425"/>
                        </a:lnSpc>
                        <a:buNone/>
                      </a:pPr>
                      <a:r>
                        <a:rPr lang="en-US" sz="1200" b="1">
                          <a:solidFill>
                            <a:srgbClr val="FFFFFF"/>
                          </a:solidFill>
                          <a:effectLst/>
                          <a:latin typeface="Aptos" panose="020B0004020202020204" pitchFamily="34" charset="0"/>
                        </a:rPr>
                        <a:t>Unit Number: 2</a:t>
                      </a:r>
                      <a:endParaRPr lang="en-US">
                        <a:effectLst/>
                      </a:endParaRPr>
                    </a:p>
                  </a:txBody>
                  <a:tcPr marL="62341" marR="62341" anchor="ctr">
                    <a:lnL w="17069" cap="flat" cmpd="sng" algn="ctr">
                      <a:solidFill>
                        <a:srgbClr val="0F9ED5"/>
                      </a:solidFill>
                      <a:prstDash val="solid"/>
                      <a:round/>
                      <a:headEnd type="none" w="med" len="med"/>
                      <a:tailEnd type="none" w="med" len="med"/>
                    </a:lnL>
                    <a:lnR w="12700" cap="flat" cmpd="sng" algn="ctr">
                      <a:solidFill>
                        <a:srgbClr val="FFFFFF"/>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0F9ED5"/>
                    </a:solidFill>
                  </a:tcPr>
                </a:tc>
                <a:tc>
                  <a:txBody>
                    <a:bodyPr/>
                    <a:lstStyle/>
                    <a:p>
                      <a:pPr fontAlgn="base">
                        <a:lnSpc>
                          <a:spcPts val="1425"/>
                        </a:lnSpc>
                        <a:buNone/>
                      </a:pPr>
                      <a:r>
                        <a:rPr lang="en-US" sz="1200" b="1">
                          <a:solidFill>
                            <a:srgbClr val="FFFFFF"/>
                          </a:solidFill>
                          <a:effectLst/>
                          <a:latin typeface="Aptos" panose="020B0004020202020204" pitchFamily="34" charset="0"/>
                        </a:rPr>
                        <a:t>Title: Chemical Fuels</a:t>
                      </a:r>
                      <a:endParaRPr lang="en-US">
                        <a:effectLst/>
                      </a:endParaRPr>
                    </a:p>
                  </a:txBody>
                  <a:tcPr marL="62341" marR="6234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0F9ED5"/>
                    </a:solidFill>
                  </a:tcPr>
                </a:tc>
                <a:tc>
                  <a:txBody>
                    <a:bodyPr/>
                    <a:lstStyle/>
                    <a:p>
                      <a:pPr fontAlgn="base">
                        <a:lnSpc>
                          <a:spcPts val="1425"/>
                        </a:lnSpc>
                        <a:buNone/>
                      </a:pPr>
                      <a:r>
                        <a:rPr lang="en-US" sz="1200" b="1">
                          <a:solidFill>
                            <a:srgbClr val="FFFFFF"/>
                          </a:solidFill>
                          <a:effectLst/>
                          <a:latin typeface="Aptos" panose="020B0004020202020204" pitchFamily="34" charset="0"/>
                        </a:rPr>
                        <a:t>No. of hours: 9</a:t>
                      </a:r>
                      <a:endParaRPr lang="en-US">
                        <a:effectLst/>
                      </a:endParaRPr>
                    </a:p>
                  </a:txBody>
                  <a:tcPr marL="62341" marR="62341" anchor="ctr">
                    <a:lnL w="12700" cap="flat" cmpd="sng" algn="ctr">
                      <a:solidFill>
                        <a:srgbClr val="FFFFFF"/>
                      </a:solidFill>
                      <a:prstDash val="solid"/>
                      <a:round/>
                      <a:headEnd type="none" w="med" len="med"/>
                      <a:tailEnd type="none" w="med" len="med"/>
                    </a:lnL>
                    <a:lnR w="17069" cap="flat" cmpd="sng" algn="ctr">
                      <a:solidFill>
                        <a:srgbClr val="0F9ED5"/>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0F9ED5"/>
                    </a:solidFill>
                  </a:tcPr>
                </a:tc>
                <a:extLst>
                  <a:ext uri="{0D108BD9-81ED-4DB2-BD59-A6C34878D82A}">
                    <a16:rowId xmlns:a16="http://schemas.microsoft.com/office/drawing/2014/main" val="529039378"/>
                  </a:ext>
                </a:extLst>
              </a:tr>
              <a:tr h="981075">
                <a:tc gridSpan="3">
                  <a:txBody>
                    <a:bodyPr/>
                    <a:lstStyle/>
                    <a:p>
                      <a:pPr algn="just" fontAlgn="base">
                        <a:lnSpc>
                          <a:spcPts val="1425"/>
                        </a:lnSpc>
                        <a:buNone/>
                      </a:pPr>
                      <a:r>
                        <a:rPr lang="en-US" sz="1200">
                          <a:effectLst/>
                          <a:latin typeface="Aptos" panose="020B0004020202020204" pitchFamily="34" charset="0"/>
                        </a:rPr>
                        <a:t>Fuels: Introduction, classification, calorific value (HCV &amp; LCV), Determination of calorific value of fuel using Bomb calorimeter. </a:t>
                      </a:r>
                      <a:endParaRPr lang="en-US">
                        <a:effectLst/>
                      </a:endParaRPr>
                    </a:p>
                    <a:p>
                      <a:pPr algn="just" fontAlgn="base">
                        <a:lnSpc>
                          <a:spcPts val="1425"/>
                        </a:lnSpc>
                        <a:buNone/>
                      </a:pPr>
                      <a:r>
                        <a:rPr lang="en-US" sz="1200">
                          <a:effectLst/>
                          <a:latin typeface="Aptos" panose="020B0004020202020204" pitchFamily="34" charset="0"/>
                        </a:rPr>
                        <a:t>Solid fuel: Coal- its analysis by proximate and ultimate analysis, Numerical problems.</a:t>
                      </a:r>
                      <a:endParaRPr lang="en-US">
                        <a:effectLst/>
                      </a:endParaRPr>
                    </a:p>
                    <a:p>
                      <a:pPr algn="just" fontAlgn="base">
                        <a:lnSpc>
                          <a:spcPts val="1425"/>
                        </a:lnSpc>
                        <a:buNone/>
                      </a:pPr>
                      <a:r>
                        <a:rPr lang="en-US" sz="1200">
                          <a:effectLst/>
                          <a:latin typeface="Aptos" panose="020B0004020202020204" pitchFamily="34" charset="0"/>
                        </a:rPr>
                        <a:t>Liquid fuels: Refining of petroleum, Petroleum cracking, Knocking in IC engine, its ill effects and prevention of knocking. Anti-knocking agent: Leaded and unleaded petrol. </a:t>
                      </a:r>
                      <a:endParaRPr lang="en-US">
                        <a:effectLst/>
                      </a:endParaRPr>
                    </a:p>
                    <a:p>
                      <a:pPr algn="just" fontAlgn="base">
                        <a:lnSpc>
                          <a:spcPts val="1425"/>
                        </a:lnSpc>
                        <a:buNone/>
                      </a:pPr>
                      <a:r>
                        <a:rPr lang="en-US" sz="1200">
                          <a:effectLst/>
                          <a:latin typeface="Aptos" panose="020B0004020202020204" pitchFamily="34" charset="0"/>
                        </a:rPr>
                        <a:t>Gaseous fuels: LPG, CNG and their applications.</a:t>
                      </a:r>
                      <a:endParaRPr lang="en-US">
                        <a:effectLst/>
                      </a:endParaRPr>
                    </a:p>
                  </a:txBody>
                  <a:tcPr marL="62341" marR="62341" anchor="ctr">
                    <a:lnL w="17069" cap="flat" cmpd="sng" algn="ctr">
                      <a:solidFill>
                        <a:srgbClr val="0F9ED5"/>
                      </a:solidFill>
                      <a:prstDash val="solid"/>
                      <a:round/>
                      <a:headEnd type="none" w="med" len="med"/>
                      <a:tailEnd type="none" w="med" len="med"/>
                    </a:lnL>
                    <a:lnR w="17069" cap="flat" cmpd="sng" algn="ctr">
                      <a:solidFill>
                        <a:srgbClr val="0F9ED5"/>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E7F0F7"/>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58483415"/>
                  </a:ext>
                </a:extLst>
              </a:tr>
              <a:tr h="342900">
                <a:tc>
                  <a:txBody>
                    <a:bodyPr/>
                    <a:lstStyle/>
                    <a:p>
                      <a:pPr fontAlgn="base">
                        <a:lnSpc>
                          <a:spcPts val="1425"/>
                        </a:lnSpc>
                        <a:buNone/>
                      </a:pPr>
                      <a:r>
                        <a:rPr lang="en-US" sz="1200" b="1">
                          <a:solidFill>
                            <a:srgbClr val="FFFFFF"/>
                          </a:solidFill>
                          <a:effectLst/>
                          <a:latin typeface="Aptos" panose="020B0004020202020204" pitchFamily="34" charset="0"/>
                        </a:rPr>
                        <a:t>Unit Number: 3</a:t>
                      </a:r>
                      <a:endParaRPr lang="en-US">
                        <a:effectLst/>
                      </a:endParaRPr>
                    </a:p>
                  </a:txBody>
                  <a:tcPr marL="62341" marR="62341" anchor="ctr">
                    <a:lnL w="17069" cap="flat" cmpd="sng" algn="ctr">
                      <a:solidFill>
                        <a:srgbClr val="0F9ED5"/>
                      </a:solidFill>
                      <a:prstDash val="solid"/>
                      <a:round/>
                      <a:headEnd type="none" w="med" len="med"/>
                      <a:tailEnd type="none" w="med" len="med"/>
                    </a:lnL>
                    <a:lnR w="12700" cap="flat" cmpd="sng" algn="ctr">
                      <a:solidFill>
                        <a:srgbClr val="FFFFFF"/>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0F9ED5"/>
                    </a:solidFill>
                  </a:tcPr>
                </a:tc>
                <a:tc>
                  <a:txBody>
                    <a:bodyPr/>
                    <a:lstStyle/>
                    <a:p>
                      <a:pPr fontAlgn="base">
                        <a:lnSpc>
                          <a:spcPts val="1425"/>
                        </a:lnSpc>
                        <a:buNone/>
                      </a:pPr>
                      <a:r>
                        <a:rPr lang="en-US" sz="1200" b="1">
                          <a:solidFill>
                            <a:srgbClr val="FFFFFF"/>
                          </a:solidFill>
                          <a:effectLst/>
                          <a:latin typeface="Aptos" panose="020B0004020202020204" pitchFamily="34" charset="0"/>
                        </a:rPr>
                        <a:t>Title: Battery Technology</a:t>
                      </a:r>
                      <a:endParaRPr lang="en-US">
                        <a:effectLst/>
                      </a:endParaRPr>
                    </a:p>
                  </a:txBody>
                  <a:tcPr marL="62341" marR="6234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0F9ED5"/>
                    </a:solidFill>
                  </a:tcPr>
                </a:tc>
                <a:tc>
                  <a:txBody>
                    <a:bodyPr/>
                    <a:lstStyle/>
                    <a:p>
                      <a:pPr fontAlgn="base">
                        <a:lnSpc>
                          <a:spcPts val="1425"/>
                        </a:lnSpc>
                        <a:buNone/>
                      </a:pPr>
                      <a:r>
                        <a:rPr lang="en-US" sz="1200" b="1">
                          <a:solidFill>
                            <a:srgbClr val="FFFFFF"/>
                          </a:solidFill>
                          <a:effectLst/>
                          <a:latin typeface="Aptos" panose="020B0004020202020204" pitchFamily="34" charset="0"/>
                        </a:rPr>
                        <a:t>No. of hours: 10</a:t>
                      </a:r>
                      <a:endParaRPr lang="en-US">
                        <a:effectLst/>
                      </a:endParaRPr>
                    </a:p>
                  </a:txBody>
                  <a:tcPr marL="62341" marR="62341" anchor="ctr">
                    <a:lnL w="12700" cap="flat" cmpd="sng" algn="ctr">
                      <a:solidFill>
                        <a:srgbClr val="FFFFFF"/>
                      </a:solidFill>
                      <a:prstDash val="solid"/>
                      <a:round/>
                      <a:headEnd type="none" w="med" len="med"/>
                      <a:tailEnd type="none" w="med" len="med"/>
                    </a:lnL>
                    <a:lnR w="17069" cap="flat" cmpd="sng" algn="ctr">
                      <a:solidFill>
                        <a:srgbClr val="0F9ED5"/>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0F9ED5"/>
                    </a:solidFill>
                  </a:tcPr>
                </a:tc>
                <a:extLst>
                  <a:ext uri="{0D108BD9-81ED-4DB2-BD59-A6C34878D82A}">
                    <a16:rowId xmlns:a16="http://schemas.microsoft.com/office/drawing/2014/main" val="2626854590"/>
                  </a:ext>
                </a:extLst>
              </a:tr>
              <a:tr h="819150">
                <a:tc gridSpan="3">
                  <a:txBody>
                    <a:bodyPr/>
                    <a:lstStyle/>
                    <a:p>
                      <a:pPr algn="just" fontAlgn="base">
                        <a:lnSpc>
                          <a:spcPts val="1425"/>
                        </a:lnSpc>
                        <a:buNone/>
                      </a:pPr>
                      <a:r>
                        <a:rPr lang="en-US" sz="1200">
                          <a:effectLst/>
                          <a:latin typeface="Aptos" panose="020B0004020202020204" pitchFamily="34" charset="0"/>
                        </a:rPr>
                        <a:t>Introduction - Galvanic cell, electrode potential, EMF of the cell and cell representation. Batteries and their importance, Classification of batteries- primary, secondary and reserve batteries with examples. Battery characteristics - voltage, capacity, energy density, power density, energy efficiency, cycle life and shelf life.</a:t>
                      </a:r>
                      <a:endParaRPr lang="en-US">
                        <a:effectLst/>
                      </a:endParaRPr>
                    </a:p>
                    <a:p>
                      <a:pPr algn="just" fontAlgn="base">
                        <a:lnSpc>
                          <a:spcPts val="1425"/>
                        </a:lnSpc>
                        <a:buNone/>
                      </a:pPr>
                      <a:r>
                        <a:rPr lang="en-US" sz="1200">
                          <a:effectLst/>
                          <a:latin typeface="Aptos" panose="020B0004020202020204" pitchFamily="34" charset="0"/>
                        </a:rPr>
                        <a:t>Construction, working and applications of: Ni-Cd, and Lithium-ion battery. Working principle of an electric vehicle.</a:t>
                      </a:r>
                      <a:endParaRPr lang="en-US">
                        <a:effectLst/>
                      </a:endParaRPr>
                    </a:p>
                  </a:txBody>
                  <a:tcPr marL="62341" marR="62341" anchor="ctr">
                    <a:lnL w="17069" cap="flat" cmpd="sng" algn="ctr">
                      <a:solidFill>
                        <a:srgbClr val="0F9ED5"/>
                      </a:solidFill>
                      <a:prstDash val="solid"/>
                      <a:round/>
                      <a:headEnd type="none" w="med" len="med"/>
                      <a:tailEnd type="none" w="med" len="med"/>
                    </a:lnL>
                    <a:lnR w="17069" cap="flat" cmpd="sng" algn="ctr">
                      <a:solidFill>
                        <a:srgbClr val="0F9ED5"/>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E7F0F7"/>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87957937"/>
                  </a:ext>
                </a:extLst>
              </a:tr>
              <a:tr h="342900">
                <a:tc>
                  <a:txBody>
                    <a:bodyPr/>
                    <a:lstStyle/>
                    <a:p>
                      <a:pPr fontAlgn="base">
                        <a:lnSpc>
                          <a:spcPts val="1425"/>
                        </a:lnSpc>
                        <a:buNone/>
                      </a:pPr>
                      <a:r>
                        <a:rPr lang="en-US" sz="1200" b="1">
                          <a:solidFill>
                            <a:srgbClr val="FFFFFF"/>
                          </a:solidFill>
                          <a:effectLst/>
                          <a:latin typeface="Aptos" panose="020B0004020202020204" pitchFamily="34" charset="0"/>
                        </a:rPr>
                        <a:t>Unit Number: 4</a:t>
                      </a:r>
                      <a:endParaRPr lang="en-US">
                        <a:effectLst/>
                      </a:endParaRPr>
                    </a:p>
                  </a:txBody>
                  <a:tcPr marL="62341" marR="62341" anchor="ctr">
                    <a:lnL w="17069" cap="flat" cmpd="sng" algn="ctr">
                      <a:solidFill>
                        <a:srgbClr val="0F9ED5"/>
                      </a:solidFill>
                      <a:prstDash val="solid"/>
                      <a:round/>
                      <a:headEnd type="none" w="med" len="med"/>
                      <a:tailEnd type="none" w="med" len="med"/>
                    </a:lnL>
                    <a:lnR w="12700" cap="flat" cmpd="sng" algn="ctr">
                      <a:solidFill>
                        <a:srgbClr val="FFFFFF"/>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0F9ED5"/>
                    </a:solidFill>
                  </a:tcPr>
                </a:tc>
                <a:tc>
                  <a:txBody>
                    <a:bodyPr/>
                    <a:lstStyle/>
                    <a:p>
                      <a:pPr fontAlgn="base">
                        <a:lnSpc>
                          <a:spcPts val="1425"/>
                        </a:lnSpc>
                        <a:buNone/>
                      </a:pPr>
                      <a:r>
                        <a:rPr lang="en-US" sz="1200" b="1">
                          <a:solidFill>
                            <a:srgbClr val="FFFFFF"/>
                          </a:solidFill>
                          <a:effectLst/>
                          <a:latin typeface="Aptos" panose="020B0004020202020204" pitchFamily="34" charset="0"/>
                        </a:rPr>
                        <a:t>Title: Polymer</a:t>
                      </a:r>
                      <a:endParaRPr lang="en-US">
                        <a:effectLst/>
                      </a:endParaRPr>
                    </a:p>
                  </a:txBody>
                  <a:tcPr marL="62341" marR="6234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0F9ED5"/>
                    </a:solidFill>
                  </a:tcPr>
                </a:tc>
                <a:tc>
                  <a:txBody>
                    <a:bodyPr/>
                    <a:lstStyle/>
                    <a:p>
                      <a:pPr fontAlgn="base">
                        <a:lnSpc>
                          <a:spcPts val="1425"/>
                        </a:lnSpc>
                        <a:buNone/>
                      </a:pPr>
                      <a:r>
                        <a:rPr lang="en-US" sz="1200" b="1">
                          <a:solidFill>
                            <a:srgbClr val="FFFFFF"/>
                          </a:solidFill>
                          <a:effectLst/>
                          <a:latin typeface="Aptos" panose="020B0004020202020204" pitchFamily="34" charset="0"/>
                        </a:rPr>
                        <a:t>No. of hours: 5</a:t>
                      </a:r>
                      <a:endParaRPr lang="en-US">
                        <a:effectLst/>
                      </a:endParaRPr>
                    </a:p>
                  </a:txBody>
                  <a:tcPr marL="62341" marR="62341" anchor="ctr">
                    <a:lnL w="12700" cap="flat" cmpd="sng" algn="ctr">
                      <a:solidFill>
                        <a:srgbClr val="FFFFFF"/>
                      </a:solidFill>
                      <a:prstDash val="solid"/>
                      <a:round/>
                      <a:headEnd type="none" w="med" len="med"/>
                      <a:tailEnd type="none" w="med" len="med"/>
                    </a:lnL>
                    <a:lnR w="17069" cap="flat" cmpd="sng" algn="ctr">
                      <a:solidFill>
                        <a:srgbClr val="0F9ED5"/>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0F9ED5"/>
                    </a:solidFill>
                  </a:tcPr>
                </a:tc>
                <a:extLst>
                  <a:ext uri="{0D108BD9-81ED-4DB2-BD59-A6C34878D82A}">
                    <a16:rowId xmlns:a16="http://schemas.microsoft.com/office/drawing/2014/main" val="3819400355"/>
                  </a:ext>
                </a:extLst>
              </a:tr>
              <a:tr h="876300">
                <a:tc gridSpan="3">
                  <a:txBody>
                    <a:bodyPr/>
                    <a:lstStyle/>
                    <a:p>
                      <a:pPr algn="just" fontAlgn="base">
                        <a:lnSpc>
                          <a:spcPts val="2175"/>
                        </a:lnSpc>
                        <a:buNone/>
                      </a:pPr>
                      <a:r>
                        <a:rPr lang="en-US" sz="1200">
                          <a:effectLst/>
                          <a:latin typeface="Aptos" panose="020B0004020202020204" pitchFamily="34" charset="0"/>
                        </a:rPr>
                        <a:t>Basic concepts of polymer, Types of polymers, Thermoplastic &amp; thermosetting plastics, Preparation and application of some industrially important polymers (Natural rubber, Buna S, Buna-N, Neoprene, Isoprene, Nylon-6, nylon-6,6 , Decron and Terylene). Conducting and biodegradable polymers.</a:t>
                      </a:r>
                      <a:endParaRPr lang="en-US">
                        <a:effectLst/>
                      </a:endParaRPr>
                    </a:p>
                  </a:txBody>
                  <a:tcPr marL="62341" marR="62341" anchor="ctr">
                    <a:lnL w="17069" cap="flat" cmpd="sng" algn="ctr">
                      <a:solidFill>
                        <a:srgbClr val="0F9ED5"/>
                      </a:solidFill>
                      <a:prstDash val="solid"/>
                      <a:round/>
                      <a:headEnd type="none" w="med" len="med"/>
                      <a:tailEnd type="none" w="med" len="med"/>
                    </a:lnL>
                    <a:lnR w="17069" cap="flat" cmpd="sng" algn="ctr">
                      <a:solidFill>
                        <a:srgbClr val="0F9ED5"/>
                      </a:solidFill>
                      <a:prstDash val="solid"/>
                      <a:round/>
                      <a:headEnd type="none" w="med" len="med"/>
                      <a:tailEnd type="none" w="med" len="med"/>
                    </a:lnR>
                    <a:lnT w="17069" cap="flat" cmpd="sng" algn="ctr">
                      <a:solidFill>
                        <a:srgbClr val="0F9ED5"/>
                      </a:solidFill>
                      <a:prstDash val="solid"/>
                      <a:round/>
                      <a:headEnd type="none" w="med" len="med"/>
                      <a:tailEnd type="none" w="med" len="med"/>
                    </a:lnT>
                    <a:lnB w="17069" cap="flat" cmpd="sng" algn="ctr">
                      <a:solidFill>
                        <a:srgbClr val="0F9ED5"/>
                      </a:solidFill>
                      <a:prstDash val="solid"/>
                      <a:round/>
                      <a:headEnd type="none" w="med" len="med"/>
                      <a:tailEnd type="none" w="med" len="med"/>
                    </a:lnB>
                    <a:solidFill>
                      <a:srgbClr val="E7F0F7"/>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97330819"/>
                  </a:ext>
                </a:extLst>
              </a:tr>
            </a:tbl>
          </a:graphicData>
        </a:graphic>
      </p:graphicFrame>
    </p:spTree>
    <p:extLst>
      <p:ext uri="{BB962C8B-B14F-4D97-AF65-F5344CB8AC3E}">
        <p14:creationId xmlns:p14="http://schemas.microsoft.com/office/powerpoint/2010/main" val="1007366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F95288-229F-A949-3EFC-A483F9FC7EE6}"/>
              </a:ext>
            </a:extLst>
          </p:cNvPr>
          <p:cNvSpPr txBox="1"/>
          <p:nvPr/>
        </p:nvSpPr>
        <p:spPr>
          <a:xfrm>
            <a:off x="2152650" y="713312"/>
            <a:ext cx="3101521" cy="5431376"/>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dirty="0">
                <a:latin typeface="+mj-lt"/>
                <a:ea typeface="+mj-ea"/>
                <a:cs typeface="+mj-cs"/>
              </a:rPr>
              <a:t>COURSE OUTCOMES</a:t>
            </a:r>
          </a:p>
        </p:txBody>
      </p:sp>
      <p:graphicFrame>
        <p:nvGraphicFramePr>
          <p:cNvPr id="6" name="TextBox 3">
            <a:extLst>
              <a:ext uri="{FF2B5EF4-FFF2-40B4-BE49-F238E27FC236}">
                <a16:creationId xmlns:a16="http://schemas.microsoft.com/office/drawing/2014/main" id="{590F0FE0-AFB9-64D4-CDDB-4AB43EF06A63}"/>
              </a:ext>
            </a:extLst>
          </p:cNvPr>
          <p:cNvGraphicFramePr/>
          <p:nvPr/>
        </p:nvGraphicFramePr>
        <p:xfrm>
          <a:off x="5657779" y="713313"/>
          <a:ext cx="4381571" cy="5431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 name="Group 1">
            <a:extLst>
              <a:ext uri="{FF2B5EF4-FFF2-40B4-BE49-F238E27FC236}">
                <a16:creationId xmlns:a16="http://schemas.microsoft.com/office/drawing/2014/main" id="{F2BEED39-1873-8320-3237-352C01D0983E}"/>
              </a:ext>
            </a:extLst>
          </p:cNvPr>
          <p:cNvGrpSpPr/>
          <p:nvPr/>
        </p:nvGrpSpPr>
        <p:grpSpPr>
          <a:xfrm>
            <a:off x="1508787" y="0"/>
            <a:ext cx="9159213" cy="304800"/>
            <a:chOff x="1143000" y="857250"/>
            <a:chExt cx="6858000" cy="162000"/>
          </a:xfrm>
        </p:grpSpPr>
        <p:sp>
          <p:nvSpPr>
            <p:cNvPr id="4" name="Rectangle 3">
              <a:extLst>
                <a:ext uri="{FF2B5EF4-FFF2-40B4-BE49-F238E27FC236}">
                  <a16:creationId xmlns:a16="http://schemas.microsoft.com/office/drawing/2014/main" id="{31B28577-A4D6-304B-CF13-E7CCEB82CEE0}"/>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5" name="Rectangle 4">
              <a:extLst>
                <a:ext uri="{FF2B5EF4-FFF2-40B4-BE49-F238E27FC236}">
                  <a16:creationId xmlns:a16="http://schemas.microsoft.com/office/drawing/2014/main" id="{C48CD291-A2CA-817A-0BDA-D3418F495547}"/>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7" name="Group 6">
            <a:extLst>
              <a:ext uri="{FF2B5EF4-FFF2-40B4-BE49-F238E27FC236}">
                <a16:creationId xmlns:a16="http://schemas.microsoft.com/office/drawing/2014/main" id="{19CD19E6-5178-14BF-548C-E2A51E27DDD5}"/>
              </a:ext>
            </a:extLst>
          </p:cNvPr>
          <p:cNvGrpSpPr/>
          <p:nvPr/>
        </p:nvGrpSpPr>
        <p:grpSpPr>
          <a:xfrm>
            <a:off x="1515251" y="6553200"/>
            <a:ext cx="9159213" cy="304800"/>
            <a:chOff x="1143000" y="857250"/>
            <a:chExt cx="6858000" cy="162000"/>
          </a:xfrm>
        </p:grpSpPr>
        <p:sp>
          <p:nvSpPr>
            <p:cNvPr id="8" name="Rectangle 7">
              <a:extLst>
                <a:ext uri="{FF2B5EF4-FFF2-40B4-BE49-F238E27FC236}">
                  <a16:creationId xmlns:a16="http://schemas.microsoft.com/office/drawing/2014/main" id="{ED6B6FFC-0D2C-1B24-61CC-DC64D7CC7F2D}"/>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9" name="Rectangle 8">
              <a:extLst>
                <a:ext uri="{FF2B5EF4-FFF2-40B4-BE49-F238E27FC236}">
                  <a16:creationId xmlns:a16="http://schemas.microsoft.com/office/drawing/2014/main" id="{A23BDCF2-3060-4C52-0D5D-49737F871AF5}"/>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Tree>
    <p:extLst>
      <p:ext uri="{BB962C8B-B14F-4D97-AF65-F5344CB8AC3E}">
        <p14:creationId xmlns:p14="http://schemas.microsoft.com/office/powerpoint/2010/main" val="925143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id="{519334DB-EC8F-4050-9C6E-F92B6A72DA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20" name="Color Cover">
              <a:extLst>
                <a:ext uri="{FF2B5EF4-FFF2-40B4-BE49-F238E27FC236}">
                  <a16:creationId xmlns:a16="http://schemas.microsoft.com/office/drawing/2014/main" id="{EA01B1DD-00B6-4407-827C-3F408B773B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Color Cover">
              <a:extLst>
                <a:ext uri="{FF2B5EF4-FFF2-40B4-BE49-F238E27FC236}">
                  <a16:creationId xmlns:a16="http://schemas.microsoft.com/office/drawing/2014/main" id="{AF1D500A-77DB-437E-A54D-45B239D6D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3F87BA2A-0B66-4DEF-A04F-2CC1722572E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24" name="Color">
              <a:extLst>
                <a:ext uri="{FF2B5EF4-FFF2-40B4-BE49-F238E27FC236}">
                  <a16:creationId xmlns:a16="http://schemas.microsoft.com/office/drawing/2014/main" id="{522B2F8C-7861-41DA-AB7F-C621655E4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Color">
              <a:extLst>
                <a:ext uri="{FF2B5EF4-FFF2-40B4-BE49-F238E27FC236}">
                  <a16:creationId xmlns:a16="http://schemas.microsoft.com/office/drawing/2014/main" id="{90AE996F-5C1A-4DD0-B66D-9C837744A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Picture 5">
            <a:extLst>
              <a:ext uri="{FF2B5EF4-FFF2-40B4-BE49-F238E27FC236}">
                <a16:creationId xmlns:a16="http://schemas.microsoft.com/office/drawing/2014/main" id="{93644C52-1B9F-1A14-EC01-9F217473EE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2273" y="5996409"/>
            <a:ext cx="4358797" cy="621128"/>
          </a:xfrm>
          <a:prstGeom prst="rect">
            <a:avLst/>
          </a:prstGeom>
        </p:spPr>
      </p:pic>
      <p:grpSp>
        <p:nvGrpSpPr>
          <p:cNvPr id="27" name="Group 26">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52" cy="6858000"/>
            <a:chOff x="0" y="0"/>
            <a:chExt cx="12188952" cy="6858000"/>
          </a:xfrm>
        </p:grpSpPr>
        <p:sp>
          <p:nvSpPr>
            <p:cNvPr id="28" name="Freeform: Shape 27">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F3357999-9814-C1DC-93AF-155688F3F20E}"/>
              </a:ext>
            </a:extLst>
          </p:cNvPr>
          <p:cNvSpPr>
            <a:spLocks noGrp="1"/>
          </p:cNvSpPr>
          <p:nvPr>
            <p:ph type="ctrTitle"/>
          </p:nvPr>
        </p:nvSpPr>
        <p:spPr>
          <a:xfrm>
            <a:off x="1012644" y="1197809"/>
            <a:ext cx="5203990" cy="2349622"/>
          </a:xfrm>
        </p:spPr>
        <p:txBody>
          <a:bodyPr anchor="b">
            <a:normAutofit/>
          </a:bodyPr>
          <a:lstStyle/>
          <a:p>
            <a:pPr algn="l"/>
            <a:r>
              <a:rPr lang="en-IN" sz="4800">
                <a:solidFill>
                  <a:schemeClr val="bg1"/>
                </a:solidFill>
              </a:rPr>
              <a:t>calorific value (HCV &amp; LCV)</a:t>
            </a:r>
          </a:p>
        </p:txBody>
      </p:sp>
      <p:grpSp>
        <p:nvGrpSpPr>
          <p:cNvPr id="10" name="Group 9">
            <a:extLst>
              <a:ext uri="{FF2B5EF4-FFF2-40B4-BE49-F238E27FC236}">
                <a16:creationId xmlns:a16="http://schemas.microsoft.com/office/drawing/2014/main" id="{D228B8CA-4D0E-EEF0-CBA8-4D3DBFEC4532}"/>
              </a:ext>
            </a:extLst>
          </p:cNvPr>
          <p:cNvGrpSpPr/>
          <p:nvPr/>
        </p:nvGrpSpPr>
        <p:grpSpPr>
          <a:xfrm>
            <a:off x="2542846" y="7989"/>
            <a:ext cx="6869410" cy="228600"/>
            <a:chOff x="1143000" y="857250"/>
            <a:chExt cx="6858000" cy="162000"/>
          </a:xfrm>
        </p:grpSpPr>
        <p:sp>
          <p:nvSpPr>
            <p:cNvPr id="11" name="Rectangle 10">
              <a:extLst>
                <a:ext uri="{FF2B5EF4-FFF2-40B4-BE49-F238E27FC236}">
                  <a16:creationId xmlns:a16="http://schemas.microsoft.com/office/drawing/2014/main" id="{792D752B-4555-0E39-966A-5E0516935D76}"/>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13" name="Rectangle 12">
              <a:extLst>
                <a:ext uri="{FF2B5EF4-FFF2-40B4-BE49-F238E27FC236}">
                  <a16:creationId xmlns:a16="http://schemas.microsoft.com/office/drawing/2014/main" id="{6B948773-C3B4-137D-730B-C494C871F3A4}"/>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14" name="Group 13">
            <a:extLst>
              <a:ext uri="{FF2B5EF4-FFF2-40B4-BE49-F238E27FC236}">
                <a16:creationId xmlns:a16="http://schemas.microsoft.com/office/drawing/2014/main" id="{5B2F7587-4452-C5B6-7225-9A61B20F787D}"/>
              </a:ext>
            </a:extLst>
          </p:cNvPr>
          <p:cNvGrpSpPr/>
          <p:nvPr/>
        </p:nvGrpSpPr>
        <p:grpSpPr>
          <a:xfrm>
            <a:off x="2184675" y="6648660"/>
            <a:ext cx="6869410" cy="228600"/>
            <a:chOff x="1143000" y="857250"/>
            <a:chExt cx="6858000" cy="162000"/>
          </a:xfrm>
        </p:grpSpPr>
        <p:sp>
          <p:nvSpPr>
            <p:cNvPr id="15" name="Rectangle 14">
              <a:extLst>
                <a:ext uri="{FF2B5EF4-FFF2-40B4-BE49-F238E27FC236}">
                  <a16:creationId xmlns:a16="http://schemas.microsoft.com/office/drawing/2014/main" id="{8AAF5CD0-C0DF-E357-42CD-DBDA8B70BD8C}"/>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16" name="Rectangle 15">
              <a:extLst>
                <a:ext uri="{FF2B5EF4-FFF2-40B4-BE49-F238E27FC236}">
                  <a16:creationId xmlns:a16="http://schemas.microsoft.com/office/drawing/2014/main" id="{3BEA7714-95A1-2105-033F-B64C10701C14}"/>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extLst>
      <p:ext uri="{BB962C8B-B14F-4D97-AF65-F5344CB8AC3E}">
        <p14:creationId xmlns:p14="http://schemas.microsoft.com/office/powerpoint/2010/main" val="1203839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F8E17-3BF5-9751-942D-65A32277A9B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BD2D022-93FA-2A31-2E26-7E72B3C3CD6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24001" y="0"/>
            <a:ext cx="9180512" cy="6885384"/>
          </a:xfrm>
        </p:spPr>
      </p:pic>
      <p:cxnSp>
        <p:nvCxnSpPr>
          <p:cNvPr id="7" name="Straight Connector 6">
            <a:extLst>
              <a:ext uri="{FF2B5EF4-FFF2-40B4-BE49-F238E27FC236}">
                <a16:creationId xmlns:a16="http://schemas.microsoft.com/office/drawing/2014/main" id="{B4085878-D9CE-8CF5-C473-1FE98FFF1D5A}"/>
              </a:ext>
            </a:extLst>
          </p:cNvPr>
          <p:cNvCxnSpPr/>
          <p:nvPr/>
        </p:nvCxnSpPr>
        <p:spPr>
          <a:xfrm>
            <a:off x="1524001"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2F22722-7D99-9D55-209A-9C9256023D9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6" name="TextBox 5">
            <a:extLst>
              <a:ext uri="{FF2B5EF4-FFF2-40B4-BE49-F238E27FC236}">
                <a16:creationId xmlns:a16="http://schemas.microsoft.com/office/drawing/2014/main" id="{942148AE-576B-FD01-C9AA-823C813591F2}"/>
              </a:ext>
            </a:extLst>
          </p:cNvPr>
          <p:cNvSpPr txBox="1"/>
          <p:nvPr/>
        </p:nvSpPr>
        <p:spPr>
          <a:xfrm>
            <a:off x="1703512" y="1293834"/>
            <a:ext cx="8784976" cy="372794"/>
          </a:xfrm>
          <a:prstGeom prst="rect">
            <a:avLst/>
          </a:prstGeom>
          <a:noFill/>
        </p:spPr>
        <p:txBody>
          <a:bodyPr wrap="square">
            <a:spAutoFit/>
          </a:bodyPr>
          <a:lstStyle/>
          <a:p>
            <a:pPr algn="just" fontAlgn="base">
              <a:lnSpc>
                <a:spcPct val="107000"/>
              </a:lnSpc>
            </a:pPr>
            <a:r>
              <a:rPr lang="en-US"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latin typeface="+mj-lt"/>
              <a:ea typeface="Calibri" panose="020F0502020204030204" pitchFamily="34" charset="0"/>
              <a:cs typeface="Times New Roman" panose="02020603050405020304" pitchFamily="18" charset="0"/>
            </a:endParaRPr>
          </a:p>
        </p:txBody>
      </p:sp>
      <p:pic>
        <p:nvPicPr>
          <p:cNvPr id="8"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5821" t="23363" r="7970" b="7648"/>
          <a:stretch/>
        </p:blipFill>
        <p:spPr bwMode="auto">
          <a:xfrm>
            <a:off x="1991544" y="1268762"/>
            <a:ext cx="8022243" cy="5040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524002" y="223260"/>
            <a:ext cx="9144125" cy="830997"/>
          </a:xfrm>
          <a:prstGeom prst="rect">
            <a:avLst/>
          </a:prstGeom>
          <a:noFill/>
        </p:spPr>
        <p:txBody>
          <a:bodyPr wrap="square" rtlCol="0">
            <a:spAutoFit/>
          </a:bodyPr>
          <a:lstStyle/>
          <a:p>
            <a:pPr algn="ctr"/>
            <a:r>
              <a:rPr lang="en-US" sz="4800" b="1" dirty="0"/>
              <a:t>Calorific Value</a:t>
            </a:r>
            <a:endParaRPr lang="en-IN" sz="4800" b="1" dirty="0"/>
          </a:p>
        </p:txBody>
      </p:sp>
    </p:spTree>
    <p:extLst>
      <p:ext uri="{BB962C8B-B14F-4D97-AF65-F5344CB8AC3E}">
        <p14:creationId xmlns:p14="http://schemas.microsoft.com/office/powerpoint/2010/main" val="1934711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dirty="0"/>
          </a:p>
        </p:txBody>
      </p:sp>
      <p:pic>
        <p:nvPicPr>
          <p:cNvPr id="1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9883" t="20842" r="15503" b="21914"/>
          <a:stretch/>
        </p:blipFill>
        <p:spPr bwMode="auto">
          <a:xfrm>
            <a:off x="2423592" y="1196752"/>
            <a:ext cx="7400804"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1596008" y="116633"/>
            <a:ext cx="9071992" cy="646331"/>
          </a:xfrm>
          <a:prstGeom prst="rect">
            <a:avLst/>
          </a:prstGeom>
          <a:noFill/>
        </p:spPr>
        <p:txBody>
          <a:bodyPr wrap="square" rtlCol="0">
            <a:spAutoFit/>
          </a:bodyPr>
          <a:lstStyle/>
          <a:p>
            <a:pPr algn="ctr"/>
            <a:r>
              <a:rPr lang="en-US" sz="3600" b="1" dirty="0"/>
              <a:t>Units of calorific Value</a:t>
            </a:r>
            <a:endParaRPr lang="en-IN" sz="3600" b="1" dirty="0"/>
          </a:p>
        </p:txBody>
      </p:sp>
    </p:spTree>
    <p:extLst>
      <p:ext uri="{BB962C8B-B14F-4D97-AF65-F5344CB8AC3E}">
        <p14:creationId xmlns:p14="http://schemas.microsoft.com/office/powerpoint/2010/main" val="3595444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892808" y="760240"/>
            <a:ext cx="9994392" cy="4746772"/>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7070C"/>
            </a:solidFill>
          </p:spPr>
          <p:txBody>
            <a:bodyPr/>
            <a:lstStyle/>
            <a:p>
              <a:endParaRPr lang="en-IN" sz="1200"/>
            </a:p>
          </p:txBody>
        </p:sp>
      </p:grpSp>
      <p:sp>
        <p:nvSpPr>
          <p:cNvPr id="5" name="Freeform 5" descr="preencoded.png"/>
          <p:cNvSpPr/>
          <p:nvPr/>
        </p:nvSpPr>
        <p:spPr>
          <a:xfrm>
            <a:off x="560482" y="753573"/>
            <a:ext cx="3398870" cy="4746772"/>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txBody>
          <a:bodyPr/>
          <a:lstStyle/>
          <a:p>
            <a:endParaRPr lang="en-IN" sz="1200"/>
          </a:p>
        </p:txBody>
      </p:sp>
      <p:grpSp>
        <p:nvGrpSpPr>
          <p:cNvPr id="6" name="Group 6"/>
          <p:cNvGrpSpPr/>
          <p:nvPr/>
        </p:nvGrpSpPr>
        <p:grpSpPr>
          <a:xfrm>
            <a:off x="5233492" y="1668860"/>
            <a:ext cx="6297017" cy="1181298"/>
            <a:chOff x="0" y="0"/>
            <a:chExt cx="12594035" cy="2362597"/>
          </a:xfrm>
        </p:grpSpPr>
        <p:sp>
          <p:nvSpPr>
            <p:cNvPr id="7" name="Freeform 7"/>
            <p:cNvSpPr/>
            <p:nvPr/>
          </p:nvSpPr>
          <p:spPr>
            <a:xfrm>
              <a:off x="0" y="0"/>
              <a:ext cx="12594035" cy="2362597"/>
            </a:xfrm>
            <a:custGeom>
              <a:avLst/>
              <a:gdLst/>
              <a:ahLst/>
              <a:cxnLst/>
              <a:rect l="l" t="t" r="r" b="b"/>
              <a:pathLst>
                <a:path w="12594035" h="2362597">
                  <a:moveTo>
                    <a:pt x="0" y="0"/>
                  </a:moveTo>
                  <a:lnTo>
                    <a:pt x="12594035" y="0"/>
                  </a:lnTo>
                  <a:lnTo>
                    <a:pt x="12594035" y="2362597"/>
                  </a:lnTo>
                  <a:lnTo>
                    <a:pt x="0" y="2362597"/>
                  </a:lnTo>
                  <a:close/>
                </a:path>
              </a:pathLst>
            </a:custGeom>
            <a:solidFill>
              <a:srgbClr val="000000">
                <a:alpha val="0"/>
              </a:srgbClr>
            </a:solidFill>
          </p:spPr>
          <p:txBody>
            <a:bodyPr/>
            <a:lstStyle/>
            <a:p>
              <a:endParaRPr lang="en-IN" sz="1200"/>
            </a:p>
          </p:txBody>
        </p:sp>
        <p:sp>
          <p:nvSpPr>
            <p:cNvPr id="8" name="TextBox 8"/>
            <p:cNvSpPr txBox="1"/>
            <p:nvPr/>
          </p:nvSpPr>
          <p:spPr>
            <a:xfrm>
              <a:off x="0" y="-57150"/>
              <a:ext cx="12594035" cy="2419747"/>
            </a:xfrm>
            <a:prstGeom prst="rect">
              <a:avLst/>
            </a:prstGeom>
          </p:spPr>
          <p:txBody>
            <a:bodyPr lIns="0" tIns="0" rIns="0" bIns="0" rtlCol="0" anchor="t"/>
            <a:lstStyle/>
            <a:p>
              <a:pPr>
                <a:lnSpc>
                  <a:spcPts val="4625"/>
                </a:lnSpc>
              </a:pPr>
              <a:r>
                <a:rPr lang="en-US" sz="3708" dirty="0">
                  <a:solidFill>
                    <a:srgbClr val="97B8FF"/>
                  </a:solidFill>
                  <a:latin typeface="Arimo"/>
                  <a:ea typeface="Arimo"/>
                  <a:cs typeface="Arimo"/>
                  <a:sym typeface="Arimo"/>
                </a:rPr>
                <a:t>Ideal Fuels: Calorific Value and Characteristics</a:t>
              </a:r>
            </a:p>
          </p:txBody>
        </p:sp>
      </p:grpSp>
      <p:grpSp>
        <p:nvGrpSpPr>
          <p:cNvPr id="9" name="Group 9"/>
          <p:cNvGrpSpPr/>
          <p:nvPr/>
        </p:nvGrpSpPr>
        <p:grpSpPr>
          <a:xfrm>
            <a:off x="5233492" y="3133626"/>
            <a:ext cx="6297017" cy="1512094"/>
            <a:chOff x="0" y="0"/>
            <a:chExt cx="12594035" cy="3024188"/>
          </a:xfrm>
        </p:grpSpPr>
        <p:sp>
          <p:nvSpPr>
            <p:cNvPr id="10" name="Freeform 10"/>
            <p:cNvSpPr/>
            <p:nvPr/>
          </p:nvSpPr>
          <p:spPr>
            <a:xfrm>
              <a:off x="0" y="0"/>
              <a:ext cx="12594035" cy="3024188"/>
            </a:xfrm>
            <a:custGeom>
              <a:avLst/>
              <a:gdLst/>
              <a:ahLst/>
              <a:cxnLst/>
              <a:rect l="l" t="t" r="r" b="b"/>
              <a:pathLst>
                <a:path w="12594035" h="3024188">
                  <a:moveTo>
                    <a:pt x="0" y="0"/>
                  </a:moveTo>
                  <a:lnTo>
                    <a:pt x="12594035" y="0"/>
                  </a:lnTo>
                  <a:lnTo>
                    <a:pt x="12594035" y="3024188"/>
                  </a:lnTo>
                  <a:lnTo>
                    <a:pt x="0" y="3024188"/>
                  </a:lnTo>
                  <a:close/>
                </a:path>
              </a:pathLst>
            </a:custGeom>
            <a:solidFill>
              <a:srgbClr val="000000">
                <a:alpha val="0"/>
              </a:srgbClr>
            </a:solidFill>
          </p:spPr>
          <p:txBody>
            <a:bodyPr/>
            <a:lstStyle/>
            <a:p>
              <a:endParaRPr lang="en-IN" sz="1200"/>
            </a:p>
          </p:txBody>
        </p:sp>
        <p:sp>
          <p:nvSpPr>
            <p:cNvPr id="11" name="TextBox 11"/>
            <p:cNvSpPr txBox="1"/>
            <p:nvPr/>
          </p:nvSpPr>
          <p:spPr>
            <a:xfrm>
              <a:off x="0" y="-104775"/>
              <a:ext cx="12594035" cy="3128963"/>
            </a:xfrm>
            <a:prstGeom prst="rect">
              <a:avLst/>
            </a:prstGeom>
          </p:spPr>
          <p:txBody>
            <a:bodyPr lIns="0" tIns="0" rIns="0" bIns="0" rtlCol="0" anchor="t"/>
            <a:lstStyle/>
            <a:p>
              <a:pPr>
                <a:lnSpc>
                  <a:spcPts val="2375"/>
                </a:lnSpc>
              </a:pPr>
              <a:r>
                <a:rPr lang="en-US" sz="1458" dirty="0">
                  <a:solidFill>
                    <a:srgbClr val="E0D6DE"/>
                  </a:solidFill>
                  <a:latin typeface="Arimo"/>
                  <a:ea typeface="Arimo"/>
                  <a:cs typeface="Arimo"/>
                  <a:sym typeface="Arimo"/>
                </a:rPr>
                <a:t>This will discuss the concept of calorific value and its importance in fuel selection. We will explore the characteristics of an ideal fuel, examining hydrogen and LPG as prime examples. We will also compare the calorific values of various fuels and analyze their pros and cons.</a:t>
              </a:r>
            </a:p>
          </p:txBody>
        </p:sp>
      </p:grpSp>
      <p:grpSp>
        <p:nvGrpSpPr>
          <p:cNvPr id="12" name="Group 12"/>
          <p:cNvGrpSpPr/>
          <p:nvPr/>
        </p:nvGrpSpPr>
        <p:grpSpPr>
          <a:xfrm>
            <a:off x="5334496" y="4982964"/>
            <a:ext cx="100409" cy="81260"/>
            <a:chOff x="0" y="0"/>
            <a:chExt cx="200818" cy="162520"/>
          </a:xfrm>
        </p:grpSpPr>
        <p:sp>
          <p:nvSpPr>
            <p:cNvPr id="13" name="Freeform 13"/>
            <p:cNvSpPr/>
            <p:nvPr/>
          </p:nvSpPr>
          <p:spPr>
            <a:xfrm>
              <a:off x="0" y="0"/>
              <a:ext cx="200818" cy="162520"/>
            </a:xfrm>
            <a:custGeom>
              <a:avLst/>
              <a:gdLst/>
              <a:ahLst/>
              <a:cxnLst/>
              <a:rect l="l" t="t" r="r" b="b"/>
              <a:pathLst>
                <a:path w="200818" h="162520">
                  <a:moveTo>
                    <a:pt x="0" y="0"/>
                  </a:moveTo>
                  <a:lnTo>
                    <a:pt x="200818" y="0"/>
                  </a:lnTo>
                  <a:lnTo>
                    <a:pt x="200818" y="162520"/>
                  </a:lnTo>
                  <a:lnTo>
                    <a:pt x="0" y="162520"/>
                  </a:lnTo>
                  <a:close/>
                </a:path>
              </a:pathLst>
            </a:custGeom>
            <a:solidFill>
              <a:srgbClr val="000000">
                <a:alpha val="0"/>
              </a:srgbClr>
            </a:solidFill>
          </p:spPr>
          <p:txBody>
            <a:bodyPr/>
            <a:lstStyle/>
            <a:p>
              <a:endParaRPr lang="en-IN" sz="1200"/>
            </a:p>
          </p:txBody>
        </p:sp>
        <p:sp>
          <p:nvSpPr>
            <p:cNvPr id="14" name="TextBox 14"/>
            <p:cNvSpPr txBox="1"/>
            <p:nvPr/>
          </p:nvSpPr>
          <p:spPr>
            <a:xfrm>
              <a:off x="0" y="0"/>
              <a:ext cx="200818" cy="162520"/>
            </a:xfrm>
            <a:prstGeom prst="rect">
              <a:avLst/>
            </a:prstGeom>
          </p:spPr>
          <p:txBody>
            <a:bodyPr lIns="0" tIns="0" rIns="0" bIns="0" rtlCol="0" anchor="t"/>
            <a:lstStyle/>
            <a:p>
              <a:pPr algn="ctr">
                <a:lnSpc>
                  <a:spcPts val="625"/>
                </a:lnSpc>
              </a:pPr>
              <a:r>
                <a:rPr lang="en-US" sz="625">
                  <a:solidFill>
                    <a:srgbClr val="FFFFFF"/>
                  </a:solidFill>
                  <a:latin typeface="Arimo"/>
                  <a:ea typeface="Arimo"/>
                  <a:cs typeface="Arimo"/>
                  <a:sym typeface="Arimo"/>
                </a:rPr>
                <a:t>AA</a:t>
              </a:r>
            </a:p>
          </p:txBody>
        </p:sp>
      </p:grpSp>
      <p:pic>
        <p:nvPicPr>
          <p:cNvPr id="15" name="Picture 14">
            <a:extLst>
              <a:ext uri="{FF2B5EF4-FFF2-40B4-BE49-F238E27FC236}">
                <a16:creationId xmlns:a16="http://schemas.microsoft.com/office/drawing/2014/main" id="{BE30D718-93AC-F639-581D-CEAAAF0291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2273" y="5996409"/>
            <a:ext cx="4358797" cy="621128"/>
          </a:xfrm>
          <a:prstGeom prst="rect">
            <a:avLst/>
          </a:prstGeom>
        </p:spPr>
      </p:pic>
      <p:grpSp>
        <p:nvGrpSpPr>
          <p:cNvPr id="16" name="Group 15">
            <a:extLst>
              <a:ext uri="{FF2B5EF4-FFF2-40B4-BE49-F238E27FC236}">
                <a16:creationId xmlns:a16="http://schemas.microsoft.com/office/drawing/2014/main" id="{97D3CEBF-D31C-F806-3B8B-60771EA243CF}"/>
              </a:ext>
            </a:extLst>
          </p:cNvPr>
          <p:cNvGrpSpPr/>
          <p:nvPr/>
        </p:nvGrpSpPr>
        <p:grpSpPr>
          <a:xfrm>
            <a:off x="2542846" y="7989"/>
            <a:ext cx="6869410" cy="228600"/>
            <a:chOff x="1143000" y="857250"/>
            <a:chExt cx="6858000" cy="162000"/>
          </a:xfrm>
        </p:grpSpPr>
        <p:sp>
          <p:nvSpPr>
            <p:cNvPr id="17" name="Rectangle 16">
              <a:extLst>
                <a:ext uri="{FF2B5EF4-FFF2-40B4-BE49-F238E27FC236}">
                  <a16:creationId xmlns:a16="http://schemas.microsoft.com/office/drawing/2014/main" id="{40C2EBFE-5042-2304-7364-A681A3F2DA4E}"/>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18" name="Rectangle 17">
              <a:extLst>
                <a:ext uri="{FF2B5EF4-FFF2-40B4-BE49-F238E27FC236}">
                  <a16:creationId xmlns:a16="http://schemas.microsoft.com/office/drawing/2014/main" id="{5F2A7DB7-E017-897B-5280-D092DAED6E2C}"/>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19" name="Group 18">
            <a:extLst>
              <a:ext uri="{FF2B5EF4-FFF2-40B4-BE49-F238E27FC236}">
                <a16:creationId xmlns:a16="http://schemas.microsoft.com/office/drawing/2014/main" id="{916F01B6-70DC-50B6-23A9-E71A7B440F8F}"/>
              </a:ext>
            </a:extLst>
          </p:cNvPr>
          <p:cNvGrpSpPr/>
          <p:nvPr/>
        </p:nvGrpSpPr>
        <p:grpSpPr>
          <a:xfrm>
            <a:off x="2184675" y="6648660"/>
            <a:ext cx="6869410" cy="228600"/>
            <a:chOff x="1143000" y="857250"/>
            <a:chExt cx="6858000" cy="162000"/>
          </a:xfrm>
        </p:grpSpPr>
        <p:sp>
          <p:nvSpPr>
            <p:cNvPr id="20" name="Rectangle 19">
              <a:extLst>
                <a:ext uri="{FF2B5EF4-FFF2-40B4-BE49-F238E27FC236}">
                  <a16:creationId xmlns:a16="http://schemas.microsoft.com/office/drawing/2014/main" id="{A083B1B7-8D31-D8DF-30AA-8C833C4AE9EC}"/>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21" name="Rectangle 20">
              <a:extLst>
                <a:ext uri="{FF2B5EF4-FFF2-40B4-BE49-F238E27FC236}">
                  <a16:creationId xmlns:a16="http://schemas.microsoft.com/office/drawing/2014/main" id="{D38DC648-0E33-3DFA-A10D-BFA4233CBD0A}"/>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402336" y="745236"/>
            <a:ext cx="10716768" cy="544068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sz="1200"/>
          </a:p>
        </p:txBody>
      </p:sp>
      <p:grpSp>
        <p:nvGrpSpPr>
          <p:cNvPr id="3" name="Group 3"/>
          <p:cNvGrpSpPr/>
          <p:nvPr/>
        </p:nvGrpSpPr>
        <p:grpSpPr>
          <a:xfrm>
            <a:off x="402336" y="745236"/>
            <a:ext cx="10716768" cy="544068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7070C"/>
            </a:solidFill>
          </p:spPr>
          <p:txBody>
            <a:bodyPr/>
            <a:lstStyle/>
            <a:p>
              <a:endParaRPr lang="en-IN" sz="1200"/>
            </a:p>
          </p:txBody>
        </p:sp>
      </p:grpSp>
      <p:grpSp>
        <p:nvGrpSpPr>
          <p:cNvPr id="5" name="Group 5"/>
          <p:cNvGrpSpPr/>
          <p:nvPr/>
        </p:nvGrpSpPr>
        <p:grpSpPr>
          <a:xfrm>
            <a:off x="1063829" y="1566617"/>
            <a:ext cx="4976651" cy="468582"/>
            <a:chOff x="0" y="0"/>
            <a:chExt cx="11323438" cy="1181298"/>
          </a:xfrm>
        </p:grpSpPr>
        <p:sp>
          <p:nvSpPr>
            <p:cNvPr id="6" name="Freeform 6"/>
            <p:cNvSpPr/>
            <p:nvPr/>
          </p:nvSpPr>
          <p:spPr>
            <a:xfrm>
              <a:off x="0" y="0"/>
              <a:ext cx="11323438" cy="1181298"/>
            </a:xfrm>
            <a:custGeom>
              <a:avLst/>
              <a:gdLst/>
              <a:ahLst/>
              <a:cxnLst/>
              <a:rect l="l" t="t" r="r" b="b"/>
              <a:pathLst>
                <a:path w="11323438" h="1181298">
                  <a:moveTo>
                    <a:pt x="0" y="0"/>
                  </a:moveTo>
                  <a:lnTo>
                    <a:pt x="11323438" y="0"/>
                  </a:lnTo>
                  <a:lnTo>
                    <a:pt x="11323438" y="1181298"/>
                  </a:lnTo>
                  <a:lnTo>
                    <a:pt x="0" y="1181298"/>
                  </a:lnTo>
                  <a:close/>
                </a:path>
              </a:pathLst>
            </a:custGeom>
            <a:solidFill>
              <a:srgbClr val="000000">
                <a:alpha val="0"/>
              </a:srgbClr>
            </a:solidFill>
          </p:spPr>
          <p:txBody>
            <a:bodyPr/>
            <a:lstStyle/>
            <a:p>
              <a:endParaRPr lang="en-IN" sz="1200"/>
            </a:p>
          </p:txBody>
        </p:sp>
        <p:sp>
          <p:nvSpPr>
            <p:cNvPr id="7" name="TextBox 7"/>
            <p:cNvSpPr txBox="1"/>
            <p:nvPr/>
          </p:nvSpPr>
          <p:spPr>
            <a:xfrm>
              <a:off x="0" y="-57150"/>
              <a:ext cx="11323438" cy="1238448"/>
            </a:xfrm>
            <a:prstGeom prst="rect">
              <a:avLst/>
            </a:prstGeom>
          </p:spPr>
          <p:txBody>
            <a:bodyPr lIns="0" tIns="0" rIns="0" bIns="0" rtlCol="0" anchor="t"/>
            <a:lstStyle/>
            <a:p>
              <a:pPr>
                <a:lnSpc>
                  <a:spcPts val="4625"/>
                </a:lnSpc>
              </a:pPr>
              <a:r>
                <a:rPr lang="en-US" sz="3708">
                  <a:solidFill>
                    <a:srgbClr val="97B8FF"/>
                  </a:solidFill>
                  <a:latin typeface="Arimo"/>
                  <a:ea typeface="Arimo"/>
                  <a:cs typeface="Arimo"/>
                  <a:sym typeface="Arimo"/>
                </a:rPr>
                <a:t>What is Calorific Value?</a:t>
              </a:r>
            </a:p>
          </p:txBody>
        </p:sp>
      </p:grpSp>
      <p:grpSp>
        <p:nvGrpSpPr>
          <p:cNvPr id="8" name="Group 8"/>
          <p:cNvGrpSpPr/>
          <p:nvPr/>
        </p:nvGrpSpPr>
        <p:grpSpPr>
          <a:xfrm>
            <a:off x="1063828" y="2568702"/>
            <a:ext cx="2076810" cy="234252"/>
            <a:chOff x="0" y="0"/>
            <a:chExt cx="4725392" cy="590550"/>
          </a:xfrm>
        </p:grpSpPr>
        <p:sp>
          <p:nvSpPr>
            <p:cNvPr id="9" name="Freeform 9"/>
            <p:cNvSpPr/>
            <p:nvPr/>
          </p:nvSpPr>
          <p:spPr>
            <a:xfrm>
              <a:off x="0" y="0"/>
              <a:ext cx="4725392" cy="590550"/>
            </a:xfrm>
            <a:custGeom>
              <a:avLst/>
              <a:gdLst/>
              <a:ahLst/>
              <a:cxnLst/>
              <a:rect l="l" t="t" r="r" b="b"/>
              <a:pathLst>
                <a:path w="4725392" h="590550">
                  <a:moveTo>
                    <a:pt x="0" y="0"/>
                  </a:moveTo>
                  <a:lnTo>
                    <a:pt x="4725392" y="0"/>
                  </a:lnTo>
                  <a:lnTo>
                    <a:pt x="4725392" y="590550"/>
                  </a:lnTo>
                  <a:lnTo>
                    <a:pt x="0" y="590550"/>
                  </a:lnTo>
                  <a:close/>
                </a:path>
              </a:pathLst>
            </a:custGeom>
            <a:solidFill>
              <a:srgbClr val="000000">
                <a:alpha val="0"/>
              </a:srgbClr>
            </a:solidFill>
          </p:spPr>
          <p:txBody>
            <a:bodyPr/>
            <a:lstStyle/>
            <a:p>
              <a:endParaRPr lang="en-IN" sz="1200"/>
            </a:p>
          </p:txBody>
        </p:sp>
        <p:sp>
          <p:nvSpPr>
            <p:cNvPr id="10" name="TextBox 10"/>
            <p:cNvSpPr txBox="1"/>
            <p:nvPr/>
          </p:nvSpPr>
          <p:spPr>
            <a:xfrm>
              <a:off x="0" y="-38100"/>
              <a:ext cx="4725392" cy="628650"/>
            </a:xfrm>
            <a:prstGeom prst="rect">
              <a:avLst/>
            </a:prstGeom>
          </p:spPr>
          <p:txBody>
            <a:bodyPr lIns="0" tIns="0" rIns="0" bIns="0" rtlCol="0" anchor="t"/>
            <a:lstStyle/>
            <a:p>
              <a:pPr>
                <a:lnSpc>
                  <a:spcPts val="2291"/>
                </a:lnSpc>
              </a:pPr>
              <a:r>
                <a:rPr lang="en-US" sz="1833">
                  <a:solidFill>
                    <a:srgbClr val="97B8FF"/>
                  </a:solidFill>
                  <a:latin typeface="Arimo"/>
                  <a:ea typeface="Arimo"/>
                  <a:cs typeface="Arimo"/>
                  <a:sym typeface="Arimo"/>
                </a:rPr>
                <a:t>Calorific Value</a:t>
              </a:r>
            </a:p>
          </p:txBody>
        </p:sp>
      </p:grpSp>
      <p:grpSp>
        <p:nvGrpSpPr>
          <p:cNvPr id="11" name="Group 11"/>
          <p:cNvGrpSpPr/>
          <p:nvPr/>
        </p:nvGrpSpPr>
        <p:grpSpPr>
          <a:xfrm>
            <a:off x="1063828" y="3179466"/>
            <a:ext cx="4574249" cy="719757"/>
            <a:chOff x="0" y="0"/>
            <a:chExt cx="10407848" cy="1814513"/>
          </a:xfrm>
        </p:grpSpPr>
        <p:sp>
          <p:nvSpPr>
            <p:cNvPr id="12" name="Freeform 12"/>
            <p:cNvSpPr/>
            <p:nvPr/>
          </p:nvSpPr>
          <p:spPr>
            <a:xfrm>
              <a:off x="0" y="0"/>
              <a:ext cx="10407848" cy="1814513"/>
            </a:xfrm>
            <a:custGeom>
              <a:avLst/>
              <a:gdLst/>
              <a:ahLst/>
              <a:cxnLst/>
              <a:rect l="l" t="t" r="r" b="b"/>
              <a:pathLst>
                <a:path w="10407848" h="1814513">
                  <a:moveTo>
                    <a:pt x="0" y="0"/>
                  </a:moveTo>
                  <a:lnTo>
                    <a:pt x="10407848" y="0"/>
                  </a:lnTo>
                  <a:lnTo>
                    <a:pt x="10407848" y="1814513"/>
                  </a:lnTo>
                  <a:lnTo>
                    <a:pt x="0" y="1814513"/>
                  </a:lnTo>
                  <a:close/>
                </a:path>
              </a:pathLst>
            </a:custGeom>
            <a:solidFill>
              <a:srgbClr val="000000">
                <a:alpha val="0"/>
              </a:srgbClr>
            </a:solidFill>
          </p:spPr>
          <p:txBody>
            <a:bodyPr/>
            <a:lstStyle/>
            <a:p>
              <a:endParaRPr lang="en-IN" sz="1200"/>
            </a:p>
          </p:txBody>
        </p:sp>
        <p:sp>
          <p:nvSpPr>
            <p:cNvPr id="13" name="TextBox 13"/>
            <p:cNvSpPr txBox="1"/>
            <p:nvPr/>
          </p:nvSpPr>
          <p:spPr>
            <a:xfrm>
              <a:off x="0" y="-104775"/>
              <a:ext cx="10407848" cy="1919288"/>
            </a:xfrm>
            <a:prstGeom prst="rect">
              <a:avLst/>
            </a:prstGeom>
          </p:spPr>
          <p:txBody>
            <a:bodyPr lIns="0" tIns="0" rIns="0" bIns="0" rtlCol="0" anchor="t"/>
            <a:lstStyle/>
            <a:p>
              <a:pPr>
                <a:lnSpc>
                  <a:spcPts val="2375"/>
                </a:lnSpc>
              </a:pPr>
              <a:r>
                <a:rPr lang="en-US" sz="1458" dirty="0">
                  <a:solidFill>
                    <a:srgbClr val="E0D6DE"/>
                  </a:solidFill>
                  <a:latin typeface="Arimo"/>
                  <a:ea typeface="Arimo"/>
                  <a:cs typeface="Arimo"/>
                  <a:sym typeface="Arimo"/>
                </a:rPr>
                <a:t>Calorific value refers to the amount of heat energy released when a specific amount of fuel undergoes complete combustion.</a:t>
              </a:r>
            </a:p>
          </p:txBody>
        </p:sp>
      </p:grpSp>
      <p:grpSp>
        <p:nvGrpSpPr>
          <p:cNvPr id="14" name="Group 14"/>
          <p:cNvGrpSpPr/>
          <p:nvPr/>
        </p:nvGrpSpPr>
        <p:grpSpPr>
          <a:xfrm>
            <a:off x="6735270" y="2568702"/>
            <a:ext cx="2076810" cy="234252"/>
            <a:chOff x="0" y="0"/>
            <a:chExt cx="4725392" cy="590550"/>
          </a:xfrm>
        </p:grpSpPr>
        <p:sp>
          <p:nvSpPr>
            <p:cNvPr id="15" name="Freeform 15"/>
            <p:cNvSpPr/>
            <p:nvPr/>
          </p:nvSpPr>
          <p:spPr>
            <a:xfrm>
              <a:off x="0" y="0"/>
              <a:ext cx="4725392" cy="590550"/>
            </a:xfrm>
            <a:custGeom>
              <a:avLst/>
              <a:gdLst/>
              <a:ahLst/>
              <a:cxnLst/>
              <a:rect l="l" t="t" r="r" b="b"/>
              <a:pathLst>
                <a:path w="4725392" h="590550">
                  <a:moveTo>
                    <a:pt x="0" y="0"/>
                  </a:moveTo>
                  <a:lnTo>
                    <a:pt x="4725392" y="0"/>
                  </a:lnTo>
                  <a:lnTo>
                    <a:pt x="4725392" y="590550"/>
                  </a:lnTo>
                  <a:lnTo>
                    <a:pt x="0" y="590550"/>
                  </a:lnTo>
                  <a:close/>
                </a:path>
              </a:pathLst>
            </a:custGeom>
            <a:solidFill>
              <a:srgbClr val="000000">
                <a:alpha val="0"/>
              </a:srgbClr>
            </a:solidFill>
          </p:spPr>
          <p:txBody>
            <a:bodyPr/>
            <a:lstStyle/>
            <a:p>
              <a:endParaRPr lang="en-IN" sz="1200"/>
            </a:p>
          </p:txBody>
        </p:sp>
        <p:sp>
          <p:nvSpPr>
            <p:cNvPr id="16" name="TextBox 16"/>
            <p:cNvSpPr txBox="1"/>
            <p:nvPr/>
          </p:nvSpPr>
          <p:spPr>
            <a:xfrm>
              <a:off x="0" y="-38100"/>
              <a:ext cx="4725392" cy="628650"/>
            </a:xfrm>
            <a:prstGeom prst="rect">
              <a:avLst/>
            </a:prstGeom>
          </p:spPr>
          <p:txBody>
            <a:bodyPr lIns="0" tIns="0" rIns="0" bIns="0" rtlCol="0" anchor="t"/>
            <a:lstStyle/>
            <a:p>
              <a:pPr>
                <a:lnSpc>
                  <a:spcPts val="2291"/>
                </a:lnSpc>
              </a:pPr>
              <a:r>
                <a:rPr lang="en-US" sz="1833">
                  <a:solidFill>
                    <a:srgbClr val="97B8FF"/>
                  </a:solidFill>
                  <a:latin typeface="Arimo"/>
                  <a:ea typeface="Arimo"/>
                  <a:cs typeface="Arimo"/>
                  <a:sym typeface="Arimo"/>
                </a:rPr>
                <a:t>Units</a:t>
              </a:r>
            </a:p>
          </p:txBody>
        </p:sp>
      </p:grpSp>
      <p:grpSp>
        <p:nvGrpSpPr>
          <p:cNvPr id="17" name="Group 17"/>
          <p:cNvGrpSpPr/>
          <p:nvPr/>
        </p:nvGrpSpPr>
        <p:grpSpPr>
          <a:xfrm>
            <a:off x="6040480" y="3189081"/>
            <a:ext cx="4574249" cy="479837"/>
            <a:chOff x="0" y="0"/>
            <a:chExt cx="10407848" cy="1209675"/>
          </a:xfrm>
        </p:grpSpPr>
        <p:sp>
          <p:nvSpPr>
            <p:cNvPr id="18" name="Freeform 18"/>
            <p:cNvSpPr/>
            <p:nvPr/>
          </p:nvSpPr>
          <p:spPr>
            <a:xfrm>
              <a:off x="0" y="0"/>
              <a:ext cx="10407848" cy="1209675"/>
            </a:xfrm>
            <a:custGeom>
              <a:avLst/>
              <a:gdLst/>
              <a:ahLst/>
              <a:cxnLst/>
              <a:rect l="l" t="t" r="r" b="b"/>
              <a:pathLst>
                <a:path w="10407848" h="1209675">
                  <a:moveTo>
                    <a:pt x="0" y="0"/>
                  </a:moveTo>
                  <a:lnTo>
                    <a:pt x="10407848" y="0"/>
                  </a:lnTo>
                  <a:lnTo>
                    <a:pt x="10407848" y="1209675"/>
                  </a:lnTo>
                  <a:lnTo>
                    <a:pt x="0" y="1209675"/>
                  </a:lnTo>
                  <a:close/>
                </a:path>
              </a:pathLst>
            </a:custGeom>
            <a:solidFill>
              <a:srgbClr val="000000">
                <a:alpha val="0"/>
              </a:srgbClr>
            </a:solidFill>
          </p:spPr>
          <p:txBody>
            <a:bodyPr/>
            <a:lstStyle/>
            <a:p>
              <a:endParaRPr lang="en-IN" sz="1200"/>
            </a:p>
          </p:txBody>
        </p:sp>
        <p:sp>
          <p:nvSpPr>
            <p:cNvPr id="19" name="TextBox 19"/>
            <p:cNvSpPr txBox="1"/>
            <p:nvPr/>
          </p:nvSpPr>
          <p:spPr>
            <a:xfrm>
              <a:off x="0" y="-104775"/>
              <a:ext cx="10407848" cy="1314450"/>
            </a:xfrm>
            <a:prstGeom prst="rect">
              <a:avLst/>
            </a:prstGeom>
          </p:spPr>
          <p:txBody>
            <a:bodyPr lIns="0" tIns="0" rIns="0" bIns="0" rtlCol="0" anchor="t"/>
            <a:lstStyle/>
            <a:p>
              <a:pPr>
                <a:lnSpc>
                  <a:spcPts val="2375"/>
                </a:lnSpc>
              </a:pPr>
              <a:r>
                <a:rPr lang="en-US" sz="1458" dirty="0">
                  <a:solidFill>
                    <a:srgbClr val="E0D6DE"/>
                  </a:solidFill>
                  <a:latin typeface="Arimo"/>
                  <a:ea typeface="Arimo"/>
                  <a:cs typeface="Arimo"/>
                  <a:sym typeface="Arimo"/>
                </a:rPr>
                <a:t>It's typically measured in units like joules per gram (J/g) or kilojoules per gram (kJ/g).</a:t>
              </a:r>
            </a:p>
          </p:txBody>
        </p:sp>
      </p:grpSp>
      <p:pic>
        <p:nvPicPr>
          <p:cNvPr id="20" name="Picture 19">
            <a:extLst>
              <a:ext uri="{FF2B5EF4-FFF2-40B4-BE49-F238E27FC236}">
                <a16:creationId xmlns:a16="http://schemas.microsoft.com/office/drawing/2014/main" id="{008F98B5-8DEE-4CE9-3EAE-9092D4DE35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2273" y="5996409"/>
            <a:ext cx="4358797" cy="621128"/>
          </a:xfrm>
          <a:prstGeom prst="rect">
            <a:avLst/>
          </a:prstGeom>
        </p:spPr>
      </p:pic>
      <p:grpSp>
        <p:nvGrpSpPr>
          <p:cNvPr id="21" name="Group 20">
            <a:extLst>
              <a:ext uri="{FF2B5EF4-FFF2-40B4-BE49-F238E27FC236}">
                <a16:creationId xmlns:a16="http://schemas.microsoft.com/office/drawing/2014/main" id="{BBA3CAE5-9D4A-DD77-E19A-C8F316741C1C}"/>
              </a:ext>
            </a:extLst>
          </p:cNvPr>
          <p:cNvGrpSpPr/>
          <p:nvPr/>
        </p:nvGrpSpPr>
        <p:grpSpPr>
          <a:xfrm>
            <a:off x="2542846" y="7989"/>
            <a:ext cx="6869410" cy="228600"/>
            <a:chOff x="1143000" y="857250"/>
            <a:chExt cx="6858000" cy="162000"/>
          </a:xfrm>
        </p:grpSpPr>
        <p:sp>
          <p:nvSpPr>
            <p:cNvPr id="22" name="Rectangle 21">
              <a:extLst>
                <a:ext uri="{FF2B5EF4-FFF2-40B4-BE49-F238E27FC236}">
                  <a16:creationId xmlns:a16="http://schemas.microsoft.com/office/drawing/2014/main" id="{512FC64E-71AF-CC85-3751-837CB0B3CB59}"/>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23" name="Rectangle 22">
              <a:extLst>
                <a:ext uri="{FF2B5EF4-FFF2-40B4-BE49-F238E27FC236}">
                  <a16:creationId xmlns:a16="http://schemas.microsoft.com/office/drawing/2014/main" id="{B0BD1234-897E-261C-2558-BEFD0DAF0E5F}"/>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24" name="Group 23">
            <a:extLst>
              <a:ext uri="{FF2B5EF4-FFF2-40B4-BE49-F238E27FC236}">
                <a16:creationId xmlns:a16="http://schemas.microsoft.com/office/drawing/2014/main" id="{EC926E56-6437-F437-BC6E-3D7E6E539B79}"/>
              </a:ext>
            </a:extLst>
          </p:cNvPr>
          <p:cNvGrpSpPr/>
          <p:nvPr/>
        </p:nvGrpSpPr>
        <p:grpSpPr>
          <a:xfrm>
            <a:off x="2184675" y="6648660"/>
            <a:ext cx="6869410" cy="228600"/>
            <a:chOff x="1143000" y="857250"/>
            <a:chExt cx="6858000" cy="162000"/>
          </a:xfrm>
        </p:grpSpPr>
        <p:sp>
          <p:nvSpPr>
            <p:cNvPr id="25" name="Rectangle 24">
              <a:extLst>
                <a:ext uri="{FF2B5EF4-FFF2-40B4-BE49-F238E27FC236}">
                  <a16:creationId xmlns:a16="http://schemas.microsoft.com/office/drawing/2014/main" id="{93482BBD-F04D-24E9-91FE-031475189C31}"/>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26" name="Rectangle 25">
              <a:extLst>
                <a:ext uri="{FF2B5EF4-FFF2-40B4-BE49-F238E27FC236}">
                  <a16:creationId xmlns:a16="http://schemas.microsoft.com/office/drawing/2014/main" id="{56E01867-D4B1-7559-52EA-0CE22F6461B8}"/>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246888" y="404622"/>
            <a:ext cx="11283620" cy="5648706"/>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sz="1200" dirty="0"/>
          </a:p>
        </p:txBody>
      </p:sp>
      <p:grpSp>
        <p:nvGrpSpPr>
          <p:cNvPr id="3" name="Group 3"/>
          <p:cNvGrpSpPr/>
          <p:nvPr/>
        </p:nvGrpSpPr>
        <p:grpSpPr>
          <a:xfrm>
            <a:off x="246888" y="1221182"/>
            <a:ext cx="11283620" cy="5034759"/>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7070C"/>
            </a:solidFill>
          </p:spPr>
          <p:txBody>
            <a:bodyPr/>
            <a:lstStyle/>
            <a:p>
              <a:endParaRPr lang="en-IN" sz="1200"/>
            </a:p>
          </p:txBody>
        </p:sp>
      </p:grpSp>
      <p:sp>
        <p:nvSpPr>
          <p:cNvPr id="5" name="Freeform 5" descr="preencoded.png">
            <a:hlinkClick r:id="rId4" tooltip="https://gamma.app/?utm_source=made-with-gamma"/>
          </p:cNvPr>
          <p:cNvSpPr/>
          <p:nvPr/>
        </p:nvSpPr>
        <p:spPr>
          <a:xfrm>
            <a:off x="10699346" y="6457950"/>
            <a:ext cx="1435504" cy="34290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5"/>
            <a:stretch>
              <a:fillRect/>
            </a:stretch>
          </a:blipFill>
        </p:spPr>
        <p:txBody>
          <a:bodyPr/>
          <a:lstStyle/>
          <a:p>
            <a:endParaRPr lang="en-IN" sz="1200"/>
          </a:p>
        </p:txBody>
      </p:sp>
      <p:sp>
        <p:nvSpPr>
          <p:cNvPr id="6" name="Freeform 6" descr="preencoded.png"/>
          <p:cNvSpPr/>
          <p:nvPr/>
        </p:nvSpPr>
        <p:spPr>
          <a:xfrm>
            <a:off x="7667229" y="394756"/>
            <a:ext cx="3910508" cy="5832611"/>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6"/>
            <a:stretch>
              <a:fillRect/>
            </a:stretch>
          </a:blipFill>
        </p:spPr>
        <p:txBody>
          <a:bodyPr/>
          <a:lstStyle/>
          <a:p>
            <a:endParaRPr lang="en-IN" sz="1200"/>
          </a:p>
        </p:txBody>
      </p:sp>
      <p:grpSp>
        <p:nvGrpSpPr>
          <p:cNvPr id="7" name="Group 7"/>
          <p:cNvGrpSpPr/>
          <p:nvPr/>
        </p:nvGrpSpPr>
        <p:grpSpPr>
          <a:xfrm>
            <a:off x="661492" y="630634"/>
            <a:ext cx="6297017" cy="1181298"/>
            <a:chOff x="0" y="0"/>
            <a:chExt cx="12594035" cy="2362597"/>
          </a:xfrm>
        </p:grpSpPr>
        <p:sp>
          <p:nvSpPr>
            <p:cNvPr id="8" name="Freeform 8"/>
            <p:cNvSpPr/>
            <p:nvPr/>
          </p:nvSpPr>
          <p:spPr>
            <a:xfrm>
              <a:off x="0" y="0"/>
              <a:ext cx="12594035" cy="2362597"/>
            </a:xfrm>
            <a:custGeom>
              <a:avLst/>
              <a:gdLst/>
              <a:ahLst/>
              <a:cxnLst/>
              <a:rect l="l" t="t" r="r" b="b"/>
              <a:pathLst>
                <a:path w="12594035" h="2362597">
                  <a:moveTo>
                    <a:pt x="0" y="0"/>
                  </a:moveTo>
                  <a:lnTo>
                    <a:pt x="12594035" y="0"/>
                  </a:lnTo>
                  <a:lnTo>
                    <a:pt x="12594035" y="2362597"/>
                  </a:lnTo>
                  <a:lnTo>
                    <a:pt x="0" y="2362597"/>
                  </a:lnTo>
                  <a:close/>
                </a:path>
              </a:pathLst>
            </a:custGeom>
            <a:solidFill>
              <a:srgbClr val="000000">
                <a:alpha val="0"/>
              </a:srgbClr>
            </a:solidFill>
          </p:spPr>
          <p:txBody>
            <a:bodyPr/>
            <a:lstStyle/>
            <a:p>
              <a:endParaRPr lang="en-IN" sz="1200"/>
            </a:p>
          </p:txBody>
        </p:sp>
        <p:sp>
          <p:nvSpPr>
            <p:cNvPr id="9" name="TextBox 9"/>
            <p:cNvSpPr txBox="1"/>
            <p:nvPr/>
          </p:nvSpPr>
          <p:spPr>
            <a:xfrm>
              <a:off x="0" y="-57150"/>
              <a:ext cx="12594035" cy="2419747"/>
            </a:xfrm>
            <a:prstGeom prst="rect">
              <a:avLst/>
            </a:prstGeom>
          </p:spPr>
          <p:txBody>
            <a:bodyPr lIns="0" tIns="0" rIns="0" bIns="0" rtlCol="0" anchor="t"/>
            <a:lstStyle/>
            <a:p>
              <a:pPr>
                <a:lnSpc>
                  <a:spcPts val="4625"/>
                </a:lnSpc>
              </a:pPr>
              <a:r>
                <a:rPr lang="en-US" sz="3708" dirty="0">
                  <a:solidFill>
                    <a:srgbClr val="97B8FF"/>
                  </a:solidFill>
                  <a:latin typeface="Arimo"/>
                  <a:ea typeface="Arimo"/>
                  <a:cs typeface="Arimo"/>
                  <a:sym typeface="Arimo"/>
                </a:rPr>
                <a:t>Characteristics of an Ideal Fuel</a:t>
              </a:r>
            </a:p>
          </p:txBody>
        </p:sp>
      </p:grpSp>
      <p:grpSp>
        <p:nvGrpSpPr>
          <p:cNvPr id="10" name="Group 10"/>
          <p:cNvGrpSpPr/>
          <p:nvPr/>
        </p:nvGrpSpPr>
        <p:grpSpPr>
          <a:xfrm>
            <a:off x="661492" y="2308027"/>
            <a:ext cx="330696" cy="330696"/>
            <a:chOff x="0" y="0"/>
            <a:chExt cx="661392" cy="661392"/>
          </a:xfrm>
        </p:grpSpPr>
        <p:sp>
          <p:nvSpPr>
            <p:cNvPr id="11" name="Freeform 11"/>
            <p:cNvSpPr/>
            <p:nvPr/>
          </p:nvSpPr>
          <p:spPr>
            <a:xfrm>
              <a:off x="0" y="0"/>
              <a:ext cx="661416" cy="661416"/>
            </a:xfrm>
            <a:custGeom>
              <a:avLst/>
              <a:gdLst/>
              <a:ahLst/>
              <a:cxnLst/>
              <a:rect l="l" t="t" r="r" b="b"/>
              <a:pathLst>
                <a:path w="661416" h="661416">
                  <a:moveTo>
                    <a:pt x="0" y="56769"/>
                  </a:moveTo>
                  <a:cubicBezTo>
                    <a:pt x="0" y="25400"/>
                    <a:pt x="25400" y="0"/>
                    <a:pt x="56769" y="0"/>
                  </a:cubicBezTo>
                  <a:lnTo>
                    <a:pt x="604647" y="0"/>
                  </a:lnTo>
                  <a:cubicBezTo>
                    <a:pt x="636016" y="0"/>
                    <a:pt x="661416" y="25400"/>
                    <a:pt x="661416" y="56769"/>
                  </a:cubicBezTo>
                  <a:lnTo>
                    <a:pt x="661416" y="604647"/>
                  </a:lnTo>
                  <a:cubicBezTo>
                    <a:pt x="661416" y="636016"/>
                    <a:pt x="636016" y="661416"/>
                    <a:pt x="604647" y="661416"/>
                  </a:cubicBezTo>
                  <a:lnTo>
                    <a:pt x="56769" y="661416"/>
                  </a:lnTo>
                  <a:cubicBezTo>
                    <a:pt x="25400" y="661416"/>
                    <a:pt x="0" y="636016"/>
                    <a:pt x="0" y="604647"/>
                  </a:cubicBezTo>
                  <a:close/>
                </a:path>
              </a:pathLst>
            </a:custGeom>
            <a:solidFill>
              <a:srgbClr val="26262B"/>
            </a:solidFill>
          </p:spPr>
          <p:txBody>
            <a:bodyPr/>
            <a:lstStyle/>
            <a:p>
              <a:endParaRPr lang="en-IN" sz="1200"/>
            </a:p>
          </p:txBody>
        </p:sp>
      </p:grpSp>
      <p:grpSp>
        <p:nvGrpSpPr>
          <p:cNvPr id="12" name="Group 12"/>
          <p:cNvGrpSpPr/>
          <p:nvPr/>
        </p:nvGrpSpPr>
        <p:grpSpPr>
          <a:xfrm>
            <a:off x="1181200" y="2308027"/>
            <a:ext cx="2384127" cy="295275"/>
            <a:chOff x="0" y="0"/>
            <a:chExt cx="4768255" cy="590550"/>
          </a:xfrm>
        </p:grpSpPr>
        <p:sp>
          <p:nvSpPr>
            <p:cNvPr id="13" name="Freeform 13"/>
            <p:cNvSpPr/>
            <p:nvPr/>
          </p:nvSpPr>
          <p:spPr>
            <a:xfrm>
              <a:off x="0" y="0"/>
              <a:ext cx="4768255" cy="590550"/>
            </a:xfrm>
            <a:custGeom>
              <a:avLst/>
              <a:gdLst/>
              <a:ahLst/>
              <a:cxnLst/>
              <a:rect l="l" t="t" r="r" b="b"/>
              <a:pathLst>
                <a:path w="4768255" h="590550">
                  <a:moveTo>
                    <a:pt x="0" y="0"/>
                  </a:moveTo>
                  <a:lnTo>
                    <a:pt x="4768255" y="0"/>
                  </a:lnTo>
                  <a:lnTo>
                    <a:pt x="4768255" y="590550"/>
                  </a:lnTo>
                  <a:lnTo>
                    <a:pt x="0" y="590550"/>
                  </a:lnTo>
                  <a:close/>
                </a:path>
              </a:pathLst>
            </a:custGeom>
            <a:solidFill>
              <a:srgbClr val="000000">
                <a:alpha val="0"/>
              </a:srgbClr>
            </a:solidFill>
          </p:spPr>
          <p:txBody>
            <a:bodyPr/>
            <a:lstStyle/>
            <a:p>
              <a:endParaRPr lang="en-IN" sz="1200"/>
            </a:p>
          </p:txBody>
        </p:sp>
        <p:sp>
          <p:nvSpPr>
            <p:cNvPr id="14" name="TextBox 14"/>
            <p:cNvSpPr txBox="1"/>
            <p:nvPr/>
          </p:nvSpPr>
          <p:spPr>
            <a:xfrm>
              <a:off x="0" y="-38100"/>
              <a:ext cx="4768255" cy="628650"/>
            </a:xfrm>
            <a:prstGeom prst="rect">
              <a:avLst/>
            </a:prstGeom>
          </p:spPr>
          <p:txBody>
            <a:bodyPr lIns="0" tIns="0" rIns="0" bIns="0" rtlCol="0" anchor="t"/>
            <a:lstStyle/>
            <a:p>
              <a:pPr>
                <a:lnSpc>
                  <a:spcPts val="2291"/>
                </a:lnSpc>
              </a:pPr>
              <a:r>
                <a:rPr lang="en-US" sz="1833">
                  <a:solidFill>
                    <a:srgbClr val="E0D6DE"/>
                  </a:solidFill>
                  <a:latin typeface="Arimo"/>
                  <a:ea typeface="Arimo"/>
                  <a:cs typeface="Arimo"/>
                  <a:sym typeface="Arimo"/>
                </a:rPr>
                <a:t>High Calorific Value</a:t>
              </a:r>
            </a:p>
          </p:txBody>
        </p:sp>
      </p:grpSp>
      <p:grpSp>
        <p:nvGrpSpPr>
          <p:cNvPr id="15" name="Group 15"/>
          <p:cNvGrpSpPr/>
          <p:nvPr/>
        </p:nvGrpSpPr>
        <p:grpSpPr>
          <a:xfrm>
            <a:off x="1181199" y="2716708"/>
            <a:ext cx="2534344" cy="907257"/>
            <a:chOff x="0" y="0"/>
            <a:chExt cx="5068688" cy="1814513"/>
          </a:xfrm>
        </p:grpSpPr>
        <p:sp>
          <p:nvSpPr>
            <p:cNvPr id="16" name="Freeform 16"/>
            <p:cNvSpPr/>
            <p:nvPr/>
          </p:nvSpPr>
          <p:spPr>
            <a:xfrm>
              <a:off x="0" y="0"/>
              <a:ext cx="5068688" cy="1814513"/>
            </a:xfrm>
            <a:custGeom>
              <a:avLst/>
              <a:gdLst/>
              <a:ahLst/>
              <a:cxnLst/>
              <a:rect l="l" t="t" r="r" b="b"/>
              <a:pathLst>
                <a:path w="5068688" h="1814513">
                  <a:moveTo>
                    <a:pt x="0" y="0"/>
                  </a:moveTo>
                  <a:lnTo>
                    <a:pt x="5068688" y="0"/>
                  </a:lnTo>
                  <a:lnTo>
                    <a:pt x="5068688" y="1814513"/>
                  </a:lnTo>
                  <a:lnTo>
                    <a:pt x="0" y="1814513"/>
                  </a:lnTo>
                  <a:close/>
                </a:path>
              </a:pathLst>
            </a:custGeom>
            <a:solidFill>
              <a:srgbClr val="000000">
                <a:alpha val="0"/>
              </a:srgbClr>
            </a:solidFill>
          </p:spPr>
          <p:txBody>
            <a:bodyPr/>
            <a:lstStyle/>
            <a:p>
              <a:endParaRPr lang="en-IN" sz="1200"/>
            </a:p>
          </p:txBody>
        </p:sp>
        <p:sp>
          <p:nvSpPr>
            <p:cNvPr id="17" name="TextBox 17"/>
            <p:cNvSpPr txBox="1"/>
            <p:nvPr/>
          </p:nvSpPr>
          <p:spPr>
            <a:xfrm>
              <a:off x="0" y="-104775"/>
              <a:ext cx="5068688" cy="1919288"/>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Releases a significant amount of energy per unit mass.</a:t>
              </a:r>
            </a:p>
          </p:txBody>
        </p:sp>
      </p:grpSp>
      <p:grpSp>
        <p:nvGrpSpPr>
          <p:cNvPr id="18" name="Group 18"/>
          <p:cNvGrpSpPr/>
          <p:nvPr/>
        </p:nvGrpSpPr>
        <p:grpSpPr>
          <a:xfrm>
            <a:off x="3904556" y="2308027"/>
            <a:ext cx="330696" cy="330696"/>
            <a:chOff x="0" y="0"/>
            <a:chExt cx="661392" cy="661392"/>
          </a:xfrm>
        </p:grpSpPr>
        <p:sp>
          <p:nvSpPr>
            <p:cNvPr id="19" name="Freeform 19"/>
            <p:cNvSpPr/>
            <p:nvPr/>
          </p:nvSpPr>
          <p:spPr>
            <a:xfrm>
              <a:off x="0" y="0"/>
              <a:ext cx="661416" cy="661416"/>
            </a:xfrm>
            <a:custGeom>
              <a:avLst/>
              <a:gdLst/>
              <a:ahLst/>
              <a:cxnLst/>
              <a:rect l="l" t="t" r="r" b="b"/>
              <a:pathLst>
                <a:path w="661416" h="661416">
                  <a:moveTo>
                    <a:pt x="0" y="56769"/>
                  </a:moveTo>
                  <a:cubicBezTo>
                    <a:pt x="0" y="25400"/>
                    <a:pt x="25400" y="0"/>
                    <a:pt x="56769" y="0"/>
                  </a:cubicBezTo>
                  <a:lnTo>
                    <a:pt x="604647" y="0"/>
                  </a:lnTo>
                  <a:cubicBezTo>
                    <a:pt x="636016" y="0"/>
                    <a:pt x="661416" y="25400"/>
                    <a:pt x="661416" y="56769"/>
                  </a:cubicBezTo>
                  <a:lnTo>
                    <a:pt x="661416" y="604647"/>
                  </a:lnTo>
                  <a:cubicBezTo>
                    <a:pt x="661416" y="636016"/>
                    <a:pt x="636016" y="661416"/>
                    <a:pt x="604647" y="661416"/>
                  </a:cubicBezTo>
                  <a:lnTo>
                    <a:pt x="56769" y="661416"/>
                  </a:lnTo>
                  <a:cubicBezTo>
                    <a:pt x="25400" y="661416"/>
                    <a:pt x="0" y="636016"/>
                    <a:pt x="0" y="604647"/>
                  </a:cubicBezTo>
                  <a:close/>
                </a:path>
              </a:pathLst>
            </a:custGeom>
            <a:solidFill>
              <a:srgbClr val="26262B"/>
            </a:solidFill>
          </p:spPr>
          <p:txBody>
            <a:bodyPr/>
            <a:lstStyle/>
            <a:p>
              <a:endParaRPr lang="en-IN" sz="1200"/>
            </a:p>
          </p:txBody>
        </p:sp>
      </p:grpSp>
      <p:grpSp>
        <p:nvGrpSpPr>
          <p:cNvPr id="20" name="Group 20"/>
          <p:cNvGrpSpPr/>
          <p:nvPr/>
        </p:nvGrpSpPr>
        <p:grpSpPr>
          <a:xfrm>
            <a:off x="4424263" y="2308027"/>
            <a:ext cx="2534344" cy="590550"/>
            <a:chOff x="0" y="0"/>
            <a:chExt cx="5068688" cy="1181100"/>
          </a:xfrm>
        </p:grpSpPr>
        <p:sp>
          <p:nvSpPr>
            <p:cNvPr id="21" name="Freeform 21"/>
            <p:cNvSpPr/>
            <p:nvPr/>
          </p:nvSpPr>
          <p:spPr>
            <a:xfrm>
              <a:off x="0" y="0"/>
              <a:ext cx="5068688" cy="1181100"/>
            </a:xfrm>
            <a:custGeom>
              <a:avLst/>
              <a:gdLst/>
              <a:ahLst/>
              <a:cxnLst/>
              <a:rect l="l" t="t" r="r" b="b"/>
              <a:pathLst>
                <a:path w="5068688" h="1181100">
                  <a:moveTo>
                    <a:pt x="0" y="0"/>
                  </a:moveTo>
                  <a:lnTo>
                    <a:pt x="5068688" y="0"/>
                  </a:lnTo>
                  <a:lnTo>
                    <a:pt x="5068688" y="1181100"/>
                  </a:lnTo>
                  <a:lnTo>
                    <a:pt x="0" y="1181100"/>
                  </a:lnTo>
                  <a:close/>
                </a:path>
              </a:pathLst>
            </a:custGeom>
            <a:solidFill>
              <a:srgbClr val="000000">
                <a:alpha val="0"/>
              </a:srgbClr>
            </a:solidFill>
          </p:spPr>
          <p:txBody>
            <a:bodyPr/>
            <a:lstStyle/>
            <a:p>
              <a:endParaRPr lang="en-IN" sz="1200"/>
            </a:p>
          </p:txBody>
        </p:sp>
        <p:sp>
          <p:nvSpPr>
            <p:cNvPr id="22" name="TextBox 22"/>
            <p:cNvSpPr txBox="1"/>
            <p:nvPr/>
          </p:nvSpPr>
          <p:spPr>
            <a:xfrm>
              <a:off x="0" y="-38100"/>
              <a:ext cx="5068688" cy="1219200"/>
            </a:xfrm>
            <a:prstGeom prst="rect">
              <a:avLst/>
            </a:prstGeom>
          </p:spPr>
          <p:txBody>
            <a:bodyPr lIns="0" tIns="0" rIns="0" bIns="0" rtlCol="0" anchor="t"/>
            <a:lstStyle/>
            <a:p>
              <a:pPr>
                <a:lnSpc>
                  <a:spcPts val="2291"/>
                </a:lnSpc>
              </a:pPr>
              <a:r>
                <a:rPr lang="en-US" sz="1833" dirty="0">
                  <a:solidFill>
                    <a:srgbClr val="E0D6DE"/>
                  </a:solidFill>
                  <a:latin typeface="Arimo"/>
                  <a:ea typeface="Arimo"/>
                  <a:cs typeface="Arimo"/>
                  <a:sym typeface="Arimo"/>
                </a:rPr>
                <a:t>Easy Availability and Transportability</a:t>
              </a:r>
            </a:p>
          </p:txBody>
        </p:sp>
      </p:grpSp>
      <p:grpSp>
        <p:nvGrpSpPr>
          <p:cNvPr id="23" name="Group 23"/>
          <p:cNvGrpSpPr/>
          <p:nvPr/>
        </p:nvGrpSpPr>
        <p:grpSpPr>
          <a:xfrm>
            <a:off x="4424263" y="3086198"/>
            <a:ext cx="2534344" cy="907257"/>
            <a:chOff x="0" y="0"/>
            <a:chExt cx="5068688" cy="1814513"/>
          </a:xfrm>
        </p:grpSpPr>
        <p:sp>
          <p:nvSpPr>
            <p:cNvPr id="24" name="Freeform 24"/>
            <p:cNvSpPr/>
            <p:nvPr/>
          </p:nvSpPr>
          <p:spPr>
            <a:xfrm>
              <a:off x="0" y="0"/>
              <a:ext cx="5068688" cy="1814513"/>
            </a:xfrm>
            <a:custGeom>
              <a:avLst/>
              <a:gdLst/>
              <a:ahLst/>
              <a:cxnLst/>
              <a:rect l="l" t="t" r="r" b="b"/>
              <a:pathLst>
                <a:path w="5068688" h="1814513">
                  <a:moveTo>
                    <a:pt x="0" y="0"/>
                  </a:moveTo>
                  <a:lnTo>
                    <a:pt x="5068688" y="0"/>
                  </a:lnTo>
                  <a:lnTo>
                    <a:pt x="5068688" y="1814513"/>
                  </a:lnTo>
                  <a:lnTo>
                    <a:pt x="0" y="1814513"/>
                  </a:lnTo>
                  <a:close/>
                </a:path>
              </a:pathLst>
            </a:custGeom>
            <a:solidFill>
              <a:srgbClr val="000000">
                <a:alpha val="0"/>
              </a:srgbClr>
            </a:solidFill>
          </p:spPr>
          <p:txBody>
            <a:bodyPr/>
            <a:lstStyle/>
            <a:p>
              <a:endParaRPr lang="en-IN" sz="1200"/>
            </a:p>
          </p:txBody>
        </p:sp>
        <p:sp>
          <p:nvSpPr>
            <p:cNvPr id="25" name="TextBox 25"/>
            <p:cNvSpPr txBox="1"/>
            <p:nvPr/>
          </p:nvSpPr>
          <p:spPr>
            <a:xfrm>
              <a:off x="0" y="-104775"/>
              <a:ext cx="5068688" cy="1919288"/>
            </a:xfrm>
            <a:prstGeom prst="rect">
              <a:avLst/>
            </a:prstGeom>
          </p:spPr>
          <p:txBody>
            <a:bodyPr lIns="0" tIns="0" rIns="0" bIns="0" rtlCol="0" anchor="t"/>
            <a:lstStyle/>
            <a:p>
              <a:pPr>
                <a:lnSpc>
                  <a:spcPts val="2375"/>
                </a:lnSpc>
              </a:pPr>
              <a:r>
                <a:rPr lang="en-US" sz="1458" dirty="0">
                  <a:solidFill>
                    <a:srgbClr val="E0D6DE"/>
                  </a:solidFill>
                  <a:latin typeface="Arimo"/>
                  <a:ea typeface="Arimo"/>
                  <a:cs typeface="Arimo"/>
                  <a:sym typeface="Arimo"/>
                </a:rPr>
                <a:t>Accessible and readily transported to where it's needed.</a:t>
              </a:r>
            </a:p>
          </p:txBody>
        </p:sp>
      </p:grpSp>
      <p:grpSp>
        <p:nvGrpSpPr>
          <p:cNvPr id="26" name="Group 26"/>
          <p:cNvGrpSpPr/>
          <p:nvPr/>
        </p:nvGrpSpPr>
        <p:grpSpPr>
          <a:xfrm>
            <a:off x="661492" y="4320877"/>
            <a:ext cx="330696" cy="330696"/>
            <a:chOff x="0" y="0"/>
            <a:chExt cx="661392" cy="661392"/>
          </a:xfrm>
        </p:grpSpPr>
        <p:sp>
          <p:nvSpPr>
            <p:cNvPr id="27" name="Freeform 27"/>
            <p:cNvSpPr/>
            <p:nvPr/>
          </p:nvSpPr>
          <p:spPr>
            <a:xfrm>
              <a:off x="0" y="0"/>
              <a:ext cx="661416" cy="661416"/>
            </a:xfrm>
            <a:custGeom>
              <a:avLst/>
              <a:gdLst/>
              <a:ahLst/>
              <a:cxnLst/>
              <a:rect l="l" t="t" r="r" b="b"/>
              <a:pathLst>
                <a:path w="661416" h="661416">
                  <a:moveTo>
                    <a:pt x="0" y="56769"/>
                  </a:moveTo>
                  <a:cubicBezTo>
                    <a:pt x="0" y="25400"/>
                    <a:pt x="25400" y="0"/>
                    <a:pt x="56769" y="0"/>
                  </a:cubicBezTo>
                  <a:lnTo>
                    <a:pt x="604647" y="0"/>
                  </a:lnTo>
                  <a:cubicBezTo>
                    <a:pt x="636016" y="0"/>
                    <a:pt x="661416" y="25400"/>
                    <a:pt x="661416" y="56769"/>
                  </a:cubicBezTo>
                  <a:lnTo>
                    <a:pt x="661416" y="604647"/>
                  </a:lnTo>
                  <a:cubicBezTo>
                    <a:pt x="661416" y="636016"/>
                    <a:pt x="636016" y="661416"/>
                    <a:pt x="604647" y="661416"/>
                  </a:cubicBezTo>
                  <a:lnTo>
                    <a:pt x="56769" y="661416"/>
                  </a:lnTo>
                  <a:cubicBezTo>
                    <a:pt x="25400" y="661416"/>
                    <a:pt x="0" y="636016"/>
                    <a:pt x="0" y="604647"/>
                  </a:cubicBezTo>
                  <a:close/>
                </a:path>
              </a:pathLst>
            </a:custGeom>
            <a:solidFill>
              <a:srgbClr val="26262B"/>
            </a:solidFill>
          </p:spPr>
          <p:txBody>
            <a:bodyPr/>
            <a:lstStyle/>
            <a:p>
              <a:endParaRPr lang="en-IN" sz="1200"/>
            </a:p>
          </p:txBody>
        </p:sp>
      </p:grpSp>
      <p:grpSp>
        <p:nvGrpSpPr>
          <p:cNvPr id="28" name="Group 28"/>
          <p:cNvGrpSpPr/>
          <p:nvPr/>
        </p:nvGrpSpPr>
        <p:grpSpPr>
          <a:xfrm>
            <a:off x="1181200" y="4320877"/>
            <a:ext cx="2427585" cy="295275"/>
            <a:chOff x="0" y="0"/>
            <a:chExt cx="4855170" cy="590550"/>
          </a:xfrm>
        </p:grpSpPr>
        <p:sp>
          <p:nvSpPr>
            <p:cNvPr id="29" name="Freeform 29"/>
            <p:cNvSpPr/>
            <p:nvPr/>
          </p:nvSpPr>
          <p:spPr>
            <a:xfrm>
              <a:off x="0" y="0"/>
              <a:ext cx="4855170" cy="590550"/>
            </a:xfrm>
            <a:custGeom>
              <a:avLst/>
              <a:gdLst/>
              <a:ahLst/>
              <a:cxnLst/>
              <a:rect l="l" t="t" r="r" b="b"/>
              <a:pathLst>
                <a:path w="4855170" h="590550">
                  <a:moveTo>
                    <a:pt x="0" y="0"/>
                  </a:moveTo>
                  <a:lnTo>
                    <a:pt x="4855170" y="0"/>
                  </a:lnTo>
                  <a:lnTo>
                    <a:pt x="4855170" y="590550"/>
                  </a:lnTo>
                  <a:lnTo>
                    <a:pt x="0" y="590550"/>
                  </a:lnTo>
                  <a:close/>
                </a:path>
              </a:pathLst>
            </a:custGeom>
            <a:solidFill>
              <a:srgbClr val="000000">
                <a:alpha val="0"/>
              </a:srgbClr>
            </a:solidFill>
          </p:spPr>
          <p:txBody>
            <a:bodyPr/>
            <a:lstStyle/>
            <a:p>
              <a:endParaRPr lang="en-IN" sz="1200"/>
            </a:p>
          </p:txBody>
        </p:sp>
        <p:sp>
          <p:nvSpPr>
            <p:cNvPr id="30" name="TextBox 30"/>
            <p:cNvSpPr txBox="1"/>
            <p:nvPr/>
          </p:nvSpPr>
          <p:spPr>
            <a:xfrm>
              <a:off x="0" y="-38100"/>
              <a:ext cx="4855170" cy="628650"/>
            </a:xfrm>
            <a:prstGeom prst="rect">
              <a:avLst/>
            </a:prstGeom>
          </p:spPr>
          <p:txBody>
            <a:bodyPr lIns="0" tIns="0" rIns="0" bIns="0" rtlCol="0" anchor="t"/>
            <a:lstStyle/>
            <a:p>
              <a:pPr>
                <a:lnSpc>
                  <a:spcPts val="2291"/>
                </a:lnSpc>
              </a:pPr>
              <a:r>
                <a:rPr lang="en-US" sz="1833">
                  <a:solidFill>
                    <a:srgbClr val="E0D6DE"/>
                  </a:solidFill>
                  <a:latin typeface="Arimo"/>
                  <a:ea typeface="Arimo"/>
                  <a:cs typeface="Arimo"/>
                  <a:sym typeface="Arimo"/>
                </a:rPr>
                <a:t>High Energy Density</a:t>
              </a:r>
            </a:p>
          </p:txBody>
        </p:sp>
      </p:grpSp>
      <p:grpSp>
        <p:nvGrpSpPr>
          <p:cNvPr id="31" name="Group 31"/>
          <p:cNvGrpSpPr/>
          <p:nvPr/>
        </p:nvGrpSpPr>
        <p:grpSpPr>
          <a:xfrm>
            <a:off x="1181199" y="4729560"/>
            <a:ext cx="2534344" cy="907257"/>
            <a:chOff x="0" y="0"/>
            <a:chExt cx="5068688" cy="1814513"/>
          </a:xfrm>
        </p:grpSpPr>
        <p:sp>
          <p:nvSpPr>
            <p:cNvPr id="32" name="Freeform 32"/>
            <p:cNvSpPr/>
            <p:nvPr/>
          </p:nvSpPr>
          <p:spPr>
            <a:xfrm>
              <a:off x="0" y="0"/>
              <a:ext cx="5068688" cy="1814513"/>
            </a:xfrm>
            <a:custGeom>
              <a:avLst/>
              <a:gdLst/>
              <a:ahLst/>
              <a:cxnLst/>
              <a:rect l="l" t="t" r="r" b="b"/>
              <a:pathLst>
                <a:path w="5068688" h="1814513">
                  <a:moveTo>
                    <a:pt x="0" y="0"/>
                  </a:moveTo>
                  <a:lnTo>
                    <a:pt x="5068688" y="0"/>
                  </a:lnTo>
                  <a:lnTo>
                    <a:pt x="5068688" y="1814513"/>
                  </a:lnTo>
                  <a:lnTo>
                    <a:pt x="0" y="1814513"/>
                  </a:lnTo>
                  <a:close/>
                </a:path>
              </a:pathLst>
            </a:custGeom>
            <a:solidFill>
              <a:srgbClr val="000000">
                <a:alpha val="0"/>
              </a:srgbClr>
            </a:solidFill>
          </p:spPr>
          <p:txBody>
            <a:bodyPr/>
            <a:lstStyle/>
            <a:p>
              <a:endParaRPr lang="en-IN" sz="1200"/>
            </a:p>
          </p:txBody>
        </p:sp>
        <p:sp>
          <p:nvSpPr>
            <p:cNvPr id="33" name="TextBox 33"/>
            <p:cNvSpPr txBox="1"/>
            <p:nvPr/>
          </p:nvSpPr>
          <p:spPr>
            <a:xfrm>
              <a:off x="0" y="-104775"/>
              <a:ext cx="5068688" cy="1919288"/>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Stores a large amount of energy in a small volume or mass.</a:t>
              </a:r>
            </a:p>
          </p:txBody>
        </p:sp>
      </p:grpSp>
      <p:grpSp>
        <p:nvGrpSpPr>
          <p:cNvPr id="34" name="Group 34"/>
          <p:cNvGrpSpPr/>
          <p:nvPr/>
        </p:nvGrpSpPr>
        <p:grpSpPr>
          <a:xfrm>
            <a:off x="3904556" y="4320877"/>
            <a:ext cx="330696" cy="330696"/>
            <a:chOff x="0" y="0"/>
            <a:chExt cx="661392" cy="661392"/>
          </a:xfrm>
        </p:grpSpPr>
        <p:sp>
          <p:nvSpPr>
            <p:cNvPr id="35" name="Freeform 35"/>
            <p:cNvSpPr/>
            <p:nvPr/>
          </p:nvSpPr>
          <p:spPr>
            <a:xfrm>
              <a:off x="0" y="0"/>
              <a:ext cx="661416" cy="661416"/>
            </a:xfrm>
            <a:custGeom>
              <a:avLst/>
              <a:gdLst/>
              <a:ahLst/>
              <a:cxnLst/>
              <a:rect l="l" t="t" r="r" b="b"/>
              <a:pathLst>
                <a:path w="661416" h="661416">
                  <a:moveTo>
                    <a:pt x="0" y="56769"/>
                  </a:moveTo>
                  <a:cubicBezTo>
                    <a:pt x="0" y="25400"/>
                    <a:pt x="25400" y="0"/>
                    <a:pt x="56769" y="0"/>
                  </a:cubicBezTo>
                  <a:lnTo>
                    <a:pt x="604647" y="0"/>
                  </a:lnTo>
                  <a:cubicBezTo>
                    <a:pt x="636016" y="0"/>
                    <a:pt x="661416" y="25400"/>
                    <a:pt x="661416" y="56769"/>
                  </a:cubicBezTo>
                  <a:lnTo>
                    <a:pt x="661416" y="604647"/>
                  </a:lnTo>
                  <a:cubicBezTo>
                    <a:pt x="661416" y="636016"/>
                    <a:pt x="636016" y="661416"/>
                    <a:pt x="604647" y="661416"/>
                  </a:cubicBezTo>
                  <a:lnTo>
                    <a:pt x="56769" y="661416"/>
                  </a:lnTo>
                  <a:cubicBezTo>
                    <a:pt x="25400" y="661416"/>
                    <a:pt x="0" y="636016"/>
                    <a:pt x="0" y="604647"/>
                  </a:cubicBezTo>
                  <a:close/>
                </a:path>
              </a:pathLst>
            </a:custGeom>
            <a:solidFill>
              <a:srgbClr val="26262B"/>
            </a:solidFill>
          </p:spPr>
          <p:txBody>
            <a:bodyPr/>
            <a:lstStyle/>
            <a:p>
              <a:endParaRPr lang="en-IN" sz="1200"/>
            </a:p>
          </p:txBody>
        </p:sp>
      </p:grpSp>
      <p:grpSp>
        <p:nvGrpSpPr>
          <p:cNvPr id="36" name="Group 36"/>
          <p:cNvGrpSpPr/>
          <p:nvPr/>
        </p:nvGrpSpPr>
        <p:grpSpPr>
          <a:xfrm>
            <a:off x="4424263" y="4320878"/>
            <a:ext cx="2534344" cy="885825"/>
            <a:chOff x="0" y="0"/>
            <a:chExt cx="5068688" cy="1771650"/>
          </a:xfrm>
        </p:grpSpPr>
        <p:sp>
          <p:nvSpPr>
            <p:cNvPr id="37" name="Freeform 37"/>
            <p:cNvSpPr/>
            <p:nvPr/>
          </p:nvSpPr>
          <p:spPr>
            <a:xfrm>
              <a:off x="0" y="0"/>
              <a:ext cx="5068688" cy="1771650"/>
            </a:xfrm>
            <a:custGeom>
              <a:avLst/>
              <a:gdLst/>
              <a:ahLst/>
              <a:cxnLst/>
              <a:rect l="l" t="t" r="r" b="b"/>
              <a:pathLst>
                <a:path w="5068688" h="1771650">
                  <a:moveTo>
                    <a:pt x="0" y="0"/>
                  </a:moveTo>
                  <a:lnTo>
                    <a:pt x="5068688" y="0"/>
                  </a:lnTo>
                  <a:lnTo>
                    <a:pt x="5068688" y="1771650"/>
                  </a:lnTo>
                  <a:lnTo>
                    <a:pt x="0" y="1771650"/>
                  </a:lnTo>
                  <a:close/>
                </a:path>
              </a:pathLst>
            </a:custGeom>
            <a:solidFill>
              <a:srgbClr val="000000">
                <a:alpha val="0"/>
              </a:srgbClr>
            </a:solidFill>
          </p:spPr>
          <p:txBody>
            <a:bodyPr/>
            <a:lstStyle/>
            <a:p>
              <a:endParaRPr lang="en-IN" sz="1200"/>
            </a:p>
          </p:txBody>
        </p:sp>
        <p:sp>
          <p:nvSpPr>
            <p:cNvPr id="38" name="TextBox 38"/>
            <p:cNvSpPr txBox="1"/>
            <p:nvPr/>
          </p:nvSpPr>
          <p:spPr>
            <a:xfrm>
              <a:off x="0" y="-38100"/>
              <a:ext cx="5068688" cy="1809750"/>
            </a:xfrm>
            <a:prstGeom prst="rect">
              <a:avLst/>
            </a:prstGeom>
          </p:spPr>
          <p:txBody>
            <a:bodyPr lIns="0" tIns="0" rIns="0" bIns="0" rtlCol="0" anchor="t"/>
            <a:lstStyle/>
            <a:p>
              <a:pPr>
                <a:lnSpc>
                  <a:spcPts val="2291"/>
                </a:lnSpc>
              </a:pPr>
              <a:r>
                <a:rPr lang="en-US" sz="1833">
                  <a:solidFill>
                    <a:srgbClr val="E0D6DE"/>
                  </a:solidFill>
                  <a:latin typeface="Arimo"/>
                  <a:ea typeface="Arimo"/>
                  <a:cs typeface="Arimo"/>
                  <a:sym typeface="Arimo"/>
                </a:rPr>
                <a:t>Clean Combustion with Minimal Residue</a:t>
              </a:r>
            </a:p>
          </p:txBody>
        </p:sp>
      </p:grpSp>
      <p:grpSp>
        <p:nvGrpSpPr>
          <p:cNvPr id="39" name="Group 39"/>
          <p:cNvGrpSpPr/>
          <p:nvPr/>
        </p:nvGrpSpPr>
        <p:grpSpPr>
          <a:xfrm>
            <a:off x="4424263" y="5320110"/>
            <a:ext cx="2534344" cy="907257"/>
            <a:chOff x="0" y="0"/>
            <a:chExt cx="5068688" cy="1814513"/>
          </a:xfrm>
        </p:grpSpPr>
        <p:sp>
          <p:nvSpPr>
            <p:cNvPr id="40" name="Freeform 40"/>
            <p:cNvSpPr/>
            <p:nvPr/>
          </p:nvSpPr>
          <p:spPr>
            <a:xfrm>
              <a:off x="0" y="0"/>
              <a:ext cx="5068688" cy="1814513"/>
            </a:xfrm>
            <a:custGeom>
              <a:avLst/>
              <a:gdLst/>
              <a:ahLst/>
              <a:cxnLst/>
              <a:rect l="l" t="t" r="r" b="b"/>
              <a:pathLst>
                <a:path w="5068688" h="1814513">
                  <a:moveTo>
                    <a:pt x="0" y="0"/>
                  </a:moveTo>
                  <a:lnTo>
                    <a:pt x="5068688" y="0"/>
                  </a:lnTo>
                  <a:lnTo>
                    <a:pt x="5068688" y="1814513"/>
                  </a:lnTo>
                  <a:lnTo>
                    <a:pt x="0" y="1814513"/>
                  </a:lnTo>
                  <a:close/>
                </a:path>
              </a:pathLst>
            </a:custGeom>
            <a:solidFill>
              <a:srgbClr val="000000">
                <a:alpha val="0"/>
              </a:srgbClr>
            </a:solidFill>
          </p:spPr>
          <p:txBody>
            <a:bodyPr/>
            <a:lstStyle/>
            <a:p>
              <a:endParaRPr lang="en-IN" sz="1200"/>
            </a:p>
          </p:txBody>
        </p:sp>
        <p:sp>
          <p:nvSpPr>
            <p:cNvPr id="41" name="TextBox 41"/>
            <p:cNvSpPr txBox="1"/>
            <p:nvPr/>
          </p:nvSpPr>
          <p:spPr>
            <a:xfrm>
              <a:off x="0" y="-104775"/>
              <a:ext cx="5068688" cy="1919288"/>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Burns efficiently with minimal pollution and waste products.</a:t>
              </a:r>
            </a:p>
          </p:txBody>
        </p:sp>
      </p:grpSp>
      <p:pic>
        <p:nvPicPr>
          <p:cNvPr id="42" name="Picture 41">
            <a:extLst>
              <a:ext uri="{FF2B5EF4-FFF2-40B4-BE49-F238E27FC236}">
                <a16:creationId xmlns:a16="http://schemas.microsoft.com/office/drawing/2014/main" id="{1BF2A2D2-0315-6146-43DE-BB1E4649E03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2273" y="5996409"/>
            <a:ext cx="4358797" cy="621128"/>
          </a:xfrm>
          <a:prstGeom prst="rect">
            <a:avLst/>
          </a:prstGeom>
        </p:spPr>
      </p:pic>
      <p:grpSp>
        <p:nvGrpSpPr>
          <p:cNvPr id="43" name="Group 42">
            <a:extLst>
              <a:ext uri="{FF2B5EF4-FFF2-40B4-BE49-F238E27FC236}">
                <a16:creationId xmlns:a16="http://schemas.microsoft.com/office/drawing/2014/main" id="{283DF9B9-F9D7-2D78-9866-97365A414E0E}"/>
              </a:ext>
            </a:extLst>
          </p:cNvPr>
          <p:cNvGrpSpPr/>
          <p:nvPr/>
        </p:nvGrpSpPr>
        <p:grpSpPr>
          <a:xfrm>
            <a:off x="2542846" y="7989"/>
            <a:ext cx="6869410" cy="228600"/>
            <a:chOff x="1143000" y="857250"/>
            <a:chExt cx="6858000" cy="162000"/>
          </a:xfrm>
        </p:grpSpPr>
        <p:sp>
          <p:nvSpPr>
            <p:cNvPr id="44" name="Rectangle 43">
              <a:extLst>
                <a:ext uri="{FF2B5EF4-FFF2-40B4-BE49-F238E27FC236}">
                  <a16:creationId xmlns:a16="http://schemas.microsoft.com/office/drawing/2014/main" id="{28B3811A-1960-04A5-41BD-9A37A869D158}"/>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45" name="Rectangle 44">
              <a:extLst>
                <a:ext uri="{FF2B5EF4-FFF2-40B4-BE49-F238E27FC236}">
                  <a16:creationId xmlns:a16="http://schemas.microsoft.com/office/drawing/2014/main" id="{98822E7B-8DFD-76D1-780C-000542AD497E}"/>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46" name="Group 45">
            <a:extLst>
              <a:ext uri="{FF2B5EF4-FFF2-40B4-BE49-F238E27FC236}">
                <a16:creationId xmlns:a16="http://schemas.microsoft.com/office/drawing/2014/main" id="{964A39AF-7760-9729-837F-EBE578590F3A}"/>
              </a:ext>
            </a:extLst>
          </p:cNvPr>
          <p:cNvGrpSpPr/>
          <p:nvPr/>
        </p:nvGrpSpPr>
        <p:grpSpPr>
          <a:xfrm>
            <a:off x="2184675" y="6648660"/>
            <a:ext cx="6869410" cy="228600"/>
            <a:chOff x="1143000" y="857250"/>
            <a:chExt cx="6858000" cy="162000"/>
          </a:xfrm>
        </p:grpSpPr>
        <p:sp>
          <p:nvSpPr>
            <p:cNvPr id="47" name="Rectangle 46">
              <a:extLst>
                <a:ext uri="{FF2B5EF4-FFF2-40B4-BE49-F238E27FC236}">
                  <a16:creationId xmlns:a16="http://schemas.microsoft.com/office/drawing/2014/main" id="{537E75F0-9996-BD12-8B3C-7FEC636190D2}"/>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48" name="Rectangle 47">
              <a:extLst>
                <a:ext uri="{FF2B5EF4-FFF2-40B4-BE49-F238E27FC236}">
                  <a16:creationId xmlns:a16="http://schemas.microsoft.com/office/drawing/2014/main" id="{1A3EA934-FDA9-008C-1EC7-80E92DF799B4}"/>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sz="1200"/>
          </a:p>
        </p:txBody>
      </p:sp>
      <p:grpSp>
        <p:nvGrpSpPr>
          <p:cNvPr id="3" name="Group 3"/>
          <p:cNvGrpSpPr/>
          <p:nvPr/>
        </p:nvGrpSpPr>
        <p:grpSpPr>
          <a:xfrm>
            <a:off x="274320" y="319942"/>
            <a:ext cx="11067288" cy="5989320"/>
            <a:chOff x="548640" y="639884"/>
            <a:chExt cx="22134576" cy="11978640"/>
          </a:xfrm>
        </p:grpSpPr>
        <p:sp>
          <p:nvSpPr>
            <p:cNvPr id="4" name="Freeform 4"/>
            <p:cNvSpPr/>
            <p:nvPr/>
          </p:nvSpPr>
          <p:spPr>
            <a:xfrm>
              <a:off x="548640" y="639884"/>
              <a:ext cx="22134576" cy="11978640"/>
            </a:xfrm>
            <a:custGeom>
              <a:avLst/>
              <a:gdLst/>
              <a:ahLst/>
              <a:cxnLst/>
              <a:rect l="l" t="t" r="r" b="b"/>
              <a:pathLst>
                <a:path w="24384000" h="13716000">
                  <a:moveTo>
                    <a:pt x="0" y="0"/>
                  </a:moveTo>
                  <a:lnTo>
                    <a:pt x="24384000" y="0"/>
                  </a:lnTo>
                  <a:lnTo>
                    <a:pt x="24384000" y="13716000"/>
                  </a:lnTo>
                  <a:lnTo>
                    <a:pt x="0" y="13716000"/>
                  </a:lnTo>
                  <a:close/>
                </a:path>
              </a:pathLst>
            </a:custGeom>
            <a:solidFill>
              <a:srgbClr val="07070C"/>
            </a:solidFill>
          </p:spPr>
          <p:txBody>
            <a:bodyPr/>
            <a:lstStyle/>
            <a:p>
              <a:endParaRPr lang="en-IN" sz="1200"/>
            </a:p>
          </p:txBody>
        </p:sp>
      </p:grpSp>
      <p:sp>
        <p:nvSpPr>
          <p:cNvPr id="5" name="Freeform 5" descr="preencoded.png">
            <a:hlinkClick r:id="rId4" tooltip="https://gamma.app/?utm_source=made-with-gamma"/>
          </p:cNvPr>
          <p:cNvSpPr/>
          <p:nvPr/>
        </p:nvSpPr>
        <p:spPr>
          <a:xfrm>
            <a:off x="10699346" y="6457950"/>
            <a:ext cx="1435504" cy="34290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5"/>
            <a:stretch>
              <a:fillRect/>
            </a:stretch>
          </a:blipFill>
        </p:spPr>
        <p:txBody>
          <a:bodyPr/>
          <a:lstStyle/>
          <a:p>
            <a:endParaRPr lang="en-IN" sz="1200"/>
          </a:p>
        </p:txBody>
      </p:sp>
      <p:sp>
        <p:nvSpPr>
          <p:cNvPr id="6" name="Freeform 6" descr="preencoded.png"/>
          <p:cNvSpPr/>
          <p:nvPr/>
        </p:nvSpPr>
        <p:spPr>
          <a:xfrm>
            <a:off x="7839456" y="572643"/>
            <a:ext cx="3755136" cy="5312664"/>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6"/>
            <a:stretch>
              <a:fillRect/>
            </a:stretch>
          </a:blipFill>
        </p:spPr>
        <p:txBody>
          <a:bodyPr/>
          <a:lstStyle/>
          <a:p>
            <a:endParaRPr lang="en-IN" sz="1200" dirty="0"/>
          </a:p>
        </p:txBody>
      </p:sp>
      <p:grpSp>
        <p:nvGrpSpPr>
          <p:cNvPr id="7" name="Group 7"/>
          <p:cNvGrpSpPr/>
          <p:nvPr/>
        </p:nvGrpSpPr>
        <p:grpSpPr>
          <a:xfrm>
            <a:off x="661493" y="2007990"/>
            <a:ext cx="4770239" cy="590649"/>
            <a:chOff x="0" y="0"/>
            <a:chExt cx="9540478" cy="1181298"/>
          </a:xfrm>
        </p:grpSpPr>
        <p:sp>
          <p:nvSpPr>
            <p:cNvPr id="8" name="Freeform 8"/>
            <p:cNvSpPr/>
            <p:nvPr/>
          </p:nvSpPr>
          <p:spPr>
            <a:xfrm>
              <a:off x="0" y="0"/>
              <a:ext cx="9540478" cy="1181298"/>
            </a:xfrm>
            <a:custGeom>
              <a:avLst/>
              <a:gdLst/>
              <a:ahLst/>
              <a:cxnLst/>
              <a:rect l="l" t="t" r="r" b="b"/>
              <a:pathLst>
                <a:path w="9540478" h="1181298">
                  <a:moveTo>
                    <a:pt x="0" y="0"/>
                  </a:moveTo>
                  <a:lnTo>
                    <a:pt x="9540478" y="0"/>
                  </a:lnTo>
                  <a:lnTo>
                    <a:pt x="9540478" y="1181298"/>
                  </a:lnTo>
                  <a:lnTo>
                    <a:pt x="0" y="1181298"/>
                  </a:lnTo>
                  <a:close/>
                </a:path>
              </a:pathLst>
            </a:custGeom>
            <a:solidFill>
              <a:srgbClr val="000000">
                <a:alpha val="0"/>
              </a:srgbClr>
            </a:solidFill>
          </p:spPr>
          <p:txBody>
            <a:bodyPr/>
            <a:lstStyle/>
            <a:p>
              <a:endParaRPr lang="en-IN" sz="1200"/>
            </a:p>
          </p:txBody>
        </p:sp>
        <p:sp>
          <p:nvSpPr>
            <p:cNvPr id="9" name="TextBox 9"/>
            <p:cNvSpPr txBox="1"/>
            <p:nvPr/>
          </p:nvSpPr>
          <p:spPr>
            <a:xfrm>
              <a:off x="0" y="-57150"/>
              <a:ext cx="9540478" cy="1238448"/>
            </a:xfrm>
            <a:prstGeom prst="rect">
              <a:avLst/>
            </a:prstGeom>
          </p:spPr>
          <p:txBody>
            <a:bodyPr lIns="0" tIns="0" rIns="0" bIns="0" rtlCol="0" anchor="t"/>
            <a:lstStyle/>
            <a:p>
              <a:pPr>
                <a:lnSpc>
                  <a:spcPts val="4625"/>
                </a:lnSpc>
              </a:pPr>
              <a:r>
                <a:rPr lang="en-US" sz="3708">
                  <a:solidFill>
                    <a:srgbClr val="97B8FF"/>
                  </a:solidFill>
                  <a:latin typeface="Arimo"/>
                  <a:ea typeface="Arimo"/>
                  <a:cs typeface="Arimo"/>
                  <a:sym typeface="Arimo"/>
                </a:rPr>
                <a:t>High Calorific Value</a:t>
              </a:r>
            </a:p>
          </p:txBody>
        </p:sp>
      </p:grpSp>
      <p:grpSp>
        <p:nvGrpSpPr>
          <p:cNvPr id="10" name="Group 10"/>
          <p:cNvGrpSpPr/>
          <p:nvPr/>
        </p:nvGrpSpPr>
        <p:grpSpPr>
          <a:xfrm>
            <a:off x="661492" y="2976563"/>
            <a:ext cx="6297017" cy="623689"/>
            <a:chOff x="0" y="0"/>
            <a:chExt cx="12594035" cy="1247378"/>
          </a:xfrm>
        </p:grpSpPr>
        <p:sp>
          <p:nvSpPr>
            <p:cNvPr id="11" name="Freeform 11"/>
            <p:cNvSpPr/>
            <p:nvPr/>
          </p:nvSpPr>
          <p:spPr>
            <a:xfrm>
              <a:off x="0" y="0"/>
              <a:ext cx="12594035" cy="1247378"/>
            </a:xfrm>
            <a:custGeom>
              <a:avLst/>
              <a:gdLst/>
              <a:ahLst/>
              <a:cxnLst/>
              <a:rect l="l" t="t" r="r" b="b"/>
              <a:pathLst>
                <a:path w="12594035" h="1247378">
                  <a:moveTo>
                    <a:pt x="0" y="0"/>
                  </a:moveTo>
                  <a:lnTo>
                    <a:pt x="12594035" y="0"/>
                  </a:lnTo>
                  <a:lnTo>
                    <a:pt x="12594035" y="1247378"/>
                  </a:lnTo>
                  <a:lnTo>
                    <a:pt x="0" y="1247378"/>
                  </a:lnTo>
                  <a:close/>
                </a:path>
              </a:pathLst>
            </a:custGeom>
            <a:solidFill>
              <a:srgbClr val="000000">
                <a:alpha val="0"/>
              </a:srgbClr>
            </a:solidFill>
          </p:spPr>
          <p:txBody>
            <a:bodyPr/>
            <a:lstStyle/>
            <a:p>
              <a:endParaRPr lang="en-IN" sz="1200"/>
            </a:p>
          </p:txBody>
        </p:sp>
        <p:sp>
          <p:nvSpPr>
            <p:cNvPr id="12" name="TextBox 12"/>
            <p:cNvSpPr txBox="1"/>
            <p:nvPr/>
          </p:nvSpPr>
          <p:spPr>
            <a:xfrm>
              <a:off x="0" y="104775"/>
              <a:ext cx="12594035" cy="1142603"/>
            </a:xfrm>
            <a:prstGeom prst="rect">
              <a:avLst/>
            </a:prstGeom>
          </p:spPr>
          <p:txBody>
            <a:bodyPr lIns="0" tIns="0" rIns="0" bIns="0" rtlCol="0" anchor="t"/>
            <a:lstStyle/>
            <a:p>
              <a:pPr algn="ctr">
                <a:lnSpc>
                  <a:spcPts val="4875"/>
                </a:lnSpc>
              </a:pPr>
              <a:r>
                <a:rPr lang="en-US" sz="4875">
                  <a:solidFill>
                    <a:srgbClr val="E0D6DE"/>
                  </a:solidFill>
                  <a:latin typeface="Arimo"/>
                  <a:ea typeface="Arimo"/>
                  <a:cs typeface="Arimo"/>
                  <a:sym typeface="Arimo"/>
                </a:rPr>
                <a:t>100</a:t>
              </a:r>
            </a:p>
          </p:txBody>
        </p:sp>
      </p:grpSp>
      <p:grpSp>
        <p:nvGrpSpPr>
          <p:cNvPr id="13" name="Group 13"/>
          <p:cNvGrpSpPr/>
          <p:nvPr/>
        </p:nvGrpSpPr>
        <p:grpSpPr>
          <a:xfrm>
            <a:off x="2587229" y="3836393"/>
            <a:ext cx="2445544" cy="295275"/>
            <a:chOff x="0" y="0"/>
            <a:chExt cx="4891088" cy="590550"/>
          </a:xfrm>
        </p:grpSpPr>
        <p:sp>
          <p:nvSpPr>
            <p:cNvPr id="14" name="Freeform 14"/>
            <p:cNvSpPr/>
            <p:nvPr/>
          </p:nvSpPr>
          <p:spPr>
            <a:xfrm>
              <a:off x="0" y="0"/>
              <a:ext cx="4891088" cy="590550"/>
            </a:xfrm>
            <a:custGeom>
              <a:avLst/>
              <a:gdLst/>
              <a:ahLst/>
              <a:cxnLst/>
              <a:rect l="l" t="t" r="r" b="b"/>
              <a:pathLst>
                <a:path w="4891088" h="590550">
                  <a:moveTo>
                    <a:pt x="0" y="0"/>
                  </a:moveTo>
                  <a:lnTo>
                    <a:pt x="4891088" y="0"/>
                  </a:lnTo>
                  <a:lnTo>
                    <a:pt x="4891088" y="590550"/>
                  </a:lnTo>
                  <a:lnTo>
                    <a:pt x="0" y="590550"/>
                  </a:lnTo>
                  <a:close/>
                </a:path>
              </a:pathLst>
            </a:custGeom>
            <a:solidFill>
              <a:srgbClr val="000000">
                <a:alpha val="0"/>
              </a:srgbClr>
            </a:solidFill>
          </p:spPr>
          <p:txBody>
            <a:bodyPr/>
            <a:lstStyle/>
            <a:p>
              <a:endParaRPr lang="en-IN" sz="1200"/>
            </a:p>
          </p:txBody>
        </p:sp>
        <p:sp>
          <p:nvSpPr>
            <p:cNvPr id="15" name="TextBox 15"/>
            <p:cNvSpPr txBox="1"/>
            <p:nvPr/>
          </p:nvSpPr>
          <p:spPr>
            <a:xfrm>
              <a:off x="0" y="-38100"/>
              <a:ext cx="4891088" cy="628650"/>
            </a:xfrm>
            <a:prstGeom prst="rect">
              <a:avLst/>
            </a:prstGeom>
          </p:spPr>
          <p:txBody>
            <a:bodyPr lIns="0" tIns="0" rIns="0" bIns="0" rtlCol="0" anchor="t"/>
            <a:lstStyle/>
            <a:p>
              <a:pPr algn="ctr">
                <a:lnSpc>
                  <a:spcPts val="2291"/>
                </a:lnSpc>
              </a:pPr>
              <a:r>
                <a:rPr lang="en-US" sz="1833">
                  <a:solidFill>
                    <a:srgbClr val="E0D6DE"/>
                  </a:solidFill>
                  <a:latin typeface="Arimo"/>
                  <a:ea typeface="Arimo"/>
                  <a:cs typeface="Arimo"/>
                  <a:sym typeface="Arimo"/>
                </a:rPr>
                <a:t>High Energy Release</a:t>
              </a:r>
            </a:p>
          </p:txBody>
        </p:sp>
      </p:grpSp>
      <p:grpSp>
        <p:nvGrpSpPr>
          <p:cNvPr id="16" name="Group 16"/>
          <p:cNvGrpSpPr/>
          <p:nvPr/>
        </p:nvGrpSpPr>
        <p:grpSpPr>
          <a:xfrm>
            <a:off x="661492" y="4245074"/>
            <a:ext cx="6297017" cy="604837"/>
            <a:chOff x="0" y="0"/>
            <a:chExt cx="12594035" cy="1209675"/>
          </a:xfrm>
        </p:grpSpPr>
        <p:sp>
          <p:nvSpPr>
            <p:cNvPr id="17" name="Freeform 17"/>
            <p:cNvSpPr/>
            <p:nvPr/>
          </p:nvSpPr>
          <p:spPr>
            <a:xfrm>
              <a:off x="0" y="0"/>
              <a:ext cx="12594035" cy="1209675"/>
            </a:xfrm>
            <a:custGeom>
              <a:avLst/>
              <a:gdLst/>
              <a:ahLst/>
              <a:cxnLst/>
              <a:rect l="l" t="t" r="r" b="b"/>
              <a:pathLst>
                <a:path w="12594035" h="1209675">
                  <a:moveTo>
                    <a:pt x="0" y="0"/>
                  </a:moveTo>
                  <a:lnTo>
                    <a:pt x="12594035" y="0"/>
                  </a:lnTo>
                  <a:lnTo>
                    <a:pt x="12594035" y="1209675"/>
                  </a:lnTo>
                  <a:lnTo>
                    <a:pt x="0" y="1209675"/>
                  </a:lnTo>
                  <a:close/>
                </a:path>
              </a:pathLst>
            </a:custGeom>
            <a:solidFill>
              <a:srgbClr val="000000">
                <a:alpha val="0"/>
              </a:srgbClr>
            </a:solidFill>
          </p:spPr>
          <p:txBody>
            <a:bodyPr/>
            <a:lstStyle/>
            <a:p>
              <a:endParaRPr lang="en-IN" sz="1200"/>
            </a:p>
          </p:txBody>
        </p:sp>
        <p:sp>
          <p:nvSpPr>
            <p:cNvPr id="18" name="TextBox 18"/>
            <p:cNvSpPr txBox="1"/>
            <p:nvPr/>
          </p:nvSpPr>
          <p:spPr>
            <a:xfrm>
              <a:off x="0" y="-104775"/>
              <a:ext cx="12594035" cy="1314450"/>
            </a:xfrm>
            <a:prstGeom prst="rect">
              <a:avLst/>
            </a:prstGeom>
          </p:spPr>
          <p:txBody>
            <a:bodyPr lIns="0" tIns="0" rIns="0" bIns="0" rtlCol="0" anchor="t"/>
            <a:lstStyle/>
            <a:p>
              <a:pPr algn="ctr">
                <a:lnSpc>
                  <a:spcPts val="2375"/>
                </a:lnSpc>
              </a:pPr>
              <a:r>
                <a:rPr lang="en-US" sz="1458">
                  <a:solidFill>
                    <a:srgbClr val="E0D6DE"/>
                  </a:solidFill>
                  <a:latin typeface="Arimo"/>
                  <a:ea typeface="Arimo"/>
                  <a:cs typeface="Arimo"/>
                  <a:sym typeface="Arimo"/>
                </a:rPr>
                <a:t>A fuel with high calorific value provides a large amount of energy for a given amount of fuel.</a:t>
              </a:r>
            </a:p>
          </p:txBody>
        </p:sp>
      </p:grpSp>
      <p:pic>
        <p:nvPicPr>
          <p:cNvPr id="19" name="Picture 18">
            <a:extLst>
              <a:ext uri="{FF2B5EF4-FFF2-40B4-BE49-F238E27FC236}">
                <a16:creationId xmlns:a16="http://schemas.microsoft.com/office/drawing/2014/main" id="{FDDD5891-152F-3E61-852C-530247C1D7B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2273" y="5996409"/>
            <a:ext cx="4358797" cy="621128"/>
          </a:xfrm>
          <a:prstGeom prst="rect">
            <a:avLst/>
          </a:prstGeom>
        </p:spPr>
      </p:pic>
      <p:grpSp>
        <p:nvGrpSpPr>
          <p:cNvPr id="20" name="Group 19">
            <a:extLst>
              <a:ext uri="{FF2B5EF4-FFF2-40B4-BE49-F238E27FC236}">
                <a16:creationId xmlns:a16="http://schemas.microsoft.com/office/drawing/2014/main" id="{06AF5846-6426-1CCE-673C-D9D1066C20C9}"/>
              </a:ext>
            </a:extLst>
          </p:cNvPr>
          <p:cNvGrpSpPr/>
          <p:nvPr/>
        </p:nvGrpSpPr>
        <p:grpSpPr>
          <a:xfrm>
            <a:off x="2542846" y="7989"/>
            <a:ext cx="6869410" cy="228600"/>
            <a:chOff x="1143000" y="857250"/>
            <a:chExt cx="6858000" cy="162000"/>
          </a:xfrm>
        </p:grpSpPr>
        <p:sp>
          <p:nvSpPr>
            <p:cNvPr id="21" name="Rectangle 20">
              <a:extLst>
                <a:ext uri="{FF2B5EF4-FFF2-40B4-BE49-F238E27FC236}">
                  <a16:creationId xmlns:a16="http://schemas.microsoft.com/office/drawing/2014/main" id="{D1A30352-9F23-CC83-8383-022E9C48930F}"/>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22" name="Rectangle 21">
              <a:extLst>
                <a:ext uri="{FF2B5EF4-FFF2-40B4-BE49-F238E27FC236}">
                  <a16:creationId xmlns:a16="http://schemas.microsoft.com/office/drawing/2014/main" id="{ADE07A09-2DB3-65BE-1E13-0615BAF8B82B}"/>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23" name="Group 22">
            <a:extLst>
              <a:ext uri="{FF2B5EF4-FFF2-40B4-BE49-F238E27FC236}">
                <a16:creationId xmlns:a16="http://schemas.microsoft.com/office/drawing/2014/main" id="{B601E72D-62E3-6A48-96C3-4CB072A5B415}"/>
              </a:ext>
            </a:extLst>
          </p:cNvPr>
          <p:cNvGrpSpPr/>
          <p:nvPr/>
        </p:nvGrpSpPr>
        <p:grpSpPr>
          <a:xfrm>
            <a:off x="2184675" y="6648660"/>
            <a:ext cx="6869410" cy="228600"/>
            <a:chOff x="1143000" y="857250"/>
            <a:chExt cx="6858000" cy="162000"/>
          </a:xfrm>
        </p:grpSpPr>
        <p:sp>
          <p:nvSpPr>
            <p:cNvPr id="24" name="Rectangle 23">
              <a:extLst>
                <a:ext uri="{FF2B5EF4-FFF2-40B4-BE49-F238E27FC236}">
                  <a16:creationId xmlns:a16="http://schemas.microsoft.com/office/drawing/2014/main" id="{07DBD644-70A3-114A-7C3C-397406C828AF}"/>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25" name="Rectangle 24">
              <a:extLst>
                <a:ext uri="{FF2B5EF4-FFF2-40B4-BE49-F238E27FC236}">
                  <a16:creationId xmlns:a16="http://schemas.microsoft.com/office/drawing/2014/main" id="{26982B37-5511-7785-1736-7205096D1048}"/>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sz="1200"/>
          </a:p>
        </p:txBody>
      </p:sp>
      <p:grpSp>
        <p:nvGrpSpPr>
          <p:cNvPr id="3" name="Group 3"/>
          <p:cNvGrpSpPr/>
          <p:nvPr/>
        </p:nvGrpSpPr>
        <p:grpSpPr>
          <a:xfrm>
            <a:off x="460324" y="244110"/>
            <a:ext cx="11530508" cy="6135624"/>
            <a:chOff x="-777772" y="-1135550"/>
            <a:chExt cx="24730312" cy="13777599"/>
          </a:xfrm>
        </p:grpSpPr>
        <p:sp>
          <p:nvSpPr>
            <p:cNvPr id="4" name="Freeform 4"/>
            <p:cNvSpPr/>
            <p:nvPr/>
          </p:nvSpPr>
          <p:spPr>
            <a:xfrm>
              <a:off x="-777772" y="-1135550"/>
              <a:ext cx="24730312" cy="13777599"/>
            </a:xfrm>
            <a:custGeom>
              <a:avLst/>
              <a:gdLst/>
              <a:ahLst/>
              <a:cxnLst/>
              <a:rect l="l" t="t" r="r" b="b"/>
              <a:pathLst>
                <a:path w="24384000" h="13716000">
                  <a:moveTo>
                    <a:pt x="0" y="0"/>
                  </a:moveTo>
                  <a:lnTo>
                    <a:pt x="24384000" y="0"/>
                  </a:lnTo>
                  <a:lnTo>
                    <a:pt x="24384000" y="13716000"/>
                  </a:lnTo>
                  <a:lnTo>
                    <a:pt x="0" y="13716000"/>
                  </a:lnTo>
                  <a:close/>
                </a:path>
              </a:pathLst>
            </a:custGeom>
            <a:solidFill>
              <a:srgbClr val="07070C"/>
            </a:solidFill>
          </p:spPr>
          <p:txBody>
            <a:bodyPr/>
            <a:lstStyle/>
            <a:p>
              <a:endParaRPr lang="en-IN" sz="1200"/>
            </a:p>
          </p:txBody>
        </p:sp>
      </p:grpSp>
      <p:grpSp>
        <p:nvGrpSpPr>
          <p:cNvPr id="5" name="Group 5"/>
          <p:cNvGrpSpPr/>
          <p:nvPr/>
        </p:nvGrpSpPr>
        <p:grpSpPr>
          <a:xfrm>
            <a:off x="661492" y="2267844"/>
            <a:ext cx="8846741" cy="590649"/>
            <a:chOff x="0" y="0"/>
            <a:chExt cx="17693482" cy="1181298"/>
          </a:xfrm>
        </p:grpSpPr>
        <p:sp>
          <p:nvSpPr>
            <p:cNvPr id="6" name="Freeform 6"/>
            <p:cNvSpPr/>
            <p:nvPr/>
          </p:nvSpPr>
          <p:spPr>
            <a:xfrm>
              <a:off x="0" y="0"/>
              <a:ext cx="17693481" cy="1181298"/>
            </a:xfrm>
            <a:custGeom>
              <a:avLst/>
              <a:gdLst/>
              <a:ahLst/>
              <a:cxnLst/>
              <a:rect l="l" t="t" r="r" b="b"/>
              <a:pathLst>
                <a:path w="17693481" h="1181298">
                  <a:moveTo>
                    <a:pt x="0" y="0"/>
                  </a:moveTo>
                  <a:lnTo>
                    <a:pt x="17693481" y="0"/>
                  </a:lnTo>
                  <a:lnTo>
                    <a:pt x="17693481" y="1181298"/>
                  </a:lnTo>
                  <a:lnTo>
                    <a:pt x="0" y="1181298"/>
                  </a:lnTo>
                  <a:close/>
                </a:path>
              </a:pathLst>
            </a:custGeom>
            <a:solidFill>
              <a:srgbClr val="000000">
                <a:alpha val="0"/>
              </a:srgbClr>
            </a:solidFill>
          </p:spPr>
          <p:txBody>
            <a:bodyPr/>
            <a:lstStyle/>
            <a:p>
              <a:endParaRPr lang="en-IN" sz="1200"/>
            </a:p>
          </p:txBody>
        </p:sp>
        <p:sp>
          <p:nvSpPr>
            <p:cNvPr id="7" name="TextBox 7"/>
            <p:cNvSpPr txBox="1"/>
            <p:nvPr/>
          </p:nvSpPr>
          <p:spPr>
            <a:xfrm>
              <a:off x="0" y="-57150"/>
              <a:ext cx="17693482" cy="1238448"/>
            </a:xfrm>
            <a:prstGeom prst="rect">
              <a:avLst/>
            </a:prstGeom>
          </p:spPr>
          <p:txBody>
            <a:bodyPr lIns="0" tIns="0" rIns="0" bIns="0" rtlCol="0" anchor="t"/>
            <a:lstStyle/>
            <a:p>
              <a:pPr>
                <a:lnSpc>
                  <a:spcPts val="4625"/>
                </a:lnSpc>
              </a:pPr>
              <a:r>
                <a:rPr lang="en-US" sz="3708">
                  <a:solidFill>
                    <a:srgbClr val="97B8FF"/>
                  </a:solidFill>
                  <a:latin typeface="Arimo"/>
                  <a:ea typeface="Arimo"/>
                  <a:cs typeface="Arimo"/>
                  <a:sym typeface="Arimo"/>
                </a:rPr>
                <a:t>Easy Availability and Transportability</a:t>
              </a:r>
            </a:p>
          </p:txBody>
        </p:sp>
      </p:grpSp>
      <p:grpSp>
        <p:nvGrpSpPr>
          <p:cNvPr id="8" name="Group 8"/>
          <p:cNvGrpSpPr/>
          <p:nvPr/>
        </p:nvGrpSpPr>
        <p:grpSpPr>
          <a:xfrm>
            <a:off x="661492" y="3330972"/>
            <a:ext cx="2362696" cy="295275"/>
            <a:chOff x="0" y="0"/>
            <a:chExt cx="4725392" cy="590550"/>
          </a:xfrm>
        </p:grpSpPr>
        <p:sp>
          <p:nvSpPr>
            <p:cNvPr id="9" name="Freeform 9"/>
            <p:cNvSpPr/>
            <p:nvPr/>
          </p:nvSpPr>
          <p:spPr>
            <a:xfrm>
              <a:off x="0" y="0"/>
              <a:ext cx="4725392" cy="590550"/>
            </a:xfrm>
            <a:custGeom>
              <a:avLst/>
              <a:gdLst/>
              <a:ahLst/>
              <a:cxnLst/>
              <a:rect l="l" t="t" r="r" b="b"/>
              <a:pathLst>
                <a:path w="4725392" h="590550">
                  <a:moveTo>
                    <a:pt x="0" y="0"/>
                  </a:moveTo>
                  <a:lnTo>
                    <a:pt x="4725392" y="0"/>
                  </a:lnTo>
                  <a:lnTo>
                    <a:pt x="4725392" y="590550"/>
                  </a:lnTo>
                  <a:lnTo>
                    <a:pt x="0" y="590550"/>
                  </a:lnTo>
                  <a:close/>
                </a:path>
              </a:pathLst>
            </a:custGeom>
            <a:solidFill>
              <a:srgbClr val="000000">
                <a:alpha val="0"/>
              </a:srgbClr>
            </a:solidFill>
          </p:spPr>
          <p:txBody>
            <a:bodyPr/>
            <a:lstStyle/>
            <a:p>
              <a:endParaRPr lang="en-IN" sz="1200"/>
            </a:p>
          </p:txBody>
        </p:sp>
        <p:sp>
          <p:nvSpPr>
            <p:cNvPr id="10" name="TextBox 10"/>
            <p:cNvSpPr txBox="1"/>
            <p:nvPr/>
          </p:nvSpPr>
          <p:spPr>
            <a:xfrm>
              <a:off x="0" y="-38100"/>
              <a:ext cx="4725392" cy="628650"/>
            </a:xfrm>
            <a:prstGeom prst="rect">
              <a:avLst/>
            </a:prstGeom>
          </p:spPr>
          <p:txBody>
            <a:bodyPr lIns="0" tIns="0" rIns="0" bIns="0" rtlCol="0" anchor="t"/>
            <a:lstStyle/>
            <a:p>
              <a:pPr>
                <a:lnSpc>
                  <a:spcPts val="2291"/>
                </a:lnSpc>
              </a:pPr>
              <a:r>
                <a:rPr lang="en-US" sz="1833">
                  <a:solidFill>
                    <a:srgbClr val="97B8FF"/>
                  </a:solidFill>
                  <a:latin typeface="Arimo"/>
                  <a:ea typeface="Arimo"/>
                  <a:cs typeface="Arimo"/>
                  <a:sym typeface="Arimo"/>
                </a:rPr>
                <a:t>Accessibility</a:t>
              </a:r>
            </a:p>
          </p:txBody>
        </p:sp>
      </p:grpSp>
      <p:grpSp>
        <p:nvGrpSpPr>
          <p:cNvPr id="11" name="Group 11"/>
          <p:cNvGrpSpPr/>
          <p:nvPr/>
        </p:nvGrpSpPr>
        <p:grpSpPr>
          <a:xfrm>
            <a:off x="661492" y="3815259"/>
            <a:ext cx="5203924" cy="604837"/>
            <a:chOff x="0" y="0"/>
            <a:chExt cx="10407848" cy="1209675"/>
          </a:xfrm>
        </p:grpSpPr>
        <p:sp>
          <p:nvSpPr>
            <p:cNvPr id="12" name="Freeform 12"/>
            <p:cNvSpPr/>
            <p:nvPr/>
          </p:nvSpPr>
          <p:spPr>
            <a:xfrm>
              <a:off x="0" y="0"/>
              <a:ext cx="10407848" cy="1209675"/>
            </a:xfrm>
            <a:custGeom>
              <a:avLst/>
              <a:gdLst/>
              <a:ahLst/>
              <a:cxnLst/>
              <a:rect l="l" t="t" r="r" b="b"/>
              <a:pathLst>
                <a:path w="10407848" h="1209675">
                  <a:moveTo>
                    <a:pt x="0" y="0"/>
                  </a:moveTo>
                  <a:lnTo>
                    <a:pt x="10407848" y="0"/>
                  </a:lnTo>
                  <a:lnTo>
                    <a:pt x="10407848" y="1209675"/>
                  </a:lnTo>
                  <a:lnTo>
                    <a:pt x="0" y="1209675"/>
                  </a:lnTo>
                  <a:close/>
                </a:path>
              </a:pathLst>
            </a:custGeom>
            <a:solidFill>
              <a:srgbClr val="000000">
                <a:alpha val="0"/>
              </a:srgbClr>
            </a:solidFill>
          </p:spPr>
          <p:txBody>
            <a:bodyPr/>
            <a:lstStyle/>
            <a:p>
              <a:endParaRPr lang="en-IN" sz="1200"/>
            </a:p>
          </p:txBody>
        </p:sp>
        <p:sp>
          <p:nvSpPr>
            <p:cNvPr id="13" name="TextBox 13"/>
            <p:cNvSpPr txBox="1"/>
            <p:nvPr/>
          </p:nvSpPr>
          <p:spPr>
            <a:xfrm>
              <a:off x="0" y="-104775"/>
              <a:ext cx="10407848" cy="1314450"/>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The fuel should be readily available in the desired quantities and at reasonable costs.</a:t>
              </a:r>
            </a:p>
          </p:txBody>
        </p:sp>
      </p:grpSp>
      <p:grpSp>
        <p:nvGrpSpPr>
          <p:cNvPr id="14" name="Group 14"/>
          <p:cNvGrpSpPr/>
          <p:nvPr/>
        </p:nvGrpSpPr>
        <p:grpSpPr>
          <a:xfrm>
            <a:off x="6332934" y="3330972"/>
            <a:ext cx="2362696" cy="295275"/>
            <a:chOff x="0" y="0"/>
            <a:chExt cx="4725392" cy="590550"/>
          </a:xfrm>
        </p:grpSpPr>
        <p:sp>
          <p:nvSpPr>
            <p:cNvPr id="15" name="Freeform 15"/>
            <p:cNvSpPr/>
            <p:nvPr/>
          </p:nvSpPr>
          <p:spPr>
            <a:xfrm>
              <a:off x="0" y="0"/>
              <a:ext cx="4725392" cy="590550"/>
            </a:xfrm>
            <a:custGeom>
              <a:avLst/>
              <a:gdLst/>
              <a:ahLst/>
              <a:cxnLst/>
              <a:rect l="l" t="t" r="r" b="b"/>
              <a:pathLst>
                <a:path w="4725392" h="590550">
                  <a:moveTo>
                    <a:pt x="0" y="0"/>
                  </a:moveTo>
                  <a:lnTo>
                    <a:pt x="4725392" y="0"/>
                  </a:lnTo>
                  <a:lnTo>
                    <a:pt x="4725392" y="590550"/>
                  </a:lnTo>
                  <a:lnTo>
                    <a:pt x="0" y="590550"/>
                  </a:lnTo>
                  <a:close/>
                </a:path>
              </a:pathLst>
            </a:custGeom>
            <a:solidFill>
              <a:srgbClr val="000000">
                <a:alpha val="0"/>
              </a:srgbClr>
            </a:solidFill>
          </p:spPr>
          <p:txBody>
            <a:bodyPr/>
            <a:lstStyle/>
            <a:p>
              <a:endParaRPr lang="en-IN" sz="1200"/>
            </a:p>
          </p:txBody>
        </p:sp>
        <p:sp>
          <p:nvSpPr>
            <p:cNvPr id="16" name="TextBox 16"/>
            <p:cNvSpPr txBox="1"/>
            <p:nvPr/>
          </p:nvSpPr>
          <p:spPr>
            <a:xfrm>
              <a:off x="0" y="-38100"/>
              <a:ext cx="4725392" cy="628650"/>
            </a:xfrm>
            <a:prstGeom prst="rect">
              <a:avLst/>
            </a:prstGeom>
          </p:spPr>
          <p:txBody>
            <a:bodyPr lIns="0" tIns="0" rIns="0" bIns="0" rtlCol="0" anchor="t"/>
            <a:lstStyle/>
            <a:p>
              <a:pPr>
                <a:lnSpc>
                  <a:spcPts val="2291"/>
                </a:lnSpc>
              </a:pPr>
              <a:r>
                <a:rPr lang="en-US" sz="1833">
                  <a:solidFill>
                    <a:srgbClr val="97B8FF"/>
                  </a:solidFill>
                  <a:latin typeface="Arimo"/>
                  <a:ea typeface="Arimo"/>
                  <a:cs typeface="Arimo"/>
                  <a:sym typeface="Arimo"/>
                </a:rPr>
                <a:t>Transportability</a:t>
              </a:r>
            </a:p>
          </p:txBody>
        </p:sp>
      </p:grpSp>
      <p:grpSp>
        <p:nvGrpSpPr>
          <p:cNvPr id="17" name="Group 17"/>
          <p:cNvGrpSpPr/>
          <p:nvPr/>
        </p:nvGrpSpPr>
        <p:grpSpPr>
          <a:xfrm>
            <a:off x="6332934" y="3815259"/>
            <a:ext cx="5203924" cy="604837"/>
            <a:chOff x="0" y="0"/>
            <a:chExt cx="10407848" cy="1209675"/>
          </a:xfrm>
        </p:grpSpPr>
        <p:sp>
          <p:nvSpPr>
            <p:cNvPr id="18" name="Freeform 18"/>
            <p:cNvSpPr/>
            <p:nvPr/>
          </p:nvSpPr>
          <p:spPr>
            <a:xfrm>
              <a:off x="0" y="0"/>
              <a:ext cx="10407848" cy="1209675"/>
            </a:xfrm>
            <a:custGeom>
              <a:avLst/>
              <a:gdLst/>
              <a:ahLst/>
              <a:cxnLst/>
              <a:rect l="l" t="t" r="r" b="b"/>
              <a:pathLst>
                <a:path w="10407848" h="1209675">
                  <a:moveTo>
                    <a:pt x="0" y="0"/>
                  </a:moveTo>
                  <a:lnTo>
                    <a:pt x="10407848" y="0"/>
                  </a:lnTo>
                  <a:lnTo>
                    <a:pt x="10407848" y="1209675"/>
                  </a:lnTo>
                  <a:lnTo>
                    <a:pt x="0" y="1209675"/>
                  </a:lnTo>
                  <a:close/>
                </a:path>
              </a:pathLst>
            </a:custGeom>
            <a:solidFill>
              <a:srgbClr val="000000">
                <a:alpha val="0"/>
              </a:srgbClr>
            </a:solidFill>
          </p:spPr>
          <p:txBody>
            <a:bodyPr/>
            <a:lstStyle/>
            <a:p>
              <a:endParaRPr lang="en-IN" sz="1200"/>
            </a:p>
          </p:txBody>
        </p:sp>
        <p:sp>
          <p:nvSpPr>
            <p:cNvPr id="19" name="TextBox 19"/>
            <p:cNvSpPr txBox="1"/>
            <p:nvPr/>
          </p:nvSpPr>
          <p:spPr>
            <a:xfrm>
              <a:off x="0" y="-104775"/>
              <a:ext cx="10407848" cy="1314450"/>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Easy to transport and store without significant risks or safety concerns.</a:t>
              </a:r>
            </a:p>
          </p:txBody>
        </p:sp>
      </p:grpSp>
      <p:pic>
        <p:nvPicPr>
          <p:cNvPr id="20" name="Picture 19">
            <a:extLst>
              <a:ext uri="{FF2B5EF4-FFF2-40B4-BE49-F238E27FC236}">
                <a16:creationId xmlns:a16="http://schemas.microsoft.com/office/drawing/2014/main" id="{04A16B92-4DB9-7706-D683-918FE1F20D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2273" y="5996409"/>
            <a:ext cx="4358797" cy="621128"/>
          </a:xfrm>
          <a:prstGeom prst="rect">
            <a:avLst/>
          </a:prstGeom>
        </p:spPr>
      </p:pic>
      <p:grpSp>
        <p:nvGrpSpPr>
          <p:cNvPr id="21" name="Group 20">
            <a:extLst>
              <a:ext uri="{FF2B5EF4-FFF2-40B4-BE49-F238E27FC236}">
                <a16:creationId xmlns:a16="http://schemas.microsoft.com/office/drawing/2014/main" id="{25D21A0F-FCB0-1BD6-B490-96DC1A87C381}"/>
              </a:ext>
            </a:extLst>
          </p:cNvPr>
          <p:cNvGrpSpPr/>
          <p:nvPr/>
        </p:nvGrpSpPr>
        <p:grpSpPr>
          <a:xfrm>
            <a:off x="2542846" y="7989"/>
            <a:ext cx="6869410" cy="228600"/>
            <a:chOff x="1143000" y="857250"/>
            <a:chExt cx="6858000" cy="162000"/>
          </a:xfrm>
        </p:grpSpPr>
        <p:sp>
          <p:nvSpPr>
            <p:cNvPr id="22" name="Rectangle 21">
              <a:extLst>
                <a:ext uri="{FF2B5EF4-FFF2-40B4-BE49-F238E27FC236}">
                  <a16:creationId xmlns:a16="http://schemas.microsoft.com/office/drawing/2014/main" id="{D4A274D5-24AA-3425-3252-98378E3AAA71}"/>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23" name="Rectangle 22">
              <a:extLst>
                <a:ext uri="{FF2B5EF4-FFF2-40B4-BE49-F238E27FC236}">
                  <a16:creationId xmlns:a16="http://schemas.microsoft.com/office/drawing/2014/main" id="{FCD4C5C5-FAB9-0574-FE5A-F362BE219F83}"/>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24" name="Group 23">
            <a:extLst>
              <a:ext uri="{FF2B5EF4-FFF2-40B4-BE49-F238E27FC236}">
                <a16:creationId xmlns:a16="http://schemas.microsoft.com/office/drawing/2014/main" id="{84C4C55B-EF88-850B-8CBE-FFD82EC3879B}"/>
              </a:ext>
            </a:extLst>
          </p:cNvPr>
          <p:cNvGrpSpPr/>
          <p:nvPr/>
        </p:nvGrpSpPr>
        <p:grpSpPr>
          <a:xfrm>
            <a:off x="2184675" y="6648660"/>
            <a:ext cx="6869410" cy="228600"/>
            <a:chOff x="1143000" y="857250"/>
            <a:chExt cx="6858000" cy="162000"/>
          </a:xfrm>
        </p:grpSpPr>
        <p:sp>
          <p:nvSpPr>
            <p:cNvPr id="25" name="Rectangle 24">
              <a:extLst>
                <a:ext uri="{FF2B5EF4-FFF2-40B4-BE49-F238E27FC236}">
                  <a16:creationId xmlns:a16="http://schemas.microsoft.com/office/drawing/2014/main" id="{CF7EF6DE-E3D9-E5EC-7945-8D5759B2156F}"/>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26" name="Rectangle 25">
              <a:extLst>
                <a:ext uri="{FF2B5EF4-FFF2-40B4-BE49-F238E27FC236}">
                  <a16:creationId xmlns:a16="http://schemas.microsoft.com/office/drawing/2014/main" id="{DA44BAA9-7492-4E88-6D03-BEBB7BC5449F}"/>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sz="1200"/>
          </a:p>
        </p:txBody>
      </p:sp>
      <p:grpSp>
        <p:nvGrpSpPr>
          <p:cNvPr id="3" name="Group 3"/>
          <p:cNvGrpSpPr/>
          <p:nvPr/>
        </p:nvGrpSpPr>
        <p:grpSpPr>
          <a:xfrm>
            <a:off x="0" y="0"/>
            <a:ext cx="12192000" cy="6858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7070C"/>
            </a:solidFill>
          </p:spPr>
          <p:txBody>
            <a:bodyPr/>
            <a:lstStyle/>
            <a:p>
              <a:endParaRPr lang="en-IN" sz="1200"/>
            </a:p>
          </p:txBody>
        </p:sp>
      </p:grpSp>
      <p:grpSp>
        <p:nvGrpSpPr>
          <p:cNvPr id="5" name="Group 5"/>
          <p:cNvGrpSpPr/>
          <p:nvPr/>
        </p:nvGrpSpPr>
        <p:grpSpPr>
          <a:xfrm>
            <a:off x="661492" y="2248893"/>
            <a:ext cx="4857155" cy="590649"/>
            <a:chOff x="0" y="0"/>
            <a:chExt cx="9714310" cy="1181298"/>
          </a:xfrm>
        </p:grpSpPr>
        <p:sp>
          <p:nvSpPr>
            <p:cNvPr id="6" name="Freeform 6"/>
            <p:cNvSpPr/>
            <p:nvPr/>
          </p:nvSpPr>
          <p:spPr>
            <a:xfrm>
              <a:off x="0" y="0"/>
              <a:ext cx="9714310" cy="1181298"/>
            </a:xfrm>
            <a:custGeom>
              <a:avLst/>
              <a:gdLst/>
              <a:ahLst/>
              <a:cxnLst/>
              <a:rect l="l" t="t" r="r" b="b"/>
              <a:pathLst>
                <a:path w="9714310" h="1181298">
                  <a:moveTo>
                    <a:pt x="0" y="0"/>
                  </a:moveTo>
                  <a:lnTo>
                    <a:pt x="9714310" y="0"/>
                  </a:lnTo>
                  <a:lnTo>
                    <a:pt x="9714310" y="1181298"/>
                  </a:lnTo>
                  <a:lnTo>
                    <a:pt x="0" y="1181298"/>
                  </a:lnTo>
                  <a:close/>
                </a:path>
              </a:pathLst>
            </a:custGeom>
            <a:solidFill>
              <a:srgbClr val="000000">
                <a:alpha val="0"/>
              </a:srgbClr>
            </a:solidFill>
          </p:spPr>
          <p:txBody>
            <a:bodyPr/>
            <a:lstStyle/>
            <a:p>
              <a:endParaRPr lang="en-IN" sz="1200"/>
            </a:p>
          </p:txBody>
        </p:sp>
        <p:sp>
          <p:nvSpPr>
            <p:cNvPr id="7" name="TextBox 7"/>
            <p:cNvSpPr txBox="1"/>
            <p:nvPr/>
          </p:nvSpPr>
          <p:spPr>
            <a:xfrm>
              <a:off x="0" y="-57150"/>
              <a:ext cx="9714310" cy="1238448"/>
            </a:xfrm>
            <a:prstGeom prst="rect">
              <a:avLst/>
            </a:prstGeom>
          </p:spPr>
          <p:txBody>
            <a:bodyPr lIns="0" tIns="0" rIns="0" bIns="0" rtlCol="0" anchor="t"/>
            <a:lstStyle/>
            <a:p>
              <a:pPr>
                <a:lnSpc>
                  <a:spcPts val="4625"/>
                </a:lnSpc>
              </a:pPr>
              <a:r>
                <a:rPr lang="en-US" sz="3708">
                  <a:solidFill>
                    <a:srgbClr val="97B8FF"/>
                  </a:solidFill>
                  <a:latin typeface="Arimo"/>
                  <a:ea typeface="Arimo"/>
                  <a:cs typeface="Arimo"/>
                  <a:sym typeface="Arimo"/>
                </a:rPr>
                <a:t>High Energy Density</a:t>
              </a:r>
            </a:p>
          </p:txBody>
        </p:sp>
      </p:grpSp>
      <p:grpSp>
        <p:nvGrpSpPr>
          <p:cNvPr id="8" name="Group 8"/>
          <p:cNvGrpSpPr/>
          <p:nvPr/>
        </p:nvGrpSpPr>
        <p:grpSpPr>
          <a:xfrm>
            <a:off x="661492" y="3217566"/>
            <a:ext cx="5434508" cy="1391543"/>
            <a:chOff x="0" y="0"/>
            <a:chExt cx="10869017" cy="2783087"/>
          </a:xfrm>
        </p:grpSpPr>
        <p:sp>
          <p:nvSpPr>
            <p:cNvPr id="9" name="Freeform 9"/>
            <p:cNvSpPr/>
            <p:nvPr/>
          </p:nvSpPr>
          <p:spPr>
            <a:xfrm>
              <a:off x="0" y="0"/>
              <a:ext cx="10869168" cy="2783078"/>
            </a:xfrm>
            <a:custGeom>
              <a:avLst/>
              <a:gdLst/>
              <a:ahLst/>
              <a:cxnLst/>
              <a:rect l="l" t="t" r="r" b="b"/>
              <a:pathLst>
                <a:path w="10869168" h="2783078">
                  <a:moveTo>
                    <a:pt x="0" y="56769"/>
                  </a:moveTo>
                  <a:cubicBezTo>
                    <a:pt x="0" y="25400"/>
                    <a:pt x="25400" y="0"/>
                    <a:pt x="56769" y="0"/>
                  </a:cubicBezTo>
                  <a:lnTo>
                    <a:pt x="10812399" y="0"/>
                  </a:lnTo>
                  <a:cubicBezTo>
                    <a:pt x="10843768" y="0"/>
                    <a:pt x="10869168" y="25400"/>
                    <a:pt x="10869168" y="56769"/>
                  </a:cubicBezTo>
                  <a:lnTo>
                    <a:pt x="10869168" y="2726309"/>
                  </a:lnTo>
                  <a:cubicBezTo>
                    <a:pt x="10869168" y="2757678"/>
                    <a:pt x="10843768" y="2783078"/>
                    <a:pt x="10812399" y="2783078"/>
                  </a:cubicBezTo>
                  <a:lnTo>
                    <a:pt x="56769" y="2783078"/>
                  </a:lnTo>
                  <a:cubicBezTo>
                    <a:pt x="25400" y="2783078"/>
                    <a:pt x="0" y="2757678"/>
                    <a:pt x="0" y="2726309"/>
                  </a:cubicBezTo>
                  <a:close/>
                </a:path>
              </a:pathLst>
            </a:custGeom>
            <a:solidFill>
              <a:srgbClr val="26262B"/>
            </a:solidFill>
          </p:spPr>
          <p:txBody>
            <a:bodyPr/>
            <a:lstStyle/>
            <a:p>
              <a:endParaRPr lang="en-IN" sz="1200"/>
            </a:p>
          </p:txBody>
        </p:sp>
      </p:grpSp>
      <p:grpSp>
        <p:nvGrpSpPr>
          <p:cNvPr id="10" name="Group 10"/>
          <p:cNvGrpSpPr/>
          <p:nvPr/>
        </p:nvGrpSpPr>
        <p:grpSpPr>
          <a:xfrm>
            <a:off x="850504" y="3724374"/>
            <a:ext cx="99913" cy="377924"/>
            <a:chOff x="0" y="0"/>
            <a:chExt cx="199827" cy="755848"/>
          </a:xfrm>
        </p:grpSpPr>
        <p:sp>
          <p:nvSpPr>
            <p:cNvPr id="11" name="Freeform 11"/>
            <p:cNvSpPr/>
            <p:nvPr/>
          </p:nvSpPr>
          <p:spPr>
            <a:xfrm>
              <a:off x="0" y="0"/>
              <a:ext cx="199827" cy="755848"/>
            </a:xfrm>
            <a:custGeom>
              <a:avLst/>
              <a:gdLst/>
              <a:ahLst/>
              <a:cxnLst/>
              <a:rect l="l" t="t" r="r" b="b"/>
              <a:pathLst>
                <a:path w="199827" h="755848">
                  <a:moveTo>
                    <a:pt x="0" y="0"/>
                  </a:moveTo>
                  <a:lnTo>
                    <a:pt x="199827" y="0"/>
                  </a:lnTo>
                  <a:lnTo>
                    <a:pt x="199827" y="755848"/>
                  </a:lnTo>
                  <a:lnTo>
                    <a:pt x="0" y="755848"/>
                  </a:lnTo>
                  <a:close/>
                </a:path>
              </a:pathLst>
            </a:custGeom>
            <a:solidFill>
              <a:srgbClr val="000000">
                <a:alpha val="0"/>
              </a:srgbClr>
            </a:solidFill>
          </p:spPr>
          <p:txBody>
            <a:bodyPr/>
            <a:lstStyle/>
            <a:p>
              <a:endParaRPr lang="en-IN" sz="1200"/>
            </a:p>
          </p:txBody>
        </p:sp>
        <p:sp>
          <p:nvSpPr>
            <p:cNvPr id="12" name="TextBox 12"/>
            <p:cNvSpPr txBox="1"/>
            <p:nvPr/>
          </p:nvSpPr>
          <p:spPr>
            <a:xfrm>
              <a:off x="0" y="-133350"/>
              <a:ext cx="199827" cy="889198"/>
            </a:xfrm>
            <a:prstGeom prst="rect">
              <a:avLst/>
            </a:prstGeom>
          </p:spPr>
          <p:txBody>
            <a:bodyPr lIns="0" tIns="0" rIns="0" bIns="0" rtlCol="0" anchor="t"/>
            <a:lstStyle/>
            <a:p>
              <a:pPr algn="ctr">
                <a:lnSpc>
                  <a:spcPts val="2958"/>
                </a:lnSpc>
              </a:pPr>
              <a:r>
                <a:rPr lang="en-US" sz="1833">
                  <a:solidFill>
                    <a:srgbClr val="E0D6DE"/>
                  </a:solidFill>
                  <a:latin typeface="Arimo"/>
                  <a:ea typeface="Arimo"/>
                  <a:cs typeface="Arimo"/>
                  <a:sym typeface="Arimo"/>
                </a:rPr>
                <a:t>1</a:t>
              </a:r>
            </a:p>
          </p:txBody>
        </p:sp>
      </p:grpSp>
      <p:grpSp>
        <p:nvGrpSpPr>
          <p:cNvPr id="13" name="Group 13"/>
          <p:cNvGrpSpPr/>
          <p:nvPr/>
        </p:nvGrpSpPr>
        <p:grpSpPr>
          <a:xfrm>
            <a:off x="6285012" y="3406577"/>
            <a:ext cx="2470547" cy="295275"/>
            <a:chOff x="0" y="0"/>
            <a:chExt cx="4941093" cy="590550"/>
          </a:xfrm>
        </p:grpSpPr>
        <p:sp>
          <p:nvSpPr>
            <p:cNvPr id="14" name="Freeform 14"/>
            <p:cNvSpPr/>
            <p:nvPr/>
          </p:nvSpPr>
          <p:spPr>
            <a:xfrm>
              <a:off x="0" y="0"/>
              <a:ext cx="4941093" cy="590550"/>
            </a:xfrm>
            <a:custGeom>
              <a:avLst/>
              <a:gdLst/>
              <a:ahLst/>
              <a:cxnLst/>
              <a:rect l="l" t="t" r="r" b="b"/>
              <a:pathLst>
                <a:path w="4941093" h="590550">
                  <a:moveTo>
                    <a:pt x="0" y="0"/>
                  </a:moveTo>
                  <a:lnTo>
                    <a:pt x="4941093" y="0"/>
                  </a:lnTo>
                  <a:lnTo>
                    <a:pt x="4941093" y="590550"/>
                  </a:lnTo>
                  <a:lnTo>
                    <a:pt x="0" y="590550"/>
                  </a:lnTo>
                  <a:close/>
                </a:path>
              </a:pathLst>
            </a:custGeom>
            <a:solidFill>
              <a:srgbClr val="000000">
                <a:alpha val="0"/>
              </a:srgbClr>
            </a:solidFill>
          </p:spPr>
          <p:txBody>
            <a:bodyPr/>
            <a:lstStyle/>
            <a:p>
              <a:endParaRPr lang="en-IN" sz="1200"/>
            </a:p>
          </p:txBody>
        </p:sp>
        <p:sp>
          <p:nvSpPr>
            <p:cNvPr id="15" name="TextBox 15"/>
            <p:cNvSpPr txBox="1"/>
            <p:nvPr/>
          </p:nvSpPr>
          <p:spPr>
            <a:xfrm>
              <a:off x="0" y="-38100"/>
              <a:ext cx="4941093" cy="628650"/>
            </a:xfrm>
            <a:prstGeom prst="rect">
              <a:avLst/>
            </a:prstGeom>
          </p:spPr>
          <p:txBody>
            <a:bodyPr lIns="0" tIns="0" rIns="0" bIns="0" rtlCol="0" anchor="t"/>
            <a:lstStyle/>
            <a:p>
              <a:pPr>
                <a:lnSpc>
                  <a:spcPts val="2291"/>
                </a:lnSpc>
              </a:pPr>
              <a:r>
                <a:rPr lang="en-US" sz="1833">
                  <a:solidFill>
                    <a:srgbClr val="E0D6DE"/>
                  </a:solidFill>
                  <a:latin typeface="Arimo"/>
                  <a:ea typeface="Arimo"/>
                  <a:cs typeface="Arimo"/>
                  <a:sym typeface="Arimo"/>
                </a:rPr>
                <a:t>High Energy Storage</a:t>
              </a:r>
            </a:p>
          </p:txBody>
        </p:sp>
      </p:grpSp>
      <p:grpSp>
        <p:nvGrpSpPr>
          <p:cNvPr id="16" name="Group 16"/>
          <p:cNvGrpSpPr/>
          <p:nvPr/>
        </p:nvGrpSpPr>
        <p:grpSpPr>
          <a:xfrm>
            <a:off x="6285012" y="3815259"/>
            <a:ext cx="5056485" cy="604837"/>
            <a:chOff x="0" y="0"/>
            <a:chExt cx="10112970" cy="1209675"/>
          </a:xfrm>
        </p:grpSpPr>
        <p:sp>
          <p:nvSpPr>
            <p:cNvPr id="17" name="Freeform 17"/>
            <p:cNvSpPr/>
            <p:nvPr/>
          </p:nvSpPr>
          <p:spPr>
            <a:xfrm>
              <a:off x="0" y="0"/>
              <a:ext cx="10112970" cy="1209675"/>
            </a:xfrm>
            <a:custGeom>
              <a:avLst/>
              <a:gdLst/>
              <a:ahLst/>
              <a:cxnLst/>
              <a:rect l="l" t="t" r="r" b="b"/>
              <a:pathLst>
                <a:path w="10112970" h="1209675">
                  <a:moveTo>
                    <a:pt x="0" y="0"/>
                  </a:moveTo>
                  <a:lnTo>
                    <a:pt x="10112970" y="0"/>
                  </a:lnTo>
                  <a:lnTo>
                    <a:pt x="10112970" y="1209675"/>
                  </a:lnTo>
                  <a:lnTo>
                    <a:pt x="0" y="1209675"/>
                  </a:lnTo>
                  <a:close/>
                </a:path>
              </a:pathLst>
            </a:custGeom>
            <a:solidFill>
              <a:srgbClr val="000000">
                <a:alpha val="0"/>
              </a:srgbClr>
            </a:solidFill>
          </p:spPr>
          <p:txBody>
            <a:bodyPr/>
            <a:lstStyle/>
            <a:p>
              <a:endParaRPr lang="en-IN" sz="1200"/>
            </a:p>
          </p:txBody>
        </p:sp>
        <p:sp>
          <p:nvSpPr>
            <p:cNvPr id="18" name="TextBox 18"/>
            <p:cNvSpPr txBox="1"/>
            <p:nvPr/>
          </p:nvSpPr>
          <p:spPr>
            <a:xfrm>
              <a:off x="0" y="-104775"/>
              <a:ext cx="10112970" cy="1314450"/>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Allows for more compact storage and easier transportation.</a:t>
              </a:r>
            </a:p>
          </p:txBody>
        </p:sp>
      </p:grpSp>
      <p:pic>
        <p:nvPicPr>
          <p:cNvPr id="19" name="Picture 18">
            <a:extLst>
              <a:ext uri="{FF2B5EF4-FFF2-40B4-BE49-F238E27FC236}">
                <a16:creationId xmlns:a16="http://schemas.microsoft.com/office/drawing/2014/main" id="{C364ED31-91D1-B889-C3FD-F34C4838B2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2273" y="5996409"/>
            <a:ext cx="4358797" cy="621128"/>
          </a:xfrm>
          <a:prstGeom prst="rect">
            <a:avLst/>
          </a:prstGeom>
        </p:spPr>
      </p:pic>
      <p:grpSp>
        <p:nvGrpSpPr>
          <p:cNvPr id="20" name="Group 19">
            <a:extLst>
              <a:ext uri="{FF2B5EF4-FFF2-40B4-BE49-F238E27FC236}">
                <a16:creationId xmlns:a16="http://schemas.microsoft.com/office/drawing/2014/main" id="{BA56FB33-D7BE-6117-5300-1AF563105E30}"/>
              </a:ext>
            </a:extLst>
          </p:cNvPr>
          <p:cNvGrpSpPr/>
          <p:nvPr/>
        </p:nvGrpSpPr>
        <p:grpSpPr>
          <a:xfrm>
            <a:off x="2542846" y="7989"/>
            <a:ext cx="6869410" cy="228600"/>
            <a:chOff x="1143000" y="857250"/>
            <a:chExt cx="6858000" cy="162000"/>
          </a:xfrm>
        </p:grpSpPr>
        <p:sp>
          <p:nvSpPr>
            <p:cNvPr id="21" name="Rectangle 20">
              <a:extLst>
                <a:ext uri="{FF2B5EF4-FFF2-40B4-BE49-F238E27FC236}">
                  <a16:creationId xmlns:a16="http://schemas.microsoft.com/office/drawing/2014/main" id="{3C3677AC-25B1-61F6-10CF-0B2A889F4F88}"/>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22" name="Rectangle 21">
              <a:extLst>
                <a:ext uri="{FF2B5EF4-FFF2-40B4-BE49-F238E27FC236}">
                  <a16:creationId xmlns:a16="http://schemas.microsoft.com/office/drawing/2014/main" id="{986A02BC-21C1-360D-D901-107EF90EA7F8}"/>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23" name="Group 22">
            <a:extLst>
              <a:ext uri="{FF2B5EF4-FFF2-40B4-BE49-F238E27FC236}">
                <a16:creationId xmlns:a16="http://schemas.microsoft.com/office/drawing/2014/main" id="{FC272A88-2F38-53A5-777D-5CDA68E6BECC}"/>
              </a:ext>
            </a:extLst>
          </p:cNvPr>
          <p:cNvGrpSpPr/>
          <p:nvPr/>
        </p:nvGrpSpPr>
        <p:grpSpPr>
          <a:xfrm>
            <a:off x="2184675" y="6648660"/>
            <a:ext cx="6869410" cy="228600"/>
            <a:chOff x="1143000" y="857250"/>
            <a:chExt cx="6858000" cy="162000"/>
          </a:xfrm>
        </p:grpSpPr>
        <p:sp>
          <p:nvSpPr>
            <p:cNvPr id="24" name="Rectangle 23">
              <a:extLst>
                <a:ext uri="{FF2B5EF4-FFF2-40B4-BE49-F238E27FC236}">
                  <a16:creationId xmlns:a16="http://schemas.microsoft.com/office/drawing/2014/main" id="{CF8C15BE-7DD4-C8AE-C4FF-E27A8168625F}"/>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25" name="Rectangle 24">
              <a:extLst>
                <a:ext uri="{FF2B5EF4-FFF2-40B4-BE49-F238E27FC236}">
                  <a16:creationId xmlns:a16="http://schemas.microsoft.com/office/drawing/2014/main" id="{57D66F03-70C0-AFE2-B7DC-5DD9C83F152E}"/>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sz="1200"/>
          </a:p>
        </p:txBody>
      </p:sp>
      <p:grpSp>
        <p:nvGrpSpPr>
          <p:cNvPr id="3" name="Group 3"/>
          <p:cNvGrpSpPr/>
          <p:nvPr/>
        </p:nvGrpSpPr>
        <p:grpSpPr>
          <a:xfrm>
            <a:off x="0" y="0"/>
            <a:ext cx="12192000" cy="6858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7070C"/>
            </a:solidFill>
          </p:spPr>
          <p:txBody>
            <a:bodyPr/>
            <a:lstStyle/>
            <a:p>
              <a:endParaRPr lang="en-IN" sz="1200"/>
            </a:p>
          </p:txBody>
        </p:sp>
      </p:grpSp>
      <p:grpSp>
        <p:nvGrpSpPr>
          <p:cNvPr id="5" name="Group 5"/>
          <p:cNvGrpSpPr/>
          <p:nvPr/>
        </p:nvGrpSpPr>
        <p:grpSpPr>
          <a:xfrm>
            <a:off x="661492" y="1831876"/>
            <a:ext cx="9760049" cy="590649"/>
            <a:chOff x="0" y="0"/>
            <a:chExt cx="19520098" cy="1181298"/>
          </a:xfrm>
        </p:grpSpPr>
        <p:sp>
          <p:nvSpPr>
            <p:cNvPr id="6" name="Freeform 6"/>
            <p:cNvSpPr/>
            <p:nvPr/>
          </p:nvSpPr>
          <p:spPr>
            <a:xfrm>
              <a:off x="0" y="0"/>
              <a:ext cx="19520098" cy="1181298"/>
            </a:xfrm>
            <a:custGeom>
              <a:avLst/>
              <a:gdLst/>
              <a:ahLst/>
              <a:cxnLst/>
              <a:rect l="l" t="t" r="r" b="b"/>
              <a:pathLst>
                <a:path w="19520098" h="1181298">
                  <a:moveTo>
                    <a:pt x="0" y="0"/>
                  </a:moveTo>
                  <a:lnTo>
                    <a:pt x="19520098" y="0"/>
                  </a:lnTo>
                  <a:lnTo>
                    <a:pt x="19520098" y="1181298"/>
                  </a:lnTo>
                  <a:lnTo>
                    <a:pt x="0" y="1181298"/>
                  </a:lnTo>
                  <a:close/>
                </a:path>
              </a:pathLst>
            </a:custGeom>
            <a:solidFill>
              <a:srgbClr val="000000">
                <a:alpha val="0"/>
              </a:srgbClr>
            </a:solidFill>
          </p:spPr>
          <p:txBody>
            <a:bodyPr/>
            <a:lstStyle/>
            <a:p>
              <a:endParaRPr lang="en-IN" sz="1200"/>
            </a:p>
          </p:txBody>
        </p:sp>
        <p:sp>
          <p:nvSpPr>
            <p:cNvPr id="7" name="TextBox 7"/>
            <p:cNvSpPr txBox="1"/>
            <p:nvPr/>
          </p:nvSpPr>
          <p:spPr>
            <a:xfrm>
              <a:off x="0" y="-57150"/>
              <a:ext cx="19520098" cy="1238448"/>
            </a:xfrm>
            <a:prstGeom prst="rect">
              <a:avLst/>
            </a:prstGeom>
          </p:spPr>
          <p:txBody>
            <a:bodyPr lIns="0" tIns="0" rIns="0" bIns="0" rtlCol="0" anchor="t"/>
            <a:lstStyle/>
            <a:p>
              <a:pPr>
                <a:lnSpc>
                  <a:spcPts val="4625"/>
                </a:lnSpc>
              </a:pPr>
              <a:r>
                <a:rPr lang="en-US" sz="3708">
                  <a:solidFill>
                    <a:srgbClr val="97B8FF"/>
                  </a:solidFill>
                  <a:latin typeface="Arimo"/>
                  <a:ea typeface="Arimo"/>
                  <a:cs typeface="Arimo"/>
                  <a:sym typeface="Arimo"/>
                </a:rPr>
                <a:t>Clean Combustion with Minimal Residue</a:t>
              </a:r>
            </a:p>
          </p:txBody>
        </p:sp>
      </p:grpSp>
      <p:sp>
        <p:nvSpPr>
          <p:cNvPr id="8" name="Freeform 8" descr="preencoded.png"/>
          <p:cNvSpPr/>
          <p:nvPr/>
        </p:nvSpPr>
        <p:spPr>
          <a:xfrm>
            <a:off x="2033687" y="2800548"/>
            <a:ext cx="2690019" cy="1089124"/>
          </a:xfrm>
          <a:custGeom>
            <a:avLst/>
            <a:gdLst/>
            <a:ahLst/>
            <a:cxnLst/>
            <a:rect l="l" t="t" r="r" b="b"/>
            <a:pathLst>
              <a:path w="4035028" h="1633686">
                <a:moveTo>
                  <a:pt x="0" y="0"/>
                </a:moveTo>
                <a:lnTo>
                  <a:pt x="4035028" y="0"/>
                </a:lnTo>
                <a:lnTo>
                  <a:pt x="4035028" y="1633687"/>
                </a:lnTo>
                <a:lnTo>
                  <a:pt x="0" y="1633687"/>
                </a:lnTo>
                <a:lnTo>
                  <a:pt x="0" y="0"/>
                </a:lnTo>
                <a:close/>
              </a:path>
            </a:pathLst>
          </a:custGeom>
          <a:blipFill>
            <a:blip r:embed="rId4"/>
            <a:stretch>
              <a:fillRect t="-96" b="-96"/>
            </a:stretch>
          </a:blipFill>
        </p:spPr>
        <p:txBody>
          <a:bodyPr/>
          <a:lstStyle/>
          <a:p>
            <a:endParaRPr lang="en-IN" sz="1200"/>
          </a:p>
        </p:txBody>
      </p:sp>
      <p:grpSp>
        <p:nvGrpSpPr>
          <p:cNvPr id="9" name="Group 9"/>
          <p:cNvGrpSpPr/>
          <p:nvPr/>
        </p:nvGrpSpPr>
        <p:grpSpPr>
          <a:xfrm>
            <a:off x="3328690" y="3291086"/>
            <a:ext cx="99913" cy="377924"/>
            <a:chOff x="0" y="0"/>
            <a:chExt cx="199827" cy="755848"/>
          </a:xfrm>
        </p:grpSpPr>
        <p:sp>
          <p:nvSpPr>
            <p:cNvPr id="10" name="Freeform 10"/>
            <p:cNvSpPr/>
            <p:nvPr/>
          </p:nvSpPr>
          <p:spPr>
            <a:xfrm>
              <a:off x="0" y="0"/>
              <a:ext cx="199827" cy="755848"/>
            </a:xfrm>
            <a:custGeom>
              <a:avLst/>
              <a:gdLst/>
              <a:ahLst/>
              <a:cxnLst/>
              <a:rect l="l" t="t" r="r" b="b"/>
              <a:pathLst>
                <a:path w="199827" h="755848">
                  <a:moveTo>
                    <a:pt x="0" y="0"/>
                  </a:moveTo>
                  <a:lnTo>
                    <a:pt x="199827" y="0"/>
                  </a:lnTo>
                  <a:lnTo>
                    <a:pt x="199827" y="755848"/>
                  </a:lnTo>
                  <a:lnTo>
                    <a:pt x="0" y="755848"/>
                  </a:lnTo>
                  <a:close/>
                </a:path>
              </a:pathLst>
            </a:custGeom>
            <a:solidFill>
              <a:srgbClr val="000000">
                <a:alpha val="0"/>
              </a:srgbClr>
            </a:solidFill>
          </p:spPr>
          <p:txBody>
            <a:bodyPr/>
            <a:lstStyle/>
            <a:p>
              <a:endParaRPr lang="en-IN" sz="1200"/>
            </a:p>
          </p:txBody>
        </p:sp>
        <p:sp>
          <p:nvSpPr>
            <p:cNvPr id="11" name="TextBox 11"/>
            <p:cNvSpPr txBox="1"/>
            <p:nvPr/>
          </p:nvSpPr>
          <p:spPr>
            <a:xfrm>
              <a:off x="0" y="-133350"/>
              <a:ext cx="199827" cy="889198"/>
            </a:xfrm>
            <a:prstGeom prst="rect">
              <a:avLst/>
            </a:prstGeom>
          </p:spPr>
          <p:txBody>
            <a:bodyPr lIns="0" tIns="0" rIns="0" bIns="0" rtlCol="0" anchor="t"/>
            <a:lstStyle/>
            <a:p>
              <a:pPr algn="ctr">
                <a:lnSpc>
                  <a:spcPts val="2958"/>
                </a:lnSpc>
              </a:pPr>
              <a:r>
                <a:rPr lang="en-US" sz="1833">
                  <a:solidFill>
                    <a:srgbClr val="E0D6DE"/>
                  </a:solidFill>
                  <a:latin typeface="Arimo"/>
                  <a:ea typeface="Arimo"/>
                  <a:cs typeface="Arimo"/>
                  <a:sym typeface="Arimo"/>
                </a:rPr>
                <a:t>1</a:t>
              </a:r>
            </a:p>
          </p:txBody>
        </p:sp>
      </p:grpSp>
      <p:grpSp>
        <p:nvGrpSpPr>
          <p:cNvPr id="12" name="Group 12"/>
          <p:cNvGrpSpPr/>
          <p:nvPr/>
        </p:nvGrpSpPr>
        <p:grpSpPr>
          <a:xfrm>
            <a:off x="4912718" y="2989560"/>
            <a:ext cx="2564110" cy="295275"/>
            <a:chOff x="0" y="0"/>
            <a:chExt cx="5128220" cy="590550"/>
          </a:xfrm>
        </p:grpSpPr>
        <p:sp>
          <p:nvSpPr>
            <p:cNvPr id="13" name="Freeform 13"/>
            <p:cNvSpPr/>
            <p:nvPr/>
          </p:nvSpPr>
          <p:spPr>
            <a:xfrm>
              <a:off x="0" y="0"/>
              <a:ext cx="5128220" cy="590550"/>
            </a:xfrm>
            <a:custGeom>
              <a:avLst/>
              <a:gdLst/>
              <a:ahLst/>
              <a:cxnLst/>
              <a:rect l="l" t="t" r="r" b="b"/>
              <a:pathLst>
                <a:path w="5128220" h="590550">
                  <a:moveTo>
                    <a:pt x="0" y="0"/>
                  </a:moveTo>
                  <a:lnTo>
                    <a:pt x="5128220" y="0"/>
                  </a:lnTo>
                  <a:lnTo>
                    <a:pt x="5128220" y="590550"/>
                  </a:lnTo>
                  <a:lnTo>
                    <a:pt x="0" y="590550"/>
                  </a:lnTo>
                  <a:close/>
                </a:path>
              </a:pathLst>
            </a:custGeom>
            <a:solidFill>
              <a:srgbClr val="000000">
                <a:alpha val="0"/>
              </a:srgbClr>
            </a:solidFill>
          </p:spPr>
          <p:txBody>
            <a:bodyPr/>
            <a:lstStyle/>
            <a:p>
              <a:endParaRPr lang="en-IN" sz="1200"/>
            </a:p>
          </p:txBody>
        </p:sp>
        <p:sp>
          <p:nvSpPr>
            <p:cNvPr id="14" name="TextBox 14"/>
            <p:cNvSpPr txBox="1"/>
            <p:nvPr/>
          </p:nvSpPr>
          <p:spPr>
            <a:xfrm>
              <a:off x="0" y="-38100"/>
              <a:ext cx="5128220" cy="628650"/>
            </a:xfrm>
            <a:prstGeom prst="rect">
              <a:avLst/>
            </a:prstGeom>
          </p:spPr>
          <p:txBody>
            <a:bodyPr lIns="0" tIns="0" rIns="0" bIns="0" rtlCol="0" anchor="t"/>
            <a:lstStyle/>
            <a:p>
              <a:pPr>
                <a:lnSpc>
                  <a:spcPts val="2291"/>
                </a:lnSpc>
              </a:pPr>
              <a:r>
                <a:rPr lang="en-US" sz="1833">
                  <a:solidFill>
                    <a:srgbClr val="E0D6DE"/>
                  </a:solidFill>
                  <a:latin typeface="Arimo"/>
                  <a:ea typeface="Arimo"/>
                  <a:cs typeface="Arimo"/>
                  <a:sym typeface="Arimo"/>
                </a:rPr>
                <a:t>Efficient Combustion</a:t>
              </a:r>
            </a:p>
          </p:txBody>
        </p:sp>
      </p:grpSp>
      <p:grpSp>
        <p:nvGrpSpPr>
          <p:cNvPr id="15" name="Group 15"/>
          <p:cNvGrpSpPr/>
          <p:nvPr/>
        </p:nvGrpSpPr>
        <p:grpSpPr>
          <a:xfrm>
            <a:off x="4912717" y="3398243"/>
            <a:ext cx="4172347" cy="302419"/>
            <a:chOff x="0" y="0"/>
            <a:chExt cx="8344693" cy="604838"/>
          </a:xfrm>
        </p:grpSpPr>
        <p:sp>
          <p:nvSpPr>
            <p:cNvPr id="16" name="Freeform 16"/>
            <p:cNvSpPr/>
            <p:nvPr/>
          </p:nvSpPr>
          <p:spPr>
            <a:xfrm>
              <a:off x="0" y="0"/>
              <a:ext cx="8344693" cy="604838"/>
            </a:xfrm>
            <a:custGeom>
              <a:avLst/>
              <a:gdLst/>
              <a:ahLst/>
              <a:cxnLst/>
              <a:rect l="l" t="t" r="r" b="b"/>
              <a:pathLst>
                <a:path w="8344693" h="604838">
                  <a:moveTo>
                    <a:pt x="0" y="0"/>
                  </a:moveTo>
                  <a:lnTo>
                    <a:pt x="8344693" y="0"/>
                  </a:lnTo>
                  <a:lnTo>
                    <a:pt x="8344693" y="604838"/>
                  </a:lnTo>
                  <a:lnTo>
                    <a:pt x="0" y="604838"/>
                  </a:lnTo>
                  <a:close/>
                </a:path>
              </a:pathLst>
            </a:custGeom>
            <a:solidFill>
              <a:srgbClr val="000000">
                <a:alpha val="0"/>
              </a:srgbClr>
            </a:solidFill>
          </p:spPr>
          <p:txBody>
            <a:bodyPr/>
            <a:lstStyle/>
            <a:p>
              <a:endParaRPr lang="en-IN" sz="1200"/>
            </a:p>
          </p:txBody>
        </p:sp>
        <p:sp>
          <p:nvSpPr>
            <p:cNvPr id="17" name="TextBox 17"/>
            <p:cNvSpPr txBox="1"/>
            <p:nvPr/>
          </p:nvSpPr>
          <p:spPr>
            <a:xfrm>
              <a:off x="0" y="-104775"/>
              <a:ext cx="8344693"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Burns completely with minimal waste products.</a:t>
              </a:r>
            </a:p>
          </p:txBody>
        </p:sp>
      </p:grpSp>
      <p:grpSp>
        <p:nvGrpSpPr>
          <p:cNvPr id="18" name="Group 18"/>
          <p:cNvGrpSpPr/>
          <p:nvPr/>
        </p:nvGrpSpPr>
        <p:grpSpPr>
          <a:xfrm>
            <a:off x="4770933" y="3900587"/>
            <a:ext cx="6712347" cy="12700"/>
            <a:chOff x="0" y="0"/>
            <a:chExt cx="13424693" cy="25400"/>
          </a:xfrm>
        </p:grpSpPr>
        <p:sp>
          <p:nvSpPr>
            <p:cNvPr id="19" name="Freeform 19"/>
            <p:cNvSpPr/>
            <p:nvPr/>
          </p:nvSpPr>
          <p:spPr>
            <a:xfrm>
              <a:off x="0" y="0"/>
              <a:ext cx="13424663" cy="25400"/>
            </a:xfrm>
            <a:custGeom>
              <a:avLst/>
              <a:gdLst/>
              <a:ahLst/>
              <a:cxnLst/>
              <a:rect l="l" t="t" r="r" b="b"/>
              <a:pathLst>
                <a:path w="13424663" h="25400">
                  <a:moveTo>
                    <a:pt x="0" y="12700"/>
                  </a:moveTo>
                  <a:cubicBezTo>
                    <a:pt x="0" y="5715"/>
                    <a:pt x="5715" y="0"/>
                    <a:pt x="12700" y="0"/>
                  </a:cubicBezTo>
                  <a:lnTo>
                    <a:pt x="13411963" y="0"/>
                  </a:lnTo>
                  <a:cubicBezTo>
                    <a:pt x="13418948" y="0"/>
                    <a:pt x="13424663" y="5715"/>
                    <a:pt x="13424663" y="12700"/>
                  </a:cubicBezTo>
                  <a:cubicBezTo>
                    <a:pt x="13424663" y="19685"/>
                    <a:pt x="13418948" y="25400"/>
                    <a:pt x="13411963" y="25400"/>
                  </a:cubicBezTo>
                  <a:lnTo>
                    <a:pt x="12700" y="25400"/>
                  </a:lnTo>
                  <a:cubicBezTo>
                    <a:pt x="5715" y="25400"/>
                    <a:pt x="0" y="19685"/>
                    <a:pt x="0" y="12700"/>
                  </a:cubicBezTo>
                  <a:close/>
                </a:path>
              </a:pathLst>
            </a:custGeom>
            <a:solidFill>
              <a:srgbClr val="3F3F44"/>
            </a:solidFill>
          </p:spPr>
          <p:txBody>
            <a:bodyPr/>
            <a:lstStyle/>
            <a:p>
              <a:endParaRPr lang="en-IN" sz="1200"/>
            </a:p>
          </p:txBody>
        </p:sp>
      </p:grpSp>
      <p:sp>
        <p:nvSpPr>
          <p:cNvPr id="20" name="Freeform 20" descr="preencoded.png"/>
          <p:cNvSpPr/>
          <p:nvPr/>
        </p:nvSpPr>
        <p:spPr>
          <a:xfrm>
            <a:off x="688579" y="3936901"/>
            <a:ext cx="5380137" cy="1089124"/>
          </a:xfrm>
          <a:custGeom>
            <a:avLst/>
            <a:gdLst/>
            <a:ahLst/>
            <a:cxnLst/>
            <a:rect l="l" t="t" r="r" b="b"/>
            <a:pathLst>
              <a:path w="8070205" h="1633686">
                <a:moveTo>
                  <a:pt x="0" y="0"/>
                </a:moveTo>
                <a:lnTo>
                  <a:pt x="8070204" y="0"/>
                </a:lnTo>
                <a:lnTo>
                  <a:pt x="8070204" y="1633687"/>
                </a:lnTo>
                <a:lnTo>
                  <a:pt x="0" y="1633687"/>
                </a:lnTo>
                <a:lnTo>
                  <a:pt x="0" y="0"/>
                </a:lnTo>
                <a:close/>
              </a:path>
            </a:pathLst>
          </a:custGeom>
          <a:blipFill>
            <a:blip r:embed="rId5"/>
            <a:stretch>
              <a:fillRect t="-156" b="-156"/>
            </a:stretch>
          </a:blipFill>
        </p:spPr>
        <p:txBody>
          <a:bodyPr/>
          <a:lstStyle/>
          <a:p>
            <a:endParaRPr lang="en-IN" sz="1200"/>
          </a:p>
        </p:txBody>
      </p:sp>
      <p:grpSp>
        <p:nvGrpSpPr>
          <p:cNvPr id="21" name="Group 21"/>
          <p:cNvGrpSpPr/>
          <p:nvPr/>
        </p:nvGrpSpPr>
        <p:grpSpPr>
          <a:xfrm>
            <a:off x="3305076" y="4292501"/>
            <a:ext cx="147141" cy="377924"/>
            <a:chOff x="0" y="0"/>
            <a:chExt cx="294283" cy="755848"/>
          </a:xfrm>
        </p:grpSpPr>
        <p:sp>
          <p:nvSpPr>
            <p:cNvPr id="22" name="Freeform 22"/>
            <p:cNvSpPr/>
            <p:nvPr/>
          </p:nvSpPr>
          <p:spPr>
            <a:xfrm>
              <a:off x="0" y="0"/>
              <a:ext cx="294283" cy="755848"/>
            </a:xfrm>
            <a:custGeom>
              <a:avLst/>
              <a:gdLst/>
              <a:ahLst/>
              <a:cxnLst/>
              <a:rect l="l" t="t" r="r" b="b"/>
              <a:pathLst>
                <a:path w="294283" h="755848">
                  <a:moveTo>
                    <a:pt x="0" y="0"/>
                  </a:moveTo>
                  <a:lnTo>
                    <a:pt x="294283" y="0"/>
                  </a:lnTo>
                  <a:lnTo>
                    <a:pt x="294283" y="755848"/>
                  </a:lnTo>
                  <a:lnTo>
                    <a:pt x="0" y="755848"/>
                  </a:lnTo>
                  <a:close/>
                </a:path>
              </a:pathLst>
            </a:custGeom>
            <a:solidFill>
              <a:srgbClr val="000000">
                <a:alpha val="0"/>
              </a:srgbClr>
            </a:solidFill>
          </p:spPr>
          <p:txBody>
            <a:bodyPr/>
            <a:lstStyle/>
            <a:p>
              <a:endParaRPr lang="en-IN" sz="1200"/>
            </a:p>
          </p:txBody>
        </p:sp>
        <p:sp>
          <p:nvSpPr>
            <p:cNvPr id="23" name="TextBox 23"/>
            <p:cNvSpPr txBox="1"/>
            <p:nvPr/>
          </p:nvSpPr>
          <p:spPr>
            <a:xfrm>
              <a:off x="0" y="-133350"/>
              <a:ext cx="294283" cy="889198"/>
            </a:xfrm>
            <a:prstGeom prst="rect">
              <a:avLst/>
            </a:prstGeom>
          </p:spPr>
          <p:txBody>
            <a:bodyPr lIns="0" tIns="0" rIns="0" bIns="0" rtlCol="0" anchor="t"/>
            <a:lstStyle/>
            <a:p>
              <a:pPr algn="ctr">
                <a:lnSpc>
                  <a:spcPts val="2958"/>
                </a:lnSpc>
              </a:pPr>
              <a:r>
                <a:rPr lang="en-US" sz="1833">
                  <a:solidFill>
                    <a:srgbClr val="E0D6DE"/>
                  </a:solidFill>
                  <a:latin typeface="Arimo"/>
                  <a:ea typeface="Arimo"/>
                  <a:cs typeface="Arimo"/>
                  <a:sym typeface="Arimo"/>
                </a:rPr>
                <a:t>2</a:t>
              </a:r>
            </a:p>
          </p:txBody>
        </p:sp>
      </p:grpSp>
      <p:grpSp>
        <p:nvGrpSpPr>
          <p:cNvPr id="24" name="Group 24"/>
          <p:cNvGrpSpPr/>
          <p:nvPr/>
        </p:nvGrpSpPr>
        <p:grpSpPr>
          <a:xfrm>
            <a:off x="6257727" y="4125913"/>
            <a:ext cx="2362696" cy="295275"/>
            <a:chOff x="0" y="0"/>
            <a:chExt cx="4725392" cy="590550"/>
          </a:xfrm>
        </p:grpSpPr>
        <p:sp>
          <p:nvSpPr>
            <p:cNvPr id="25" name="Freeform 25"/>
            <p:cNvSpPr/>
            <p:nvPr/>
          </p:nvSpPr>
          <p:spPr>
            <a:xfrm>
              <a:off x="0" y="0"/>
              <a:ext cx="4725392" cy="590550"/>
            </a:xfrm>
            <a:custGeom>
              <a:avLst/>
              <a:gdLst/>
              <a:ahLst/>
              <a:cxnLst/>
              <a:rect l="l" t="t" r="r" b="b"/>
              <a:pathLst>
                <a:path w="4725392" h="590550">
                  <a:moveTo>
                    <a:pt x="0" y="0"/>
                  </a:moveTo>
                  <a:lnTo>
                    <a:pt x="4725392" y="0"/>
                  </a:lnTo>
                  <a:lnTo>
                    <a:pt x="4725392" y="590550"/>
                  </a:lnTo>
                  <a:lnTo>
                    <a:pt x="0" y="590550"/>
                  </a:lnTo>
                  <a:close/>
                </a:path>
              </a:pathLst>
            </a:custGeom>
            <a:solidFill>
              <a:srgbClr val="000000">
                <a:alpha val="0"/>
              </a:srgbClr>
            </a:solidFill>
          </p:spPr>
          <p:txBody>
            <a:bodyPr/>
            <a:lstStyle/>
            <a:p>
              <a:endParaRPr lang="en-IN" sz="1200"/>
            </a:p>
          </p:txBody>
        </p:sp>
        <p:sp>
          <p:nvSpPr>
            <p:cNvPr id="26" name="TextBox 26"/>
            <p:cNvSpPr txBox="1"/>
            <p:nvPr/>
          </p:nvSpPr>
          <p:spPr>
            <a:xfrm>
              <a:off x="0" y="-38100"/>
              <a:ext cx="4725392" cy="628650"/>
            </a:xfrm>
            <a:prstGeom prst="rect">
              <a:avLst/>
            </a:prstGeom>
          </p:spPr>
          <p:txBody>
            <a:bodyPr lIns="0" tIns="0" rIns="0" bIns="0" rtlCol="0" anchor="t"/>
            <a:lstStyle/>
            <a:p>
              <a:pPr>
                <a:lnSpc>
                  <a:spcPts val="2291"/>
                </a:lnSpc>
              </a:pPr>
              <a:r>
                <a:rPr lang="en-US" sz="1833">
                  <a:solidFill>
                    <a:srgbClr val="E0D6DE"/>
                  </a:solidFill>
                  <a:latin typeface="Arimo"/>
                  <a:ea typeface="Arimo"/>
                  <a:cs typeface="Arimo"/>
                  <a:sym typeface="Arimo"/>
                </a:rPr>
                <a:t>Low Emissions</a:t>
              </a:r>
            </a:p>
          </p:txBody>
        </p:sp>
      </p:grpSp>
      <p:grpSp>
        <p:nvGrpSpPr>
          <p:cNvPr id="27" name="Group 27"/>
          <p:cNvGrpSpPr/>
          <p:nvPr/>
        </p:nvGrpSpPr>
        <p:grpSpPr>
          <a:xfrm>
            <a:off x="6257727" y="4534595"/>
            <a:ext cx="4150817" cy="302419"/>
            <a:chOff x="0" y="0"/>
            <a:chExt cx="8301633" cy="604838"/>
          </a:xfrm>
        </p:grpSpPr>
        <p:sp>
          <p:nvSpPr>
            <p:cNvPr id="28" name="Freeform 28"/>
            <p:cNvSpPr/>
            <p:nvPr/>
          </p:nvSpPr>
          <p:spPr>
            <a:xfrm>
              <a:off x="0" y="0"/>
              <a:ext cx="8301634" cy="604838"/>
            </a:xfrm>
            <a:custGeom>
              <a:avLst/>
              <a:gdLst/>
              <a:ahLst/>
              <a:cxnLst/>
              <a:rect l="l" t="t" r="r" b="b"/>
              <a:pathLst>
                <a:path w="8301634" h="604838">
                  <a:moveTo>
                    <a:pt x="0" y="0"/>
                  </a:moveTo>
                  <a:lnTo>
                    <a:pt x="8301634" y="0"/>
                  </a:lnTo>
                  <a:lnTo>
                    <a:pt x="8301634" y="604838"/>
                  </a:lnTo>
                  <a:lnTo>
                    <a:pt x="0" y="604838"/>
                  </a:lnTo>
                  <a:close/>
                </a:path>
              </a:pathLst>
            </a:custGeom>
            <a:solidFill>
              <a:srgbClr val="000000">
                <a:alpha val="0"/>
              </a:srgbClr>
            </a:solidFill>
          </p:spPr>
          <p:txBody>
            <a:bodyPr/>
            <a:lstStyle/>
            <a:p>
              <a:endParaRPr lang="en-IN" sz="1200"/>
            </a:p>
          </p:txBody>
        </p:sp>
        <p:sp>
          <p:nvSpPr>
            <p:cNvPr id="29" name="TextBox 29"/>
            <p:cNvSpPr txBox="1"/>
            <p:nvPr/>
          </p:nvSpPr>
          <p:spPr>
            <a:xfrm>
              <a:off x="0" y="-104775"/>
              <a:ext cx="8301633"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Minimizes pollution and environmental impact.</a:t>
              </a:r>
            </a:p>
          </p:txBody>
        </p:sp>
      </p:grpSp>
      <p:pic>
        <p:nvPicPr>
          <p:cNvPr id="30" name="Picture 29">
            <a:extLst>
              <a:ext uri="{FF2B5EF4-FFF2-40B4-BE49-F238E27FC236}">
                <a16:creationId xmlns:a16="http://schemas.microsoft.com/office/drawing/2014/main" id="{0EE180E9-8302-DF3C-0AC4-C64F24CB9D6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2273" y="5996409"/>
            <a:ext cx="4358797" cy="621128"/>
          </a:xfrm>
          <a:prstGeom prst="rect">
            <a:avLst/>
          </a:prstGeom>
        </p:spPr>
      </p:pic>
      <p:grpSp>
        <p:nvGrpSpPr>
          <p:cNvPr id="31" name="Group 30">
            <a:extLst>
              <a:ext uri="{FF2B5EF4-FFF2-40B4-BE49-F238E27FC236}">
                <a16:creationId xmlns:a16="http://schemas.microsoft.com/office/drawing/2014/main" id="{E4CF59F4-A879-9FB8-B564-E409FC7ED8EE}"/>
              </a:ext>
            </a:extLst>
          </p:cNvPr>
          <p:cNvGrpSpPr/>
          <p:nvPr/>
        </p:nvGrpSpPr>
        <p:grpSpPr>
          <a:xfrm>
            <a:off x="2542846" y="7989"/>
            <a:ext cx="6869410" cy="228600"/>
            <a:chOff x="1143000" y="857250"/>
            <a:chExt cx="6858000" cy="162000"/>
          </a:xfrm>
        </p:grpSpPr>
        <p:sp>
          <p:nvSpPr>
            <p:cNvPr id="32" name="Rectangle 31">
              <a:extLst>
                <a:ext uri="{FF2B5EF4-FFF2-40B4-BE49-F238E27FC236}">
                  <a16:creationId xmlns:a16="http://schemas.microsoft.com/office/drawing/2014/main" id="{7B48715D-3C98-3777-136E-D7E7778ED61C}"/>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33" name="Rectangle 32">
              <a:extLst>
                <a:ext uri="{FF2B5EF4-FFF2-40B4-BE49-F238E27FC236}">
                  <a16:creationId xmlns:a16="http://schemas.microsoft.com/office/drawing/2014/main" id="{0479C450-91C4-70AA-FE09-21144D30BEB3}"/>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34" name="Group 33">
            <a:extLst>
              <a:ext uri="{FF2B5EF4-FFF2-40B4-BE49-F238E27FC236}">
                <a16:creationId xmlns:a16="http://schemas.microsoft.com/office/drawing/2014/main" id="{CB2CD95D-ACA2-C399-2613-38181714B350}"/>
              </a:ext>
            </a:extLst>
          </p:cNvPr>
          <p:cNvGrpSpPr/>
          <p:nvPr/>
        </p:nvGrpSpPr>
        <p:grpSpPr>
          <a:xfrm>
            <a:off x="2184675" y="6648660"/>
            <a:ext cx="6869410" cy="228600"/>
            <a:chOff x="1143000" y="857250"/>
            <a:chExt cx="6858000" cy="162000"/>
          </a:xfrm>
        </p:grpSpPr>
        <p:sp>
          <p:nvSpPr>
            <p:cNvPr id="35" name="Rectangle 34">
              <a:extLst>
                <a:ext uri="{FF2B5EF4-FFF2-40B4-BE49-F238E27FC236}">
                  <a16:creationId xmlns:a16="http://schemas.microsoft.com/office/drawing/2014/main" id="{62D2DF10-E4E5-4D50-85FA-B94F9E5ADAD2}"/>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36" name="Rectangle 35">
              <a:extLst>
                <a:ext uri="{FF2B5EF4-FFF2-40B4-BE49-F238E27FC236}">
                  <a16:creationId xmlns:a16="http://schemas.microsoft.com/office/drawing/2014/main" id="{43C32E13-F26B-421B-87B0-4A9D1CB9838B}"/>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50164" y="526920"/>
            <a:ext cx="11091672" cy="5971032"/>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7070C"/>
            </a:solidFill>
          </p:spPr>
          <p:txBody>
            <a:bodyPr/>
            <a:lstStyle/>
            <a:p>
              <a:endParaRPr lang="en-IN" sz="1200"/>
            </a:p>
          </p:txBody>
        </p:sp>
      </p:grpSp>
      <p:sp>
        <p:nvSpPr>
          <p:cNvPr id="5" name="Freeform 5" descr="preencoded.png"/>
          <p:cNvSpPr/>
          <p:nvPr/>
        </p:nvSpPr>
        <p:spPr>
          <a:xfrm>
            <a:off x="599366" y="1167088"/>
            <a:ext cx="2973303" cy="4504132"/>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txBody>
          <a:bodyPr/>
          <a:lstStyle/>
          <a:p>
            <a:endParaRPr lang="en-IN" sz="1200" dirty="0"/>
          </a:p>
        </p:txBody>
      </p:sp>
      <p:grpSp>
        <p:nvGrpSpPr>
          <p:cNvPr id="6" name="Group 6"/>
          <p:cNvGrpSpPr/>
          <p:nvPr/>
        </p:nvGrpSpPr>
        <p:grpSpPr>
          <a:xfrm>
            <a:off x="5227165" y="1022175"/>
            <a:ext cx="6297017" cy="1181298"/>
            <a:chOff x="0" y="0"/>
            <a:chExt cx="12594035" cy="2362597"/>
          </a:xfrm>
        </p:grpSpPr>
        <p:sp>
          <p:nvSpPr>
            <p:cNvPr id="7" name="Freeform 7"/>
            <p:cNvSpPr/>
            <p:nvPr/>
          </p:nvSpPr>
          <p:spPr>
            <a:xfrm>
              <a:off x="0" y="0"/>
              <a:ext cx="12594035" cy="2362597"/>
            </a:xfrm>
            <a:custGeom>
              <a:avLst/>
              <a:gdLst/>
              <a:ahLst/>
              <a:cxnLst/>
              <a:rect l="l" t="t" r="r" b="b"/>
              <a:pathLst>
                <a:path w="12594035" h="2362597">
                  <a:moveTo>
                    <a:pt x="0" y="0"/>
                  </a:moveTo>
                  <a:lnTo>
                    <a:pt x="12594035" y="0"/>
                  </a:lnTo>
                  <a:lnTo>
                    <a:pt x="12594035" y="2362597"/>
                  </a:lnTo>
                  <a:lnTo>
                    <a:pt x="0" y="2362597"/>
                  </a:lnTo>
                  <a:close/>
                </a:path>
              </a:pathLst>
            </a:custGeom>
            <a:solidFill>
              <a:srgbClr val="000000">
                <a:alpha val="0"/>
              </a:srgbClr>
            </a:solidFill>
          </p:spPr>
          <p:txBody>
            <a:bodyPr/>
            <a:lstStyle/>
            <a:p>
              <a:endParaRPr lang="en-IN" sz="1200"/>
            </a:p>
          </p:txBody>
        </p:sp>
        <p:sp>
          <p:nvSpPr>
            <p:cNvPr id="8" name="TextBox 8"/>
            <p:cNvSpPr txBox="1"/>
            <p:nvPr/>
          </p:nvSpPr>
          <p:spPr>
            <a:xfrm>
              <a:off x="0" y="-57150"/>
              <a:ext cx="12594035" cy="2419747"/>
            </a:xfrm>
            <a:prstGeom prst="rect">
              <a:avLst/>
            </a:prstGeom>
          </p:spPr>
          <p:txBody>
            <a:bodyPr lIns="0" tIns="0" rIns="0" bIns="0" rtlCol="0" anchor="t"/>
            <a:lstStyle/>
            <a:p>
              <a:pPr>
                <a:lnSpc>
                  <a:spcPts val="4625"/>
                </a:lnSpc>
              </a:pPr>
              <a:r>
                <a:rPr lang="en-US" sz="3708">
                  <a:solidFill>
                    <a:srgbClr val="97B8FF"/>
                  </a:solidFill>
                  <a:latin typeface="Arimo"/>
                  <a:ea typeface="Arimo"/>
                  <a:cs typeface="Arimo"/>
                  <a:sym typeface="Arimo"/>
                </a:rPr>
                <a:t>Comparison of Calorific Values of Different Fuels</a:t>
              </a:r>
            </a:p>
          </p:txBody>
        </p:sp>
      </p:grpSp>
      <p:grpSp>
        <p:nvGrpSpPr>
          <p:cNvPr id="9" name="Group 9"/>
          <p:cNvGrpSpPr/>
          <p:nvPr/>
        </p:nvGrpSpPr>
        <p:grpSpPr>
          <a:xfrm>
            <a:off x="5230317" y="2526010"/>
            <a:ext cx="6303367" cy="3270647"/>
            <a:chOff x="0" y="0"/>
            <a:chExt cx="12606735" cy="6541293"/>
          </a:xfrm>
        </p:grpSpPr>
        <p:sp>
          <p:nvSpPr>
            <p:cNvPr id="10" name="Freeform 10"/>
            <p:cNvSpPr/>
            <p:nvPr/>
          </p:nvSpPr>
          <p:spPr>
            <a:xfrm>
              <a:off x="0" y="0"/>
              <a:ext cx="12606655" cy="6541389"/>
            </a:xfrm>
            <a:custGeom>
              <a:avLst/>
              <a:gdLst/>
              <a:ahLst/>
              <a:cxnLst/>
              <a:rect l="l" t="t" r="r" b="b"/>
              <a:pathLst>
                <a:path w="12606655" h="6541389">
                  <a:moveTo>
                    <a:pt x="0" y="63119"/>
                  </a:moveTo>
                  <a:cubicBezTo>
                    <a:pt x="0" y="28194"/>
                    <a:pt x="28321" y="0"/>
                    <a:pt x="63119" y="0"/>
                  </a:cubicBezTo>
                  <a:lnTo>
                    <a:pt x="12543536" y="0"/>
                  </a:lnTo>
                  <a:lnTo>
                    <a:pt x="12543536" y="6350"/>
                  </a:lnTo>
                  <a:lnTo>
                    <a:pt x="12543536" y="0"/>
                  </a:lnTo>
                  <a:cubicBezTo>
                    <a:pt x="12578461" y="0"/>
                    <a:pt x="12606655" y="28194"/>
                    <a:pt x="12606655" y="63119"/>
                  </a:cubicBezTo>
                  <a:lnTo>
                    <a:pt x="12600305" y="63119"/>
                  </a:lnTo>
                  <a:lnTo>
                    <a:pt x="12606655" y="63119"/>
                  </a:lnTo>
                  <a:lnTo>
                    <a:pt x="12606655" y="6478270"/>
                  </a:lnTo>
                  <a:lnTo>
                    <a:pt x="12600305" y="6478270"/>
                  </a:lnTo>
                  <a:lnTo>
                    <a:pt x="12606655" y="6478270"/>
                  </a:lnTo>
                  <a:cubicBezTo>
                    <a:pt x="12606655" y="6513068"/>
                    <a:pt x="12578334" y="6541389"/>
                    <a:pt x="12543536" y="6541389"/>
                  </a:cubicBezTo>
                  <a:lnTo>
                    <a:pt x="12543536" y="6535039"/>
                  </a:lnTo>
                  <a:lnTo>
                    <a:pt x="12543536" y="6541389"/>
                  </a:lnTo>
                  <a:lnTo>
                    <a:pt x="63119" y="6541389"/>
                  </a:lnTo>
                  <a:lnTo>
                    <a:pt x="63119" y="6535039"/>
                  </a:lnTo>
                  <a:lnTo>
                    <a:pt x="63119" y="6541389"/>
                  </a:lnTo>
                  <a:cubicBezTo>
                    <a:pt x="28194" y="6541389"/>
                    <a:pt x="0" y="6513195"/>
                    <a:pt x="0" y="6478270"/>
                  </a:cubicBezTo>
                  <a:lnTo>
                    <a:pt x="0" y="63119"/>
                  </a:lnTo>
                  <a:lnTo>
                    <a:pt x="6350" y="63119"/>
                  </a:lnTo>
                  <a:lnTo>
                    <a:pt x="0" y="63119"/>
                  </a:lnTo>
                  <a:moveTo>
                    <a:pt x="12700" y="63119"/>
                  </a:moveTo>
                  <a:lnTo>
                    <a:pt x="12700" y="6478270"/>
                  </a:lnTo>
                  <a:lnTo>
                    <a:pt x="6350" y="6478270"/>
                  </a:lnTo>
                  <a:lnTo>
                    <a:pt x="12700" y="6478270"/>
                  </a:lnTo>
                  <a:cubicBezTo>
                    <a:pt x="12700" y="6506083"/>
                    <a:pt x="35306" y="6528689"/>
                    <a:pt x="63119" y="6528689"/>
                  </a:cubicBezTo>
                  <a:lnTo>
                    <a:pt x="12543536" y="6528689"/>
                  </a:lnTo>
                  <a:cubicBezTo>
                    <a:pt x="12571349" y="6528689"/>
                    <a:pt x="12593955" y="6506083"/>
                    <a:pt x="12593955" y="6478270"/>
                  </a:cubicBezTo>
                  <a:lnTo>
                    <a:pt x="12593955" y="63119"/>
                  </a:lnTo>
                  <a:cubicBezTo>
                    <a:pt x="12593955" y="35306"/>
                    <a:pt x="12571349" y="12700"/>
                    <a:pt x="12543536" y="12700"/>
                  </a:cubicBezTo>
                  <a:lnTo>
                    <a:pt x="63119" y="12700"/>
                  </a:lnTo>
                  <a:lnTo>
                    <a:pt x="63119" y="6350"/>
                  </a:lnTo>
                  <a:lnTo>
                    <a:pt x="63119" y="12700"/>
                  </a:lnTo>
                  <a:cubicBezTo>
                    <a:pt x="35306" y="12700"/>
                    <a:pt x="12700" y="35306"/>
                    <a:pt x="12700" y="63119"/>
                  </a:cubicBezTo>
                  <a:close/>
                </a:path>
              </a:pathLst>
            </a:custGeom>
            <a:solidFill>
              <a:srgbClr val="FFFFFF">
                <a:alpha val="23922"/>
              </a:srgbClr>
            </a:solidFill>
          </p:spPr>
          <p:txBody>
            <a:bodyPr/>
            <a:lstStyle/>
            <a:p>
              <a:endParaRPr lang="en-IN" sz="1200"/>
            </a:p>
          </p:txBody>
        </p:sp>
      </p:grpSp>
      <p:grpSp>
        <p:nvGrpSpPr>
          <p:cNvPr id="11" name="Group 11"/>
          <p:cNvGrpSpPr/>
          <p:nvPr/>
        </p:nvGrpSpPr>
        <p:grpSpPr>
          <a:xfrm>
            <a:off x="5239842" y="2535535"/>
            <a:ext cx="6284317" cy="541933"/>
            <a:chOff x="0" y="0"/>
            <a:chExt cx="12568635" cy="1083865"/>
          </a:xfrm>
        </p:grpSpPr>
        <p:sp>
          <p:nvSpPr>
            <p:cNvPr id="12" name="Freeform 12"/>
            <p:cNvSpPr/>
            <p:nvPr/>
          </p:nvSpPr>
          <p:spPr>
            <a:xfrm>
              <a:off x="0" y="0"/>
              <a:ext cx="12568682" cy="1083818"/>
            </a:xfrm>
            <a:custGeom>
              <a:avLst/>
              <a:gdLst/>
              <a:ahLst/>
              <a:cxnLst/>
              <a:rect l="l" t="t" r="r" b="b"/>
              <a:pathLst>
                <a:path w="12568682" h="1083818">
                  <a:moveTo>
                    <a:pt x="0" y="0"/>
                  </a:moveTo>
                  <a:lnTo>
                    <a:pt x="12568682" y="0"/>
                  </a:lnTo>
                  <a:lnTo>
                    <a:pt x="12568682" y="1083818"/>
                  </a:lnTo>
                  <a:lnTo>
                    <a:pt x="0" y="1083818"/>
                  </a:lnTo>
                  <a:close/>
                </a:path>
              </a:pathLst>
            </a:custGeom>
            <a:solidFill>
              <a:srgbClr val="FFFFFF">
                <a:alpha val="3922"/>
              </a:srgbClr>
            </a:solidFill>
          </p:spPr>
          <p:txBody>
            <a:bodyPr/>
            <a:lstStyle/>
            <a:p>
              <a:endParaRPr lang="en-IN" sz="1200"/>
            </a:p>
          </p:txBody>
        </p:sp>
      </p:grpSp>
      <p:grpSp>
        <p:nvGrpSpPr>
          <p:cNvPr id="13" name="Group 13"/>
          <p:cNvGrpSpPr/>
          <p:nvPr/>
        </p:nvGrpSpPr>
        <p:grpSpPr>
          <a:xfrm>
            <a:off x="5428853" y="2655293"/>
            <a:ext cx="2760960" cy="302419"/>
            <a:chOff x="0" y="0"/>
            <a:chExt cx="5521920" cy="604838"/>
          </a:xfrm>
        </p:grpSpPr>
        <p:sp>
          <p:nvSpPr>
            <p:cNvPr id="14" name="Freeform 14"/>
            <p:cNvSpPr/>
            <p:nvPr/>
          </p:nvSpPr>
          <p:spPr>
            <a:xfrm>
              <a:off x="0" y="0"/>
              <a:ext cx="5521920" cy="604838"/>
            </a:xfrm>
            <a:custGeom>
              <a:avLst/>
              <a:gdLst/>
              <a:ahLst/>
              <a:cxnLst/>
              <a:rect l="l" t="t" r="r" b="b"/>
              <a:pathLst>
                <a:path w="5521920" h="604838">
                  <a:moveTo>
                    <a:pt x="0" y="0"/>
                  </a:moveTo>
                  <a:lnTo>
                    <a:pt x="5521920" y="0"/>
                  </a:lnTo>
                  <a:lnTo>
                    <a:pt x="5521920" y="604838"/>
                  </a:lnTo>
                  <a:lnTo>
                    <a:pt x="0" y="604838"/>
                  </a:lnTo>
                  <a:close/>
                </a:path>
              </a:pathLst>
            </a:custGeom>
            <a:solidFill>
              <a:srgbClr val="000000">
                <a:alpha val="0"/>
              </a:srgbClr>
            </a:solidFill>
          </p:spPr>
          <p:txBody>
            <a:bodyPr/>
            <a:lstStyle/>
            <a:p>
              <a:endParaRPr lang="en-IN" sz="1200"/>
            </a:p>
          </p:txBody>
        </p:sp>
        <p:sp>
          <p:nvSpPr>
            <p:cNvPr id="15" name="TextBox 15"/>
            <p:cNvSpPr txBox="1"/>
            <p:nvPr/>
          </p:nvSpPr>
          <p:spPr>
            <a:xfrm>
              <a:off x="0" y="-104775"/>
              <a:ext cx="5521920" cy="709613"/>
            </a:xfrm>
            <a:prstGeom prst="rect">
              <a:avLst/>
            </a:prstGeom>
          </p:spPr>
          <p:txBody>
            <a:bodyPr lIns="0" tIns="0" rIns="0" bIns="0" rtlCol="0" anchor="t"/>
            <a:lstStyle/>
            <a:p>
              <a:pPr>
                <a:lnSpc>
                  <a:spcPts val="2375"/>
                </a:lnSpc>
              </a:pPr>
              <a:r>
                <a:rPr lang="en-US" sz="1458" dirty="0">
                  <a:solidFill>
                    <a:srgbClr val="E0D6DE"/>
                  </a:solidFill>
                  <a:latin typeface="Arimo"/>
                  <a:ea typeface="Arimo"/>
                  <a:cs typeface="Arimo"/>
                  <a:sym typeface="Arimo"/>
                </a:rPr>
                <a:t>Fuel</a:t>
              </a:r>
            </a:p>
          </p:txBody>
        </p:sp>
      </p:grpSp>
      <p:grpSp>
        <p:nvGrpSpPr>
          <p:cNvPr id="16" name="Group 16"/>
          <p:cNvGrpSpPr/>
          <p:nvPr/>
        </p:nvGrpSpPr>
        <p:grpSpPr>
          <a:xfrm>
            <a:off x="8574187" y="2655293"/>
            <a:ext cx="2760960" cy="302419"/>
            <a:chOff x="0" y="0"/>
            <a:chExt cx="5521920" cy="604838"/>
          </a:xfrm>
        </p:grpSpPr>
        <p:sp>
          <p:nvSpPr>
            <p:cNvPr id="17" name="Freeform 17"/>
            <p:cNvSpPr/>
            <p:nvPr/>
          </p:nvSpPr>
          <p:spPr>
            <a:xfrm>
              <a:off x="0" y="0"/>
              <a:ext cx="5521920" cy="604838"/>
            </a:xfrm>
            <a:custGeom>
              <a:avLst/>
              <a:gdLst/>
              <a:ahLst/>
              <a:cxnLst/>
              <a:rect l="l" t="t" r="r" b="b"/>
              <a:pathLst>
                <a:path w="5521920" h="604838">
                  <a:moveTo>
                    <a:pt x="0" y="0"/>
                  </a:moveTo>
                  <a:lnTo>
                    <a:pt x="5521920" y="0"/>
                  </a:lnTo>
                  <a:lnTo>
                    <a:pt x="5521920" y="604838"/>
                  </a:lnTo>
                  <a:lnTo>
                    <a:pt x="0" y="604838"/>
                  </a:lnTo>
                  <a:close/>
                </a:path>
              </a:pathLst>
            </a:custGeom>
            <a:solidFill>
              <a:srgbClr val="000000">
                <a:alpha val="0"/>
              </a:srgbClr>
            </a:solidFill>
          </p:spPr>
          <p:txBody>
            <a:bodyPr/>
            <a:lstStyle/>
            <a:p>
              <a:endParaRPr lang="en-IN" sz="1200"/>
            </a:p>
          </p:txBody>
        </p:sp>
        <p:sp>
          <p:nvSpPr>
            <p:cNvPr id="18" name="TextBox 18"/>
            <p:cNvSpPr txBox="1"/>
            <p:nvPr/>
          </p:nvSpPr>
          <p:spPr>
            <a:xfrm>
              <a:off x="0" y="-104775"/>
              <a:ext cx="5521920"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Calorific Value (kJ/g)</a:t>
              </a:r>
            </a:p>
          </p:txBody>
        </p:sp>
      </p:grpSp>
      <p:grpSp>
        <p:nvGrpSpPr>
          <p:cNvPr id="19" name="Group 19"/>
          <p:cNvGrpSpPr/>
          <p:nvPr/>
        </p:nvGrpSpPr>
        <p:grpSpPr>
          <a:xfrm>
            <a:off x="5239842" y="3077468"/>
            <a:ext cx="6284317" cy="541933"/>
            <a:chOff x="0" y="0"/>
            <a:chExt cx="12568635" cy="1083865"/>
          </a:xfrm>
        </p:grpSpPr>
        <p:sp>
          <p:nvSpPr>
            <p:cNvPr id="20" name="Freeform 20"/>
            <p:cNvSpPr/>
            <p:nvPr/>
          </p:nvSpPr>
          <p:spPr>
            <a:xfrm>
              <a:off x="0" y="0"/>
              <a:ext cx="12568682" cy="1083818"/>
            </a:xfrm>
            <a:custGeom>
              <a:avLst/>
              <a:gdLst/>
              <a:ahLst/>
              <a:cxnLst/>
              <a:rect l="l" t="t" r="r" b="b"/>
              <a:pathLst>
                <a:path w="12568682" h="1083818">
                  <a:moveTo>
                    <a:pt x="0" y="0"/>
                  </a:moveTo>
                  <a:lnTo>
                    <a:pt x="12568682" y="0"/>
                  </a:lnTo>
                  <a:lnTo>
                    <a:pt x="12568682" y="1083818"/>
                  </a:lnTo>
                  <a:lnTo>
                    <a:pt x="0" y="1083818"/>
                  </a:lnTo>
                  <a:close/>
                </a:path>
              </a:pathLst>
            </a:custGeom>
            <a:solidFill>
              <a:srgbClr val="000000">
                <a:alpha val="3922"/>
              </a:srgbClr>
            </a:solidFill>
          </p:spPr>
          <p:txBody>
            <a:bodyPr/>
            <a:lstStyle/>
            <a:p>
              <a:endParaRPr lang="en-IN" sz="1200"/>
            </a:p>
          </p:txBody>
        </p:sp>
      </p:grpSp>
      <p:grpSp>
        <p:nvGrpSpPr>
          <p:cNvPr id="21" name="Group 21"/>
          <p:cNvGrpSpPr/>
          <p:nvPr/>
        </p:nvGrpSpPr>
        <p:grpSpPr>
          <a:xfrm>
            <a:off x="5428853" y="3197226"/>
            <a:ext cx="2760960" cy="302419"/>
            <a:chOff x="0" y="0"/>
            <a:chExt cx="5521920" cy="604838"/>
          </a:xfrm>
        </p:grpSpPr>
        <p:sp>
          <p:nvSpPr>
            <p:cNvPr id="22" name="Freeform 22"/>
            <p:cNvSpPr/>
            <p:nvPr/>
          </p:nvSpPr>
          <p:spPr>
            <a:xfrm>
              <a:off x="0" y="0"/>
              <a:ext cx="5521920" cy="604838"/>
            </a:xfrm>
            <a:custGeom>
              <a:avLst/>
              <a:gdLst/>
              <a:ahLst/>
              <a:cxnLst/>
              <a:rect l="l" t="t" r="r" b="b"/>
              <a:pathLst>
                <a:path w="5521920" h="604838">
                  <a:moveTo>
                    <a:pt x="0" y="0"/>
                  </a:moveTo>
                  <a:lnTo>
                    <a:pt x="5521920" y="0"/>
                  </a:lnTo>
                  <a:lnTo>
                    <a:pt x="5521920" y="604838"/>
                  </a:lnTo>
                  <a:lnTo>
                    <a:pt x="0" y="604838"/>
                  </a:lnTo>
                  <a:close/>
                </a:path>
              </a:pathLst>
            </a:custGeom>
            <a:solidFill>
              <a:srgbClr val="000000">
                <a:alpha val="0"/>
              </a:srgbClr>
            </a:solidFill>
          </p:spPr>
          <p:txBody>
            <a:bodyPr/>
            <a:lstStyle/>
            <a:p>
              <a:endParaRPr lang="en-IN" sz="1200"/>
            </a:p>
          </p:txBody>
        </p:sp>
        <p:sp>
          <p:nvSpPr>
            <p:cNvPr id="23" name="TextBox 23"/>
            <p:cNvSpPr txBox="1"/>
            <p:nvPr/>
          </p:nvSpPr>
          <p:spPr>
            <a:xfrm>
              <a:off x="0" y="-104775"/>
              <a:ext cx="5521920"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Wood</a:t>
              </a:r>
            </a:p>
          </p:txBody>
        </p:sp>
      </p:grpSp>
      <p:grpSp>
        <p:nvGrpSpPr>
          <p:cNvPr id="24" name="Group 24"/>
          <p:cNvGrpSpPr/>
          <p:nvPr/>
        </p:nvGrpSpPr>
        <p:grpSpPr>
          <a:xfrm>
            <a:off x="8574187" y="3197226"/>
            <a:ext cx="2760960" cy="302419"/>
            <a:chOff x="0" y="0"/>
            <a:chExt cx="5521920" cy="604838"/>
          </a:xfrm>
        </p:grpSpPr>
        <p:sp>
          <p:nvSpPr>
            <p:cNvPr id="25" name="Freeform 25"/>
            <p:cNvSpPr/>
            <p:nvPr/>
          </p:nvSpPr>
          <p:spPr>
            <a:xfrm>
              <a:off x="0" y="0"/>
              <a:ext cx="5521920" cy="604838"/>
            </a:xfrm>
            <a:custGeom>
              <a:avLst/>
              <a:gdLst/>
              <a:ahLst/>
              <a:cxnLst/>
              <a:rect l="l" t="t" r="r" b="b"/>
              <a:pathLst>
                <a:path w="5521920" h="604838">
                  <a:moveTo>
                    <a:pt x="0" y="0"/>
                  </a:moveTo>
                  <a:lnTo>
                    <a:pt x="5521920" y="0"/>
                  </a:lnTo>
                  <a:lnTo>
                    <a:pt x="5521920" y="604838"/>
                  </a:lnTo>
                  <a:lnTo>
                    <a:pt x="0" y="604838"/>
                  </a:lnTo>
                  <a:close/>
                </a:path>
              </a:pathLst>
            </a:custGeom>
            <a:solidFill>
              <a:srgbClr val="000000">
                <a:alpha val="0"/>
              </a:srgbClr>
            </a:solidFill>
          </p:spPr>
          <p:txBody>
            <a:bodyPr/>
            <a:lstStyle/>
            <a:p>
              <a:endParaRPr lang="en-IN" sz="1200"/>
            </a:p>
          </p:txBody>
        </p:sp>
        <p:sp>
          <p:nvSpPr>
            <p:cNvPr id="26" name="TextBox 26"/>
            <p:cNvSpPr txBox="1"/>
            <p:nvPr/>
          </p:nvSpPr>
          <p:spPr>
            <a:xfrm>
              <a:off x="0" y="-104775"/>
              <a:ext cx="5521920"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15-20</a:t>
              </a:r>
            </a:p>
          </p:txBody>
        </p:sp>
      </p:grpSp>
      <p:grpSp>
        <p:nvGrpSpPr>
          <p:cNvPr id="27" name="Group 27"/>
          <p:cNvGrpSpPr/>
          <p:nvPr/>
        </p:nvGrpSpPr>
        <p:grpSpPr>
          <a:xfrm>
            <a:off x="5239842" y="3619401"/>
            <a:ext cx="6284317" cy="541933"/>
            <a:chOff x="0" y="0"/>
            <a:chExt cx="12568635" cy="1083865"/>
          </a:xfrm>
        </p:grpSpPr>
        <p:sp>
          <p:nvSpPr>
            <p:cNvPr id="28" name="Freeform 28"/>
            <p:cNvSpPr/>
            <p:nvPr/>
          </p:nvSpPr>
          <p:spPr>
            <a:xfrm>
              <a:off x="0" y="0"/>
              <a:ext cx="12568682" cy="1083818"/>
            </a:xfrm>
            <a:custGeom>
              <a:avLst/>
              <a:gdLst/>
              <a:ahLst/>
              <a:cxnLst/>
              <a:rect l="l" t="t" r="r" b="b"/>
              <a:pathLst>
                <a:path w="12568682" h="1083818">
                  <a:moveTo>
                    <a:pt x="0" y="0"/>
                  </a:moveTo>
                  <a:lnTo>
                    <a:pt x="12568682" y="0"/>
                  </a:lnTo>
                  <a:lnTo>
                    <a:pt x="12568682" y="1083818"/>
                  </a:lnTo>
                  <a:lnTo>
                    <a:pt x="0" y="1083818"/>
                  </a:lnTo>
                  <a:close/>
                </a:path>
              </a:pathLst>
            </a:custGeom>
            <a:solidFill>
              <a:srgbClr val="FFFFFF">
                <a:alpha val="3922"/>
              </a:srgbClr>
            </a:solidFill>
          </p:spPr>
          <p:txBody>
            <a:bodyPr/>
            <a:lstStyle/>
            <a:p>
              <a:endParaRPr lang="en-IN" sz="1200"/>
            </a:p>
          </p:txBody>
        </p:sp>
      </p:grpSp>
      <p:grpSp>
        <p:nvGrpSpPr>
          <p:cNvPr id="29" name="Group 29"/>
          <p:cNvGrpSpPr/>
          <p:nvPr/>
        </p:nvGrpSpPr>
        <p:grpSpPr>
          <a:xfrm>
            <a:off x="5428853" y="3739158"/>
            <a:ext cx="2760960" cy="302419"/>
            <a:chOff x="0" y="0"/>
            <a:chExt cx="5521920" cy="604838"/>
          </a:xfrm>
        </p:grpSpPr>
        <p:sp>
          <p:nvSpPr>
            <p:cNvPr id="30" name="Freeform 30"/>
            <p:cNvSpPr/>
            <p:nvPr/>
          </p:nvSpPr>
          <p:spPr>
            <a:xfrm>
              <a:off x="0" y="0"/>
              <a:ext cx="5521920" cy="604838"/>
            </a:xfrm>
            <a:custGeom>
              <a:avLst/>
              <a:gdLst/>
              <a:ahLst/>
              <a:cxnLst/>
              <a:rect l="l" t="t" r="r" b="b"/>
              <a:pathLst>
                <a:path w="5521920" h="604838">
                  <a:moveTo>
                    <a:pt x="0" y="0"/>
                  </a:moveTo>
                  <a:lnTo>
                    <a:pt x="5521920" y="0"/>
                  </a:lnTo>
                  <a:lnTo>
                    <a:pt x="5521920" y="604838"/>
                  </a:lnTo>
                  <a:lnTo>
                    <a:pt x="0" y="604838"/>
                  </a:lnTo>
                  <a:close/>
                </a:path>
              </a:pathLst>
            </a:custGeom>
            <a:solidFill>
              <a:srgbClr val="000000">
                <a:alpha val="0"/>
              </a:srgbClr>
            </a:solidFill>
          </p:spPr>
          <p:txBody>
            <a:bodyPr/>
            <a:lstStyle/>
            <a:p>
              <a:endParaRPr lang="en-IN" sz="1200"/>
            </a:p>
          </p:txBody>
        </p:sp>
        <p:sp>
          <p:nvSpPr>
            <p:cNvPr id="31" name="TextBox 31"/>
            <p:cNvSpPr txBox="1"/>
            <p:nvPr/>
          </p:nvSpPr>
          <p:spPr>
            <a:xfrm>
              <a:off x="0" y="-104775"/>
              <a:ext cx="5521920"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Coal</a:t>
              </a:r>
            </a:p>
          </p:txBody>
        </p:sp>
      </p:grpSp>
      <p:grpSp>
        <p:nvGrpSpPr>
          <p:cNvPr id="32" name="Group 32"/>
          <p:cNvGrpSpPr/>
          <p:nvPr/>
        </p:nvGrpSpPr>
        <p:grpSpPr>
          <a:xfrm>
            <a:off x="8574187" y="3760991"/>
            <a:ext cx="2760960" cy="302419"/>
            <a:chOff x="0" y="0"/>
            <a:chExt cx="5521920" cy="604838"/>
          </a:xfrm>
        </p:grpSpPr>
        <p:sp>
          <p:nvSpPr>
            <p:cNvPr id="33" name="Freeform 33"/>
            <p:cNvSpPr/>
            <p:nvPr/>
          </p:nvSpPr>
          <p:spPr>
            <a:xfrm>
              <a:off x="0" y="0"/>
              <a:ext cx="5521920" cy="604838"/>
            </a:xfrm>
            <a:custGeom>
              <a:avLst/>
              <a:gdLst/>
              <a:ahLst/>
              <a:cxnLst/>
              <a:rect l="l" t="t" r="r" b="b"/>
              <a:pathLst>
                <a:path w="5521920" h="604838">
                  <a:moveTo>
                    <a:pt x="0" y="0"/>
                  </a:moveTo>
                  <a:lnTo>
                    <a:pt x="5521920" y="0"/>
                  </a:lnTo>
                  <a:lnTo>
                    <a:pt x="5521920" y="604838"/>
                  </a:lnTo>
                  <a:lnTo>
                    <a:pt x="0" y="604838"/>
                  </a:lnTo>
                  <a:close/>
                </a:path>
              </a:pathLst>
            </a:custGeom>
            <a:solidFill>
              <a:srgbClr val="000000">
                <a:alpha val="0"/>
              </a:srgbClr>
            </a:solidFill>
          </p:spPr>
          <p:txBody>
            <a:bodyPr/>
            <a:lstStyle/>
            <a:p>
              <a:endParaRPr lang="en-IN" sz="1200"/>
            </a:p>
          </p:txBody>
        </p:sp>
        <p:sp>
          <p:nvSpPr>
            <p:cNvPr id="34" name="TextBox 34"/>
            <p:cNvSpPr txBox="1"/>
            <p:nvPr/>
          </p:nvSpPr>
          <p:spPr>
            <a:xfrm>
              <a:off x="0" y="-104775"/>
              <a:ext cx="5521920"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25-35</a:t>
              </a:r>
            </a:p>
          </p:txBody>
        </p:sp>
      </p:grpSp>
      <p:grpSp>
        <p:nvGrpSpPr>
          <p:cNvPr id="35" name="Group 35"/>
          <p:cNvGrpSpPr/>
          <p:nvPr/>
        </p:nvGrpSpPr>
        <p:grpSpPr>
          <a:xfrm>
            <a:off x="5239842" y="4161334"/>
            <a:ext cx="6284317" cy="541933"/>
            <a:chOff x="0" y="0"/>
            <a:chExt cx="12568635" cy="1083865"/>
          </a:xfrm>
        </p:grpSpPr>
        <p:sp>
          <p:nvSpPr>
            <p:cNvPr id="36" name="Freeform 36"/>
            <p:cNvSpPr/>
            <p:nvPr/>
          </p:nvSpPr>
          <p:spPr>
            <a:xfrm>
              <a:off x="0" y="0"/>
              <a:ext cx="12568682" cy="1083818"/>
            </a:xfrm>
            <a:custGeom>
              <a:avLst/>
              <a:gdLst/>
              <a:ahLst/>
              <a:cxnLst/>
              <a:rect l="l" t="t" r="r" b="b"/>
              <a:pathLst>
                <a:path w="12568682" h="1083818">
                  <a:moveTo>
                    <a:pt x="0" y="0"/>
                  </a:moveTo>
                  <a:lnTo>
                    <a:pt x="12568682" y="0"/>
                  </a:lnTo>
                  <a:lnTo>
                    <a:pt x="12568682" y="1083818"/>
                  </a:lnTo>
                  <a:lnTo>
                    <a:pt x="0" y="1083818"/>
                  </a:lnTo>
                  <a:close/>
                </a:path>
              </a:pathLst>
            </a:custGeom>
            <a:solidFill>
              <a:srgbClr val="000000">
                <a:alpha val="3922"/>
              </a:srgbClr>
            </a:solidFill>
          </p:spPr>
          <p:txBody>
            <a:bodyPr/>
            <a:lstStyle/>
            <a:p>
              <a:endParaRPr lang="en-IN" sz="1200"/>
            </a:p>
          </p:txBody>
        </p:sp>
      </p:grpSp>
      <p:grpSp>
        <p:nvGrpSpPr>
          <p:cNvPr id="37" name="Group 37"/>
          <p:cNvGrpSpPr/>
          <p:nvPr/>
        </p:nvGrpSpPr>
        <p:grpSpPr>
          <a:xfrm>
            <a:off x="5428853" y="4281091"/>
            <a:ext cx="2760960" cy="302419"/>
            <a:chOff x="0" y="0"/>
            <a:chExt cx="5521920" cy="604838"/>
          </a:xfrm>
        </p:grpSpPr>
        <p:sp>
          <p:nvSpPr>
            <p:cNvPr id="38" name="Freeform 38"/>
            <p:cNvSpPr/>
            <p:nvPr/>
          </p:nvSpPr>
          <p:spPr>
            <a:xfrm>
              <a:off x="0" y="0"/>
              <a:ext cx="5521920" cy="604838"/>
            </a:xfrm>
            <a:custGeom>
              <a:avLst/>
              <a:gdLst/>
              <a:ahLst/>
              <a:cxnLst/>
              <a:rect l="l" t="t" r="r" b="b"/>
              <a:pathLst>
                <a:path w="5521920" h="604838">
                  <a:moveTo>
                    <a:pt x="0" y="0"/>
                  </a:moveTo>
                  <a:lnTo>
                    <a:pt x="5521920" y="0"/>
                  </a:lnTo>
                  <a:lnTo>
                    <a:pt x="5521920" y="604838"/>
                  </a:lnTo>
                  <a:lnTo>
                    <a:pt x="0" y="604838"/>
                  </a:lnTo>
                  <a:close/>
                </a:path>
              </a:pathLst>
            </a:custGeom>
            <a:solidFill>
              <a:srgbClr val="000000">
                <a:alpha val="0"/>
              </a:srgbClr>
            </a:solidFill>
          </p:spPr>
          <p:txBody>
            <a:bodyPr/>
            <a:lstStyle/>
            <a:p>
              <a:endParaRPr lang="en-IN" sz="1200"/>
            </a:p>
          </p:txBody>
        </p:sp>
        <p:sp>
          <p:nvSpPr>
            <p:cNvPr id="39" name="TextBox 39"/>
            <p:cNvSpPr txBox="1"/>
            <p:nvPr/>
          </p:nvSpPr>
          <p:spPr>
            <a:xfrm>
              <a:off x="0" y="-104775"/>
              <a:ext cx="5521920"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Natural Gas</a:t>
              </a:r>
            </a:p>
          </p:txBody>
        </p:sp>
      </p:grpSp>
      <p:grpSp>
        <p:nvGrpSpPr>
          <p:cNvPr id="40" name="Group 40"/>
          <p:cNvGrpSpPr/>
          <p:nvPr/>
        </p:nvGrpSpPr>
        <p:grpSpPr>
          <a:xfrm>
            <a:off x="8574187" y="4281091"/>
            <a:ext cx="2760960" cy="302419"/>
            <a:chOff x="0" y="0"/>
            <a:chExt cx="5521920" cy="604838"/>
          </a:xfrm>
        </p:grpSpPr>
        <p:sp>
          <p:nvSpPr>
            <p:cNvPr id="41" name="Freeform 41"/>
            <p:cNvSpPr/>
            <p:nvPr/>
          </p:nvSpPr>
          <p:spPr>
            <a:xfrm>
              <a:off x="0" y="0"/>
              <a:ext cx="5521920" cy="604838"/>
            </a:xfrm>
            <a:custGeom>
              <a:avLst/>
              <a:gdLst/>
              <a:ahLst/>
              <a:cxnLst/>
              <a:rect l="l" t="t" r="r" b="b"/>
              <a:pathLst>
                <a:path w="5521920" h="604838">
                  <a:moveTo>
                    <a:pt x="0" y="0"/>
                  </a:moveTo>
                  <a:lnTo>
                    <a:pt x="5521920" y="0"/>
                  </a:lnTo>
                  <a:lnTo>
                    <a:pt x="5521920" y="604838"/>
                  </a:lnTo>
                  <a:lnTo>
                    <a:pt x="0" y="604838"/>
                  </a:lnTo>
                  <a:close/>
                </a:path>
              </a:pathLst>
            </a:custGeom>
            <a:solidFill>
              <a:srgbClr val="000000">
                <a:alpha val="0"/>
              </a:srgbClr>
            </a:solidFill>
          </p:spPr>
          <p:txBody>
            <a:bodyPr/>
            <a:lstStyle/>
            <a:p>
              <a:endParaRPr lang="en-IN" sz="1200"/>
            </a:p>
          </p:txBody>
        </p:sp>
        <p:sp>
          <p:nvSpPr>
            <p:cNvPr id="42" name="TextBox 42"/>
            <p:cNvSpPr txBox="1"/>
            <p:nvPr/>
          </p:nvSpPr>
          <p:spPr>
            <a:xfrm>
              <a:off x="0" y="-104775"/>
              <a:ext cx="5521920"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48-55</a:t>
              </a:r>
            </a:p>
          </p:txBody>
        </p:sp>
      </p:grpSp>
      <p:grpSp>
        <p:nvGrpSpPr>
          <p:cNvPr id="43" name="Group 43"/>
          <p:cNvGrpSpPr/>
          <p:nvPr/>
        </p:nvGrpSpPr>
        <p:grpSpPr>
          <a:xfrm>
            <a:off x="5239842" y="4703267"/>
            <a:ext cx="6284317" cy="541933"/>
            <a:chOff x="0" y="0"/>
            <a:chExt cx="12568635" cy="1083865"/>
          </a:xfrm>
        </p:grpSpPr>
        <p:sp>
          <p:nvSpPr>
            <p:cNvPr id="44" name="Freeform 44"/>
            <p:cNvSpPr/>
            <p:nvPr/>
          </p:nvSpPr>
          <p:spPr>
            <a:xfrm>
              <a:off x="0" y="0"/>
              <a:ext cx="12568682" cy="1083818"/>
            </a:xfrm>
            <a:custGeom>
              <a:avLst/>
              <a:gdLst/>
              <a:ahLst/>
              <a:cxnLst/>
              <a:rect l="l" t="t" r="r" b="b"/>
              <a:pathLst>
                <a:path w="12568682" h="1083818">
                  <a:moveTo>
                    <a:pt x="0" y="0"/>
                  </a:moveTo>
                  <a:lnTo>
                    <a:pt x="12568682" y="0"/>
                  </a:lnTo>
                  <a:lnTo>
                    <a:pt x="12568682" y="1083818"/>
                  </a:lnTo>
                  <a:lnTo>
                    <a:pt x="0" y="1083818"/>
                  </a:lnTo>
                  <a:close/>
                </a:path>
              </a:pathLst>
            </a:custGeom>
            <a:solidFill>
              <a:srgbClr val="FFFFFF">
                <a:alpha val="3922"/>
              </a:srgbClr>
            </a:solidFill>
          </p:spPr>
          <p:txBody>
            <a:bodyPr/>
            <a:lstStyle/>
            <a:p>
              <a:endParaRPr lang="en-IN" sz="1200"/>
            </a:p>
          </p:txBody>
        </p:sp>
      </p:grpSp>
      <p:grpSp>
        <p:nvGrpSpPr>
          <p:cNvPr id="45" name="Group 45"/>
          <p:cNvGrpSpPr/>
          <p:nvPr/>
        </p:nvGrpSpPr>
        <p:grpSpPr>
          <a:xfrm>
            <a:off x="5428853" y="4823024"/>
            <a:ext cx="2760960" cy="302419"/>
            <a:chOff x="0" y="0"/>
            <a:chExt cx="5521920" cy="604838"/>
          </a:xfrm>
        </p:grpSpPr>
        <p:sp>
          <p:nvSpPr>
            <p:cNvPr id="46" name="Freeform 46"/>
            <p:cNvSpPr/>
            <p:nvPr/>
          </p:nvSpPr>
          <p:spPr>
            <a:xfrm>
              <a:off x="0" y="0"/>
              <a:ext cx="5521920" cy="604838"/>
            </a:xfrm>
            <a:custGeom>
              <a:avLst/>
              <a:gdLst/>
              <a:ahLst/>
              <a:cxnLst/>
              <a:rect l="l" t="t" r="r" b="b"/>
              <a:pathLst>
                <a:path w="5521920" h="604838">
                  <a:moveTo>
                    <a:pt x="0" y="0"/>
                  </a:moveTo>
                  <a:lnTo>
                    <a:pt x="5521920" y="0"/>
                  </a:lnTo>
                  <a:lnTo>
                    <a:pt x="5521920" y="604838"/>
                  </a:lnTo>
                  <a:lnTo>
                    <a:pt x="0" y="604838"/>
                  </a:lnTo>
                  <a:close/>
                </a:path>
              </a:pathLst>
            </a:custGeom>
            <a:solidFill>
              <a:srgbClr val="000000">
                <a:alpha val="0"/>
              </a:srgbClr>
            </a:solidFill>
          </p:spPr>
          <p:txBody>
            <a:bodyPr/>
            <a:lstStyle/>
            <a:p>
              <a:endParaRPr lang="en-IN" sz="1200"/>
            </a:p>
          </p:txBody>
        </p:sp>
        <p:sp>
          <p:nvSpPr>
            <p:cNvPr id="47" name="TextBox 47"/>
            <p:cNvSpPr txBox="1"/>
            <p:nvPr/>
          </p:nvSpPr>
          <p:spPr>
            <a:xfrm>
              <a:off x="0" y="-104775"/>
              <a:ext cx="5521920"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LPG</a:t>
              </a:r>
            </a:p>
          </p:txBody>
        </p:sp>
      </p:grpSp>
      <p:grpSp>
        <p:nvGrpSpPr>
          <p:cNvPr id="48" name="Group 48"/>
          <p:cNvGrpSpPr/>
          <p:nvPr/>
        </p:nvGrpSpPr>
        <p:grpSpPr>
          <a:xfrm>
            <a:off x="8574187" y="4823024"/>
            <a:ext cx="2760960" cy="302419"/>
            <a:chOff x="0" y="0"/>
            <a:chExt cx="5521920" cy="604838"/>
          </a:xfrm>
        </p:grpSpPr>
        <p:sp>
          <p:nvSpPr>
            <p:cNvPr id="49" name="Freeform 49"/>
            <p:cNvSpPr/>
            <p:nvPr/>
          </p:nvSpPr>
          <p:spPr>
            <a:xfrm>
              <a:off x="0" y="0"/>
              <a:ext cx="5521920" cy="604838"/>
            </a:xfrm>
            <a:custGeom>
              <a:avLst/>
              <a:gdLst/>
              <a:ahLst/>
              <a:cxnLst/>
              <a:rect l="l" t="t" r="r" b="b"/>
              <a:pathLst>
                <a:path w="5521920" h="604838">
                  <a:moveTo>
                    <a:pt x="0" y="0"/>
                  </a:moveTo>
                  <a:lnTo>
                    <a:pt x="5521920" y="0"/>
                  </a:lnTo>
                  <a:lnTo>
                    <a:pt x="5521920" y="604838"/>
                  </a:lnTo>
                  <a:lnTo>
                    <a:pt x="0" y="604838"/>
                  </a:lnTo>
                  <a:close/>
                </a:path>
              </a:pathLst>
            </a:custGeom>
            <a:solidFill>
              <a:srgbClr val="000000">
                <a:alpha val="0"/>
              </a:srgbClr>
            </a:solidFill>
          </p:spPr>
          <p:txBody>
            <a:bodyPr/>
            <a:lstStyle/>
            <a:p>
              <a:endParaRPr lang="en-IN" sz="1200"/>
            </a:p>
          </p:txBody>
        </p:sp>
        <p:sp>
          <p:nvSpPr>
            <p:cNvPr id="50" name="TextBox 50"/>
            <p:cNvSpPr txBox="1"/>
            <p:nvPr/>
          </p:nvSpPr>
          <p:spPr>
            <a:xfrm>
              <a:off x="0" y="-104775"/>
              <a:ext cx="5521920"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46-50</a:t>
              </a:r>
            </a:p>
          </p:txBody>
        </p:sp>
      </p:grpSp>
      <p:grpSp>
        <p:nvGrpSpPr>
          <p:cNvPr id="51" name="Group 51"/>
          <p:cNvGrpSpPr/>
          <p:nvPr/>
        </p:nvGrpSpPr>
        <p:grpSpPr>
          <a:xfrm>
            <a:off x="5239842" y="5245200"/>
            <a:ext cx="6284317" cy="541933"/>
            <a:chOff x="0" y="0"/>
            <a:chExt cx="12568635" cy="1083865"/>
          </a:xfrm>
        </p:grpSpPr>
        <p:sp>
          <p:nvSpPr>
            <p:cNvPr id="52" name="Freeform 52"/>
            <p:cNvSpPr/>
            <p:nvPr/>
          </p:nvSpPr>
          <p:spPr>
            <a:xfrm>
              <a:off x="0" y="0"/>
              <a:ext cx="12568682" cy="1083818"/>
            </a:xfrm>
            <a:custGeom>
              <a:avLst/>
              <a:gdLst/>
              <a:ahLst/>
              <a:cxnLst/>
              <a:rect l="l" t="t" r="r" b="b"/>
              <a:pathLst>
                <a:path w="12568682" h="1083818">
                  <a:moveTo>
                    <a:pt x="0" y="0"/>
                  </a:moveTo>
                  <a:lnTo>
                    <a:pt x="12568682" y="0"/>
                  </a:lnTo>
                  <a:lnTo>
                    <a:pt x="12568682" y="1083818"/>
                  </a:lnTo>
                  <a:lnTo>
                    <a:pt x="0" y="1083818"/>
                  </a:lnTo>
                  <a:close/>
                </a:path>
              </a:pathLst>
            </a:custGeom>
            <a:solidFill>
              <a:srgbClr val="000000">
                <a:alpha val="3922"/>
              </a:srgbClr>
            </a:solidFill>
          </p:spPr>
          <p:txBody>
            <a:bodyPr/>
            <a:lstStyle/>
            <a:p>
              <a:endParaRPr lang="en-IN" sz="1200"/>
            </a:p>
          </p:txBody>
        </p:sp>
      </p:grpSp>
      <p:grpSp>
        <p:nvGrpSpPr>
          <p:cNvPr id="53" name="Group 53"/>
          <p:cNvGrpSpPr/>
          <p:nvPr/>
        </p:nvGrpSpPr>
        <p:grpSpPr>
          <a:xfrm>
            <a:off x="5428853" y="5364957"/>
            <a:ext cx="2760960" cy="302419"/>
            <a:chOff x="0" y="0"/>
            <a:chExt cx="5521920" cy="604838"/>
          </a:xfrm>
        </p:grpSpPr>
        <p:sp>
          <p:nvSpPr>
            <p:cNvPr id="54" name="Freeform 54"/>
            <p:cNvSpPr/>
            <p:nvPr/>
          </p:nvSpPr>
          <p:spPr>
            <a:xfrm>
              <a:off x="0" y="0"/>
              <a:ext cx="5521920" cy="604838"/>
            </a:xfrm>
            <a:custGeom>
              <a:avLst/>
              <a:gdLst/>
              <a:ahLst/>
              <a:cxnLst/>
              <a:rect l="l" t="t" r="r" b="b"/>
              <a:pathLst>
                <a:path w="5521920" h="604838">
                  <a:moveTo>
                    <a:pt x="0" y="0"/>
                  </a:moveTo>
                  <a:lnTo>
                    <a:pt x="5521920" y="0"/>
                  </a:lnTo>
                  <a:lnTo>
                    <a:pt x="5521920" y="604838"/>
                  </a:lnTo>
                  <a:lnTo>
                    <a:pt x="0" y="604838"/>
                  </a:lnTo>
                  <a:close/>
                </a:path>
              </a:pathLst>
            </a:custGeom>
            <a:solidFill>
              <a:srgbClr val="000000">
                <a:alpha val="0"/>
              </a:srgbClr>
            </a:solidFill>
          </p:spPr>
          <p:txBody>
            <a:bodyPr/>
            <a:lstStyle/>
            <a:p>
              <a:endParaRPr lang="en-IN" sz="1200"/>
            </a:p>
          </p:txBody>
        </p:sp>
        <p:sp>
          <p:nvSpPr>
            <p:cNvPr id="55" name="TextBox 55"/>
            <p:cNvSpPr txBox="1"/>
            <p:nvPr/>
          </p:nvSpPr>
          <p:spPr>
            <a:xfrm>
              <a:off x="0" y="-104775"/>
              <a:ext cx="5521920"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Hydrogen</a:t>
              </a:r>
            </a:p>
          </p:txBody>
        </p:sp>
      </p:grpSp>
      <p:grpSp>
        <p:nvGrpSpPr>
          <p:cNvPr id="56" name="Group 56"/>
          <p:cNvGrpSpPr/>
          <p:nvPr/>
        </p:nvGrpSpPr>
        <p:grpSpPr>
          <a:xfrm>
            <a:off x="8574187" y="5364957"/>
            <a:ext cx="2760960" cy="302419"/>
            <a:chOff x="0" y="0"/>
            <a:chExt cx="5521920" cy="604838"/>
          </a:xfrm>
        </p:grpSpPr>
        <p:sp>
          <p:nvSpPr>
            <p:cNvPr id="57" name="Freeform 57"/>
            <p:cNvSpPr/>
            <p:nvPr/>
          </p:nvSpPr>
          <p:spPr>
            <a:xfrm>
              <a:off x="0" y="0"/>
              <a:ext cx="5521920" cy="604838"/>
            </a:xfrm>
            <a:custGeom>
              <a:avLst/>
              <a:gdLst/>
              <a:ahLst/>
              <a:cxnLst/>
              <a:rect l="l" t="t" r="r" b="b"/>
              <a:pathLst>
                <a:path w="5521920" h="604838">
                  <a:moveTo>
                    <a:pt x="0" y="0"/>
                  </a:moveTo>
                  <a:lnTo>
                    <a:pt x="5521920" y="0"/>
                  </a:lnTo>
                  <a:lnTo>
                    <a:pt x="5521920" y="604838"/>
                  </a:lnTo>
                  <a:lnTo>
                    <a:pt x="0" y="604838"/>
                  </a:lnTo>
                  <a:close/>
                </a:path>
              </a:pathLst>
            </a:custGeom>
            <a:solidFill>
              <a:srgbClr val="000000">
                <a:alpha val="0"/>
              </a:srgbClr>
            </a:solidFill>
          </p:spPr>
          <p:txBody>
            <a:bodyPr/>
            <a:lstStyle/>
            <a:p>
              <a:endParaRPr lang="en-IN" sz="1200"/>
            </a:p>
          </p:txBody>
        </p:sp>
        <p:sp>
          <p:nvSpPr>
            <p:cNvPr id="58" name="TextBox 58"/>
            <p:cNvSpPr txBox="1"/>
            <p:nvPr/>
          </p:nvSpPr>
          <p:spPr>
            <a:xfrm>
              <a:off x="0" y="-104775"/>
              <a:ext cx="5521920" cy="709613"/>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142</a:t>
              </a:r>
            </a:p>
          </p:txBody>
        </p:sp>
      </p:grpSp>
      <p:pic>
        <p:nvPicPr>
          <p:cNvPr id="59" name="Picture 58">
            <a:extLst>
              <a:ext uri="{FF2B5EF4-FFF2-40B4-BE49-F238E27FC236}">
                <a16:creationId xmlns:a16="http://schemas.microsoft.com/office/drawing/2014/main" id="{33C08F68-E160-1EE6-FBF8-9FC29C33D9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2273" y="5996409"/>
            <a:ext cx="4358797" cy="621128"/>
          </a:xfrm>
          <a:prstGeom prst="rect">
            <a:avLst/>
          </a:prstGeom>
        </p:spPr>
      </p:pic>
      <p:grpSp>
        <p:nvGrpSpPr>
          <p:cNvPr id="60" name="Group 59">
            <a:extLst>
              <a:ext uri="{FF2B5EF4-FFF2-40B4-BE49-F238E27FC236}">
                <a16:creationId xmlns:a16="http://schemas.microsoft.com/office/drawing/2014/main" id="{DD0EE95B-D2E2-92E8-C392-7C5F4178398B}"/>
              </a:ext>
            </a:extLst>
          </p:cNvPr>
          <p:cNvGrpSpPr/>
          <p:nvPr/>
        </p:nvGrpSpPr>
        <p:grpSpPr>
          <a:xfrm>
            <a:off x="2542846" y="7989"/>
            <a:ext cx="6869410" cy="228600"/>
            <a:chOff x="1143000" y="857250"/>
            <a:chExt cx="6858000" cy="162000"/>
          </a:xfrm>
        </p:grpSpPr>
        <p:sp>
          <p:nvSpPr>
            <p:cNvPr id="61" name="Rectangle 60">
              <a:extLst>
                <a:ext uri="{FF2B5EF4-FFF2-40B4-BE49-F238E27FC236}">
                  <a16:creationId xmlns:a16="http://schemas.microsoft.com/office/drawing/2014/main" id="{3D45E764-9CDB-EB3F-83D5-5FCE79066D9F}"/>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62" name="Rectangle 61">
              <a:extLst>
                <a:ext uri="{FF2B5EF4-FFF2-40B4-BE49-F238E27FC236}">
                  <a16:creationId xmlns:a16="http://schemas.microsoft.com/office/drawing/2014/main" id="{C854D9F9-5F14-B032-80ED-34F0B0FDB910}"/>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63" name="Group 62">
            <a:extLst>
              <a:ext uri="{FF2B5EF4-FFF2-40B4-BE49-F238E27FC236}">
                <a16:creationId xmlns:a16="http://schemas.microsoft.com/office/drawing/2014/main" id="{EC518ADD-FDD1-2F9F-0EF3-DEA9C4506AAD}"/>
              </a:ext>
            </a:extLst>
          </p:cNvPr>
          <p:cNvGrpSpPr/>
          <p:nvPr/>
        </p:nvGrpSpPr>
        <p:grpSpPr>
          <a:xfrm>
            <a:off x="2184675" y="6648660"/>
            <a:ext cx="6869410" cy="228600"/>
            <a:chOff x="1143000" y="857250"/>
            <a:chExt cx="6858000" cy="162000"/>
          </a:xfrm>
        </p:grpSpPr>
        <p:sp>
          <p:nvSpPr>
            <p:cNvPr id="64" name="Rectangle 63">
              <a:extLst>
                <a:ext uri="{FF2B5EF4-FFF2-40B4-BE49-F238E27FC236}">
                  <a16:creationId xmlns:a16="http://schemas.microsoft.com/office/drawing/2014/main" id="{0D8B8EEB-C563-41BF-8967-328BB2F4583F}"/>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65" name="Rectangle 64">
              <a:extLst>
                <a:ext uri="{FF2B5EF4-FFF2-40B4-BE49-F238E27FC236}">
                  <a16:creationId xmlns:a16="http://schemas.microsoft.com/office/drawing/2014/main" id="{6A239DCF-A423-82EF-2DF4-A147BDFA0B9A}"/>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sz="1200"/>
          </a:p>
        </p:txBody>
      </p:sp>
      <p:grpSp>
        <p:nvGrpSpPr>
          <p:cNvPr id="3" name="Group 3"/>
          <p:cNvGrpSpPr/>
          <p:nvPr/>
        </p:nvGrpSpPr>
        <p:grpSpPr>
          <a:xfrm>
            <a:off x="0" y="0"/>
            <a:ext cx="12192000" cy="6858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7070C"/>
            </a:solidFill>
          </p:spPr>
          <p:txBody>
            <a:bodyPr/>
            <a:lstStyle/>
            <a:p>
              <a:endParaRPr lang="en-IN" sz="1200"/>
            </a:p>
          </p:txBody>
        </p:sp>
      </p:grpSp>
      <p:sp>
        <p:nvSpPr>
          <p:cNvPr id="5" name="Freeform 5" descr="preencoded.png">
            <a:hlinkClick r:id="rId4" tooltip="https://gamma.app/?utm_source=made-with-gamma"/>
          </p:cNvPr>
          <p:cNvSpPr/>
          <p:nvPr/>
        </p:nvSpPr>
        <p:spPr>
          <a:xfrm>
            <a:off x="10699346" y="6457950"/>
            <a:ext cx="1435504" cy="34290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5"/>
            <a:stretch>
              <a:fillRect/>
            </a:stretch>
          </a:blipFill>
        </p:spPr>
        <p:txBody>
          <a:bodyPr/>
          <a:lstStyle/>
          <a:p>
            <a:endParaRPr lang="en-IN" sz="1200"/>
          </a:p>
        </p:txBody>
      </p:sp>
      <p:sp>
        <p:nvSpPr>
          <p:cNvPr id="6" name="Freeform 6" descr="preencoded.png"/>
          <p:cNvSpPr/>
          <p:nvPr/>
        </p:nvSpPr>
        <p:spPr>
          <a:xfrm>
            <a:off x="7620000" y="0"/>
            <a:ext cx="4572000" cy="6858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6"/>
            <a:stretch>
              <a:fillRect/>
            </a:stretch>
          </a:blipFill>
        </p:spPr>
        <p:txBody>
          <a:bodyPr/>
          <a:lstStyle/>
          <a:p>
            <a:endParaRPr lang="en-IN" sz="1200"/>
          </a:p>
        </p:txBody>
      </p:sp>
      <p:grpSp>
        <p:nvGrpSpPr>
          <p:cNvPr id="7" name="Group 7"/>
          <p:cNvGrpSpPr/>
          <p:nvPr/>
        </p:nvGrpSpPr>
        <p:grpSpPr>
          <a:xfrm>
            <a:off x="661492" y="1707853"/>
            <a:ext cx="6297017" cy="1181298"/>
            <a:chOff x="0" y="0"/>
            <a:chExt cx="12594035" cy="2362597"/>
          </a:xfrm>
        </p:grpSpPr>
        <p:sp>
          <p:nvSpPr>
            <p:cNvPr id="8" name="Freeform 8"/>
            <p:cNvSpPr/>
            <p:nvPr/>
          </p:nvSpPr>
          <p:spPr>
            <a:xfrm>
              <a:off x="0" y="0"/>
              <a:ext cx="12594035" cy="2362597"/>
            </a:xfrm>
            <a:custGeom>
              <a:avLst/>
              <a:gdLst/>
              <a:ahLst/>
              <a:cxnLst/>
              <a:rect l="l" t="t" r="r" b="b"/>
              <a:pathLst>
                <a:path w="12594035" h="2362597">
                  <a:moveTo>
                    <a:pt x="0" y="0"/>
                  </a:moveTo>
                  <a:lnTo>
                    <a:pt x="12594035" y="0"/>
                  </a:lnTo>
                  <a:lnTo>
                    <a:pt x="12594035" y="2362597"/>
                  </a:lnTo>
                  <a:lnTo>
                    <a:pt x="0" y="2362597"/>
                  </a:lnTo>
                  <a:close/>
                </a:path>
              </a:pathLst>
            </a:custGeom>
            <a:solidFill>
              <a:srgbClr val="000000">
                <a:alpha val="0"/>
              </a:srgbClr>
            </a:solidFill>
          </p:spPr>
          <p:txBody>
            <a:bodyPr/>
            <a:lstStyle/>
            <a:p>
              <a:endParaRPr lang="en-IN" sz="1200"/>
            </a:p>
          </p:txBody>
        </p:sp>
        <p:sp>
          <p:nvSpPr>
            <p:cNvPr id="9" name="TextBox 9"/>
            <p:cNvSpPr txBox="1"/>
            <p:nvPr/>
          </p:nvSpPr>
          <p:spPr>
            <a:xfrm>
              <a:off x="0" y="-57150"/>
              <a:ext cx="12594035" cy="2419747"/>
            </a:xfrm>
            <a:prstGeom prst="rect">
              <a:avLst/>
            </a:prstGeom>
          </p:spPr>
          <p:txBody>
            <a:bodyPr lIns="0" tIns="0" rIns="0" bIns="0" rtlCol="0" anchor="t"/>
            <a:lstStyle/>
            <a:p>
              <a:pPr>
                <a:lnSpc>
                  <a:spcPts val="4625"/>
                </a:lnSpc>
              </a:pPr>
              <a:r>
                <a:rPr lang="en-US" sz="3708">
                  <a:solidFill>
                    <a:srgbClr val="97B8FF"/>
                  </a:solidFill>
                  <a:latin typeface="Arimo"/>
                  <a:ea typeface="Arimo"/>
                  <a:cs typeface="Arimo"/>
                  <a:sym typeface="Arimo"/>
                </a:rPr>
                <a:t>Advantages of Hydrogen as an Ideal Fuel</a:t>
              </a:r>
            </a:p>
          </p:txBody>
        </p:sp>
      </p:grpSp>
      <p:sp>
        <p:nvSpPr>
          <p:cNvPr id="10" name="Freeform 10" descr="preencoded.png"/>
          <p:cNvSpPr/>
          <p:nvPr/>
        </p:nvSpPr>
        <p:spPr>
          <a:xfrm>
            <a:off x="661492" y="3172619"/>
            <a:ext cx="472480" cy="472480"/>
          </a:xfrm>
          <a:custGeom>
            <a:avLst/>
            <a:gdLst/>
            <a:ahLst/>
            <a:cxnLst/>
            <a:rect l="l" t="t" r="r" b="b"/>
            <a:pathLst>
              <a:path w="708720" h="708720">
                <a:moveTo>
                  <a:pt x="0" y="0"/>
                </a:moveTo>
                <a:lnTo>
                  <a:pt x="708719" y="0"/>
                </a:lnTo>
                <a:lnTo>
                  <a:pt x="708719" y="708720"/>
                </a:lnTo>
                <a:lnTo>
                  <a:pt x="0" y="708720"/>
                </a:lnTo>
                <a:lnTo>
                  <a:pt x="0" y="0"/>
                </a:lnTo>
                <a:close/>
              </a:path>
            </a:pathLst>
          </a:custGeom>
          <a:blipFill>
            <a:blip r:embed="rId7"/>
            <a:stretch>
              <a:fillRect/>
            </a:stretch>
          </a:blipFill>
        </p:spPr>
        <p:txBody>
          <a:bodyPr/>
          <a:lstStyle/>
          <a:p>
            <a:endParaRPr lang="en-IN" sz="1200"/>
          </a:p>
        </p:txBody>
      </p:sp>
      <p:grpSp>
        <p:nvGrpSpPr>
          <p:cNvPr id="11" name="Group 11"/>
          <p:cNvGrpSpPr/>
          <p:nvPr/>
        </p:nvGrpSpPr>
        <p:grpSpPr>
          <a:xfrm>
            <a:off x="661493" y="3834110"/>
            <a:ext cx="2384127" cy="295275"/>
            <a:chOff x="0" y="0"/>
            <a:chExt cx="4768255" cy="590550"/>
          </a:xfrm>
        </p:grpSpPr>
        <p:sp>
          <p:nvSpPr>
            <p:cNvPr id="12" name="Freeform 12"/>
            <p:cNvSpPr/>
            <p:nvPr/>
          </p:nvSpPr>
          <p:spPr>
            <a:xfrm>
              <a:off x="0" y="0"/>
              <a:ext cx="4768255" cy="590550"/>
            </a:xfrm>
            <a:custGeom>
              <a:avLst/>
              <a:gdLst/>
              <a:ahLst/>
              <a:cxnLst/>
              <a:rect l="l" t="t" r="r" b="b"/>
              <a:pathLst>
                <a:path w="4768255" h="590550">
                  <a:moveTo>
                    <a:pt x="0" y="0"/>
                  </a:moveTo>
                  <a:lnTo>
                    <a:pt x="4768255" y="0"/>
                  </a:lnTo>
                  <a:lnTo>
                    <a:pt x="4768255" y="590550"/>
                  </a:lnTo>
                  <a:lnTo>
                    <a:pt x="0" y="590550"/>
                  </a:lnTo>
                  <a:close/>
                </a:path>
              </a:pathLst>
            </a:custGeom>
            <a:solidFill>
              <a:srgbClr val="000000">
                <a:alpha val="0"/>
              </a:srgbClr>
            </a:solidFill>
          </p:spPr>
          <p:txBody>
            <a:bodyPr/>
            <a:lstStyle/>
            <a:p>
              <a:endParaRPr lang="en-IN" sz="1200"/>
            </a:p>
          </p:txBody>
        </p:sp>
        <p:sp>
          <p:nvSpPr>
            <p:cNvPr id="13" name="TextBox 13"/>
            <p:cNvSpPr txBox="1"/>
            <p:nvPr/>
          </p:nvSpPr>
          <p:spPr>
            <a:xfrm>
              <a:off x="0" y="-38100"/>
              <a:ext cx="4768255" cy="628650"/>
            </a:xfrm>
            <a:prstGeom prst="rect">
              <a:avLst/>
            </a:prstGeom>
          </p:spPr>
          <p:txBody>
            <a:bodyPr lIns="0" tIns="0" rIns="0" bIns="0" rtlCol="0" anchor="t"/>
            <a:lstStyle/>
            <a:p>
              <a:pPr>
                <a:lnSpc>
                  <a:spcPts val="2291"/>
                </a:lnSpc>
              </a:pPr>
              <a:r>
                <a:rPr lang="en-US" sz="1833">
                  <a:solidFill>
                    <a:srgbClr val="E0D6DE"/>
                  </a:solidFill>
                  <a:latin typeface="Arimo"/>
                  <a:ea typeface="Arimo"/>
                  <a:cs typeface="Arimo"/>
                  <a:sym typeface="Arimo"/>
                </a:rPr>
                <a:t>High Calorific Value</a:t>
              </a:r>
            </a:p>
          </p:txBody>
        </p:sp>
      </p:grpSp>
      <p:grpSp>
        <p:nvGrpSpPr>
          <p:cNvPr id="14" name="Group 14"/>
          <p:cNvGrpSpPr/>
          <p:nvPr/>
        </p:nvGrpSpPr>
        <p:grpSpPr>
          <a:xfrm>
            <a:off x="661492" y="4242793"/>
            <a:ext cx="3006725" cy="907257"/>
            <a:chOff x="0" y="0"/>
            <a:chExt cx="6013450" cy="1814513"/>
          </a:xfrm>
        </p:grpSpPr>
        <p:sp>
          <p:nvSpPr>
            <p:cNvPr id="15" name="Freeform 15"/>
            <p:cNvSpPr/>
            <p:nvPr/>
          </p:nvSpPr>
          <p:spPr>
            <a:xfrm>
              <a:off x="0" y="0"/>
              <a:ext cx="6013450" cy="1814513"/>
            </a:xfrm>
            <a:custGeom>
              <a:avLst/>
              <a:gdLst/>
              <a:ahLst/>
              <a:cxnLst/>
              <a:rect l="l" t="t" r="r" b="b"/>
              <a:pathLst>
                <a:path w="6013450" h="1814513">
                  <a:moveTo>
                    <a:pt x="0" y="0"/>
                  </a:moveTo>
                  <a:lnTo>
                    <a:pt x="6013450" y="0"/>
                  </a:lnTo>
                  <a:lnTo>
                    <a:pt x="6013450" y="1814513"/>
                  </a:lnTo>
                  <a:lnTo>
                    <a:pt x="0" y="1814513"/>
                  </a:lnTo>
                  <a:close/>
                </a:path>
              </a:pathLst>
            </a:custGeom>
            <a:solidFill>
              <a:srgbClr val="000000">
                <a:alpha val="0"/>
              </a:srgbClr>
            </a:solidFill>
          </p:spPr>
          <p:txBody>
            <a:bodyPr/>
            <a:lstStyle/>
            <a:p>
              <a:endParaRPr lang="en-IN" sz="1200"/>
            </a:p>
          </p:txBody>
        </p:sp>
        <p:sp>
          <p:nvSpPr>
            <p:cNvPr id="16" name="TextBox 16"/>
            <p:cNvSpPr txBox="1"/>
            <p:nvPr/>
          </p:nvSpPr>
          <p:spPr>
            <a:xfrm>
              <a:off x="0" y="-104775"/>
              <a:ext cx="6013450" cy="1919288"/>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Hydrogen has the highest calorific value among common fuels, making it a potent energy source.</a:t>
              </a:r>
            </a:p>
          </p:txBody>
        </p:sp>
      </p:grpSp>
      <p:sp>
        <p:nvSpPr>
          <p:cNvPr id="17" name="Freeform 17" descr="preencoded.png"/>
          <p:cNvSpPr/>
          <p:nvPr/>
        </p:nvSpPr>
        <p:spPr>
          <a:xfrm>
            <a:off x="3951684" y="3172619"/>
            <a:ext cx="472480" cy="472480"/>
          </a:xfrm>
          <a:custGeom>
            <a:avLst/>
            <a:gdLst/>
            <a:ahLst/>
            <a:cxnLst/>
            <a:rect l="l" t="t" r="r" b="b"/>
            <a:pathLst>
              <a:path w="708720" h="708720">
                <a:moveTo>
                  <a:pt x="0" y="0"/>
                </a:moveTo>
                <a:lnTo>
                  <a:pt x="708720" y="0"/>
                </a:lnTo>
                <a:lnTo>
                  <a:pt x="708720" y="708720"/>
                </a:lnTo>
                <a:lnTo>
                  <a:pt x="0" y="708720"/>
                </a:lnTo>
                <a:lnTo>
                  <a:pt x="0" y="0"/>
                </a:lnTo>
                <a:close/>
              </a:path>
            </a:pathLst>
          </a:custGeom>
          <a:blipFill>
            <a:blip r:embed="rId8"/>
            <a:stretch>
              <a:fillRect/>
            </a:stretch>
          </a:blipFill>
        </p:spPr>
        <p:txBody>
          <a:bodyPr/>
          <a:lstStyle/>
          <a:p>
            <a:endParaRPr lang="en-IN" sz="1200"/>
          </a:p>
        </p:txBody>
      </p:sp>
      <p:grpSp>
        <p:nvGrpSpPr>
          <p:cNvPr id="18" name="Group 18"/>
          <p:cNvGrpSpPr/>
          <p:nvPr/>
        </p:nvGrpSpPr>
        <p:grpSpPr>
          <a:xfrm>
            <a:off x="3951684" y="3834110"/>
            <a:ext cx="2362696" cy="295275"/>
            <a:chOff x="0" y="0"/>
            <a:chExt cx="4725392" cy="590550"/>
          </a:xfrm>
        </p:grpSpPr>
        <p:sp>
          <p:nvSpPr>
            <p:cNvPr id="19" name="Freeform 19"/>
            <p:cNvSpPr/>
            <p:nvPr/>
          </p:nvSpPr>
          <p:spPr>
            <a:xfrm>
              <a:off x="0" y="0"/>
              <a:ext cx="4725392" cy="590550"/>
            </a:xfrm>
            <a:custGeom>
              <a:avLst/>
              <a:gdLst/>
              <a:ahLst/>
              <a:cxnLst/>
              <a:rect l="l" t="t" r="r" b="b"/>
              <a:pathLst>
                <a:path w="4725392" h="590550">
                  <a:moveTo>
                    <a:pt x="0" y="0"/>
                  </a:moveTo>
                  <a:lnTo>
                    <a:pt x="4725392" y="0"/>
                  </a:lnTo>
                  <a:lnTo>
                    <a:pt x="4725392" y="590550"/>
                  </a:lnTo>
                  <a:lnTo>
                    <a:pt x="0" y="590550"/>
                  </a:lnTo>
                  <a:close/>
                </a:path>
              </a:pathLst>
            </a:custGeom>
            <a:solidFill>
              <a:srgbClr val="000000">
                <a:alpha val="0"/>
              </a:srgbClr>
            </a:solidFill>
          </p:spPr>
          <p:txBody>
            <a:bodyPr/>
            <a:lstStyle/>
            <a:p>
              <a:endParaRPr lang="en-IN" sz="1200"/>
            </a:p>
          </p:txBody>
        </p:sp>
        <p:sp>
          <p:nvSpPr>
            <p:cNvPr id="20" name="TextBox 20"/>
            <p:cNvSpPr txBox="1"/>
            <p:nvPr/>
          </p:nvSpPr>
          <p:spPr>
            <a:xfrm>
              <a:off x="0" y="-38100"/>
              <a:ext cx="4725392" cy="628650"/>
            </a:xfrm>
            <a:prstGeom prst="rect">
              <a:avLst/>
            </a:prstGeom>
          </p:spPr>
          <p:txBody>
            <a:bodyPr lIns="0" tIns="0" rIns="0" bIns="0" rtlCol="0" anchor="t"/>
            <a:lstStyle/>
            <a:p>
              <a:pPr>
                <a:lnSpc>
                  <a:spcPts val="2291"/>
                </a:lnSpc>
              </a:pPr>
              <a:r>
                <a:rPr lang="en-US" sz="1833">
                  <a:solidFill>
                    <a:srgbClr val="E0D6DE"/>
                  </a:solidFill>
                  <a:latin typeface="Arimo"/>
                  <a:ea typeface="Arimo"/>
                  <a:cs typeface="Arimo"/>
                  <a:sym typeface="Arimo"/>
                </a:rPr>
                <a:t>Clean Combustion</a:t>
              </a:r>
            </a:p>
          </p:txBody>
        </p:sp>
      </p:grpSp>
      <p:grpSp>
        <p:nvGrpSpPr>
          <p:cNvPr id="21" name="Group 21"/>
          <p:cNvGrpSpPr/>
          <p:nvPr/>
        </p:nvGrpSpPr>
        <p:grpSpPr>
          <a:xfrm>
            <a:off x="3951684" y="4242793"/>
            <a:ext cx="3006824" cy="907257"/>
            <a:chOff x="0" y="0"/>
            <a:chExt cx="6013648" cy="1814513"/>
          </a:xfrm>
        </p:grpSpPr>
        <p:sp>
          <p:nvSpPr>
            <p:cNvPr id="22" name="Freeform 22"/>
            <p:cNvSpPr/>
            <p:nvPr/>
          </p:nvSpPr>
          <p:spPr>
            <a:xfrm>
              <a:off x="0" y="0"/>
              <a:ext cx="6013648" cy="1814513"/>
            </a:xfrm>
            <a:custGeom>
              <a:avLst/>
              <a:gdLst/>
              <a:ahLst/>
              <a:cxnLst/>
              <a:rect l="l" t="t" r="r" b="b"/>
              <a:pathLst>
                <a:path w="6013648" h="1814513">
                  <a:moveTo>
                    <a:pt x="0" y="0"/>
                  </a:moveTo>
                  <a:lnTo>
                    <a:pt x="6013648" y="0"/>
                  </a:lnTo>
                  <a:lnTo>
                    <a:pt x="6013648" y="1814513"/>
                  </a:lnTo>
                  <a:lnTo>
                    <a:pt x="0" y="1814513"/>
                  </a:lnTo>
                  <a:close/>
                </a:path>
              </a:pathLst>
            </a:custGeom>
            <a:solidFill>
              <a:srgbClr val="000000">
                <a:alpha val="0"/>
              </a:srgbClr>
            </a:solidFill>
          </p:spPr>
          <p:txBody>
            <a:bodyPr/>
            <a:lstStyle/>
            <a:p>
              <a:endParaRPr lang="en-IN" sz="1200"/>
            </a:p>
          </p:txBody>
        </p:sp>
        <p:sp>
          <p:nvSpPr>
            <p:cNvPr id="23" name="TextBox 23"/>
            <p:cNvSpPr txBox="1"/>
            <p:nvPr/>
          </p:nvSpPr>
          <p:spPr>
            <a:xfrm>
              <a:off x="0" y="-104775"/>
              <a:ext cx="6013648" cy="1919288"/>
            </a:xfrm>
            <a:prstGeom prst="rect">
              <a:avLst/>
            </a:prstGeom>
          </p:spPr>
          <p:txBody>
            <a:bodyPr lIns="0" tIns="0" rIns="0" bIns="0" rtlCol="0" anchor="t"/>
            <a:lstStyle/>
            <a:p>
              <a:pPr>
                <a:lnSpc>
                  <a:spcPts val="2375"/>
                </a:lnSpc>
              </a:pPr>
              <a:r>
                <a:rPr lang="en-US" sz="1458" dirty="0">
                  <a:solidFill>
                    <a:srgbClr val="E0D6DE"/>
                  </a:solidFill>
                  <a:latin typeface="Arimo"/>
                  <a:ea typeface="Arimo"/>
                  <a:cs typeface="Arimo"/>
                  <a:sym typeface="Arimo"/>
                </a:rPr>
                <a:t>Burns cleanly, producing only water as a byproduct, reducing emissions and pollution.</a:t>
              </a:r>
            </a:p>
          </p:txBody>
        </p:sp>
      </p:grpSp>
      <p:pic>
        <p:nvPicPr>
          <p:cNvPr id="24" name="Picture 23">
            <a:extLst>
              <a:ext uri="{FF2B5EF4-FFF2-40B4-BE49-F238E27FC236}">
                <a16:creationId xmlns:a16="http://schemas.microsoft.com/office/drawing/2014/main" id="{ED5B152E-E84F-1CF8-221F-B11E8E0FA9D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92273" y="5996409"/>
            <a:ext cx="4358797" cy="621128"/>
          </a:xfrm>
          <a:prstGeom prst="rect">
            <a:avLst/>
          </a:prstGeom>
        </p:spPr>
      </p:pic>
      <p:grpSp>
        <p:nvGrpSpPr>
          <p:cNvPr id="25" name="Group 24">
            <a:extLst>
              <a:ext uri="{FF2B5EF4-FFF2-40B4-BE49-F238E27FC236}">
                <a16:creationId xmlns:a16="http://schemas.microsoft.com/office/drawing/2014/main" id="{EA2E1CA6-BD6E-B36B-E507-EC4459C4E11D}"/>
              </a:ext>
            </a:extLst>
          </p:cNvPr>
          <p:cNvGrpSpPr/>
          <p:nvPr/>
        </p:nvGrpSpPr>
        <p:grpSpPr>
          <a:xfrm>
            <a:off x="2542846" y="7989"/>
            <a:ext cx="6869410" cy="228600"/>
            <a:chOff x="1143000" y="857250"/>
            <a:chExt cx="6858000" cy="162000"/>
          </a:xfrm>
        </p:grpSpPr>
        <p:sp>
          <p:nvSpPr>
            <p:cNvPr id="26" name="Rectangle 25">
              <a:extLst>
                <a:ext uri="{FF2B5EF4-FFF2-40B4-BE49-F238E27FC236}">
                  <a16:creationId xmlns:a16="http://schemas.microsoft.com/office/drawing/2014/main" id="{5625B39D-CB41-4C31-A630-C23325DAC58C}"/>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27" name="Rectangle 26">
              <a:extLst>
                <a:ext uri="{FF2B5EF4-FFF2-40B4-BE49-F238E27FC236}">
                  <a16:creationId xmlns:a16="http://schemas.microsoft.com/office/drawing/2014/main" id="{CB158E30-3469-3746-B6BB-44CB8F919ADA}"/>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28" name="Group 27">
            <a:extLst>
              <a:ext uri="{FF2B5EF4-FFF2-40B4-BE49-F238E27FC236}">
                <a16:creationId xmlns:a16="http://schemas.microsoft.com/office/drawing/2014/main" id="{08347240-8728-77E3-3934-1834A48FF1CA}"/>
              </a:ext>
            </a:extLst>
          </p:cNvPr>
          <p:cNvGrpSpPr/>
          <p:nvPr/>
        </p:nvGrpSpPr>
        <p:grpSpPr>
          <a:xfrm>
            <a:off x="2184675" y="6648660"/>
            <a:ext cx="6869410" cy="228600"/>
            <a:chOff x="1143000" y="857250"/>
            <a:chExt cx="6858000" cy="162000"/>
          </a:xfrm>
        </p:grpSpPr>
        <p:sp>
          <p:nvSpPr>
            <p:cNvPr id="29" name="Rectangle 28">
              <a:extLst>
                <a:ext uri="{FF2B5EF4-FFF2-40B4-BE49-F238E27FC236}">
                  <a16:creationId xmlns:a16="http://schemas.microsoft.com/office/drawing/2014/main" id="{4600C030-4618-A8A3-04AC-6E87065E2A2C}"/>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30" name="Rectangle 29">
              <a:extLst>
                <a:ext uri="{FF2B5EF4-FFF2-40B4-BE49-F238E27FC236}">
                  <a16:creationId xmlns:a16="http://schemas.microsoft.com/office/drawing/2014/main" id="{95BFCDBC-1A08-1B06-25D1-5889E1BD7C42}"/>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sz="1200"/>
          </a:p>
        </p:txBody>
      </p:sp>
      <p:grpSp>
        <p:nvGrpSpPr>
          <p:cNvPr id="3" name="Group 3"/>
          <p:cNvGrpSpPr/>
          <p:nvPr/>
        </p:nvGrpSpPr>
        <p:grpSpPr>
          <a:xfrm>
            <a:off x="0" y="0"/>
            <a:ext cx="12192000" cy="6858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7070C"/>
            </a:solidFill>
          </p:spPr>
          <p:txBody>
            <a:bodyPr/>
            <a:lstStyle/>
            <a:p>
              <a:endParaRPr lang="en-IN" sz="1200"/>
            </a:p>
          </p:txBody>
        </p:sp>
      </p:grpSp>
      <p:sp>
        <p:nvSpPr>
          <p:cNvPr id="5" name="Freeform 5" descr="preencoded.png"/>
          <p:cNvSpPr/>
          <p:nvPr/>
        </p:nvSpPr>
        <p:spPr>
          <a:xfrm>
            <a:off x="-1" y="740663"/>
            <a:ext cx="11341497" cy="2190953"/>
          </a:xfrm>
          <a:custGeom>
            <a:avLst/>
            <a:gdLst/>
            <a:ahLst/>
            <a:cxnLst/>
            <a:rect l="l" t="t" r="r" b="b"/>
            <a:pathLst>
              <a:path w="18288000" h="3544044">
                <a:moveTo>
                  <a:pt x="0" y="0"/>
                </a:moveTo>
                <a:lnTo>
                  <a:pt x="18288000" y="0"/>
                </a:lnTo>
                <a:lnTo>
                  <a:pt x="18288000" y="3544044"/>
                </a:lnTo>
                <a:lnTo>
                  <a:pt x="0" y="3544044"/>
                </a:lnTo>
                <a:lnTo>
                  <a:pt x="0" y="0"/>
                </a:lnTo>
                <a:close/>
              </a:path>
            </a:pathLst>
          </a:custGeom>
          <a:blipFill>
            <a:blip r:embed="rId4"/>
            <a:stretch>
              <a:fillRect l="-10" r="-10"/>
            </a:stretch>
          </a:blipFill>
        </p:spPr>
        <p:txBody>
          <a:bodyPr/>
          <a:lstStyle/>
          <a:p>
            <a:endParaRPr lang="en-IN" sz="1200"/>
          </a:p>
        </p:txBody>
      </p:sp>
      <p:grpSp>
        <p:nvGrpSpPr>
          <p:cNvPr id="6" name="Group 6"/>
          <p:cNvGrpSpPr/>
          <p:nvPr/>
        </p:nvGrpSpPr>
        <p:grpSpPr>
          <a:xfrm>
            <a:off x="661492" y="3052267"/>
            <a:ext cx="8750764" cy="741907"/>
            <a:chOff x="0" y="0"/>
            <a:chExt cx="17501529" cy="1483814"/>
          </a:xfrm>
        </p:grpSpPr>
        <p:sp>
          <p:nvSpPr>
            <p:cNvPr id="7" name="Freeform 7"/>
            <p:cNvSpPr/>
            <p:nvPr/>
          </p:nvSpPr>
          <p:spPr>
            <a:xfrm>
              <a:off x="0" y="0"/>
              <a:ext cx="16502856" cy="1181298"/>
            </a:xfrm>
            <a:custGeom>
              <a:avLst/>
              <a:gdLst/>
              <a:ahLst/>
              <a:cxnLst/>
              <a:rect l="l" t="t" r="r" b="b"/>
              <a:pathLst>
                <a:path w="16502856" h="1181298">
                  <a:moveTo>
                    <a:pt x="0" y="0"/>
                  </a:moveTo>
                  <a:lnTo>
                    <a:pt x="16502856" y="0"/>
                  </a:lnTo>
                  <a:lnTo>
                    <a:pt x="16502856" y="1181298"/>
                  </a:lnTo>
                  <a:lnTo>
                    <a:pt x="0" y="1181298"/>
                  </a:lnTo>
                  <a:close/>
                </a:path>
              </a:pathLst>
            </a:custGeom>
            <a:solidFill>
              <a:srgbClr val="000000">
                <a:alpha val="0"/>
              </a:srgbClr>
            </a:solidFill>
          </p:spPr>
          <p:txBody>
            <a:bodyPr/>
            <a:lstStyle/>
            <a:p>
              <a:endParaRPr lang="en-IN" sz="1200"/>
            </a:p>
          </p:txBody>
        </p:sp>
        <p:sp>
          <p:nvSpPr>
            <p:cNvPr id="8" name="TextBox 8"/>
            <p:cNvSpPr txBox="1"/>
            <p:nvPr/>
          </p:nvSpPr>
          <p:spPr>
            <a:xfrm>
              <a:off x="998672" y="245366"/>
              <a:ext cx="16502857" cy="1238448"/>
            </a:xfrm>
            <a:prstGeom prst="rect">
              <a:avLst/>
            </a:prstGeom>
          </p:spPr>
          <p:txBody>
            <a:bodyPr lIns="0" tIns="0" rIns="0" bIns="0" rtlCol="0" anchor="t"/>
            <a:lstStyle/>
            <a:p>
              <a:pPr>
                <a:lnSpc>
                  <a:spcPts val="4625"/>
                </a:lnSpc>
              </a:pPr>
              <a:r>
                <a:rPr lang="en-US" sz="3708" dirty="0">
                  <a:solidFill>
                    <a:srgbClr val="97B8FF"/>
                  </a:solidFill>
                  <a:latin typeface="Arimo"/>
                  <a:ea typeface="Arimo"/>
                  <a:cs typeface="Arimo"/>
                  <a:sym typeface="Arimo"/>
                </a:rPr>
                <a:t>Advantages of LPG as an Ideal Fuel</a:t>
              </a:r>
            </a:p>
          </p:txBody>
        </p:sp>
      </p:grpSp>
      <p:sp>
        <p:nvSpPr>
          <p:cNvPr id="9" name="Freeform 9" descr="preencoded.png"/>
          <p:cNvSpPr/>
          <p:nvPr/>
        </p:nvSpPr>
        <p:spPr>
          <a:xfrm>
            <a:off x="661492" y="3926383"/>
            <a:ext cx="5434508" cy="756047"/>
          </a:xfrm>
          <a:custGeom>
            <a:avLst/>
            <a:gdLst/>
            <a:ahLst/>
            <a:cxnLst/>
            <a:rect l="l" t="t" r="r" b="b"/>
            <a:pathLst>
              <a:path w="8151762" h="1134070">
                <a:moveTo>
                  <a:pt x="0" y="0"/>
                </a:moveTo>
                <a:lnTo>
                  <a:pt x="8151762" y="0"/>
                </a:lnTo>
                <a:lnTo>
                  <a:pt x="8151762" y="1134070"/>
                </a:lnTo>
                <a:lnTo>
                  <a:pt x="0" y="1134070"/>
                </a:lnTo>
                <a:lnTo>
                  <a:pt x="0" y="0"/>
                </a:lnTo>
                <a:close/>
              </a:path>
            </a:pathLst>
          </a:custGeom>
          <a:blipFill>
            <a:blip r:embed="rId5"/>
            <a:stretch>
              <a:fillRect l="-36" r="-36"/>
            </a:stretch>
          </a:blipFill>
        </p:spPr>
        <p:txBody>
          <a:bodyPr/>
          <a:lstStyle/>
          <a:p>
            <a:endParaRPr lang="en-IN" sz="1200"/>
          </a:p>
        </p:txBody>
      </p:sp>
      <p:grpSp>
        <p:nvGrpSpPr>
          <p:cNvPr id="10" name="Group 10"/>
          <p:cNvGrpSpPr/>
          <p:nvPr/>
        </p:nvGrpSpPr>
        <p:grpSpPr>
          <a:xfrm>
            <a:off x="850504" y="4965898"/>
            <a:ext cx="2427585" cy="295275"/>
            <a:chOff x="0" y="0"/>
            <a:chExt cx="4855170" cy="590550"/>
          </a:xfrm>
        </p:grpSpPr>
        <p:sp>
          <p:nvSpPr>
            <p:cNvPr id="11" name="Freeform 11"/>
            <p:cNvSpPr/>
            <p:nvPr/>
          </p:nvSpPr>
          <p:spPr>
            <a:xfrm>
              <a:off x="0" y="0"/>
              <a:ext cx="4855170" cy="590550"/>
            </a:xfrm>
            <a:custGeom>
              <a:avLst/>
              <a:gdLst/>
              <a:ahLst/>
              <a:cxnLst/>
              <a:rect l="l" t="t" r="r" b="b"/>
              <a:pathLst>
                <a:path w="4855170" h="590550">
                  <a:moveTo>
                    <a:pt x="0" y="0"/>
                  </a:moveTo>
                  <a:lnTo>
                    <a:pt x="4855170" y="0"/>
                  </a:lnTo>
                  <a:lnTo>
                    <a:pt x="4855170" y="590550"/>
                  </a:lnTo>
                  <a:lnTo>
                    <a:pt x="0" y="590550"/>
                  </a:lnTo>
                  <a:close/>
                </a:path>
              </a:pathLst>
            </a:custGeom>
            <a:solidFill>
              <a:srgbClr val="000000">
                <a:alpha val="0"/>
              </a:srgbClr>
            </a:solidFill>
          </p:spPr>
          <p:txBody>
            <a:bodyPr/>
            <a:lstStyle/>
            <a:p>
              <a:endParaRPr lang="en-IN" sz="1200"/>
            </a:p>
          </p:txBody>
        </p:sp>
        <p:sp>
          <p:nvSpPr>
            <p:cNvPr id="12" name="TextBox 12"/>
            <p:cNvSpPr txBox="1"/>
            <p:nvPr/>
          </p:nvSpPr>
          <p:spPr>
            <a:xfrm>
              <a:off x="0" y="-38100"/>
              <a:ext cx="4855170" cy="628650"/>
            </a:xfrm>
            <a:prstGeom prst="rect">
              <a:avLst/>
            </a:prstGeom>
          </p:spPr>
          <p:txBody>
            <a:bodyPr lIns="0" tIns="0" rIns="0" bIns="0" rtlCol="0" anchor="t"/>
            <a:lstStyle/>
            <a:p>
              <a:pPr>
                <a:lnSpc>
                  <a:spcPts val="2291"/>
                </a:lnSpc>
              </a:pPr>
              <a:r>
                <a:rPr lang="en-US" sz="1833">
                  <a:solidFill>
                    <a:srgbClr val="E0D6DE"/>
                  </a:solidFill>
                  <a:latin typeface="Arimo"/>
                  <a:ea typeface="Arimo"/>
                  <a:cs typeface="Arimo"/>
                  <a:sym typeface="Arimo"/>
                </a:rPr>
                <a:t>High Energy Density</a:t>
              </a:r>
            </a:p>
          </p:txBody>
        </p:sp>
      </p:grpSp>
      <p:grpSp>
        <p:nvGrpSpPr>
          <p:cNvPr id="13" name="Group 13"/>
          <p:cNvGrpSpPr/>
          <p:nvPr/>
        </p:nvGrpSpPr>
        <p:grpSpPr>
          <a:xfrm>
            <a:off x="850504" y="5374581"/>
            <a:ext cx="5056485" cy="604837"/>
            <a:chOff x="0" y="0"/>
            <a:chExt cx="10112970" cy="1209675"/>
          </a:xfrm>
        </p:grpSpPr>
        <p:sp>
          <p:nvSpPr>
            <p:cNvPr id="14" name="Freeform 14"/>
            <p:cNvSpPr/>
            <p:nvPr/>
          </p:nvSpPr>
          <p:spPr>
            <a:xfrm>
              <a:off x="0" y="0"/>
              <a:ext cx="10112970" cy="1209675"/>
            </a:xfrm>
            <a:custGeom>
              <a:avLst/>
              <a:gdLst/>
              <a:ahLst/>
              <a:cxnLst/>
              <a:rect l="l" t="t" r="r" b="b"/>
              <a:pathLst>
                <a:path w="10112970" h="1209675">
                  <a:moveTo>
                    <a:pt x="0" y="0"/>
                  </a:moveTo>
                  <a:lnTo>
                    <a:pt x="10112970" y="0"/>
                  </a:lnTo>
                  <a:lnTo>
                    <a:pt x="10112970" y="1209675"/>
                  </a:lnTo>
                  <a:lnTo>
                    <a:pt x="0" y="1209675"/>
                  </a:lnTo>
                  <a:close/>
                </a:path>
              </a:pathLst>
            </a:custGeom>
            <a:solidFill>
              <a:srgbClr val="000000">
                <a:alpha val="0"/>
              </a:srgbClr>
            </a:solidFill>
          </p:spPr>
          <p:txBody>
            <a:bodyPr/>
            <a:lstStyle/>
            <a:p>
              <a:endParaRPr lang="en-IN" sz="1200"/>
            </a:p>
          </p:txBody>
        </p:sp>
        <p:sp>
          <p:nvSpPr>
            <p:cNvPr id="15" name="TextBox 15"/>
            <p:cNvSpPr txBox="1"/>
            <p:nvPr/>
          </p:nvSpPr>
          <p:spPr>
            <a:xfrm>
              <a:off x="0" y="-104775"/>
              <a:ext cx="10112970" cy="1314450"/>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Stores a significant amount of energy in a compact form, making it suitable for transportation and storage.</a:t>
              </a:r>
            </a:p>
          </p:txBody>
        </p:sp>
      </p:grpSp>
      <p:sp>
        <p:nvSpPr>
          <p:cNvPr id="16" name="Freeform 16" descr="preencoded.png"/>
          <p:cNvSpPr/>
          <p:nvPr/>
        </p:nvSpPr>
        <p:spPr>
          <a:xfrm>
            <a:off x="6096000" y="3926383"/>
            <a:ext cx="5434508" cy="756047"/>
          </a:xfrm>
          <a:custGeom>
            <a:avLst/>
            <a:gdLst/>
            <a:ahLst/>
            <a:cxnLst/>
            <a:rect l="l" t="t" r="r" b="b"/>
            <a:pathLst>
              <a:path w="8151762" h="1134070">
                <a:moveTo>
                  <a:pt x="0" y="0"/>
                </a:moveTo>
                <a:lnTo>
                  <a:pt x="8151762" y="0"/>
                </a:lnTo>
                <a:lnTo>
                  <a:pt x="8151762" y="1134070"/>
                </a:lnTo>
                <a:lnTo>
                  <a:pt x="0" y="1134070"/>
                </a:lnTo>
                <a:lnTo>
                  <a:pt x="0" y="0"/>
                </a:lnTo>
                <a:close/>
              </a:path>
            </a:pathLst>
          </a:custGeom>
          <a:blipFill>
            <a:blip r:embed="rId6"/>
            <a:stretch>
              <a:fillRect l="-36" r="-36"/>
            </a:stretch>
          </a:blipFill>
        </p:spPr>
        <p:txBody>
          <a:bodyPr/>
          <a:lstStyle/>
          <a:p>
            <a:endParaRPr lang="en-IN" sz="1200"/>
          </a:p>
        </p:txBody>
      </p:sp>
      <p:grpSp>
        <p:nvGrpSpPr>
          <p:cNvPr id="17" name="Group 17"/>
          <p:cNvGrpSpPr/>
          <p:nvPr/>
        </p:nvGrpSpPr>
        <p:grpSpPr>
          <a:xfrm>
            <a:off x="6285012" y="4965898"/>
            <a:ext cx="2362696" cy="295275"/>
            <a:chOff x="0" y="0"/>
            <a:chExt cx="4725392" cy="590550"/>
          </a:xfrm>
        </p:grpSpPr>
        <p:sp>
          <p:nvSpPr>
            <p:cNvPr id="18" name="Freeform 18"/>
            <p:cNvSpPr/>
            <p:nvPr/>
          </p:nvSpPr>
          <p:spPr>
            <a:xfrm>
              <a:off x="0" y="0"/>
              <a:ext cx="4725392" cy="590550"/>
            </a:xfrm>
            <a:custGeom>
              <a:avLst/>
              <a:gdLst/>
              <a:ahLst/>
              <a:cxnLst/>
              <a:rect l="l" t="t" r="r" b="b"/>
              <a:pathLst>
                <a:path w="4725392" h="590550">
                  <a:moveTo>
                    <a:pt x="0" y="0"/>
                  </a:moveTo>
                  <a:lnTo>
                    <a:pt x="4725392" y="0"/>
                  </a:lnTo>
                  <a:lnTo>
                    <a:pt x="4725392" y="590550"/>
                  </a:lnTo>
                  <a:lnTo>
                    <a:pt x="0" y="590550"/>
                  </a:lnTo>
                  <a:close/>
                </a:path>
              </a:pathLst>
            </a:custGeom>
            <a:solidFill>
              <a:srgbClr val="000000">
                <a:alpha val="0"/>
              </a:srgbClr>
            </a:solidFill>
          </p:spPr>
          <p:txBody>
            <a:bodyPr/>
            <a:lstStyle/>
            <a:p>
              <a:endParaRPr lang="en-IN" sz="1200"/>
            </a:p>
          </p:txBody>
        </p:sp>
        <p:sp>
          <p:nvSpPr>
            <p:cNvPr id="19" name="TextBox 19"/>
            <p:cNvSpPr txBox="1"/>
            <p:nvPr/>
          </p:nvSpPr>
          <p:spPr>
            <a:xfrm>
              <a:off x="0" y="-38100"/>
              <a:ext cx="4725392" cy="628650"/>
            </a:xfrm>
            <a:prstGeom prst="rect">
              <a:avLst/>
            </a:prstGeom>
          </p:spPr>
          <p:txBody>
            <a:bodyPr lIns="0" tIns="0" rIns="0" bIns="0" rtlCol="0" anchor="t"/>
            <a:lstStyle/>
            <a:p>
              <a:pPr>
                <a:lnSpc>
                  <a:spcPts val="2291"/>
                </a:lnSpc>
              </a:pPr>
              <a:r>
                <a:rPr lang="en-US" sz="1833">
                  <a:solidFill>
                    <a:srgbClr val="E0D6DE"/>
                  </a:solidFill>
                  <a:latin typeface="Arimo"/>
                  <a:ea typeface="Arimo"/>
                  <a:cs typeface="Arimo"/>
                  <a:sym typeface="Arimo"/>
                </a:rPr>
                <a:t>Versatility</a:t>
              </a:r>
            </a:p>
          </p:txBody>
        </p:sp>
      </p:grpSp>
      <p:grpSp>
        <p:nvGrpSpPr>
          <p:cNvPr id="20" name="Group 20"/>
          <p:cNvGrpSpPr/>
          <p:nvPr/>
        </p:nvGrpSpPr>
        <p:grpSpPr>
          <a:xfrm>
            <a:off x="6285012" y="5374581"/>
            <a:ext cx="5056485" cy="604837"/>
            <a:chOff x="0" y="0"/>
            <a:chExt cx="10112970" cy="1209675"/>
          </a:xfrm>
        </p:grpSpPr>
        <p:sp>
          <p:nvSpPr>
            <p:cNvPr id="21" name="Freeform 21"/>
            <p:cNvSpPr/>
            <p:nvPr/>
          </p:nvSpPr>
          <p:spPr>
            <a:xfrm>
              <a:off x="0" y="0"/>
              <a:ext cx="10112970" cy="1209675"/>
            </a:xfrm>
            <a:custGeom>
              <a:avLst/>
              <a:gdLst/>
              <a:ahLst/>
              <a:cxnLst/>
              <a:rect l="l" t="t" r="r" b="b"/>
              <a:pathLst>
                <a:path w="10112970" h="1209675">
                  <a:moveTo>
                    <a:pt x="0" y="0"/>
                  </a:moveTo>
                  <a:lnTo>
                    <a:pt x="10112970" y="0"/>
                  </a:lnTo>
                  <a:lnTo>
                    <a:pt x="10112970" y="1209675"/>
                  </a:lnTo>
                  <a:lnTo>
                    <a:pt x="0" y="1209675"/>
                  </a:lnTo>
                  <a:close/>
                </a:path>
              </a:pathLst>
            </a:custGeom>
            <a:solidFill>
              <a:srgbClr val="000000">
                <a:alpha val="0"/>
              </a:srgbClr>
            </a:solidFill>
          </p:spPr>
          <p:txBody>
            <a:bodyPr/>
            <a:lstStyle/>
            <a:p>
              <a:endParaRPr lang="en-IN" sz="1200"/>
            </a:p>
          </p:txBody>
        </p:sp>
        <p:sp>
          <p:nvSpPr>
            <p:cNvPr id="22" name="TextBox 22"/>
            <p:cNvSpPr txBox="1"/>
            <p:nvPr/>
          </p:nvSpPr>
          <p:spPr>
            <a:xfrm>
              <a:off x="0" y="-104775"/>
              <a:ext cx="10112970" cy="1314450"/>
            </a:xfrm>
            <a:prstGeom prst="rect">
              <a:avLst/>
            </a:prstGeom>
          </p:spPr>
          <p:txBody>
            <a:bodyPr lIns="0" tIns="0" rIns="0" bIns="0" rtlCol="0" anchor="t"/>
            <a:lstStyle/>
            <a:p>
              <a:pPr>
                <a:lnSpc>
                  <a:spcPts val="2375"/>
                </a:lnSpc>
              </a:pPr>
              <a:r>
                <a:rPr lang="en-US" sz="1458">
                  <a:solidFill>
                    <a:srgbClr val="E0D6DE"/>
                  </a:solidFill>
                  <a:latin typeface="Arimo"/>
                  <a:ea typeface="Arimo"/>
                  <a:cs typeface="Arimo"/>
                  <a:sym typeface="Arimo"/>
                </a:rPr>
                <a:t>LPG can be used in various applications, including cooking, heating, and powering vehicles.</a:t>
              </a:r>
            </a:p>
          </p:txBody>
        </p:sp>
      </p:grpSp>
      <p:pic>
        <p:nvPicPr>
          <p:cNvPr id="23" name="Picture 22">
            <a:extLst>
              <a:ext uri="{FF2B5EF4-FFF2-40B4-BE49-F238E27FC236}">
                <a16:creationId xmlns:a16="http://schemas.microsoft.com/office/drawing/2014/main" id="{E44E169A-6C45-04E7-7BC6-8100E0A17CF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2273" y="5996409"/>
            <a:ext cx="4358797" cy="621128"/>
          </a:xfrm>
          <a:prstGeom prst="rect">
            <a:avLst/>
          </a:prstGeom>
        </p:spPr>
      </p:pic>
      <p:grpSp>
        <p:nvGrpSpPr>
          <p:cNvPr id="24" name="Group 23">
            <a:extLst>
              <a:ext uri="{FF2B5EF4-FFF2-40B4-BE49-F238E27FC236}">
                <a16:creationId xmlns:a16="http://schemas.microsoft.com/office/drawing/2014/main" id="{12BEE48C-21D4-A1A3-CAB1-8058C33FB5DE}"/>
              </a:ext>
            </a:extLst>
          </p:cNvPr>
          <p:cNvGrpSpPr/>
          <p:nvPr/>
        </p:nvGrpSpPr>
        <p:grpSpPr>
          <a:xfrm>
            <a:off x="2542846" y="7989"/>
            <a:ext cx="6869410" cy="228600"/>
            <a:chOff x="1143000" y="857250"/>
            <a:chExt cx="6858000" cy="162000"/>
          </a:xfrm>
        </p:grpSpPr>
        <p:sp>
          <p:nvSpPr>
            <p:cNvPr id="25" name="Rectangle 24">
              <a:extLst>
                <a:ext uri="{FF2B5EF4-FFF2-40B4-BE49-F238E27FC236}">
                  <a16:creationId xmlns:a16="http://schemas.microsoft.com/office/drawing/2014/main" id="{5620AB58-5E99-635B-34DD-0F30475DEA43}"/>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26" name="Rectangle 25">
              <a:extLst>
                <a:ext uri="{FF2B5EF4-FFF2-40B4-BE49-F238E27FC236}">
                  <a16:creationId xmlns:a16="http://schemas.microsoft.com/office/drawing/2014/main" id="{2E58499D-E2F3-55A1-FB47-3AB43C3F1237}"/>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27" name="Group 26">
            <a:extLst>
              <a:ext uri="{FF2B5EF4-FFF2-40B4-BE49-F238E27FC236}">
                <a16:creationId xmlns:a16="http://schemas.microsoft.com/office/drawing/2014/main" id="{7C1AC859-35B9-D995-B283-E1CA70B24505}"/>
              </a:ext>
            </a:extLst>
          </p:cNvPr>
          <p:cNvGrpSpPr/>
          <p:nvPr/>
        </p:nvGrpSpPr>
        <p:grpSpPr>
          <a:xfrm>
            <a:off x="2184675" y="6648660"/>
            <a:ext cx="6869410" cy="228600"/>
            <a:chOff x="1143000" y="857250"/>
            <a:chExt cx="6858000" cy="162000"/>
          </a:xfrm>
        </p:grpSpPr>
        <p:sp>
          <p:nvSpPr>
            <p:cNvPr id="28" name="Rectangle 27">
              <a:extLst>
                <a:ext uri="{FF2B5EF4-FFF2-40B4-BE49-F238E27FC236}">
                  <a16:creationId xmlns:a16="http://schemas.microsoft.com/office/drawing/2014/main" id="{3004D57C-DC4C-CD2B-2E98-9BD676755F36}"/>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29" name="Rectangle 28">
              <a:extLst>
                <a:ext uri="{FF2B5EF4-FFF2-40B4-BE49-F238E27FC236}">
                  <a16:creationId xmlns:a16="http://schemas.microsoft.com/office/drawing/2014/main" id="{F5BE9BAD-E564-A8DF-42DD-DECF7B64E824}"/>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dirty="0"/>
          </a:p>
        </p:txBody>
      </p:sp>
      <p:pic>
        <p:nvPicPr>
          <p:cNvPr id="12" name="Picture 2" descr="https://www.learnpick.in/files/pptimages/1182/68f316944f7b07cecd7a5bd41952d26e-8.jpg"/>
          <p:cNvPicPr>
            <a:picLocks noChangeAspect="1" noChangeArrowheads="1"/>
          </p:cNvPicPr>
          <p:nvPr/>
        </p:nvPicPr>
        <p:blipFill rotWithShape="1">
          <a:blip r:embed="rId4">
            <a:extLst>
              <a:ext uri="{28A0092B-C50C-407E-A947-70E740481C1C}">
                <a14:useLocalDpi xmlns:a14="http://schemas.microsoft.com/office/drawing/2010/main" val="0"/>
              </a:ext>
            </a:extLst>
          </a:blip>
          <a:srcRect l="6965" t="20698" r="18885" b="8403"/>
          <a:stretch/>
        </p:blipFill>
        <p:spPr bwMode="auto">
          <a:xfrm>
            <a:off x="2927648" y="1392588"/>
            <a:ext cx="6408712" cy="46767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1775520" y="12682"/>
            <a:ext cx="8064896" cy="1200329"/>
          </a:xfrm>
          <a:prstGeom prst="rect">
            <a:avLst/>
          </a:prstGeom>
        </p:spPr>
        <p:txBody>
          <a:bodyPr wrap="square">
            <a:spAutoFit/>
          </a:bodyPr>
          <a:lstStyle/>
          <a:p>
            <a:pPr algn="ctr"/>
            <a:r>
              <a:rPr lang="en-US" sz="3600" b="1" dirty="0"/>
              <a:t>Theoretical calculation of Calorific Value by </a:t>
            </a:r>
            <a:r>
              <a:rPr lang="en-US" sz="3600" b="1" dirty="0" err="1"/>
              <a:t>Dulong’s</a:t>
            </a:r>
            <a:r>
              <a:rPr lang="en-US" sz="3600" b="1" dirty="0"/>
              <a:t> Formula</a:t>
            </a:r>
            <a:endParaRPr lang="en-IN" sz="3600" b="1" dirty="0"/>
          </a:p>
        </p:txBody>
      </p:sp>
    </p:spTree>
    <p:extLst>
      <p:ext uri="{BB962C8B-B14F-4D97-AF65-F5344CB8AC3E}">
        <p14:creationId xmlns:p14="http://schemas.microsoft.com/office/powerpoint/2010/main" val="1884852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dirty="0"/>
          </a:p>
        </p:txBody>
      </p:sp>
      <p:pic>
        <p:nvPicPr>
          <p:cNvPr id="14"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2746" t="24849" r="14059" b="19747"/>
          <a:stretch/>
        </p:blipFill>
        <p:spPr bwMode="auto">
          <a:xfrm>
            <a:off x="2608639" y="616159"/>
            <a:ext cx="7182595" cy="3562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15" name="TextBox 14"/>
              <p:cNvSpPr txBox="1"/>
              <p:nvPr/>
            </p:nvSpPr>
            <p:spPr>
              <a:xfrm>
                <a:off x="3697310" y="4192049"/>
                <a:ext cx="756489" cy="461665"/>
              </a:xfrm>
              <a:prstGeom prst="rect">
                <a:avLst/>
              </a:prstGeom>
              <a:noFill/>
            </p:spPr>
            <p:txBody>
              <a:bodyPr wrap="none" rtlCol="0">
                <a:spAutoFit/>
              </a:bodyPr>
              <a:lstStyle/>
              <a:p>
                <a14:m>
                  <m:oMath xmlns:m="http://schemas.openxmlformats.org/officeDocument/2006/math">
                    <m:sSub>
                      <m:sSubPr>
                        <m:ctrlPr>
                          <a:rPr lang="en-IN" sz="2400" i="1">
                            <a:latin typeface="Cambria Math" panose="02040503050406030204" pitchFamily="18" charset="0"/>
                          </a:rPr>
                        </m:ctrlPr>
                      </m:sSubPr>
                      <m:e>
                        <m:r>
                          <a:rPr lang="en-US" sz="2400" i="1">
                            <a:latin typeface="Cambria Math"/>
                          </a:rPr>
                          <m:t>𝐻</m:t>
                        </m:r>
                      </m:e>
                      <m:sub>
                        <m:r>
                          <a:rPr lang="en-US" sz="2400" i="1">
                            <a:latin typeface="Cambria Math"/>
                          </a:rPr>
                          <m:t>2</m:t>
                        </m:r>
                      </m:sub>
                    </m:sSub>
                  </m:oMath>
                </a14:m>
                <a:r>
                  <a:rPr lang="en-IN" sz="2400" dirty="0"/>
                  <a:t> +</a:t>
                </a:r>
              </a:p>
            </p:txBody>
          </p:sp>
        </mc:Choice>
        <mc:Fallback xmlns="">
          <p:sp>
            <p:nvSpPr>
              <p:cNvPr id="15" name="TextBox 14"/>
              <p:cNvSpPr txBox="1">
                <a:spLocks noRot="1" noChangeAspect="1" noMove="1" noResize="1" noEditPoints="1" noAdjustHandles="1" noChangeArrowheads="1" noChangeShapeType="1" noTextEdit="1"/>
              </p:cNvSpPr>
              <p:nvPr/>
            </p:nvSpPr>
            <p:spPr>
              <a:xfrm>
                <a:off x="3697310" y="4192049"/>
                <a:ext cx="756489" cy="461665"/>
              </a:xfrm>
              <a:prstGeom prst="rect">
                <a:avLst/>
              </a:prstGeom>
              <a:blipFill>
                <a:blip r:embed="rId5"/>
                <a:stretch>
                  <a:fillRect l="-2419" t="-10667" r="-12097" b="-30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561406" y="4221091"/>
                <a:ext cx="59105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400" i="1">
                              <a:latin typeface="Cambria Math" panose="02040503050406030204" pitchFamily="18" charset="0"/>
                            </a:rPr>
                          </m:ctrlPr>
                        </m:sSubPr>
                        <m:e>
                          <m:r>
                            <a:rPr lang="en-US" sz="2400" i="1">
                              <a:latin typeface="Cambria Math"/>
                            </a:rPr>
                            <m:t>𝑂</m:t>
                          </m:r>
                        </m:e>
                        <m:sub>
                          <m:r>
                            <a:rPr lang="en-US" sz="2400" i="1">
                              <a:latin typeface="Cambria Math"/>
                            </a:rPr>
                            <m:t>2</m:t>
                          </m:r>
                        </m:sub>
                      </m:sSub>
                    </m:oMath>
                  </m:oMathPara>
                </a14:m>
                <a:endParaRPr lang="en-IN"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561406" y="4221091"/>
                <a:ext cx="591059" cy="461665"/>
              </a:xfrm>
              <a:prstGeom prst="rect">
                <a:avLst/>
              </a:prstGeom>
              <a:blipFill>
                <a:blip r:embed="rId6"/>
                <a:stretch>
                  <a:fillRect/>
                </a:stretch>
              </a:blipFill>
            </p:spPr>
            <p:txBody>
              <a:bodyPr/>
              <a:lstStyle/>
              <a:p>
                <a:r>
                  <a:rPr lang="en-IN">
                    <a:noFill/>
                  </a:rPr>
                  <a:t> </a:t>
                </a:r>
              </a:p>
            </p:txBody>
          </p:sp>
        </mc:Fallback>
      </mc:AlternateContent>
      <p:cxnSp>
        <p:nvCxnSpPr>
          <p:cNvPr id="17" name="Straight Arrow Connector 16"/>
          <p:cNvCxnSpPr/>
          <p:nvPr/>
        </p:nvCxnSpPr>
        <p:spPr>
          <a:xfrm>
            <a:off x="5425500" y="4422878"/>
            <a:ext cx="1008112"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6793654" y="4178226"/>
                <a:ext cx="103053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400" i="1">
                              <a:latin typeface="Cambria Math" panose="02040503050406030204" pitchFamily="18" charset="0"/>
                            </a:rPr>
                          </m:ctrlPr>
                        </m:sSubPr>
                        <m:e>
                          <m:sSub>
                            <m:sSubPr>
                              <m:ctrlPr>
                                <a:rPr lang="en-IN" sz="2400" i="1">
                                  <a:latin typeface="Cambria Math" panose="02040503050406030204" pitchFamily="18" charset="0"/>
                                </a:rPr>
                              </m:ctrlPr>
                            </m:sSubPr>
                            <m:e>
                              <m:r>
                                <a:rPr lang="en-US" sz="2400" i="1">
                                  <a:latin typeface="Cambria Math"/>
                                </a:rPr>
                                <m:t>𝐻</m:t>
                              </m:r>
                            </m:e>
                            <m:sub>
                              <m:r>
                                <a:rPr lang="en-US" sz="2400" i="1">
                                  <a:latin typeface="Cambria Math"/>
                                </a:rPr>
                                <m:t>2</m:t>
                              </m:r>
                            </m:sub>
                          </m:sSub>
                          <m:r>
                            <a:rPr lang="en-US" sz="2400" i="1">
                              <a:latin typeface="Cambria Math"/>
                            </a:rPr>
                            <m:t>𝑂</m:t>
                          </m:r>
                        </m:e>
                        <m:sub/>
                      </m:sSub>
                    </m:oMath>
                  </m:oMathPara>
                </a14:m>
                <a:endParaRPr lang="en-IN" sz="2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6793654" y="4178226"/>
                <a:ext cx="1030539" cy="461665"/>
              </a:xfrm>
              <a:prstGeom prst="rect">
                <a:avLst/>
              </a:prstGeom>
              <a:blipFill>
                <a:blip r:embed="rId7"/>
                <a:stretch>
                  <a:fillRect/>
                </a:stretch>
              </a:blipFill>
            </p:spPr>
            <p:txBody>
              <a:bodyPr/>
              <a:lstStyle/>
              <a:p>
                <a:r>
                  <a:rPr lang="en-IN">
                    <a:noFill/>
                  </a:rPr>
                  <a:t> </a:t>
                </a:r>
              </a:p>
            </p:txBody>
          </p:sp>
        </mc:Fallback>
      </mc:AlternateContent>
      <p:sp>
        <p:nvSpPr>
          <p:cNvPr id="19" name="TextBox 18"/>
          <p:cNvSpPr txBox="1"/>
          <p:nvPr/>
        </p:nvSpPr>
        <p:spPr>
          <a:xfrm>
            <a:off x="3719736" y="4941168"/>
            <a:ext cx="4608512" cy="369332"/>
          </a:xfrm>
          <a:prstGeom prst="rect">
            <a:avLst/>
          </a:prstGeom>
          <a:noFill/>
        </p:spPr>
        <p:txBody>
          <a:bodyPr wrap="square" rtlCol="0">
            <a:spAutoFit/>
          </a:bodyPr>
          <a:lstStyle/>
          <a:p>
            <a:r>
              <a:rPr lang="en-US" dirty="0"/>
              <a:t>2 g              32 g                                 18 g</a:t>
            </a:r>
            <a:endParaRPr lang="en-IN" dirty="0"/>
          </a:p>
        </p:txBody>
      </p:sp>
    </p:spTree>
    <p:extLst>
      <p:ext uri="{BB962C8B-B14F-4D97-AF65-F5344CB8AC3E}">
        <p14:creationId xmlns:p14="http://schemas.microsoft.com/office/powerpoint/2010/main" val="4174967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dirty="0"/>
          </a:p>
        </p:txBody>
      </p:sp>
      <p:sp>
        <p:nvSpPr>
          <p:cNvPr id="10" name="Rectangle 9"/>
          <p:cNvSpPr/>
          <p:nvPr/>
        </p:nvSpPr>
        <p:spPr>
          <a:xfrm>
            <a:off x="2207568" y="332656"/>
            <a:ext cx="8208912" cy="738664"/>
          </a:xfrm>
          <a:prstGeom prst="rect">
            <a:avLst/>
          </a:prstGeom>
        </p:spPr>
        <p:txBody>
          <a:bodyPr wrap="square">
            <a:spAutoFit/>
          </a:bodyPr>
          <a:lstStyle/>
          <a:p>
            <a:pPr algn="ctr"/>
            <a:r>
              <a:rPr lang="en-US" sz="2400" b="1" dirty="0"/>
              <a:t>QUESTION FOR PRACTICE</a:t>
            </a:r>
            <a:br>
              <a:rPr lang="en-US" sz="2400" b="1" dirty="0"/>
            </a:br>
            <a:endParaRPr lang="en-IN" b="1" dirty="0"/>
          </a:p>
        </p:txBody>
      </p:sp>
      <p:sp>
        <p:nvSpPr>
          <p:cNvPr id="11" name="Rectangle 10"/>
          <p:cNvSpPr/>
          <p:nvPr/>
        </p:nvSpPr>
        <p:spPr>
          <a:xfrm>
            <a:off x="2711624" y="2562262"/>
            <a:ext cx="6984776" cy="3970318"/>
          </a:xfrm>
          <a:prstGeom prst="rect">
            <a:avLst/>
          </a:prstGeom>
        </p:spPr>
        <p:txBody>
          <a:bodyPr wrap="square">
            <a:spAutoFit/>
          </a:bodyPr>
          <a:lstStyle/>
          <a:p>
            <a:r>
              <a:rPr lang="en-IN" b="1" dirty="0"/>
              <a:t>HCV </a:t>
            </a:r>
            <a:r>
              <a:rPr lang="en-IN" dirty="0"/>
              <a:t>= 1/100[8080 C+34500(H-O/8) +2240 S] </a:t>
            </a:r>
          </a:p>
          <a:p>
            <a:r>
              <a:rPr lang="en-IN" dirty="0"/>
              <a:t>          = 1/100[8080 + 70+34500(10-8/8) +2240 X </a:t>
            </a:r>
          </a:p>
          <a:p>
            <a:r>
              <a:rPr lang="en-IN" dirty="0"/>
              <a:t>           = 1/100 [565600 + 34500 (10-1) X 4480] = 1/100 [565600 +                                            310500 + 4480] </a:t>
            </a:r>
          </a:p>
          <a:p>
            <a:r>
              <a:rPr lang="en-IN" dirty="0"/>
              <a:t>         = 1/100 [880580] </a:t>
            </a:r>
          </a:p>
          <a:p>
            <a:r>
              <a:rPr lang="en-IN" dirty="0"/>
              <a:t>         = 8805.80kcal/kg </a:t>
            </a:r>
          </a:p>
          <a:p>
            <a:endParaRPr lang="en-IN" dirty="0"/>
          </a:p>
          <a:p>
            <a:r>
              <a:rPr lang="en-IN" b="1" dirty="0"/>
              <a:t>LCV </a:t>
            </a:r>
            <a:r>
              <a:rPr lang="en-IN" dirty="0"/>
              <a:t>= [ HCV- 9/100 H X 587] kcal/kg </a:t>
            </a:r>
          </a:p>
          <a:p>
            <a:r>
              <a:rPr lang="en-IN" dirty="0"/>
              <a:t>        = [8805.80-9/100 x 587] </a:t>
            </a:r>
          </a:p>
          <a:p>
            <a:r>
              <a:rPr lang="en-IN" dirty="0"/>
              <a:t>        = [8805.80- 528.30] </a:t>
            </a:r>
          </a:p>
          <a:p>
            <a:r>
              <a:rPr lang="en-IN" dirty="0"/>
              <a:t>         = 8277.80 kcal/kg </a:t>
            </a:r>
          </a:p>
          <a:p>
            <a:endParaRPr lang="en-IN" dirty="0"/>
          </a:p>
          <a:p>
            <a:r>
              <a:rPr lang="en-IN" dirty="0"/>
              <a:t>Answer: </a:t>
            </a:r>
            <a:r>
              <a:rPr lang="en-IN" b="1" dirty="0"/>
              <a:t>HCV/GCV = 8805.80kcal/kg  and LCV/NCV = 8277.80 kcal/kg</a:t>
            </a:r>
          </a:p>
        </p:txBody>
      </p:sp>
      <p:sp>
        <p:nvSpPr>
          <p:cNvPr id="12" name="Rectangle 11"/>
          <p:cNvSpPr/>
          <p:nvPr/>
        </p:nvSpPr>
        <p:spPr>
          <a:xfrm>
            <a:off x="2207568" y="1129660"/>
            <a:ext cx="8208912" cy="923330"/>
          </a:xfrm>
          <a:prstGeom prst="rect">
            <a:avLst/>
          </a:prstGeom>
        </p:spPr>
        <p:txBody>
          <a:bodyPr wrap="square">
            <a:spAutoFit/>
          </a:bodyPr>
          <a:lstStyle/>
          <a:p>
            <a:pPr algn="just"/>
            <a:r>
              <a:rPr lang="en-US" b="1" dirty="0"/>
              <a:t>A sample of coal has following composition by mass C = 70 %, O = 8 %, H = 10 %, N = 3 %, S = 2%, Ash = 7 %. Calculate H.C.V. and L.C.V. using </a:t>
            </a:r>
            <a:r>
              <a:rPr lang="en-US" b="1" dirty="0" err="1"/>
              <a:t>Dulong’s</a:t>
            </a:r>
            <a:r>
              <a:rPr lang="en-US" b="1" dirty="0"/>
              <a:t> formula</a:t>
            </a:r>
            <a:endParaRPr lang="en-IN" b="1" dirty="0"/>
          </a:p>
        </p:txBody>
      </p:sp>
      <p:sp>
        <p:nvSpPr>
          <p:cNvPr id="13" name="Rectangle 12"/>
          <p:cNvSpPr/>
          <p:nvPr/>
        </p:nvSpPr>
        <p:spPr>
          <a:xfrm>
            <a:off x="1847528" y="2219672"/>
            <a:ext cx="2016224" cy="369332"/>
          </a:xfrm>
          <a:prstGeom prst="rect">
            <a:avLst/>
          </a:prstGeom>
        </p:spPr>
        <p:txBody>
          <a:bodyPr wrap="square">
            <a:spAutoFit/>
          </a:bodyPr>
          <a:lstStyle/>
          <a:p>
            <a:pPr algn="ctr"/>
            <a:r>
              <a:rPr lang="en-US" b="1" dirty="0"/>
              <a:t>SOLUTION:</a:t>
            </a:r>
            <a:endParaRPr lang="en-IN" sz="1400" b="1" dirty="0"/>
          </a:p>
        </p:txBody>
      </p:sp>
    </p:spTree>
    <p:extLst>
      <p:ext uri="{BB962C8B-B14F-4D97-AF65-F5344CB8AC3E}">
        <p14:creationId xmlns:p14="http://schemas.microsoft.com/office/powerpoint/2010/main" val="3788233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FCD49-9941-C738-AD8F-209EF507D72E}"/>
              </a:ext>
            </a:extLst>
          </p:cNvPr>
          <p:cNvSpPr>
            <a:spLocks noGrp="1"/>
          </p:cNvSpPr>
          <p:nvPr>
            <p:ph type="title"/>
          </p:nvPr>
        </p:nvSpPr>
        <p:spPr/>
        <p:txBody>
          <a:bodyPr/>
          <a:lstStyle/>
          <a:p>
            <a:r>
              <a:rPr lang="en-GB" b="1"/>
              <a:t>Take away of the session</a:t>
            </a:r>
            <a:endParaRPr lang="en-US"/>
          </a:p>
        </p:txBody>
      </p:sp>
      <p:sp>
        <p:nvSpPr>
          <p:cNvPr id="3" name="Content Placeholder 2">
            <a:extLst>
              <a:ext uri="{FF2B5EF4-FFF2-40B4-BE49-F238E27FC236}">
                <a16:creationId xmlns:a16="http://schemas.microsoft.com/office/drawing/2014/main" id="{BA7AAC60-6C94-BE21-A17A-6CC0CDE963C5}"/>
              </a:ext>
            </a:extLst>
          </p:cNvPr>
          <p:cNvSpPr>
            <a:spLocks noGrp="1"/>
          </p:cNvSpPr>
          <p:nvPr>
            <p:ph idx="1"/>
          </p:nvPr>
        </p:nvSpPr>
        <p:spPr/>
        <p:txBody>
          <a:bodyPr vert="horz" lIns="91440" tIns="45720" rIns="91440" bIns="45720" rtlCol="0" anchor="t">
            <a:normAutofit fontScale="92500" lnSpcReduction="10000"/>
          </a:bodyPr>
          <a:lstStyle/>
          <a:p>
            <a:r>
              <a:rPr lang="en-US" b="1" dirty="0">
                <a:ea typeface="+mn-lt"/>
                <a:cs typeface="+mn-lt"/>
              </a:rPr>
              <a:t>Definition:</a:t>
            </a:r>
            <a:r>
              <a:rPr lang="en-US" dirty="0">
                <a:ea typeface="+mn-lt"/>
                <a:cs typeface="+mn-lt"/>
              </a:rPr>
              <a:t> Calorific value is the </a:t>
            </a:r>
            <a:r>
              <a:rPr lang="en-US" b="1" dirty="0">
                <a:ea typeface="+mn-lt"/>
                <a:cs typeface="+mn-lt"/>
              </a:rPr>
              <a:t>amount of heat</a:t>
            </a:r>
            <a:r>
              <a:rPr lang="en-US" dirty="0">
                <a:ea typeface="+mn-lt"/>
                <a:cs typeface="+mn-lt"/>
              </a:rPr>
              <a:t> produced when </a:t>
            </a:r>
            <a:r>
              <a:rPr lang="en-US" b="1" dirty="0">
                <a:ea typeface="+mn-lt"/>
                <a:cs typeface="+mn-lt"/>
              </a:rPr>
              <a:t>1 unit mass</a:t>
            </a:r>
            <a:r>
              <a:rPr lang="en-US" dirty="0">
                <a:ea typeface="+mn-lt"/>
                <a:cs typeface="+mn-lt"/>
              </a:rPr>
              <a:t> of fuel is completely burned.</a:t>
            </a:r>
          </a:p>
          <a:p>
            <a:r>
              <a:rPr lang="en-US" b="1" dirty="0">
                <a:ea typeface="+mn-lt"/>
                <a:cs typeface="+mn-lt"/>
              </a:rPr>
              <a:t>Units:</a:t>
            </a:r>
            <a:r>
              <a:rPr lang="en-US" dirty="0">
                <a:ea typeface="+mn-lt"/>
                <a:cs typeface="+mn-lt"/>
              </a:rPr>
              <a:t> Usually expressed in </a:t>
            </a:r>
            <a:r>
              <a:rPr lang="en-US" b="1" dirty="0">
                <a:ea typeface="+mn-lt"/>
                <a:cs typeface="+mn-lt"/>
              </a:rPr>
              <a:t>kJ/kg</a:t>
            </a:r>
            <a:r>
              <a:rPr lang="en-US" dirty="0">
                <a:ea typeface="+mn-lt"/>
                <a:cs typeface="+mn-lt"/>
              </a:rPr>
              <a:t>, </a:t>
            </a:r>
            <a:r>
              <a:rPr lang="en-US" b="1" dirty="0">
                <a:ea typeface="+mn-lt"/>
                <a:cs typeface="+mn-lt"/>
              </a:rPr>
              <a:t>kcal/kg</a:t>
            </a:r>
            <a:r>
              <a:rPr lang="en-US" dirty="0">
                <a:ea typeface="+mn-lt"/>
                <a:cs typeface="+mn-lt"/>
              </a:rPr>
              <a:t>, or </a:t>
            </a:r>
            <a:r>
              <a:rPr lang="en-US" b="1" dirty="0">
                <a:ea typeface="+mn-lt"/>
                <a:cs typeface="+mn-lt"/>
              </a:rPr>
              <a:t>kJ/m³</a:t>
            </a:r>
            <a:r>
              <a:rPr lang="en-US" dirty="0">
                <a:ea typeface="+mn-lt"/>
                <a:cs typeface="+mn-lt"/>
              </a:rPr>
              <a:t> for gases.</a:t>
            </a:r>
          </a:p>
          <a:p>
            <a:r>
              <a:rPr lang="en-US" b="1" dirty="0">
                <a:ea typeface="+mn-lt"/>
                <a:cs typeface="+mn-lt"/>
              </a:rPr>
              <a:t>Types:</a:t>
            </a:r>
            <a:endParaRPr lang="en-US" dirty="0">
              <a:ea typeface="+mn-lt"/>
              <a:cs typeface="+mn-lt"/>
            </a:endParaRPr>
          </a:p>
          <a:p>
            <a:pPr lvl="1"/>
            <a:r>
              <a:rPr lang="en-US" b="1" dirty="0">
                <a:ea typeface="+mn-lt"/>
                <a:cs typeface="+mn-lt"/>
              </a:rPr>
              <a:t>Higher Calorific Value (HCV):</a:t>
            </a:r>
            <a:r>
              <a:rPr lang="en-US" dirty="0">
                <a:ea typeface="+mn-lt"/>
                <a:cs typeface="+mn-lt"/>
              </a:rPr>
              <a:t> Includes </a:t>
            </a:r>
            <a:r>
              <a:rPr lang="en-US" b="1" dirty="0">
                <a:ea typeface="+mn-lt"/>
                <a:cs typeface="+mn-lt"/>
              </a:rPr>
              <a:t>latent heat of steam</a:t>
            </a:r>
            <a:r>
              <a:rPr lang="en-US" dirty="0">
                <a:ea typeface="+mn-lt"/>
                <a:cs typeface="+mn-lt"/>
              </a:rPr>
              <a:t> (condensation of water formed during combustion).</a:t>
            </a:r>
            <a:endParaRPr lang="en-US" dirty="0"/>
          </a:p>
          <a:p>
            <a:pPr lvl="1"/>
            <a:r>
              <a:rPr lang="en-US" b="1" dirty="0">
                <a:ea typeface="+mn-lt"/>
                <a:cs typeface="+mn-lt"/>
              </a:rPr>
              <a:t>Lower Calorific Value (LCV):</a:t>
            </a:r>
            <a:r>
              <a:rPr lang="en-US" dirty="0">
                <a:ea typeface="+mn-lt"/>
                <a:cs typeface="+mn-lt"/>
              </a:rPr>
              <a:t> Excludes latent heat of steam; assumes water remains as </a:t>
            </a:r>
            <a:r>
              <a:rPr lang="en-US" b="1" dirty="0" err="1">
                <a:ea typeface="+mn-lt"/>
                <a:cs typeface="+mn-lt"/>
              </a:rPr>
              <a:t>vapour</a:t>
            </a:r>
            <a:r>
              <a:rPr lang="en-US" dirty="0">
                <a:ea typeface="+mn-lt"/>
                <a:cs typeface="+mn-lt"/>
              </a:rPr>
              <a:t>.</a:t>
            </a:r>
          </a:p>
          <a:p>
            <a:r>
              <a:rPr lang="en-US" b="1" dirty="0">
                <a:ea typeface="+mn-lt"/>
                <a:cs typeface="+mn-lt"/>
              </a:rPr>
              <a:t>Relation:</a:t>
            </a:r>
            <a:r>
              <a:rPr lang="en-US" dirty="0">
                <a:ea typeface="+mn-lt"/>
                <a:cs typeface="+mn-lt"/>
              </a:rPr>
              <a:t> HCV is </a:t>
            </a:r>
            <a:r>
              <a:rPr lang="en-US" b="1" dirty="0">
                <a:ea typeface="+mn-lt"/>
                <a:cs typeface="+mn-lt"/>
              </a:rPr>
              <a:t>always greater than</a:t>
            </a:r>
            <a:r>
              <a:rPr lang="en-US" dirty="0">
                <a:ea typeface="+mn-lt"/>
                <a:cs typeface="+mn-lt"/>
              </a:rPr>
              <a:t> LCV.</a:t>
            </a:r>
            <a:endParaRPr lang="en-US" dirty="0"/>
          </a:p>
          <a:p>
            <a:r>
              <a:rPr lang="en-US" b="1" dirty="0">
                <a:ea typeface="+mn-lt"/>
                <a:cs typeface="+mn-lt"/>
              </a:rPr>
              <a:t>Importance:</a:t>
            </a:r>
            <a:r>
              <a:rPr lang="en-US" dirty="0">
                <a:ea typeface="+mn-lt"/>
                <a:cs typeface="+mn-lt"/>
              </a:rPr>
              <a:t> Used to evaluate </a:t>
            </a:r>
            <a:r>
              <a:rPr lang="en-US" b="1" dirty="0">
                <a:ea typeface="+mn-lt"/>
                <a:cs typeface="+mn-lt"/>
              </a:rPr>
              <a:t>fuel efficiency</a:t>
            </a:r>
            <a:r>
              <a:rPr lang="en-US" dirty="0">
                <a:ea typeface="+mn-lt"/>
                <a:cs typeface="+mn-lt"/>
              </a:rPr>
              <a:t> in industries, boilers, and engines.</a:t>
            </a:r>
          </a:p>
          <a:p>
            <a:endParaRPr lang="en-US" b="1" dirty="0"/>
          </a:p>
        </p:txBody>
      </p:sp>
      <p:pic>
        <p:nvPicPr>
          <p:cNvPr id="4" name="Picture 3">
            <a:extLst>
              <a:ext uri="{FF2B5EF4-FFF2-40B4-BE49-F238E27FC236}">
                <a16:creationId xmlns:a16="http://schemas.microsoft.com/office/drawing/2014/main" id="{B55895D3-BE97-9805-06DF-9846F578A1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8265" y="5791684"/>
            <a:ext cx="4358797" cy="621128"/>
          </a:xfrm>
          <a:prstGeom prst="rect">
            <a:avLst/>
          </a:prstGeom>
        </p:spPr>
      </p:pic>
      <p:grpSp>
        <p:nvGrpSpPr>
          <p:cNvPr id="5" name="Group 4">
            <a:extLst>
              <a:ext uri="{FF2B5EF4-FFF2-40B4-BE49-F238E27FC236}">
                <a16:creationId xmlns:a16="http://schemas.microsoft.com/office/drawing/2014/main" id="{C5027D6A-7400-E583-6503-8CF5F394F893}"/>
              </a:ext>
            </a:extLst>
          </p:cNvPr>
          <p:cNvGrpSpPr/>
          <p:nvPr/>
        </p:nvGrpSpPr>
        <p:grpSpPr>
          <a:xfrm>
            <a:off x="2542846" y="7989"/>
            <a:ext cx="6869410" cy="228600"/>
            <a:chOff x="1143000" y="857250"/>
            <a:chExt cx="6858000" cy="162000"/>
          </a:xfrm>
        </p:grpSpPr>
        <p:sp>
          <p:nvSpPr>
            <p:cNvPr id="6" name="Rectangle 5">
              <a:extLst>
                <a:ext uri="{FF2B5EF4-FFF2-40B4-BE49-F238E27FC236}">
                  <a16:creationId xmlns:a16="http://schemas.microsoft.com/office/drawing/2014/main" id="{8EC4B524-C9F5-52E3-B890-CB49FF2C169C}"/>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7" name="Rectangle 6">
              <a:extLst>
                <a:ext uri="{FF2B5EF4-FFF2-40B4-BE49-F238E27FC236}">
                  <a16:creationId xmlns:a16="http://schemas.microsoft.com/office/drawing/2014/main" id="{037F3E97-9336-B58F-D830-04F63A63D4CD}"/>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8" name="Group 7">
            <a:extLst>
              <a:ext uri="{FF2B5EF4-FFF2-40B4-BE49-F238E27FC236}">
                <a16:creationId xmlns:a16="http://schemas.microsoft.com/office/drawing/2014/main" id="{856475D9-14B9-AD2D-E487-20006AF913A2}"/>
              </a:ext>
            </a:extLst>
          </p:cNvPr>
          <p:cNvGrpSpPr/>
          <p:nvPr/>
        </p:nvGrpSpPr>
        <p:grpSpPr>
          <a:xfrm>
            <a:off x="2184675" y="6648660"/>
            <a:ext cx="6869410" cy="228600"/>
            <a:chOff x="1143000" y="857250"/>
            <a:chExt cx="6858000" cy="162000"/>
          </a:xfrm>
        </p:grpSpPr>
        <p:sp>
          <p:nvSpPr>
            <p:cNvPr id="9" name="Rectangle 8">
              <a:extLst>
                <a:ext uri="{FF2B5EF4-FFF2-40B4-BE49-F238E27FC236}">
                  <a16:creationId xmlns:a16="http://schemas.microsoft.com/office/drawing/2014/main" id="{C674ADEA-30F7-8392-B9E5-2830A8291E41}"/>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10" name="Rectangle 9">
              <a:extLst>
                <a:ext uri="{FF2B5EF4-FFF2-40B4-BE49-F238E27FC236}">
                  <a16:creationId xmlns:a16="http://schemas.microsoft.com/office/drawing/2014/main" id="{156CE057-B225-EBF0-F761-BB261AE9A3DE}"/>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extLst>
      <p:ext uri="{BB962C8B-B14F-4D97-AF65-F5344CB8AC3E}">
        <p14:creationId xmlns:p14="http://schemas.microsoft.com/office/powerpoint/2010/main" val="2992620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CA9C9F-C3B2-55F7-8FC7-29D69603438C}"/>
              </a:ext>
            </a:extLst>
          </p:cNvPr>
          <p:cNvSpPr>
            <a:spLocks noGrp="1"/>
          </p:cNvSpPr>
          <p:nvPr>
            <p:ph idx="1"/>
          </p:nvPr>
        </p:nvSpPr>
        <p:spPr>
          <a:xfrm>
            <a:off x="618744" y="687899"/>
            <a:ext cx="10515600" cy="4351338"/>
          </a:xfrm>
        </p:spPr>
        <p:txBody>
          <a:bodyPr vert="horz" lIns="91440" tIns="45720" rIns="91440" bIns="45720" rtlCol="0" anchor="t">
            <a:noAutofit/>
          </a:bodyPr>
          <a:lstStyle/>
          <a:p>
            <a:pPr>
              <a:buNone/>
            </a:pPr>
            <a:r>
              <a:rPr lang="en-GB" sz="1200" b="1" dirty="0">
                <a:solidFill>
                  <a:schemeClr val="accent1"/>
                </a:solidFill>
                <a:ea typeface="+mn-lt"/>
                <a:cs typeface="+mn-lt"/>
              </a:rPr>
              <a:t>1. What does calorific value represent?</a:t>
            </a:r>
            <a:br>
              <a:rPr lang="en-GB" sz="1200" b="1" dirty="0">
                <a:solidFill>
                  <a:schemeClr val="accent1"/>
                </a:solidFill>
                <a:ea typeface="+mn-lt"/>
                <a:cs typeface="+mn-lt"/>
              </a:rPr>
            </a:br>
            <a:r>
              <a:rPr lang="en-GB" sz="1200" b="1" dirty="0">
                <a:solidFill>
                  <a:schemeClr val="accent1"/>
                </a:solidFill>
                <a:ea typeface="+mn-lt"/>
                <a:cs typeface="+mn-lt"/>
              </a:rPr>
              <a:t> A. Temperature of the fuel</a:t>
            </a:r>
            <a:br>
              <a:rPr lang="en-GB" sz="1200" b="1" dirty="0">
                <a:solidFill>
                  <a:schemeClr val="accent1"/>
                </a:solidFill>
                <a:ea typeface="+mn-lt"/>
                <a:cs typeface="+mn-lt"/>
              </a:rPr>
            </a:br>
            <a:r>
              <a:rPr lang="en-GB" sz="1200" b="1" dirty="0">
                <a:solidFill>
                  <a:schemeClr val="accent1"/>
                </a:solidFill>
                <a:ea typeface="+mn-lt"/>
                <a:cs typeface="+mn-lt"/>
              </a:rPr>
              <a:t> B. Heat required to ignite fuel</a:t>
            </a:r>
            <a:br>
              <a:rPr lang="en-GB" sz="1200" b="1" dirty="0">
                <a:solidFill>
                  <a:schemeClr val="accent1"/>
                </a:solidFill>
                <a:ea typeface="+mn-lt"/>
                <a:cs typeface="+mn-lt"/>
              </a:rPr>
            </a:br>
            <a:r>
              <a:rPr lang="en-GB" sz="1200" b="1" dirty="0">
                <a:solidFill>
                  <a:schemeClr val="accent1"/>
                </a:solidFill>
                <a:ea typeface="+mn-lt"/>
                <a:cs typeface="+mn-lt"/>
              </a:rPr>
              <a:t> C. Heat produced on complete combustion</a:t>
            </a:r>
            <a:br>
              <a:rPr lang="en-GB" sz="1200" b="1" dirty="0">
                <a:solidFill>
                  <a:schemeClr val="accent1"/>
                </a:solidFill>
                <a:ea typeface="+mn-lt"/>
                <a:cs typeface="+mn-lt"/>
              </a:rPr>
            </a:br>
            <a:r>
              <a:rPr lang="en-GB" sz="1200" b="1" dirty="0">
                <a:solidFill>
                  <a:schemeClr val="accent1"/>
                </a:solidFill>
                <a:ea typeface="+mn-lt"/>
                <a:cs typeface="+mn-lt"/>
              </a:rPr>
              <a:t> D. Mass of fuel</a:t>
            </a:r>
            <a:br>
              <a:rPr lang="en-GB" sz="1200" b="1" dirty="0">
                <a:solidFill>
                  <a:schemeClr val="accent1"/>
                </a:solidFill>
                <a:ea typeface="+mn-lt"/>
                <a:cs typeface="+mn-lt"/>
              </a:rPr>
            </a:br>
            <a:r>
              <a:rPr lang="en-GB" sz="1200" b="1" dirty="0">
                <a:solidFill>
                  <a:schemeClr val="accent1"/>
                </a:solidFill>
                <a:ea typeface="+mn-lt"/>
                <a:cs typeface="+mn-lt"/>
              </a:rPr>
              <a:t> ✅ Answer: C</a:t>
            </a:r>
            <a:endParaRPr lang="en-US" sz="1200" dirty="0"/>
          </a:p>
          <a:p>
            <a:pPr>
              <a:buNone/>
            </a:pPr>
            <a:r>
              <a:rPr lang="en-GB" sz="1200" b="1" dirty="0">
                <a:solidFill>
                  <a:schemeClr val="accent1"/>
                </a:solidFill>
                <a:ea typeface="+mn-lt"/>
                <a:cs typeface="+mn-lt"/>
              </a:rPr>
              <a:t>2. Which of the following includes latent heat of water vapor?</a:t>
            </a:r>
            <a:br>
              <a:rPr lang="en-GB" sz="1200" b="1" dirty="0">
                <a:solidFill>
                  <a:schemeClr val="accent1"/>
                </a:solidFill>
                <a:ea typeface="+mn-lt"/>
                <a:cs typeface="+mn-lt"/>
              </a:rPr>
            </a:br>
            <a:r>
              <a:rPr lang="en-GB" sz="1200" b="1" dirty="0">
                <a:solidFill>
                  <a:schemeClr val="accent1"/>
                </a:solidFill>
                <a:ea typeface="+mn-lt"/>
                <a:cs typeface="+mn-lt"/>
              </a:rPr>
              <a:t> A. LCV</a:t>
            </a:r>
            <a:br>
              <a:rPr lang="en-GB" sz="1200" b="1" dirty="0">
                <a:solidFill>
                  <a:schemeClr val="accent1"/>
                </a:solidFill>
                <a:ea typeface="+mn-lt"/>
                <a:cs typeface="+mn-lt"/>
              </a:rPr>
            </a:br>
            <a:r>
              <a:rPr lang="en-GB" sz="1200" b="1" dirty="0">
                <a:solidFill>
                  <a:schemeClr val="accent1"/>
                </a:solidFill>
                <a:ea typeface="+mn-lt"/>
                <a:cs typeface="+mn-lt"/>
              </a:rPr>
              <a:t> B. HCV</a:t>
            </a:r>
            <a:br>
              <a:rPr lang="en-GB" sz="1200" b="1" dirty="0">
                <a:solidFill>
                  <a:schemeClr val="accent1"/>
                </a:solidFill>
                <a:ea typeface="+mn-lt"/>
                <a:cs typeface="+mn-lt"/>
              </a:rPr>
            </a:br>
            <a:r>
              <a:rPr lang="en-GB" sz="1200" b="1" dirty="0">
                <a:solidFill>
                  <a:schemeClr val="accent1"/>
                </a:solidFill>
                <a:ea typeface="+mn-lt"/>
                <a:cs typeface="+mn-lt"/>
              </a:rPr>
              <a:t> C. Both</a:t>
            </a:r>
            <a:br>
              <a:rPr lang="en-GB" sz="1200" b="1" dirty="0">
                <a:solidFill>
                  <a:schemeClr val="accent1"/>
                </a:solidFill>
                <a:ea typeface="+mn-lt"/>
                <a:cs typeface="+mn-lt"/>
              </a:rPr>
            </a:br>
            <a:r>
              <a:rPr lang="en-GB" sz="1200" b="1" dirty="0">
                <a:solidFill>
                  <a:schemeClr val="accent1"/>
                </a:solidFill>
                <a:ea typeface="+mn-lt"/>
                <a:cs typeface="+mn-lt"/>
              </a:rPr>
              <a:t> D. Neither</a:t>
            </a:r>
            <a:br>
              <a:rPr lang="en-GB" sz="1200" b="1" dirty="0">
                <a:solidFill>
                  <a:schemeClr val="accent1"/>
                </a:solidFill>
                <a:ea typeface="+mn-lt"/>
                <a:cs typeface="+mn-lt"/>
              </a:rPr>
            </a:br>
            <a:r>
              <a:rPr lang="en-GB" sz="1200" b="1" dirty="0">
                <a:solidFill>
                  <a:schemeClr val="accent1"/>
                </a:solidFill>
                <a:ea typeface="+mn-lt"/>
                <a:cs typeface="+mn-lt"/>
              </a:rPr>
              <a:t> ✅ Answer: B</a:t>
            </a:r>
            <a:endParaRPr lang="en-US" sz="1200" dirty="0"/>
          </a:p>
          <a:p>
            <a:pPr>
              <a:buNone/>
            </a:pPr>
            <a:r>
              <a:rPr lang="en-GB" sz="1200" b="1" dirty="0">
                <a:solidFill>
                  <a:schemeClr val="accent1"/>
                </a:solidFill>
                <a:ea typeface="+mn-lt"/>
                <a:cs typeface="+mn-lt"/>
              </a:rPr>
              <a:t>3. Which calorific value is usually lower?</a:t>
            </a:r>
            <a:br>
              <a:rPr lang="en-GB" sz="1200" b="1" dirty="0">
                <a:solidFill>
                  <a:schemeClr val="accent1"/>
                </a:solidFill>
                <a:ea typeface="+mn-lt"/>
                <a:cs typeface="+mn-lt"/>
              </a:rPr>
            </a:br>
            <a:r>
              <a:rPr lang="en-GB" sz="1200" b="1" dirty="0">
                <a:solidFill>
                  <a:schemeClr val="accent1"/>
                </a:solidFill>
                <a:ea typeface="+mn-lt"/>
                <a:cs typeface="+mn-lt"/>
              </a:rPr>
              <a:t> A. HCV</a:t>
            </a:r>
            <a:br>
              <a:rPr lang="en-GB" sz="1200" b="1" dirty="0">
                <a:solidFill>
                  <a:schemeClr val="accent1"/>
                </a:solidFill>
                <a:ea typeface="+mn-lt"/>
                <a:cs typeface="+mn-lt"/>
              </a:rPr>
            </a:br>
            <a:r>
              <a:rPr lang="en-GB" sz="1200" b="1" dirty="0">
                <a:solidFill>
                  <a:schemeClr val="accent1"/>
                </a:solidFill>
                <a:ea typeface="+mn-lt"/>
                <a:cs typeface="+mn-lt"/>
              </a:rPr>
              <a:t> B. LCV</a:t>
            </a:r>
            <a:br>
              <a:rPr lang="en-GB" sz="1200" b="1" dirty="0">
                <a:solidFill>
                  <a:schemeClr val="accent1"/>
                </a:solidFill>
                <a:ea typeface="+mn-lt"/>
                <a:cs typeface="+mn-lt"/>
              </a:rPr>
            </a:br>
            <a:r>
              <a:rPr lang="en-GB" sz="1200" b="1" dirty="0">
                <a:solidFill>
                  <a:schemeClr val="accent1"/>
                </a:solidFill>
                <a:ea typeface="+mn-lt"/>
                <a:cs typeface="+mn-lt"/>
              </a:rPr>
              <a:t> C. Both are equal</a:t>
            </a:r>
            <a:br>
              <a:rPr lang="en-GB" sz="1200" b="1" dirty="0">
                <a:solidFill>
                  <a:schemeClr val="accent1"/>
                </a:solidFill>
                <a:ea typeface="+mn-lt"/>
                <a:cs typeface="+mn-lt"/>
              </a:rPr>
            </a:br>
            <a:r>
              <a:rPr lang="en-GB" sz="1200" b="1" dirty="0">
                <a:solidFill>
                  <a:schemeClr val="accent1"/>
                </a:solidFill>
                <a:ea typeface="+mn-lt"/>
                <a:cs typeface="+mn-lt"/>
              </a:rPr>
              <a:t> D. Depends on the temperature</a:t>
            </a:r>
            <a:br>
              <a:rPr lang="en-GB" sz="1200" b="1" dirty="0">
                <a:solidFill>
                  <a:schemeClr val="accent1"/>
                </a:solidFill>
                <a:ea typeface="+mn-lt"/>
                <a:cs typeface="+mn-lt"/>
              </a:rPr>
            </a:br>
            <a:r>
              <a:rPr lang="en-GB" sz="1200" b="1" dirty="0">
                <a:solidFill>
                  <a:schemeClr val="accent1"/>
                </a:solidFill>
                <a:ea typeface="+mn-lt"/>
                <a:cs typeface="+mn-lt"/>
              </a:rPr>
              <a:t> ✅ Answer: B</a:t>
            </a:r>
            <a:endParaRPr lang="en-GB" sz="1200" dirty="0"/>
          </a:p>
          <a:p>
            <a:pPr>
              <a:buNone/>
            </a:pPr>
            <a:r>
              <a:rPr lang="en-US" sz="1200" b="1" dirty="0">
                <a:solidFill>
                  <a:schemeClr val="accent1"/>
                </a:solidFill>
                <a:ea typeface="+mn-lt"/>
                <a:cs typeface="+mn-lt"/>
              </a:rPr>
              <a:t>4.</a:t>
            </a:r>
            <a:r>
              <a:rPr lang="en-GB" sz="1200" b="1" dirty="0">
                <a:solidFill>
                  <a:schemeClr val="accent1"/>
                </a:solidFill>
                <a:ea typeface="+mn-lt"/>
                <a:cs typeface="+mn-lt"/>
              </a:rPr>
              <a:t>. The calorific value of gaseous fuels is usually expressed in:</a:t>
            </a:r>
            <a:br>
              <a:rPr lang="en-GB" sz="1200" b="1" dirty="0">
                <a:solidFill>
                  <a:schemeClr val="accent1"/>
                </a:solidFill>
                <a:ea typeface="+mn-lt"/>
                <a:cs typeface="+mn-lt"/>
              </a:rPr>
            </a:br>
            <a:r>
              <a:rPr lang="en-GB" sz="1200" b="1" dirty="0">
                <a:solidFill>
                  <a:schemeClr val="accent1"/>
                </a:solidFill>
                <a:ea typeface="+mn-lt"/>
                <a:cs typeface="+mn-lt"/>
              </a:rPr>
              <a:t> A. kJ/kg</a:t>
            </a:r>
            <a:br>
              <a:rPr lang="en-GB" sz="1200" b="1" dirty="0">
                <a:solidFill>
                  <a:schemeClr val="accent1"/>
                </a:solidFill>
                <a:ea typeface="+mn-lt"/>
                <a:cs typeface="+mn-lt"/>
              </a:rPr>
            </a:br>
            <a:r>
              <a:rPr lang="en-GB" sz="1200" b="1" dirty="0">
                <a:solidFill>
                  <a:schemeClr val="accent1"/>
                </a:solidFill>
                <a:ea typeface="+mn-lt"/>
                <a:cs typeface="+mn-lt"/>
              </a:rPr>
              <a:t> B. kcal/g</a:t>
            </a:r>
            <a:br>
              <a:rPr lang="en-GB" sz="1200" b="1" dirty="0">
                <a:solidFill>
                  <a:schemeClr val="accent1"/>
                </a:solidFill>
                <a:ea typeface="+mn-lt"/>
                <a:cs typeface="+mn-lt"/>
              </a:rPr>
            </a:br>
            <a:r>
              <a:rPr lang="en-GB" sz="1200" b="1" dirty="0">
                <a:solidFill>
                  <a:schemeClr val="accent1"/>
                </a:solidFill>
                <a:ea typeface="+mn-lt"/>
                <a:cs typeface="+mn-lt"/>
              </a:rPr>
              <a:t> C. kJ/m³</a:t>
            </a:r>
            <a:br>
              <a:rPr lang="en-GB" sz="1200" b="1" dirty="0">
                <a:solidFill>
                  <a:schemeClr val="accent1"/>
                </a:solidFill>
                <a:ea typeface="+mn-lt"/>
                <a:cs typeface="+mn-lt"/>
              </a:rPr>
            </a:br>
            <a:r>
              <a:rPr lang="en-GB" sz="1200" b="1" dirty="0">
                <a:solidFill>
                  <a:schemeClr val="accent1"/>
                </a:solidFill>
                <a:ea typeface="+mn-lt"/>
                <a:cs typeface="+mn-lt"/>
              </a:rPr>
              <a:t> D. kWh</a:t>
            </a:r>
            <a:br>
              <a:rPr lang="en-GB" sz="1200" b="1" dirty="0">
                <a:solidFill>
                  <a:schemeClr val="accent1"/>
                </a:solidFill>
                <a:ea typeface="+mn-lt"/>
                <a:cs typeface="+mn-lt"/>
              </a:rPr>
            </a:br>
            <a:r>
              <a:rPr lang="en-GB" sz="1200" b="1" dirty="0">
                <a:solidFill>
                  <a:schemeClr val="accent1"/>
                </a:solidFill>
                <a:ea typeface="+mn-lt"/>
                <a:cs typeface="+mn-lt"/>
              </a:rPr>
              <a:t> ✅ Answer: C</a:t>
            </a:r>
            <a:endParaRPr lang="en-US" sz="1200" dirty="0"/>
          </a:p>
          <a:p>
            <a:pPr>
              <a:buNone/>
            </a:pPr>
            <a:r>
              <a:rPr lang="en-GB" sz="1200" b="1" dirty="0">
                <a:solidFill>
                  <a:schemeClr val="accent1"/>
                </a:solidFill>
                <a:ea typeface="+mn-lt"/>
                <a:cs typeface="+mn-lt"/>
              </a:rPr>
              <a:t>5. Why is HCV greater than LCV?</a:t>
            </a:r>
            <a:br>
              <a:rPr lang="en-GB" sz="1200" b="1" dirty="0">
                <a:solidFill>
                  <a:schemeClr val="accent1"/>
                </a:solidFill>
                <a:ea typeface="+mn-lt"/>
                <a:cs typeface="+mn-lt"/>
              </a:rPr>
            </a:br>
            <a:r>
              <a:rPr lang="en-GB" sz="1200" b="1" dirty="0">
                <a:solidFill>
                  <a:schemeClr val="accent1"/>
                </a:solidFill>
                <a:ea typeface="+mn-lt"/>
                <a:cs typeface="+mn-lt"/>
              </a:rPr>
              <a:t> A. It includes heat losses</a:t>
            </a:r>
            <a:br>
              <a:rPr lang="en-GB" sz="1200" b="1" dirty="0">
                <a:solidFill>
                  <a:schemeClr val="accent1"/>
                </a:solidFill>
                <a:ea typeface="+mn-lt"/>
                <a:cs typeface="+mn-lt"/>
              </a:rPr>
            </a:br>
            <a:r>
              <a:rPr lang="en-GB" sz="1200" b="1" dirty="0">
                <a:solidFill>
                  <a:schemeClr val="accent1"/>
                </a:solidFill>
                <a:ea typeface="+mn-lt"/>
                <a:cs typeface="+mn-lt"/>
              </a:rPr>
              <a:t> B. It includes latent heat of water vapor</a:t>
            </a:r>
            <a:br>
              <a:rPr lang="en-GB" sz="1200" b="1" dirty="0">
                <a:solidFill>
                  <a:schemeClr val="accent1"/>
                </a:solidFill>
                <a:ea typeface="+mn-lt"/>
                <a:cs typeface="+mn-lt"/>
              </a:rPr>
            </a:br>
            <a:r>
              <a:rPr lang="en-GB" sz="1200" b="1" dirty="0">
                <a:solidFill>
                  <a:schemeClr val="accent1"/>
                </a:solidFill>
                <a:ea typeface="+mn-lt"/>
                <a:cs typeface="+mn-lt"/>
              </a:rPr>
              <a:t> C. It ignores combustion</a:t>
            </a:r>
            <a:br>
              <a:rPr lang="en-GB" sz="1200" b="1" dirty="0">
                <a:solidFill>
                  <a:schemeClr val="accent1"/>
                </a:solidFill>
                <a:ea typeface="+mn-lt"/>
                <a:cs typeface="+mn-lt"/>
              </a:rPr>
            </a:br>
            <a:r>
              <a:rPr lang="en-GB" sz="1200" b="1" dirty="0">
                <a:solidFill>
                  <a:schemeClr val="accent1"/>
                </a:solidFill>
                <a:ea typeface="+mn-lt"/>
                <a:cs typeface="+mn-lt"/>
              </a:rPr>
              <a:t> D. It measures temperature instead of heat</a:t>
            </a:r>
            <a:br>
              <a:rPr lang="en-GB" sz="1200" b="1" dirty="0">
                <a:solidFill>
                  <a:schemeClr val="accent1"/>
                </a:solidFill>
                <a:ea typeface="+mn-lt"/>
                <a:cs typeface="+mn-lt"/>
              </a:rPr>
            </a:br>
            <a:r>
              <a:rPr lang="en-GB" sz="1200" b="1" dirty="0">
                <a:solidFill>
                  <a:schemeClr val="accent1"/>
                </a:solidFill>
                <a:ea typeface="+mn-lt"/>
                <a:cs typeface="+mn-lt"/>
              </a:rPr>
              <a:t> ✅ Answer: B</a:t>
            </a:r>
            <a:endParaRPr lang="en-GB" sz="1200" dirty="0"/>
          </a:p>
          <a:p>
            <a:pPr>
              <a:buNone/>
            </a:pPr>
            <a:endParaRPr lang="en-GB" sz="1200" b="1" dirty="0">
              <a:solidFill>
                <a:schemeClr val="accent1"/>
              </a:solidFill>
            </a:endParaRPr>
          </a:p>
        </p:txBody>
      </p:sp>
      <p:sp>
        <p:nvSpPr>
          <p:cNvPr id="5" name="TextBox 4">
            <a:extLst>
              <a:ext uri="{FF2B5EF4-FFF2-40B4-BE49-F238E27FC236}">
                <a16:creationId xmlns:a16="http://schemas.microsoft.com/office/drawing/2014/main" id="{DF6DF24D-9DF0-93A9-5E94-892190A4926E}"/>
              </a:ext>
            </a:extLst>
          </p:cNvPr>
          <p:cNvSpPr txBox="1"/>
          <p:nvPr/>
        </p:nvSpPr>
        <p:spPr>
          <a:xfrm>
            <a:off x="0" y="256658"/>
            <a:ext cx="12192000" cy="369332"/>
          </a:xfrm>
          <a:prstGeom prst="rect">
            <a:avLst/>
          </a:prstGeom>
          <a:noFill/>
        </p:spPr>
        <p:txBody>
          <a:bodyPr wrap="square">
            <a:spAutoFit/>
          </a:bodyPr>
          <a:lstStyle/>
          <a:p>
            <a:pPr algn="ctr"/>
            <a:r>
              <a:rPr lang="en-GB" b="1" dirty="0"/>
              <a:t>Questions</a:t>
            </a:r>
            <a:endParaRPr lang="en-IN" dirty="0"/>
          </a:p>
        </p:txBody>
      </p:sp>
      <p:pic>
        <p:nvPicPr>
          <p:cNvPr id="6" name="Picture 5">
            <a:extLst>
              <a:ext uri="{FF2B5EF4-FFF2-40B4-BE49-F238E27FC236}">
                <a16:creationId xmlns:a16="http://schemas.microsoft.com/office/drawing/2014/main" id="{F1D39AAF-703A-A63B-5C7E-2E6E028337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657" y="6159215"/>
            <a:ext cx="3434705" cy="489445"/>
          </a:xfrm>
          <a:prstGeom prst="rect">
            <a:avLst/>
          </a:prstGeom>
        </p:spPr>
      </p:pic>
      <p:grpSp>
        <p:nvGrpSpPr>
          <p:cNvPr id="7" name="Group 6">
            <a:extLst>
              <a:ext uri="{FF2B5EF4-FFF2-40B4-BE49-F238E27FC236}">
                <a16:creationId xmlns:a16="http://schemas.microsoft.com/office/drawing/2014/main" id="{67BFE00E-C642-9F24-B1B4-590E26B1AA8B}"/>
              </a:ext>
            </a:extLst>
          </p:cNvPr>
          <p:cNvGrpSpPr/>
          <p:nvPr/>
        </p:nvGrpSpPr>
        <p:grpSpPr>
          <a:xfrm>
            <a:off x="2542846" y="7989"/>
            <a:ext cx="6869410" cy="228600"/>
            <a:chOff x="1143000" y="857250"/>
            <a:chExt cx="6858000" cy="162000"/>
          </a:xfrm>
        </p:grpSpPr>
        <p:sp>
          <p:nvSpPr>
            <p:cNvPr id="8" name="Rectangle 7">
              <a:extLst>
                <a:ext uri="{FF2B5EF4-FFF2-40B4-BE49-F238E27FC236}">
                  <a16:creationId xmlns:a16="http://schemas.microsoft.com/office/drawing/2014/main" id="{26C373F1-5C94-83C0-36F5-4FA08BD8DA39}"/>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9" name="Rectangle 8">
              <a:extLst>
                <a:ext uri="{FF2B5EF4-FFF2-40B4-BE49-F238E27FC236}">
                  <a16:creationId xmlns:a16="http://schemas.microsoft.com/office/drawing/2014/main" id="{0A948512-8B7F-0824-41FC-B0768F8C01CD}"/>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grpSp>
        <p:nvGrpSpPr>
          <p:cNvPr id="10" name="Group 9">
            <a:extLst>
              <a:ext uri="{FF2B5EF4-FFF2-40B4-BE49-F238E27FC236}">
                <a16:creationId xmlns:a16="http://schemas.microsoft.com/office/drawing/2014/main" id="{69B0030D-A73F-EC0F-DBC2-21B813A52576}"/>
              </a:ext>
            </a:extLst>
          </p:cNvPr>
          <p:cNvGrpSpPr/>
          <p:nvPr/>
        </p:nvGrpSpPr>
        <p:grpSpPr>
          <a:xfrm>
            <a:off x="2184675" y="6648660"/>
            <a:ext cx="6869410" cy="228600"/>
            <a:chOff x="1143000" y="857250"/>
            <a:chExt cx="6858000" cy="162000"/>
          </a:xfrm>
        </p:grpSpPr>
        <p:sp>
          <p:nvSpPr>
            <p:cNvPr id="11" name="Rectangle 10">
              <a:extLst>
                <a:ext uri="{FF2B5EF4-FFF2-40B4-BE49-F238E27FC236}">
                  <a16:creationId xmlns:a16="http://schemas.microsoft.com/office/drawing/2014/main" id="{F09B7B3D-24AC-C89F-9EA0-D8D95F8AED07}"/>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sp>
          <p:nvSpPr>
            <p:cNvPr id="12" name="Rectangle 11">
              <a:extLst>
                <a:ext uri="{FF2B5EF4-FFF2-40B4-BE49-F238E27FC236}">
                  <a16:creationId xmlns:a16="http://schemas.microsoft.com/office/drawing/2014/main" id="{4BBA9657-E354-DF83-93BF-F3A44159DAB8}"/>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57175">
                <a:defRPr/>
              </a:pPr>
              <a:endParaRPr lang="en-IN" sz="1013">
                <a:solidFill>
                  <a:prstClr val="white"/>
                </a:solidFill>
                <a:latin typeface="Aptos" panose="02110004020202020204"/>
              </a:endParaRPr>
            </a:p>
          </p:txBody>
        </p:sp>
      </p:grpSp>
    </p:spTree>
    <p:extLst>
      <p:ext uri="{BB962C8B-B14F-4D97-AF65-F5344CB8AC3E}">
        <p14:creationId xmlns:p14="http://schemas.microsoft.com/office/powerpoint/2010/main" val="2430529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0915" y="670689"/>
            <a:ext cx="10515600" cy="1325563"/>
          </a:xfrm>
        </p:spPr>
        <p:txBody>
          <a:bodyPr/>
          <a:lstStyle/>
          <a:p>
            <a:r>
              <a:rPr sz="1600" b="1" dirty="0">
                <a:solidFill>
                  <a:schemeClr val="accent5"/>
                </a:solidFill>
              </a:rPr>
              <a:t>Learning Outcomes</a:t>
            </a:r>
          </a:p>
        </p:txBody>
      </p:sp>
      <p:sp>
        <p:nvSpPr>
          <p:cNvPr id="3" name="Content Placeholder 2"/>
          <p:cNvSpPr>
            <a:spLocks noGrp="1"/>
          </p:cNvSpPr>
          <p:nvPr>
            <p:ph idx="1"/>
          </p:nvPr>
        </p:nvSpPr>
        <p:spPr>
          <a:xfrm>
            <a:off x="994611" y="1916113"/>
            <a:ext cx="10515599" cy="4351338"/>
          </a:xfrm>
        </p:spPr>
        <p:txBody>
          <a:bodyPr>
            <a:normAutofit/>
          </a:bodyPr>
          <a:lstStyle/>
          <a:p>
            <a:pPr marL="0" indent="0">
              <a:buNone/>
            </a:pPr>
            <a:endParaRPr lang="en-IN" sz="1600" dirty="0"/>
          </a:p>
          <a:p>
            <a:endParaRPr lang="en-GB" sz="1600" dirty="0"/>
          </a:p>
          <a:p>
            <a:endParaRPr lang="en-GB" sz="1600" dirty="0"/>
          </a:p>
          <a:p>
            <a:pPr marL="0" indent="0">
              <a:buNone/>
            </a:pPr>
            <a:endParaRPr lang="en-GB" sz="1600" dirty="0"/>
          </a:p>
          <a:p>
            <a:pPr marL="0" indent="0">
              <a:buNone/>
            </a:pPr>
            <a:endParaRPr lang="en-GB" sz="1600" dirty="0"/>
          </a:p>
          <a:p>
            <a:pPr marL="0" indent="0">
              <a:buNone/>
            </a:pPr>
            <a:endParaRPr lang="en-GB" sz="1600" dirty="0"/>
          </a:p>
          <a:p>
            <a:pPr marL="0" indent="0">
              <a:buNone/>
            </a:pPr>
            <a:endParaRPr lang="en-GB" sz="1600" dirty="0"/>
          </a:p>
          <a:p>
            <a:pPr marL="0" indent="0">
              <a:buNone/>
            </a:pPr>
            <a:endParaRPr lang="en-GB" sz="1600" dirty="0"/>
          </a:p>
          <a:p>
            <a:pPr marL="0" indent="0">
              <a:buNone/>
            </a:pPr>
            <a:r>
              <a:rPr lang="en-GB" sz="1600" b="1" dirty="0"/>
              <a:t>CO1</a:t>
            </a:r>
            <a:r>
              <a:rPr lang="en-GB" sz="1600" dirty="0"/>
              <a:t>: </a:t>
            </a:r>
            <a:r>
              <a:rPr lang="en-US" sz="1600" dirty="0"/>
              <a:t>Understand the methods for water hardness and the basics of boiler water treatment and analyze fuel calorific values and battery.</a:t>
            </a:r>
          </a:p>
          <a:p>
            <a:pPr marL="0" indent="0">
              <a:buNone/>
            </a:pPr>
            <a:r>
              <a:rPr lang="en-GB" sz="1600" b="1" dirty="0"/>
              <a:t>CO2</a:t>
            </a:r>
            <a:r>
              <a:rPr lang="en-GB" sz="1600" dirty="0"/>
              <a:t>: </a:t>
            </a:r>
            <a:r>
              <a:rPr lang="en-US" sz="1600" dirty="0"/>
              <a:t>Explain the characteristics and working principles of different battery types and types of fuels.</a:t>
            </a:r>
            <a:endParaRPr lang="en-GB" sz="1600" dirty="0"/>
          </a:p>
          <a:p>
            <a:endParaRPr lang="en-IN" sz="1600" dirty="0"/>
          </a:p>
        </p:txBody>
      </p:sp>
      <p:sp>
        <p:nvSpPr>
          <p:cNvPr id="4" name="Title 1">
            <a:extLst>
              <a:ext uri="{FF2B5EF4-FFF2-40B4-BE49-F238E27FC236}">
                <a16:creationId xmlns:a16="http://schemas.microsoft.com/office/drawing/2014/main" id="{7C263E1C-814B-1AF4-B7F4-B4AEB0945408}"/>
              </a:ext>
            </a:extLst>
          </p:cNvPr>
          <p:cNvSpPr txBox="1">
            <a:spLocks/>
          </p:cNvSpPr>
          <p:nvPr/>
        </p:nvSpPr>
        <p:spPr>
          <a:xfrm>
            <a:off x="994611" y="3241676"/>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1600" b="1" dirty="0">
              <a:solidFill>
                <a:schemeClr val="accent5"/>
              </a:solidFill>
            </a:endParaRPr>
          </a:p>
          <a:p>
            <a:endParaRPr lang="en-IN" sz="1600" b="1" dirty="0">
              <a:solidFill>
                <a:schemeClr val="accent5"/>
              </a:solidFill>
            </a:endParaRPr>
          </a:p>
          <a:p>
            <a:endParaRPr lang="en-IN" sz="1600" b="1" dirty="0">
              <a:solidFill>
                <a:schemeClr val="accent5"/>
              </a:solidFill>
            </a:endParaRPr>
          </a:p>
          <a:p>
            <a:endParaRPr lang="en-IN" sz="1600" b="1" dirty="0">
              <a:solidFill>
                <a:schemeClr val="accent5"/>
              </a:solidFill>
            </a:endParaRPr>
          </a:p>
          <a:p>
            <a:r>
              <a:rPr lang="en-IN" sz="1600" b="1" dirty="0">
                <a:solidFill>
                  <a:schemeClr val="accent5"/>
                </a:solidFill>
              </a:rPr>
              <a:t>Mapped Course Outcomes</a:t>
            </a:r>
          </a:p>
        </p:txBody>
      </p:sp>
      <p:grpSp>
        <p:nvGrpSpPr>
          <p:cNvPr id="5" name="Group 4">
            <a:extLst>
              <a:ext uri="{FF2B5EF4-FFF2-40B4-BE49-F238E27FC236}">
                <a16:creationId xmlns:a16="http://schemas.microsoft.com/office/drawing/2014/main" id="{7DA9837B-9412-6B18-7838-57D35A21EE76}"/>
              </a:ext>
            </a:extLst>
          </p:cNvPr>
          <p:cNvGrpSpPr/>
          <p:nvPr/>
        </p:nvGrpSpPr>
        <p:grpSpPr>
          <a:xfrm>
            <a:off x="1508787" y="0"/>
            <a:ext cx="9159213" cy="304800"/>
            <a:chOff x="1143000" y="857250"/>
            <a:chExt cx="6858000" cy="162000"/>
          </a:xfrm>
        </p:grpSpPr>
        <p:sp>
          <p:nvSpPr>
            <p:cNvPr id="6" name="Rectangle 5">
              <a:extLst>
                <a:ext uri="{FF2B5EF4-FFF2-40B4-BE49-F238E27FC236}">
                  <a16:creationId xmlns:a16="http://schemas.microsoft.com/office/drawing/2014/main" id="{F5ADEBA5-6E72-EC44-A640-AF97D4E5D792}"/>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7" name="Rectangle 6">
              <a:extLst>
                <a:ext uri="{FF2B5EF4-FFF2-40B4-BE49-F238E27FC236}">
                  <a16:creationId xmlns:a16="http://schemas.microsoft.com/office/drawing/2014/main" id="{DAAF2560-0AE3-44D1-B205-AC7E71FDD893}"/>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8" name="Group 7">
            <a:extLst>
              <a:ext uri="{FF2B5EF4-FFF2-40B4-BE49-F238E27FC236}">
                <a16:creationId xmlns:a16="http://schemas.microsoft.com/office/drawing/2014/main" id="{F979D6B0-FFC6-A9D2-8A81-FD5DC1E6D76D}"/>
              </a:ext>
            </a:extLst>
          </p:cNvPr>
          <p:cNvGrpSpPr/>
          <p:nvPr/>
        </p:nvGrpSpPr>
        <p:grpSpPr>
          <a:xfrm>
            <a:off x="1515251" y="6553200"/>
            <a:ext cx="9159213" cy="304800"/>
            <a:chOff x="1143000" y="857250"/>
            <a:chExt cx="6858000" cy="162000"/>
          </a:xfrm>
        </p:grpSpPr>
        <p:sp>
          <p:nvSpPr>
            <p:cNvPr id="9" name="Rectangle 8">
              <a:extLst>
                <a:ext uri="{FF2B5EF4-FFF2-40B4-BE49-F238E27FC236}">
                  <a16:creationId xmlns:a16="http://schemas.microsoft.com/office/drawing/2014/main" id="{AA02959D-38B4-7D26-CC3F-BF4AD360344F}"/>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0" name="Rectangle 9">
              <a:extLst>
                <a:ext uri="{FF2B5EF4-FFF2-40B4-BE49-F238E27FC236}">
                  <a16:creationId xmlns:a16="http://schemas.microsoft.com/office/drawing/2014/main" id="{44C0538D-9319-C1E8-73C9-9C6981649CE6}"/>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
        <p:nvSpPr>
          <p:cNvPr id="13" name="Rectangle 3">
            <a:extLst>
              <a:ext uri="{FF2B5EF4-FFF2-40B4-BE49-F238E27FC236}">
                <a16:creationId xmlns:a16="http://schemas.microsoft.com/office/drawing/2014/main" id="{EC4DEF99-1714-B21A-673C-620C1AED7A63}"/>
              </a:ext>
            </a:extLst>
          </p:cNvPr>
          <p:cNvSpPr>
            <a:spLocks noChangeArrowheads="1"/>
          </p:cNvSpPr>
          <p:nvPr/>
        </p:nvSpPr>
        <p:spPr bwMode="auto">
          <a:xfrm>
            <a:off x="994611" y="1938140"/>
            <a:ext cx="627274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BTL-1</a:t>
            </a:r>
            <a:r>
              <a:rPr kumimoji="0" lang="en-US" altLang="en-US" sz="1600" b="0" i="0" u="none" strike="noStrike" cap="none" normalizeH="0" baseline="0" dirty="0">
                <a:ln>
                  <a:noFill/>
                </a:ln>
                <a:solidFill>
                  <a:schemeClr val="tx1"/>
                </a:solidFill>
                <a:effectLst/>
                <a:latin typeface="Arial" panose="020B0604020202020204" pitchFamily="34" charset="0"/>
              </a:rPr>
              <a:t>: Recall definitions and types of fuels (CO2)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BTL-2</a:t>
            </a:r>
            <a:r>
              <a:rPr kumimoji="0" lang="en-US" altLang="en-US" sz="1600" b="0" i="0" u="none" strike="noStrike" cap="none" normalizeH="0" baseline="0" dirty="0">
                <a:ln>
                  <a:noFill/>
                </a:ln>
                <a:solidFill>
                  <a:schemeClr val="tx1"/>
                </a:solidFill>
                <a:effectLst/>
                <a:latin typeface="Arial" panose="020B0604020202020204" pitchFamily="34" charset="0"/>
              </a:rPr>
              <a:t>: Explain characteristics of solid, liquid, and gaseous fuels;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panose="020B0604020202020204" pitchFamily="34" charset="0"/>
              </a:rPr>
              <a:t> define calorific value (CO1, CO2)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BTL-3</a:t>
            </a:r>
            <a:r>
              <a:rPr kumimoji="0" lang="en-US" altLang="en-US" sz="1600" b="0" i="0" u="none" strike="noStrike" cap="none" normalizeH="0" baseline="0" dirty="0">
                <a:ln>
                  <a:noFill/>
                </a:ln>
                <a:solidFill>
                  <a:schemeClr val="tx1"/>
                </a:solidFill>
                <a:effectLst/>
                <a:latin typeface="Arial" panose="020B0604020202020204" pitchFamily="34" charset="0"/>
              </a:rPr>
              <a:t>: Apply knowledge to identify ideal fuels and solve questions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panose="020B0604020202020204" pitchFamily="34" charset="0"/>
              </a:rPr>
              <a:t> related to fuel properties (CO1, CO2)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CB075-EB89-2E88-AF05-0A0D70FFA2BB}"/>
              </a:ext>
            </a:extLst>
          </p:cNvPr>
          <p:cNvSpPr>
            <a:spLocks noGrp="1"/>
          </p:cNvSpPr>
          <p:nvPr>
            <p:ph type="title"/>
          </p:nvPr>
        </p:nvSpPr>
        <p:spPr/>
        <p:txBody>
          <a:bodyPr/>
          <a:lstStyle/>
          <a:p>
            <a:r>
              <a:rPr lang="en-GB" b="1" dirty="0">
                <a:solidFill>
                  <a:schemeClr val="accent5"/>
                </a:solidFill>
              </a:rPr>
              <a:t>References</a:t>
            </a:r>
            <a:endParaRPr lang="en-IN" b="1" dirty="0">
              <a:solidFill>
                <a:schemeClr val="accent5"/>
              </a:solidFill>
            </a:endParaRPr>
          </a:p>
        </p:txBody>
      </p:sp>
      <p:sp>
        <p:nvSpPr>
          <p:cNvPr id="3" name="Content Placeholder 2">
            <a:extLst>
              <a:ext uri="{FF2B5EF4-FFF2-40B4-BE49-F238E27FC236}">
                <a16:creationId xmlns:a16="http://schemas.microsoft.com/office/drawing/2014/main" id="{665745FD-DF0D-8F43-EA79-B945895DD50A}"/>
              </a:ext>
            </a:extLst>
          </p:cNvPr>
          <p:cNvSpPr>
            <a:spLocks noGrp="1"/>
          </p:cNvSpPr>
          <p:nvPr>
            <p:ph idx="1"/>
          </p:nvPr>
        </p:nvSpPr>
        <p:spPr/>
        <p:txBody>
          <a:bodyPr/>
          <a:lstStyle/>
          <a:p>
            <a:r>
              <a:rPr lang="en-US" dirty="0"/>
              <a:t>Engineering Chemistry by Jain and Jain.</a:t>
            </a:r>
            <a:endParaRPr lang="en-IN" dirty="0"/>
          </a:p>
        </p:txBody>
      </p:sp>
      <p:grpSp>
        <p:nvGrpSpPr>
          <p:cNvPr id="4" name="Group 3">
            <a:extLst>
              <a:ext uri="{FF2B5EF4-FFF2-40B4-BE49-F238E27FC236}">
                <a16:creationId xmlns:a16="http://schemas.microsoft.com/office/drawing/2014/main" id="{2764DCA4-FD37-C2FC-1119-5C45808EF00B}"/>
              </a:ext>
            </a:extLst>
          </p:cNvPr>
          <p:cNvGrpSpPr/>
          <p:nvPr/>
        </p:nvGrpSpPr>
        <p:grpSpPr>
          <a:xfrm>
            <a:off x="1508787" y="0"/>
            <a:ext cx="9159213" cy="304800"/>
            <a:chOff x="1143000" y="857250"/>
            <a:chExt cx="6858000" cy="162000"/>
          </a:xfrm>
        </p:grpSpPr>
        <p:sp>
          <p:nvSpPr>
            <p:cNvPr id="5" name="Rectangle 4">
              <a:extLst>
                <a:ext uri="{FF2B5EF4-FFF2-40B4-BE49-F238E27FC236}">
                  <a16:creationId xmlns:a16="http://schemas.microsoft.com/office/drawing/2014/main" id="{FBA3CB68-5CE5-9A1C-A405-2895508686B4}"/>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6" name="Rectangle 5">
              <a:extLst>
                <a:ext uri="{FF2B5EF4-FFF2-40B4-BE49-F238E27FC236}">
                  <a16:creationId xmlns:a16="http://schemas.microsoft.com/office/drawing/2014/main" id="{B0766F54-A2AC-8A36-FCBA-75783A459621}"/>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7" name="Group 6">
            <a:extLst>
              <a:ext uri="{FF2B5EF4-FFF2-40B4-BE49-F238E27FC236}">
                <a16:creationId xmlns:a16="http://schemas.microsoft.com/office/drawing/2014/main" id="{A93BA160-06B8-4131-B8B4-9311BD5B3757}"/>
              </a:ext>
            </a:extLst>
          </p:cNvPr>
          <p:cNvGrpSpPr/>
          <p:nvPr/>
        </p:nvGrpSpPr>
        <p:grpSpPr>
          <a:xfrm>
            <a:off x="1515251" y="6553200"/>
            <a:ext cx="9159213" cy="304800"/>
            <a:chOff x="1143000" y="857250"/>
            <a:chExt cx="6858000" cy="162000"/>
          </a:xfrm>
        </p:grpSpPr>
        <p:sp>
          <p:nvSpPr>
            <p:cNvPr id="8" name="Rectangle 7">
              <a:extLst>
                <a:ext uri="{FF2B5EF4-FFF2-40B4-BE49-F238E27FC236}">
                  <a16:creationId xmlns:a16="http://schemas.microsoft.com/office/drawing/2014/main" id="{164D3B3F-BF91-7EBC-2133-14B8E92D23CF}"/>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9" name="Rectangle 8">
              <a:extLst>
                <a:ext uri="{FF2B5EF4-FFF2-40B4-BE49-F238E27FC236}">
                  <a16:creationId xmlns:a16="http://schemas.microsoft.com/office/drawing/2014/main" id="{3FC7CBCB-34DC-95E3-9429-D8AF1AEA67E4}"/>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Tree>
    <p:extLst>
      <p:ext uri="{BB962C8B-B14F-4D97-AF65-F5344CB8AC3E}">
        <p14:creationId xmlns:p14="http://schemas.microsoft.com/office/powerpoint/2010/main" val="3995075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1451</Words>
  <Application>Microsoft Office PowerPoint</Application>
  <PresentationFormat>Widescreen</PresentationFormat>
  <Paragraphs>185</Paragraphs>
  <Slides>23</Slides>
  <Notes>12</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Course Overview</vt:lpstr>
      <vt:lpstr>PowerPoint Presentation</vt:lpstr>
      <vt:lpstr>calorific value (HCV &amp; LCV)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Take away of the session</vt:lpstr>
      <vt:lpstr>PowerPoint Presentation</vt:lpstr>
      <vt:lpstr>Learning Outcomes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pratibha.s</dc:creator>
  <cp:lastModifiedBy>Dr. Mehak Ahuja</cp:lastModifiedBy>
  <cp:revision>16</cp:revision>
  <dcterms:created xsi:type="dcterms:W3CDTF">2024-10-29T09:59:29Z</dcterms:created>
  <dcterms:modified xsi:type="dcterms:W3CDTF">2025-10-27T04:48:34Z</dcterms:modified>
</cp:coreProperties>
</file>