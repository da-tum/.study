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575" r:id="rId2"/>
    <p:sldId id="565" r:id="rId3"/>
    <p:sldId id="576" r:id="rId4"/>
    <p:sldId id="515" r:id="rId5"/>
    <p:sldId id="577" r:id="rId6"/>
    <p:sldId id="601" r:id="rId7"/>
    <p:sldId id="604" r:id="rId8"/>
    <p:sldId id="605" r:id="rId9"/>
    <p:sldId id="606" r:id="rId10"/>
    <p:sldId id="512" r:id="rId11"/>
    <p:sldId id="589" r:id="rId12"/>
    <p:sldId id="514" r:id="rId13"/>
    <p:sldId id="592" r:id="rId14"/>
    <p:sldId id="591" r:id="rId15"/>
    <p:sldId id="511" r:id="rId16"/>
    <p:sldId id="590" r:id="rId17"/>
    <p:sldId id="593" r:id="rId18"/>
    <p:sldId id="594" r:id="rId19"/>
    <p:sldId id="595" r:id="rId20"/>
    <p:sldId id="596" r:id="rId21"/>
    <p:sldId id="597" r:id="rId22"/>
    <p:sldId id="598" r:id="rId23"/>
    <p:sldId id="599" r:id="rId24"/>
    <p:sldId id="600" r:id="rId25"/>
    <p:sldId id="572" r:id="rId26"/>
    <p:sldId id="573" r:id="rId27"/>
    <p:sldId id="285" r:id="rId28"/>
    <p:sldId id="58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CO1: </a:t>
          </a:r>
          <a:r>
            <a:rPr lang="en-US" b="1" dirty="0"/>
            <a:t>Understand</a:t>
          </a:r>
          <a:r>
            <a:rPr lang="en-US" dirty="0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CO2: </a:t>
          </a:r>
          <a:r>
            <a:rPr lang="en-US" b="1" dirty="0"/>
            <a:t>Explain</a:t>
          </a:r>
          <a:r>
            <a:rPr lang="en-US" dirty="0"/>
            <a:t> the characteristics and working principles of different battery types and types of fuels. </a:t>
          </a:r>
          <a:endParaRPr lang="en-IN" dirty="0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CO3: </a:t>
          </a:r>
          <a:r>
            <a:rPr lang="en-US" b="1" dirty="0"/>
            <a:t>Determine</a:t>
          </a:r>
          <a:r>
            <a:rPr lang="en-US" dirty="0"/>
            <a:t> the differences between batteries and fuel cells and classify fuel cell types based on their components.</a:t>
          </a:r>
          <a:r>
            <a:rPr lang="en-IN" dirty="0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CO4: </a:t>
          </a:r>
          <a:r>
            <a:rPr lang="en-US" b="1" dirty="0"/>
            <a:t>Identify</a:t>
          </a:r>
          <a:r>
            <a:rPr lang="en-US" dirty="0"/>
            <a:t> between hard and soft water, solve the related numerical problems on water purification and emf and its significance in industry and daily life.</a:t>
          </a:r>
          <a:endParaRPr lang="en-IN" dirty="0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CO1: </a:t>
          </a:r>
          <a:r>
            <a:rPr lang="en-US" sz="1400" b="1" kern="1200" dirty="0"/>
            <a:t>Understand</a:t>
          </a:r>
          <a:r>
            <a:rPr lang="en-US" sz="1400" kern="1200" dirty="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CO2: </a:t>
          </a:r>
          <a:r>
            <a:rPr lang="en-US" sz="1400" b="1" kern="1200" dirty="0"/>
            <a:t>Explain</a:t>
          </a:r>
          <a:r>
            <a:rPr lang="en-US" sz="1400" kern="1200" dirty="0"/>
            <a:t> the characteristics and working principles of different battery types and types of fuels. </a:t>
          </a:r>
          <a:endParaRPr lang="en-IN" sz="1400" kern="1200" dirty="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CO3: </a:t>
          </a:r>
          <a:r>
            <a:rPr lang="en-US" sz="1400" b="1" kern="1200" dirty="0"/>
            <a:t>Determine</a:t>
          </a:r>
          <a:r>
            <a:rPr lang="en-US" sz="1400" kern="1200" dirty="0"/>
            <a:t> the differences between batteries and fuel cells and classify fuel cell types based on their components.</a:t>
          </a:r>
          <a:r>
            <a:rPr lang="en-IN" sz="1400" kern="1200" dirty="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CO4: </a:t>
          </a:r>
          <a:r>
            <a:rPr lang="en-US" sz="1400" b="1" kern="1200" dirty="0"/>
            <a:t>Identify</a:t>
          </a:r>
          <a:r>
            <a:rPr lang="en-US" sz="1400" kern="1200" dirty="0"/>
            <a:t> between hard and soft water, solve the related numerical problems on water purification and emf and its significance in industry and daily life.</a:t>
          </a:r>
          <a:endParaRPr lang="en-IN" sz="1400" kern="1200" dirty="0"/>
        </a:p>
      </dsp:txBody>
      <dsp:txXfrm>
        <a:off x="1324733" y="4280518"/>
        <a:ext cx="2762446" cy="1147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5C0D3-DCC4-4753-B92E-C7F382FCCF93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66C57-B0B1-4060-8EA3-B998DA6803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45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390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707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45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8145-A1AD-BD7E-9930-DA4B84CED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01E67-395D-F72D-731B-F79D251170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BC62F-872F-AC4E-C421-D7938809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7A1F8-42C6-2D3F-C152-2E3745C0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23183-683B-FFEE-F13A-B4CE749F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498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567A2-2254-03F4-41CD-A5FD21782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FAA08-8389-F98B-43DB-881C6ABB9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DDAC4-506E-D8AD-2CAB-E09C4ECD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3C04F-4F2E-2079-E784-E113AC280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F9941-2496-5757-2C19-0D2D495F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12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2058-8903-33E3-F259-70D09B0E3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114AE-E388-63C7-2028-AFC09CED9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640C0-F0C5-F074-03D8-C8209EF8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4B0F9-04D0-625F-70AC-1654E3C9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E706C-4FAB-5F4E-48FC-D1EFD3500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983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4CB1-5875-6080-9830-C1C2729A3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1A1C-5A82-0D5E-0705-8BC838D569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6AC92-3214-6117-75D6-B7C6C1443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9E9B3-6977-6439-7FEF-FE1F26D3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3EA97-2DF9-E35E-D8FB-BDCC4AC6F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6E04F-AB05-51BA-9ACD-DB566677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DA28-382B-43D5-4B89-BC66E1201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2E85E-0869-1E77-7D0C-72157A6D4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9FF1B-E0A3-8032-68FC-2E4600562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265E2-22ED-1E02-66BF-4B03C4AFF5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51B34-CE20-923C-7386-A51332CE6D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A66613-EE78-7863-C1CB-8FBB58043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388F9-D57F-3EDC-8B57-E9ABE014F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488FF4-6E11-F6CF-875C-E5E2D764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488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2215-9FCE-1820-A1AF-57AF2C71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2C7DA-5320-9EF8-9F95-64EA189F6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CD039-DD36-A96A-5D1C-14C197C4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7BF6C-352F-5BBA-8437-878D059B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84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6B2B42-9B77-6BA6-3C23-430B1FC5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08A2D5-4BB8-FE06-17AF-748221A3B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FD382-E4EA-A00D-07FE-83D3695B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742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A0B64-3D54-EE4D-3F5F-A5A5734DB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71901-8DDF-F4AE-0365-12548CF35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29B5F-3407-F35D-3951-AA885D074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924CA-1AA9-7DE1-BC84-4ADE3C6B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EE319-494A-8639-46E3-D64DC9C13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1FC34F-7675-C7E4-2BA9-FA15138A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95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E876-F7D3-43A8-2285-47296BD8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83D03-9823-D3A3-2C0F-BD5984FBB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291B59-BB33-735F-4451-566C9BBBC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D7F5D-3A27-945B-DCFB-DA528595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17C69-2AC5-554B-276A-B299FF1D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3D9D2-4660-AB5A-C2C8-643A3163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572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782D-2CE6-3571-8D56-CF4255B2A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BB260-02ED-078E-0534-4DD44A0B0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5CCD6-45C0-DB7F-C26A-47A0D495D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456F3-E877-9C16-C778-99CA1F060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91935-929D-D153-EB46-C444D576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36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E75133-D27E-CA5D-6F99-60DCD2039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12409-ECE2-DB1E-EDB6-41EE9D38F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87510-DC3B-D12A-9937-5CD298DD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C076D-A509-4959-52C1-BAF4A8D7F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E84C2-76B8-C91A-BE68-1FEA780FB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53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042A48-1B47-7216-D173-17586D27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D1B7E-8698-A4E7-8707-C1B7AFC08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A428-9FDE-2AE2-959D-E367B21EC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F50D1-5F9F-4E46-9FCE-FF2A2E94C0E9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B6946-ECDB-37DC-54DE-D9BEF724B9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A28D0-1B44-D278-B16B-48007556A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50DEC-CCB3-4117-B774-44AA26902D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82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1508786" y="1251438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3280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Mehak Ahuja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5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152400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GB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B.Tech. (AI/ML)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2: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Chemical Fuels</a:t>
            </a:r>
          </a:p>
          <a:p>
            <a:pPr algn="ctr"/>
            <a:endParaRPr lang="en-GB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700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 dirty="0"/>
              <a:t>Course Overview</a:t>
            </a:r>
            <a:endParaRPr lang="en-IN" sz="3850" b="1" dirty="0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7623" y="409574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1506502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64C58C-FC55-0654-B87F-18E4C7204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603571"/>
              </p:ext>
            </p:extLst>
          </p:nvPr>
        </p:nvGraphicFramePr>
        <p:xfrm>
          <a:off x="1296916" y="1365014"/>
          <a:ext cx="8742434" cy="4966604"/>
        </p:xfrm>
        <a:graphic>
          <a:graphicData uri="http://schemas.openxmlformats.org/drawingml/2006/table">
            <a:tbl>
              <a:tblPr/>
              <a:tblGrid>
                <a:gridCol w="2507520">
                  <a:extLst>
                    <a:ext uri="{9D8B030D-6E8A-4147-A177-3AD203B41FA5}">
                      <a16:colId xmlns:a16="http://schemas.microsoft.com/office/drawing/2014/main" val="3259460763"/>
                    </a:ext>
                  </a:extLst>
                </a:gridCol>
                <a:gridCol w="3117457">
                  <a:extLst>
                    <a:ext uri="{9D8B030D-6E8A-4147-A177-3AD203B41FA5}">
                      <a16:colId xmlns:a16="http://schemas.microsoft.com/office/drawing/2014/main" val="4056401643"/>
                    </a:ext>
                  </a:extLst>
                </a:gridCol>
                <a:gridCol w="3117457">
                  <a:extLst>
                    <a:ext uri="{9D8B030D-6E8A-4147-A177-3AD203B41FA5}">
                      <a16:colId xmlns:a16="http://schemas.microsoft.com/office/drawing/2014/main" val="903905466"/>
                    </a:ext>
                  </a:extLst>
                </a:gridCol>
              </a:tblGrid>
              <a:tr h="521835">
                <a:tc gridSpan="3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WISE DETAILS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b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482948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Water technology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6 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22993"/>
                  </a:ext>
                </a:extLst>
              </a:tr>
              <a:tr h="668672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Introduction, water analysis: Hardness-determination by EDTA method, Treatment of boiler feed water: Internal treatment (Phosphate, Colloidal and Calgon conditioning). External treatments: Ion exchange and lime-soda process, Zeolite processes. Boiler scales formation and ill effects, methods of prevention of scales. Numerical problems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543698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Chemical Fuels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9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078671"/>
                  </a:ext>
                </a:extLst>
              </a:tr>
              <a:tr h="962345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Fuels: Introduction, classification, calorific value (HCV &amp; LCV), Determination of calorific value of fuel using Bomb calorimeter. 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Solid fuel: Coal- its analysis by proximate and ultimate analysis, Numerical problems.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Liquid fuels: Refining of petroleum, Petroleum cracking, Knocking in IC engine, its ill effects and prevention of knocking. Anti-knocking agent: Leaded and unleaded petrol. 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Gaseous fuels: LPG, CNG and their applications.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600121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Battery Technology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10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997081"/>
                  </a:ext>
                </a:extLst>
              </a:tr>
              <a:tr h="668672">
                <a:tc gridSpan="3"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 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 - Galvanic cell, electrode potential, EMF of the cell and cell representation. Batteries and their importance, Classification of batteries- primary, secondary and reserve batteries with examples. Battery characteristics - voltage, capacity, energy density, power density, energy efficiency, cycle life and shelf life.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Construction, working and applications of: Ni-Cd, and Lithium-ion battery. Working principle of an electric vehicle.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770376"/>
                  </a:ext>
                </a:extLst>
              </a:tr>
              <a:tr h="228162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Unit Number: 4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Title:   Polymer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 of hours:  5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421614"/>
                  </a:ext>
                </a:extLst>
              </a:tr>
              <a:tr h="617166">
                <a:tc gridSpan="3">
                  <a:txBody>
                    <a:bodyPr/>
                    <a:lstStyle/>
                    <a:p>
                      <a:pPr algn="just" fontAlgn="base">
                        <a:lnSpc>
                          <a:spcPts val="1275"/>
                        </a:lnSpc>
                        <a:buNone/>
                      </a:pPr>
                      <a:r>
                        <a:rPr lang="en-US" sz="1100" b="1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Content Summary: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Basic concepts of polymer, Types of polymers, Thermoplastic &amp; thermosetting plastics, Preparation and application of some industrially important polymers (Natural rubber, Buna S, Buna-N, Neoprene, Isoprene, Nylon-6, nylon-6,6 , </a:t>
                      </a:r>
                      <a:r>
                        <a:rPr lang="en-US" sz="1100" b="0" i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Decron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and Terylene). Conducting and biodegradable polymers. ​</a:t>
                      </a:r>
                      <a:endParaRPr lang="en-US" sz="20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325" marR="81325" marT="40662" marB="40662" anchor="ctr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35331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907E990F-687D-92DB-F028-33734876C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5" y="16319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2152650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/>
        </p:nvGraphicFramePr>
        <p:xfrm>
          <a:off x="5657779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 descr="Smoke From An Exhaust Pipe Of A Car">
            <a:extLst>
              <a:ext uri="{FF2B5EF4-FFF2-40B4-BE49-F238E27FC236}">
                <a16:creationId xmlns:a16="http://schemas.microsoft.com/office/drawing/2014/main" id="{159C88F7-6049-CCD3-21CF-7662533C4F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BE1F49-B3DA-2935-B8CC-BD4847AF71C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048" y="152400"/>
            <a:ext cx="10058400" cy="357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7200" dirty="0">
                <a:solidFill>
                  <a:srgbClr val="FF0000"/>
                </a:solidFill>
              </a:rPr>
              <a:t>Unit 2- Fuels</a:t>
            </a:r>
            <a:endParaRPr lang="en-IN" sz="72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9A55DA-ABC1-B114-298A-B5F1E1A9716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85011" y="4651375"/>
            <a:ext cx="4812632" cy="12827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2500" lnSpcReduction="1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Introduction 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and Classification</a:t>
            </a:r>
            <a:endParaRPr lang="en-IN" sz="4400" b="1" dirty="0">
              <a:solidFill>
                <a:srgbClr val="FF000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FB6F29F-1738-2A0D-B39F-8E437950E312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1A0D3A3-85A8-D153-F074-9343956AC3F5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556FFE-DE7D-34CC-15D0-1BCEDF3B2912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457EEBB-0101-F1F1-703F-58B4D533A96F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455268-AF4A-51CB-48DD-25C1856BAD7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C619DC-D777-8639-A4C4-226BAC62063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8F3B586-30AA-607C-BF8E-D666EA707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7479" y="1291461"/>
            <a:ext cx="5745131" cy="427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9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80F358-C6E1-2DDB-4EC0-79F3473FB07C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EA5917-B4A1-951B-57B7-DABB2497DEB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456A52-CA10-898F-1089-AF1A7015A4C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C72EEAE-AB9C-700A-283B-4DB0C0514160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D32117-C5A4-5342-4133-785A64FE46BA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9597132-6A86-CE87-F381-16489050C2F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5AD520D-A547-9094-8317-31020974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68" y="3068614"/>
            <a:ext cx="3818780" cy="30945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9EE553-2A6C-1BC6-D848-B2A8E0292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450" y="3068614"/>
            <a:ext cx="3988081" cy="30945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576FB9-C90C-7F41-B6B5-F63B4A0C7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661" y="610502"/>
            <a:ext cx="3947071" cy="30466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B00672F-F77E-EA42-60BA-DF26BDBC1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6661" y="3344646"/>
            <a:ext cx="3988081" cy="29467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C5098FD-B238-9349-0DD7-FDE24D044FDB}"/>
              </a:ext>
            </a:extLst>
          </p:cNvPr>
          <p:cNvSpPr txBox="1"/>
          <p:nvPr/>
        </p:nvSpPr>
        <p:spPr>
          <a:xfrm>
            <a:off x="592224" y="835744"/>
            <a:ext cx="69462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Fuels are combustible substance which on burning in the presence of oxygen or air give large amount of heat that can be used economically for domestic and industrial processes.  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616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760BB9-9687-A60D-59D5-323A16BD6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021" y="923293"/>
            <a:ext cx="7438746" cy="47459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BE2778-9E2A-9676-B916-17D8018BA8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6673DA2-45E2-5B3D-EC4A-D5F018EFADA6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6B2854-466E-B176-E737-48D967174F8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19C200D-C402-600A-E576-3FF3C612E2F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4597F-F4B4-7883-17D3-A5FF9D1A1E59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53E4CD-9D0A-5A83-DC13-F5E68C41BDB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576FA6-0737-53D9-7CED-9EC980E069FA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241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2D4D50-06B7-F902-FA23-5056709E1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525" y="852142"/>
            <a:ext cx="6994089" cy="46279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9D7162-426D-1EB5-28B0-991B231C25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36B0393-F194-43F4-52BB-C72A89CED82C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9200EA-CFA4-6340-5B47-E6A5D446B0F2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F728B00-E7B6-A9FE-D123-32622CC1124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451D9BA-2CA5-0B00-1863-080780280269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899BDD-209E-C1CD-7532-91A6F4B9E53A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2DFE488-6455-FA80-8F04-6F5B23A4A4D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239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C1DD1-DF1E-D40A-593F-5176E1F70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45" y="733702"/>
            <a:ext cx="8580802" cy="52084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46012B-D6B1-B5E1-7AF9-0187D2B2A7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4D79A50-E223-728B-D971-9EF813B5B8A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399E67-7B67-5A71-5C1F-490686E482EA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70BCA7B-82F9-A35F-765A-347BA3817FA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1679128-8A22-E1B7-9FBD-9DE3BE1C4977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CC18F94-16F9-DD0C-1FCD-A058D5623B41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1CA6D7-DC43-7160-6F9E-C8FE7441F76F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1465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C59EA-ADA6-C587-71BD-2549DE72F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575" y="504189"/>
            <a:ext cx="6253666" cy="54397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B6746F-C74B-53D1-A711-9C179C1CD1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0F2DB7C6-A236-7C4A-2A20-D73E48CAD81C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1859F9-9D81-A8AB-B9DA-D009B6B86599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A562E51-CD52-726B-35B6-B021C628F72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F4024D4-BDC5-5928-C954-FED4EF501601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579DD3-F54F-4A1C-9027-9BEE1CEF2903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2A7E03-6481-B130-3FC8-0DB9809AACEF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6440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488" y="0"/>
            <a:ext cx="9180512" cy="6884988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1524001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https://www.learnpick.in/files/pptimages/1182/68f316944f7b07cecd7a5bd41952d26e-4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0" t="22520" r="7000" b="11270"/>
          <a:stretch/>
        </p:blipFill>
        <p:spPr bwMode="auto">
          <a:xfrm>
            <a:off x="2927648" y="1093205"/>
            <a:ext cx="5976664" cy="375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524002" y="3607"/>
            <a:ext cx="9144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Classification of Fuel </a:t>
            </a:r>
          </a:p>
          <a:p>
            <a:pPr algn="ctr"/>
            <a:r>
              <a:rPr lang="en-US" sz="3600" b="1" dirty="0"/>
              <a:t>On the Basis of there Occurrence</a:t>
            </a:r>
            <a:endParaRPr lang="en-IN" sz="36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210716" y="4974654"/>
            <a:ext cx="30211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Fuels which are found in nature are natural fuels </a:t>
            </a:r>
            <a:r>
              <a:rPr lang="en-US" sz="2000" b="1" dirty="0" err="1"/>
              <a:t>eg</a:t>
            </a:r>
            <a:r>
              <a:rPr lang="en-US" sz="2000" b="1" dirty="0"/>
              <a:t>. Coal, peat, wood and Natural gas.</a:t>
            </a:r>
          </a:p>
          <a:p>
            <a:endParaRPr lang="en-US" sz="2000" b="1" dirty="0"/>
          </a:p>
        </p:txBody>
      </p:sp>
      <p:sp>
        <p:nvSpPr>
          <p:cNvPr id="14" name="Rectangle 13"/>
          <p:cNvSpPr/>
          <p:nvPr/>
        </p:nvSpPr>
        <p:spPr>
          <a:xfrm>
            <a:off x="6312024" y="4974655"/>
            <a:ext cx="399644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While the fuels prepared artificially from primary fuels are called artificial fuels. </a:t>
            </a:r>
          </a:p>
          <a:p>
            <a:r>
              <a:rPr lang="en-US" sz="2000" b="1" dirty="0" err="1"/>
              <a:t>Eg</a:t>
            </a:r>
            <a:r>
              <a:rPr lang="en-US" sz="2000" b="1" dirty="0"/>
              <a:t>. Coke, kerosene oil 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400840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F495A40C-E7ED-3F12-9AD8-40DE7633A2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3228FA31-8FDE-FB9E-9738-96D42EF9D5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9" t="366" r="12225"/>
          <a:stretch>
            <a:fillRect/>
          </a:stretch>
        </p:blipFill>
        <p:spPr bwMode="auto">
          <a:xfrm>
            <a:off x="2267712" y="640080"/>
            <a:ext cx="8567928" cy="621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71D615C-D0BE-317C-3450-849308112601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FEAC43-86EE-2E14-2C42-69BFF733A3E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28E2754-D18A-DFE0-2DF3-4CE5E867308E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D46C2CA-A773-592D-B2F9-43D8EE286631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B360A8B-DCE3-AC1F-662D-251D1D3FA3E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8F18A2-5BBF-B5FF-F44D-07603AFE138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592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524000" y="11758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063552" y="1196752"/>
            <a:ext cx="7416824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All matter in the universe is divided into solid, liquid, and gas states. </a:t>
            </a:r>
          </a:p>
          <a:p>
            <a:pPr fontAlgn="base"/>
            <a:r>
              <a:rPr lang="en-US" b="1" dirty="0"/>
              <a:t>1.</a:t>
            </a:r>
            <a:r>
              <a:rPr lang="en-US" sz="2000" b="1" u="sng" dirty="0">
                <a:solidFill>
                  <a:srgbClr val="FF0000"/>
                </a:solidFill>
              </a:rPr>
              <a:t> Solid Fuel</a:t>
            </a:r>
            <a:r>
              <a:rPr lang="en-US" b="1" dirty="0"/>
              <a:t> – All the fuels that exist in a solid-state are known as solid fuels. </a:t>
            </a:r>
          </a:p>
          <a:p>
            <a:pPr fontAlgn="base"/>
            <a:r>
              <a:rPr lang="en-US" b="1" u="sng" dirty="0"/>
              <a:t>Example: Coal, Bituminous, Anthracite, Peat, Wood, Coke, Charcoal, etc</a:t>
            </a:r>
            <a:r>
              <a:rPr lang="en-US" b="1" dirty="0"/>
              <a:t>.</a:t>
            </a:r>
          </a:p>
          <a:p>
            <a:pPr fontAlgn="base"/>
            <a:r>
              <a:rPr lang="en-US" b="1" dirty="0"/>
              <a:t>2. </a:t>
            </a:r>
            <a:r>
              <a:rPr lang="en-US" b="1" u="sng" dirty="0">
                <a:solidFill>
                  <a:srgbClr val="FF0000"/>
                </a:solidFill>
              </a:rPr>
              <a:t>Liquid Fuel</a:t>
            </a:r>
            <a:r>
              <a:rPr lang="en-US" b="1" dirty="0"/>
              <a:t> – All the fuels that exist in the liquid state are known as liquid fuels. </a:t>
            </a:r>
            <a:br>
              <a:rPr lang="en-US" b="1" dirty="0"/>
            </a:br>
            <a:r>
              <a:rPr lang="en-US" b="1" u="sng" dirty="0"/>
              <a:t>Example: Diesel, Petrol, Kerosene, Crude oil.</a:t>
            </a:r>
          </a:p>
          <a:p>
            <a:pPr fontAlgn="base"/>
            <a:r>
              <a:rPr lang="en-US" b="1" dirty="0"/>
              <a:t>3. </a:t>
            </a:r>
            <a:r>
              <a:rPr lang="en-US" b="1" u="sng" dirty="0">
                <a:solidFill>
                  <a:srgbClr val="FF0000"/>
                </a:solidFill>
              </a:rPr>
              <a:t>Gaseous Fuel</a:t>
            </a:r>
            <a:r>
              <a:rPr lang="en-US" b="1" dirty="0"/>
              <a:t> – All the fuels that exist in the gaseous state are known as gaseous fuels. </a:t>
            </a:r>
          </a:p>
          <a:p>
            <a:pPr fontAlgn="base"/>
            <a:r>
              <a:rPr lang="en-US" b="1" u="sng" dirty="0"/>
              <a:t>Example: Natural gas, Biogas, Water gas, etc.</a:t>
            </a:r>
          </a:p>
          <a:p>
            <a:pPr fontAlgn="base"/>
            <a:endParaRPr lang="en-US" b="1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3" t="30771" r="19199"/>
          <a:stretch/>
        </p:blipFill>
        <p:spPr bwMode="auto">
          <a:xfrm>
            <a:off x="4639798" y="4320928"/>
            <a:ext cx="1807096" cy="218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48" r="15160"/>
          <a:stretch/>
        </p:blipFill>
        <p:spPr bwMode="auto">
          <a:xfrm>
            <a:off x="6986445" y="4643850"/>
            <a:ext cx="1817492" cy="1447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524000" y="98630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Classification of Fuel </a:t>
            </a:r>
          </a:p>
          <a:p>
            <a:pPr algn="ctr"/>
            <a:r>
              <a:rPr lang="en-US" sz="3200" b="1" dirty="0"/>
              <a:t>On the Basis of there Physical state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778342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BA5FF59-EAB7-2B8E-EBF8-D322FDA15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7716" y="409448"/>
            <a:ext cx="8493252" cy="566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A37BF9-F1F7-D247-DDE1-A698981225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2D33D4B-807E-F875-8A2A-E355A14B63B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CCB6691-75CF-6DAF-C23A-9B52530331E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C9DDF89-F0EB-1735-9CC1-A216A7DBD4D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6231819-77AA-B62F-4671-5314D8442F29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AE15D8-9F88-7E9E-86DF-1494E5A58A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5958F0-27A0-2D18-8D2B-BA200FF0CC7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9678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222829E-69DD-BEA4-10A6-3AB7E62E39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0F7CC08B-A941-24D5-B869-192E6DD94B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644224D7-BBE9-35B2-F7E1-C59CDA3F51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D8244A70-6FAA-08EB-D368-0E38DF2885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8FB0AB-0B7C-20B3-692B-D4EFB239B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E05678-D40D-687E-D6DB-727D00CA30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25A7089-8D09-ADCB-76CE-CB41B817E75D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AEB018-22C0-FA5D-6990-DD395FC49962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8322142-3251-3B0E-3661-53139C517DCE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CD839B5-ADB6-B11A-6012-870E7B6BE2BB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946C71-A5F4-E259-C30F-ADCC1905211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2DAD2B-3684-6982-DAFA-17AF3DD7E93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92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1524000" y="1304873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49" t="23576" r="25760" b="7860"/>
          <a:stretch/>
        </p:blipFill>
        <p:spPr bwMode="auto">
          <a:xfrm>
            <a:off x="2495600" y="1530232"/>
            <a:ext cx="7279336" cy="4239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1596008" y="420338"/>
            <a:ext cx="9252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Characteristics of a Good Fuel</a:t>
            </a:r>
            <a:endParaRPr lang="en-IN" sz="4400" b="1" dirty="0">
              <a:solidFill>
                <a:srgbClr val="FF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A66CB6-9AE5-DF06-D104-F6E2751E5398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E922024-AE54-5D48-D421-BB38551ADE0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EEE4557-401C-68F6-45E4-6C105EBD4C0A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0F0EBC9-B554-194E-7F29-BBF4F850AF58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7C8301-B8B8-3576-CA06-B32E66F8B01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B6C6CA-27DB-C148-AAD5-8C36CDDD124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1709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1B35769E-0413-3382-DC3A-5628DEA15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904" y="187739"/>
            <a:ext cx="8077200" cy="605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3CE187-FBB2-B5AC-7934-50CC82E3C8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1F1D0D3-25ED-CF79-5F5A-9B8B79C0E19C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57F036-7BC0-0749-4E39-D721222D53C7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1EBE46-7D46-1625-EDBF-A3B18BBA431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E06AE93-3162-4608-B3FD-EB122491EB7C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9DB7E2-ACF1-28BB-4387-E3E0C3381AA9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57D3E01-A626-4714-E99C-9CF6AB1F38B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6424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D772DA-762B-20E6-0015-AB2E502A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578" y="504978"/>
            <a:ext cx="6482059" cy="55673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3C3735-4C55-A3BB-249D-22D270B18C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6AE200E-D2A0-0350-A7CF-514E19B08B3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12ACE2-DC0D-C0B0-1579-FE8D8868753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CC2860-2E37-D72A-386A-64C0ABBEB038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655CB12-8181-FB93-AFA1-D715930B49A2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5D5568-A064-5FA4-F84A-F94ED7BCFEBA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4C0669-AFDA-23D4-F253-DF04C59E3C8F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7003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AFA8FC-D6D4-FF6A-0FE2-D3C04AFC3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94" y="1952419"/>
            <a:ext cx="7964011" cy="29531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09FDEC-31DE-CAE5-039B-2B050A1172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0504193-6BF5-BA3E-75A9-9A919B8738F2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41DC44-AE80-3B03-347F-8196A5019F27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A90C6BE-60E5-A596-B610-B52DCD9AD9D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223B323-B47A-5958-0A62-4E15A1E8C751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D7F036B-7FDD-5BCE-86BD-E8C30A452DA7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63C8989-E396-5EDF-3CC4-FC8837CFD262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2584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7D2E60-4603-1741-A2D0-220924554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15" y="718759"/>
            <a:ext cx="8021169" cy="54204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06294B-D1D4-C082-2B3F-BECB15DCED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760F197-44CF-337B-0265-B1271C8E6403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E443F5-7E22-AE63-6E62-5FFC6F2674E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B2C4F9-41C0-8404-3182-BA50F2F7A71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78A19BE-9CAA-AAAB-678F-2F145F9133E8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C7C115A-E962-254A-17D0-507202114EA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097A8F2-A850-5C1E-123E-66A5CE0AC0D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9368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35A452-FDD9-C6F5-89AD-E66B90845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974" y="514210"/>
            <a:ext cx="7035659" cy="55580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C90361-DCC7-7D19-7454-A3C5B79D8B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5A711F5-64B1-236C-B7E0-22E0ED93B5FE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199B93-EECE-CBB2-350E-DFBF0015035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022985-145C-30E7-57A1-AABD0A2C13F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174F6A0-DE72-1C28-3ED2-64CAE9F9FC04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715FA9-73FD-6526-A971-884988A9C5E1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BA8F723-1FCD-4A67-30C3-6D26D18F50D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2180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4E3BF1-61ED-4E29-E70A-6D0C3697B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36" y="680654"/>
            <a:ext cx="7897327" cy="54966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AA1F81-EF2C-5776-8950-D8D9D9A5AC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1AD4795-D928-557D-B32B-FCEC2FB56192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99E9E13-C8C7-6E74-CBE5-8C4EC168282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229760-81E6-282B-2A63-5DFD779B4C98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AC53BFD-872A-C152-274D-102B06617E28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6FE128-293A-9088-F05F-E296E820968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D79259-A37D-98F2-E66B-41F8E2C6C9C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5218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ACCE3-CB82-316F-004E-6856843E9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8" y="880707"/>
            <a:ext cx="8192643" cy="5096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B7D27B-4D9A-BB45-9BBD-3E441F0A81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E3B384D-C1B3-182C-5F60-A5263973C2EA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953F0C1-7D33-3A13-F97E-B210EF00B5F5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7AD7CF-3390-1397-EE27-E4B619BE8FF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905E066-FB7C-EC5E-3A1F-969B6D2474B9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C1EA46-B0DD-B331-982A-9CFDF9ECD715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B44037-FB9D-536D-17A0-5EBCCDBD90A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164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764977-46FC-DBB4-A71C-4D964E342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46" y="552048"/>
            <a:ext cx="8287907" cy="57539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74D26B-640D-7F48-C8F8-704B3E94B3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215AAE9-5CA5-CCE3-9842-DBAA5E5E441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3F35850-81C8-0919-42B8-E23BB70CA27A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D085260-2BB0-E6AC-A712-12FC122D65E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C97B4D6-20D6-2135-D2A4-E32482C60E06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F67A5B-DF33-D926-72D7-521F560E8CF9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C6B6C4-586B-C377-809D-D3647F425C3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7789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0AA9FF-E7F6-F19D-DB1A-13E40F49A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196" y="1729984"/>
            <a:ext cx="7992590" cy="2353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46B6AD-4CCE-8F39-2B2E-5A16D435F1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7CF6775-FAF8-27CA-EF24-4DE65DAB51BF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F515C3-5E3F-FB22-B1EC-79635207CB5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D399EA-C228-3D89-56EE-146D3A48EB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5467E0-2CF2-AC41-43B8-8C2F6CB1B5B1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FF1CF1-3B9E-CB80-97ED-1670D77271DC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E1153E-01CE-7FBD-9235-42018F8BB69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184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CD49-9941-C738-AD8F-209EF507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Take away of the session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AC60-6C94-BE21-A17A-6CC0CDE9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Definition:</a:t>
            </a:r>
            <a:r>
              <a:rPr lang="en-US" dirty="0">
                <a:ea typeface="+mn-lt"/>
                <a:cs typeface="+mn-lt"/>
              </a:rPr>
              <a:t> Fuels are substances that </a:t>
            </a:r>
            <a:r>
              <a:rPr lang="en-US" b="1" dirty="0">
                <a:ea typeface="+mn-lt"/>
                <a:cs typeface="+mn-lt"/>
              </a:rPr>
              <a:t>produce heat and energy</a:t>
            </a:r>
            <a:r>
              <a:rPr lang="en-US" dirty="0">
                <a:ea typeface="+mn-lt"/>
                <a:cs typeface="+mn-lt"/>
              </a:rPr>
              <a:t> on combustion.</a:t>
            </a:r>
          </a:p>
          <a:p>
            <a:r>
              <a:rPr lang="en-US" b="1" dirty="0">
                <a:ea typeface="+mn-lt"/>
                <a:cs typeface="+mn-lt"/>
              </a:rPr>
              <a:t>Types of Fuels: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b="1" dirty="0">
                <a:ea typeface="+mn-lt"/>
                <a:cs typeface="+mn-lt"/>
              </a:rPr>
              <a:t>Solid fuels:</a:t>
            </a:r>
            <a:r>
              <a:rPr lang="en-US" dirty="0">
                <a:ea typeface="+mn-lt"/>
                <a:cs typeface="+mn-lt"/>
              </a:rPr>
              <a:t> Coal, wood, coke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Liquid fuels:</a:t>
            </a:r>
            <a:r>
              <a:rPr lang="en-US" dirty="0">
                <a:ea typeface="+mn-lt"/>
                <a:cs typeface="+mn-lt"/>
              </a:rPr>
              <a:t> Petrol, diesel, kerosene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Gaseous fuels:</a:t>
            </a:r>
            <a:r>
              <a:rPr lang="en-US" dirty="0">
                <a:ea typeface="+mn-lt"/>
                <a:cs typeface="+mn-lt"/>
              </a:rPr>
              <a:t> Natural gas, LPG, biogas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Ideal Fuel Characteristics:</a:t>
            </a:r>
            <a:r>
              <a:rPr lang="en-US" dirty="0">
                <a:ea typeface="+mn-lt"/>
                <a:cs typeface="+mn-lt"/>
              </a:rPr>
              <a:t> High calorific value, easy ignition, low residue, safe to transport/store, low cost.</a:t>
            </a:r>
          </a:p>
          <a:p>
            <a:r>
              <a:rPr lang="en-US" b="1" dirty="0">
                <a:ea typeface="+mn-lt"/>
                <a:cs typeface="+mn-lt"/>
              </a:rPr>
              <a:t>Uses:</a:t>
            </a:r>
            <a:r>
              <a:rPr lang="en-US" dirty="0">
                <a:ea typeface="+mn-lt"/>
                <a:cs typeface="+mn-lt"/>
              </a:rPr>
              <a:t> Fuels are used for </a:t>
            </a:r>
            <a:r>
              <a:rPr lang="en-US" b="1" dirty="0">
                <a:ea typeface="+mn-lt"/>
                <a:cs typeface="+mn-lt"/>
              </a:rPr>
              <a:t>domestic, industrial, transportation, and power generation</a:t>
            </a:r>
            <a:r>
              <a:rPr lang="en-US" dirty="0">
                <a:ea typeface="+mn-lt"/>
                <a:cs typeface="+mn-lt"/>
              </a:rPr>
              <a:t> purposes.</a:t>
            </a:r>
          </a:p>
          <a:p>
            <a:r>
              <a:rPr lang="en-US" b="1" dirty="0">
                <a:ea typeface="+mn-lt"/>
                <a:cs typeface="+mn-lt"/>
              </a:rPr>
              <a:t>Calorific Value:</a:t>
            </a:r>
            <a:r>
              <a:rPr lang="en-US" dirty="0">
                <a:ea typeface="+mn-lt"/>
                <a:cs typeface="+mn-lt"/>
              </a:rPr>
              <a:t> The </a:t>
            </a:r>
            <a:r>
              <a:rPr lang="en-US" b="1" dirty="0">
                <a:ea typeface="+mn-lt"/>
                <a:cs typeface="+mn-lt"/>
              </a:rPr>
              <a:t>amount of heat</a:t>
            </a:r>
            <a:r>
              <a:rPr lang="en-US" dirty="0">
                <a:ea typeface="+mn-lt"/>
                <a:cs typeface="+mn-lt"/>
              </a:rPr>
              <a:t> produced by the complete combustion of 1 gram or 1 kg of fuel, measured in </a:t>
            </a:r>
            <a:r>
              <a:rPr lang="en-US" b="1" dirty="0">
                <a:ea typeface="+mn-lt"/>
                <a:cs typeface="+mn-lt"/>
              </a:rPr>
              <a:t>kJ/kg or kcal/kg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C452CE-EBF9-3E0A-122C-8CDA9053E2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6072294"/>
            <a:ext cx="2411760" cy="34669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20BC54C-513C-4448-526A-5D5B0A451EB5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EC52D0-444D-7FD8-9B64-DA445D7FE8E1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FADD08-7FE8-B6C1-E1E5-622EE35CACD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82C479E-F1D9-0D03-0323-BB3C45D0645C}"/>
              </a:ext>
            </a:extLst>
          </p:cNvPr>
          <p:cNvGrpSpPr/>
          <p:nvPr/>
        </p:nvGrpSpPr>
        <p:grpSpPr>
          <a:xfrm>
            <a:off x="1524001" y="6549143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14BE05-800B-3F27-7CA6-59B9F79AD4D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C9D7DA-C61C-549F-B86E-9CFA7F9E9EA2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2620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C9F-C3B2-55F7-8FC7-29D6960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023" y="211756"/>
            <a:ext cx="10515600" cy="515026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1. What is a fuel?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A. Substance used for cleaning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B. Substance that absorbs heat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C. Substance that produces heat on combustion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D. Substance that conducts electricity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✅ Answer: 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2. Which of the following is a </a:t>
            </a:r>
            <a:r>
              <a:rPr lang="en-GB" sz="1400" b="1" i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gaseous fuel</a:t>
            </a: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?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A. Wood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B. Diesel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C. LPG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D. Kerosene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✅ Answer: 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3. The calorific value of a fuel is: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A. Amount of fuel needed to produce 1°C rise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B. Amount of heat produced by burning 1 unit mass of fuel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C. Cost of fuel per unit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D. Density of fuel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✅ Answer: 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4. Which of these is not a characteristic of an ideal fuel?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A. High calorific value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B. Produces toxic gases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C. Easy to store and transport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D. Leaves little or no residue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✅ Answer: 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5. Which of the following is a solid fuel?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A. Petrol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B. Biogas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C. Coal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D. Natural gas</a:t>
            </a:r>
            <a:b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</a:br>
            <a:r>
              <a:rPr lang="en-GB" sz="1400" b="1" dirty="0">
                <a:solidFill>
                  <a:schemeClr val="accent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✅ Answer: C</a:t>
            </a:r>
            <a:endParaRPr lang="en-GB" sz="1400" dirty="0">
              <a:solidFill>
                <a:schemeClr val="accent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buNone/>
            </a:pPr>
            <a:endParaRPr lang="en-GB" sz="1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D2475-971E-273D-1709-7EB059BEFCA6}"/>
              </a:ext>
            </a:extLst>
          </p:cNvPr>
          <p:cNvSpPr txBox="1"/>
          <p:nvPr/>
        </p:nvSpPr>
        <p:spPr>
          <a:xfrm>
            <a:off x="0" y="304799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/>
              <a:t>Questions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F5C4DD-61CE-AED4-641B-E8C0BE8B59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469" y="5976042"/>
            <a:ext cx="2411760" cy="34669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6889D35-8998-8E23-E2AE-A9AFC6B70241}"/>
              </a:ext>
            </a:extLst>
          </p:cNvPr>
          <p:cNvGrpSpPr/>
          <p:nvPr/>
        </p:nvGrpSpPr>
        <p:grpSpPr>
          <a:xfrm>
            <a:off x="1508787" y="0"/>
            <a:ext cx="9159213" cy="211756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45B5B2-A788-A7EC-5D0F-282229417C7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960B929-F638-404B-D7B3-EC870E676BD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C497766-C40E-73C5-79FB-7D3541BF0815}"/>
              </a:ext>
            </a:extLst>
          </p:cNvPr>
          <p:cNvGrpSpPr/>
          <p:nvPr/>
        </p:nvGrpSpPr>
        <p:grpSpPr>
          <a:xfrm>
            <a:off x="1524001" y="6622181"/>
            <a:ext cx="9159213" cy="231762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37C63C7-B19F-9D51-EE77-4A5F5C3DB58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3288CD3-343F-918E-9951-2F49439B566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0529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611" y="376489"/>
            <a:ext cx="10515600" cy="1325563"/>
          </a:xfrm>
        </p:spPr>
        <p:txBody>
          <a:bodyPr/>
          <a:lstStyle/>
          <a:p>
            <a:r>
              <a:rPr b="1" dirty="0">
                <a:solidFill>
                  <a:schemeClr val="accent5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4611" y="1916113"/>
            <a:ext cx="105155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CO1: </a:t>
            </a:r>
            <a:r>
              <a:rPr lang="en-US" sz="2400" dirty="0"/>
              <a:t>Understand the methods for water hardness and the basics of boiler water treatment and analyze fuel calorific values and battery.</a:t>
            </a:r>
          </a:p>
          <a:p>
            <a:pPr marL="0" indent="0">
              <a:buNone/>
            </a:pPr>
            <a:r>
              <a:rPr lang="en-GB" sz="2400" dirty="0"/>
              <a:t>CO2: </a:t>
            </a:r>
            <a:r>
              <a:rPr lang="en-US" sz="2400" dirty="0"/>
              <a:t>Explain the characteristics and working principles of different battery types and types of fuels.</a:t>
            </a:r>
            <a:endParaRPr lang="en-GB" sz="2400" dirty="0"/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C263E1C-814B-1AF4-B7F4-B4AEB0945408}"/>
              </a:ext>
            </a:extLst>
          </p:cNvPr>
          <p:cNvSpPr txBox="1">
            <a:spLocks/>
          </p:cNvSpPr>
          <p:nvPr/>
        </p:nvSpPr>
        <p:spPr>
          <a:xfrm>
            <a:off x="805113" y="319232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accent5"/>
                </a:solidFill>
              </a:rPr>
              <a:t>Mapped Course Outcomes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A9837B-9412-6B18-7838-57D35A21EE76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ADEBA5-6E72-EC44-A640-AF97D4E5D792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AF2560-0AE3-44D1-B205-AC7E71FDD893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79D6B0-FFC6-A9D2-8A81-FD5DC1E6D76D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02959D-38B4-7D26-CC3F-BF4AD360344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4C0538D-9319-C1E8-73C9-9C6981649CE6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3" name="Rectangle 3">
            <a:extLst>
              <a:ext uri="{FF2B5EF4-FFF2-40B4-BE49-F238E27FC236}">
                <a16:creationId xmlns:a16="http://schemas.microsoft.com/office/drawing/2014/main" id="{EC4DEF99-1714-B21A-673C-620C1AED7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611" y="1630364"/>
            <a:ext cx="93320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Recall definitions and types of fuels (CO2)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Explain characteristics of solid, liquid, and gaseous fuels;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define calorific value (CO1, CO2)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BTL-3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Apply knowledge to identify ideal fuels and solve questions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related to fuel properties (CO1, CO2)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References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Engineering Chemistry by Jain and Jain.</a:t>
            </a: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64DCA4-FD37-C2FC-1119-5C45808EF00B}"/>
              </a:ext>
            </a:extLst>
          </p:cNvPr>
          <p:cNvGrpSpPr/>
          <p:nvPr/>
        </p:nvGrpSpPr>
        <p:grpSpPr>
          <a:xfrm>
            <a:off x="1508787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A3CB68-5CE5-9A1C-A405-2895508686B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0766F54-A2AC-8A36-FCBA-75783A459621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93BA160-06B8-4131-B8B4-9311BD5B3757}"/>
              </a:ext>
            </a:extLst>
          </p:cNvPr>
          <p:cNvGrpSpPr/>
          <p:nvPr/>
        </p:nvGrpSpPr>
        <p:grpSpPr>
          <a:xfrm>
            <a:off x="1515251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4D3B3F-BF91-7EBC-2133-14B8E92D23C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C7CBCB-34DC-95E3-9429-D8AF1AEA67E4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1205</Words>
  <Application>Microsoft Office PowerPoint</Application>
  <PresentationFormat>Widescreen</PresentationFormat>
  <Paragraphs>102</Paragraphs>
  <Slides>28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Times New Roman</vt:lpstr>
      <vt:lpstr>Verdana</vt:lpstr>
      <vt:lpstr>Office Theme</vt:lpstr>
      <vt:lpstr>PowerPoint Presentation</vt:lpstr>
      <vt:lpstr>Course Overview</vt:lpstr>
      <vt:lpstr>PowerPoint Presentation</vt:lpstr>
      <vt:lpstr>Unit 2- Fuels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away of the session</vt:lpstr>
      <vt:lpstr>PowerPoint Presentation</vt:lpstr>
      <vt:lpstr>Learning Outcomes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lastModifiedBy>Dr. Mehak Ahuja</cp:lastModifiedBy>
  <cp:revision>12</cp:revision>
  <dcterms:created xsi:type="dcterms:W3CDTF">2024-10-29T09:57:56Z</dcterms:created>
  <dcterms:modified xsi:type="dcterms:W3CDTF">2025-08-23T04:20:46Z</dcterms:modified>
</cp:coreProperties>
</file>