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575" r:id="rId2"/>
    <p:sldId id="565" r:id="rId3"/>
    <p:sldId id="576" r:id="rId4"/>
    <p:sldId id="546" r:id="rId5"/>
    <p:sldId id="507" r:id="rId6"/>
    <p:sldId id="589" r:id="rId7"/>
    <p:sldId id="590" r:id="rId8"/>
    <p:sldId id="591" r:id="rId9"/>
    <p:sldId id="592" r:id="rId10"/>
    <p:sldId id="593" r:id="rId11"/>
    <p:sldId id="594" r:id="rId12"/>
    <p:sldId id="537" r:id="rId13"/>
    <p:sldId id="538" r:id="rId14"/>
    <p:sldId id="539" r:id="rId15"/>
    <p:sldId id="540" r:id="rId16"/>
    <p:sldId id="541" r:id="rId17"/>
    <p:sldId id="542" r:id="rId18"/>
    <p:sldId id="543" r:id="rId19"/>
    <p:sldId id="544" r:id="rId20"/>
    <p:sldId id="595" r:id="rId21"/>
    <p:sldId id="285" r:id="rId22"/>
    <p:sldId id="588" r:id="rId23"/>
    <p:sldId id="545" r:id="rId24"/>
    <p:sldId id="572" r:id="rId25"/>
    <p:sldId id="5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02C1D-94CB-4834-A912-3AE0D08131D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DB4FE-EB86-4588-BAFB-1393FF141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82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07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1C4E-7B30-6C16-6960-80DF5FE74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8DFA7-5061-BF0B-C240-8FF3FDD85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CDE0-B404-31DF-E0DA-198F6498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DC50-F691-89D0-46A6-B4DECC75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B6D23-AB62-06CB-7F0A-0A239A47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D488-1772-83CE-8618-96D1889B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CFA5-1450-CB13-E191-2973EBB0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0071-FCC8-62C2-E8EC-F46636A6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65BA2-16FA-BCEB-1754-40DE38CF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C5799-FCF7-5381-2AD3-7B195DEA5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7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F38D-EE2D-F18E-8BE9-F3C1D7A0B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3E3C-5521-82E3-3BFB-8E8733024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71E3-DF3F-FEEC-44D7-495A6C78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9EF14-D775-4121-8165-17042C5B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69711-C6E9-A6BD-A55A-D69FB46D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4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453C-538B-EA7B-AA31-C8039EB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81EC-06B1-A9F6-4144-0F7E7F405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AD819-12B1-25F4-3EA2-EFA4EBC0F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6A0FF-429B-EB37-FCE9-40C3225D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B8E0A-6B6D-3C10-FFA1-393DF17A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7C42-A85A-667B-0429-C7FFA6A3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78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D4E7-4C07-646A-8E6C-2CD76E46A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FD103-0CB9-AE1B-4470-AB2DC8C09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4EE50-8F0B-CFB3-E7F3-0460A6BC4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D281D9-E595-85FB-6301-48AB99B78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49F9A-1D1A-A1DF-FF6F-7A443C745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F0EBB-31A9-8141-6EBD-F94404C0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F0DC0-4CC9-82CA-6688-CE12909BE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3002-7B32-290B-9184-4C5CC749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0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D627-F147-C2A2-F449-8FCF9B88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A377A-6BB6-9B2E-82D7-AF93F836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10EE8-67A8-345C-4FCE-FB4F22FC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7476A-5F48-62A8-B238-ED7B4A46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81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DE1CAE-D8F7-D851-D86D-24384831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16E03-7A1C-2383-044B-6561FE36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17E39-5725-D2C2-0262-E31C2A13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412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4448-2272-F2FA-41D1-E4DE6D62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CE77-2D49-C93B-8DD6-6B48553A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D74E9-EB5E-E5FF-17BF-B7ABCCC9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6F97C-E6AC-1E89-0451-6C8CB07A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34E53-FCA7-8F51-B66E-4C49328C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11705-7976-F416-42F8-A4393B82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4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18C7-19F3-7817-D90F-A9A43B67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AC4C7-3830-73FC-0798-8CC5E1A564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FE46-7012-CE40-27D8-9D7A5A937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2CAD0-4DC3-2DC4-B1DB-23B6FB23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B8B5A-55BA-1F51-A16F-00A7CE83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F312F-E75C-B64D-BA84-3CFE3764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5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4483-972D-73EF-B7B3-FB45EEB9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E8C84-A190-B9A2-9E31-665AC5937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80901-C7CA-EC1D-91CA-E214051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ACD6E-F14F-B4B5-40A5-3EF5E2505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F97-DA3A-5302-367E-BCA6A97B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5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7ED5D-89AA-4EB5-3B7B-36A681DB0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8AA92-D26C-DEAF-ABBC-22A169FD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367A-4D9D-EFD2-04DB-841E12AE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4ABC7-07D8-03A4-1E86-BCEDFD0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1DA3-A7AB-F7A6-E5EC-58D13B15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3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7DD64-AECF-C1F4-D198-3E0B65BF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C4DB9-F1E0-50C2-832F-F8A369929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2A811-8D93-43A5-F090-64B23FAD5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D03FF-7244-4DCF-98FC-384BCAECA88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6BA5-9D6B-3CC5-F1CE-453FE9598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A45C-D85D-FECF-F105-D91EC8D0A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4CDA1-FC07-4BA8-815C-11DA8C754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6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1508786" y="1251438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3280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Mehak Ahuja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152400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2: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0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7623" y="409574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1506502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F74FAA-62F2-CEA9-D202-CCB8E498F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066860"/>
              </p:ext>
            </p:extLst>
          </p:nvPr>
        </p:nvGraphicFramePr>
        <p:xfrm>
          <a:off x="975360" y="1313561"/>
          <a:ext cx="8742434" cy="4966604"/>
        </p:xfrm>
        <a:graphic>
          <a:graphicData uri="http://schemas.openxmlformats.org/drawingml/2006/table">
            <a:tbl>
              <a:tblPr/>
              <a:tblGrid>
                <a:gridCol w="2507520">
                  <a:extLst>
                    <a:ext uri="{9D8B030D-6E8A-4147-A177-3AD203B41FA5}">
                      <a16:colId xmlns:a16="http://schemas.microsoft.com/office/drawing/2014/main" val="1940542252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3086358177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718158968"/>
                    </a:ext>
                  </a:extLst>
                </a:gridCol>
              </a:tblGrid>
              <a:tr h="521835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WISE DETAILS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b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224710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Water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6 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671126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Introduction, water analysis: Hardness-determination by EDTA method, Treatment of boiler feed water: Internal treatment (Phosphate, Colloidal and Calgon conditioning). External treatments: Ion exchange and lime-soda process, Zeolite processes. Boiler scales formation and ill effects, methods of prevention of scales. Numerical problems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22557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Chemical Fuels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78116"/>
                  </a:ext>
                </a:extLst>
              </a:tr>
              <a:tr h="962345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Fuels: Introduction, classification, calorific value (HCV &amp; LCV), Determination of calorific value of fuel using Bomb calorimeter.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Solid fuel: Coal- its analysis by proximate and ultimate analysis, Numerical problems.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Liquid fuels: Refining of petroleum, Petroleum cracking, Knocking in IC engine, its ill effects and prevention of knocking. Anti-knocking agent: Leaded and unleaded petrol. 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Gaseous fuels: LPG, CNG and their applications.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70779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Battery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039795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- Galvanic cell, electrode potential, EMF of the cell and cell representation. Batteries and their importance, Classification of batteries- primary, secondary and reserve batteries with examples. Battery characteristics - voltage, capacity, energy density, power density, energy efficiency, cycle life and shelf life.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Construction, working and applications of: Ni-Cd, and Lithium-ion battery. Working principle of an electric vehicle.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215297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Polymer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217920"/>
                  </a:ext>
                </a:extLst>
              </a:tr>
              <a:tr h="617166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 concepts of polymer, Types of polymers, Thermoplastic &amp; thermosetting plastics, Preparation and application of some industrially important polymers (Natural rubber, Buna S, Buna-N, Neoprene, Isoprene, Nylon-6, nylon-6,6 , </a:t>
                      </a:r>
                      <a:r>
                        <a:rPr lang="en-US" sz="11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Decron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Terylene). Conducting and biodegradable polymers.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837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2152650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/>
        </p:nvGraphicFramePr>
        <p:xfrm>
          <a:off x="5657779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8C5960-9BFA-57BE-F4E6-075B51BFAB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C09DE-9DF0-EACB-7975-E78EE70583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46" y="6409847"/>
            <a:ext cx="2411760" cy="346691"/>
          </a:xfrm>
          <a:prstGeom prst="rect">
            <a:avLst/>
          </a:prstGeom>
        </p:spPr>
      </p:pic>
      <p:pic>
        <p:nvPicPr>
          <p:cNvPr id="14" name="Picture 13" descr="Pipes over the sea">
            <a:extLst>
              <a:ext uri="{FF2B5EF4-FFF2-40B4-BE49-F238E27FC236}">
                <a16:creationId xmlns:a16="http://schemas.microsoft.com/office/drawing/2014/main" id="{86FA4951-2217-E063-CB45-57AEE2F097F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20192" b="4808"/>
          <a:stretch/>
        </p:blipFill>
        <p:spPr>
          <a:xfrm>
            <a:off x="500512" y="428624"/>
            <a:ext cx="10668001" cy="600075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CAC42-B2F4-8B05-5AC4-88420CB3A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40" y="3239797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IN" sz="3200" dirty="0">
                <a:solidFill>
                  <a:srgbClr val="FFFFFF"/>
                </a:solidFill>
              </a:rPr>
              <a:t>Liquid fuels: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0255-DA52-B0E7-D947-1058F111D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GB" sz="1800">
                <a:solidFill>
                  <a:srgbClr val="FFFFFF"/>
                </a:solidFill>
              </a:rPr>
              <a:t>Refining of petroleum, Petroleum cracking, Reformation of petrol explanation with reactions, Knocking in IC engine, its ill effects and prevention of knocking. Anti-knocking agent: Leaded and unleaded petrol</a:t>
            </a:r>
            <a:endParaRPr lang="en-IN" sz="18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2CBD2A-BA7B-010D-C719-8E0AE3FCCA5A}"/>
              </a:ext>
            </a:extLst>
          </p:cNvPr>
          <p:cNvSpPr txBox="1"/>
          <p:nvPr/>
        </p:nvSpPr>
        <p:spPr>
          <a:xfrm>
            <a:off x="500512" y="1418712"/>
            <a:ext cx="10668001" cy="83099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Liquid &amp; Gaseous Fuels</a:t>
            </a:r>
            <a:endParaRPr lang="en-IN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97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" t="15006" r="4883" b="44576"/>
          <a:stretch/>
        </p:blipFill>
        <p:spPr bwMode="auto">
          <a:xfrm>
            <a:off x="2522176" y="421152"/>
            <a:ext cx="7551684" cy="2490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21789" r="6241" b="31339"/>
          <a:stretch/>
        </p:blipFill>
        <p:spPr bwMode="auto">
          <a:xfrm>
            <a:off x="2510344" y="3501008"/>
            <a:ext cx="7539366" cy="2396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45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39EA1D73-0363-EF0D-04A2-F385AD925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92CD4-6AFF-E050-A988-535F31A301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F17D4C-F28F-0B18-AC49-C2A39227E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1" y="824268"/>
            <a:ext cx="7438986" cy="521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7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DF796E-8E00-87CB-F999-747696C9A2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9864CD-42EE-182B-6FA4-1BBD30FF5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1D3F74-7659-3551-FE0B-0996225FE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495" y="1042654"/>
            <a:ext cx="669701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1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49C422-A437-42F8-3317-9E27DBAC17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F2D74B-8B0A-B097-B5EB-DA62A3CE89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C5AF46-FC30-F66A-768F-D51B58713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363" y="1256997"/>
            <a:ext cx="6611273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30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D8265E-1B55-FD67-786A-A4CE47010B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3AC6F5-F16C-2E72-8362-CC696C31C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33150C-8408-3173-C923-2D63F5C0D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653" y="680654"/>
            <a:ext cx="6582694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5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CD8DC529-E32F-535E-C7C8-3B2D35B438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C042D2-9580-8198-518D-5B7EDCB24D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325D29-1E67-D7CC-068B-406E94591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47" y="1601878"/>
            <a:ext cx="3826447" cy="3058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24B8CA-8BCD-D179-3025-975E80BBB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036" y="1168774"/>
            <a:ext cx="6525536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31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BE051FF0-6DBF-60B9-B307-BF2FEA18BE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E4D576-0545-ED19-7A0E-22BC0B0FD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5211E2-DE0E-43BC-6E3F-FEF3DF65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60" y="1091024"/>
            <a:ext cx="4539569" cy="23379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491777-ADA3-7A8B-1C31-C0DC3C26E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048" y="845922"/>
            <a:ext cx="4302247" cy="2485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A6E84E-9894-2CDF-4913-394D3BC8F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462" y="3331110"/>
            <a:ext cx="4193111" cy="305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83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 t="15910" r="5916" b="18156"/>
          <a:stretch/>
        </p:blipFill>
        <p:spPr bwMode="auto">
          <a:xfrm>
            <a:off x="2279577" y="880341"/>
            <a:ext cx="7704855" cy="4232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498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2" t="9342" r="10907" b="18107"/>
          <a:stretch/>
        </p:blipFill>
        <p:spPr bwMode="auto">
          <a:xfrm>
            <a:off x="2567608" y="1366253"/>
            <a:ext cx="6768752" cy="451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991544" y="352961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Different techniques for purification of crude oil: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9622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524002" y="885941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96" t="14472" r="-1" b="47550"/>
          <a:stretch/>
        </p:blipFill>
        <p:spPr bwMode="auto">
          <a:xfrm>
            <a:off x="6061080" y="4293097"/>
            <a:ext cx="3958842" cy="1950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056" y="908720"/>
            <a:ext cx="36957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855641" y="166678"/>
            <a:ext cx="731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Fractional distillation of Crude oil:</a:t>
            </a:r>
            <a:endParaRPr lang="en-IN" sz="3600" b="1" dirty="0"/>
          </a:p>
        </p:txBody>
      </p:sp>
      <p:sp>
        <p:nvSpPr>
          <p:cNvPr id="12" name="Rectangle 11"/>
          <p:cNvSpPr/>
          <p:nvPr/>
        </p:nvSpPr>
        <p:spPr>
          <a:xfrm>
            <a:off x="5949378" y="1196752"/>
            <a:ext cx="39630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The crude oil is heated in a furnace to over 400ºC. At this temperature, most of the hydrocarbons in the crude oil mixture boil and turn into gas. The mixture of hot hydrocarbon gases passes into a fractionating column which is hotter at the bottom and cooler at the top.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78671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1A63F4F0-F938-23E3-9DFC-E298F9F99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6" t="9617" r="3471" b="53321"/>
          <a:stretch/>
        </p:blipFill>
        <p:spPr bwMode="auto">
          <a:xfrm>
            <a:off x="2207568" y="628312"/>
            <a:ext cx="7826218" cy="2490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81" b="46671"/>
          <a:stretch/>
        </p:blipFill>
        <p:spPr bwMode="auto">
          <a:xfrm>
            <a:off x="2207569" y="3399980"/>
            <a:ext cx="3755201" cy="2189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78" t="52238" r="1900" b="4618"/>
          <a:stretch/>
        </p:blipFill>
        <p:spPr bwMode="auto">
          <a:xfrm>
            <a:off x="6217938" y="3384398"/>
            <a:ext cx="3766494" cy="2204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143672" y="5631120"/>
            <a:ext cx="1739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Catalytic </a:t>
            </a:r>
            <a:endParaRPr lang="en-IN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464153" y="5684205"/>
            <a:ext cx="16049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Thermal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376891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1" t="12915" r="14835" b="49858"/>
          <a:stretch/>
        </p:blipFill>
        <p:spPr bwMode="auto">
          <a:xfrm>
            <a:off x="2351584" y="764704"/>
            <a:ext cx="733895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" t="9332" r="7268" b="54224"/>
          <a:stretch/>
        </p:blipFill>
        <p:spPr bwMode="auto">
          <a:xfrm>
            <a:off x="2349534" y="3645024"/>
            <a:ext cx="7338954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157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0" t="22892" r="5114" b="18795"/>
          <a:stretch/>
        </p:blipFill>
        <p:spPr bwMode="auto">
          <a:xfrm>
            <a:off x="2567608" y="898635"/>
            <a:ext cx="7200800" cy="225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8" r="34509" b="7344"/>
          <a:stretch/>
        </p:blipFill>
        <p:spPr bwMode="auto">
          <a:xfrm>
            <a:off x="3431705" y="3580442"/>
            <a:ext cx="5328592" cy="265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844697" y="1451"/>
            <a:ext cx="2823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KNOCKING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4321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9" t="8059" r="21214" b="34078"/>
          <a:stretch/>
        </p:blipFill>
        <p:spPr bwMode="auto">
          <a:xfrm>
            <a:off x="2639616" y="692697"/>
            <a:ext cx="6840760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7" r="4754"/>
          <a:stretch/>
        </p:blipFill>
        <p:spPr bwMode="auto">
          <a:xfrm>
            <a:off x="2653255" y="3404366"/>
            <a:ext cx="6840760" cy="275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814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647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31" b="9981"/>
          <a:stretch/>
        </p:blipFill>
        <p:spPr bwMode="auto">
          <a:xfrm>
            <a:off x="2135560" y="476672"/>
            <a:ext cx="7744164" cy="5340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090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9ADF701A-7BCA-EDC9-88F7-283AA6FE8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25A13-5D80-1038-B4E1-477690ECE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928" y="945730"/>
            <a:ext cx="7559932" cy="5256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49609-9F8E-9ABC-1FB9-DB90626B49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0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76489"/>
            <a:ext cx="10515600" cy="1325563"/>
          </a:xfrm>
        </p:spPr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611" y="1916113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CO1: </a:t>
            </a:r>
            <a:r>
              <a:rPr lang="en-US" sz="2400" dirty="0"/>
              <a:t>Understand the methods for water hardness and the basics of boiler water treatment and analyze fuel calorific values and battery.</a:t>
            </a:r>
          </a:p>
          <a:p>
            <a:pPr marL="0" indent="0">
              <a:buNone/>
            </a:pPr>
            <a:r>
              <a:rPr lang="en-GB" sz="2400" dirty="0"/>
              <a:t>CO2: </a:t>
            </a:r>
            <a:r>
              <a:rPr lang="en-US" sz="2400" dirty="0"/>
              <a:t>Explain the characteristics and working principles of different battery types and types of fuels.</a:t>
            </a:r>
            <a:endParaRPr lang="en-GB" sz="24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805113" y="31923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A9837B-9412-6B18-7838-57D35A21EE7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ADEBA5-6E72-EC44-A640-AF97D4E5D79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F2560-0AE3-44D1-B205-AC7E71FDD893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9D6B0-FFC6-A9D2-8A81-FD5DC1E6D76D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2959D-38B4-7D26-CC3F-BF4AD360344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0538D-9319-C1E8-73C9-9C6981649CE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EC4DEF99-1714-B21A-673C-620C1AED7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11" y="1630364"/>
            <a:ext cx="9332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Recall definitions and types of fuels (CO2)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characteristics of solid, liquid, and gaseous fuels;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calorific value (CO1, 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knowledge to identify ideal fuels and solve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related to fuel properties (CO1, CO2)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4DCA4-FD37-C2FC-1119-5C45808EF00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3CB68-5CE5-9A1C-A405-2895508686B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766F54-A2AC-8A36-FCBA-75783A4596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BA160-06B8-4131-B8B4-9311BD5B375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4D3B3F-BF91-7EBC-2133-14B8E92D23C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C7CBCB-34DC-95E3-9429-D8AF1AEA67E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9857" y="251916"/>
            <a:ext cx="34431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Antiknock Agents</a:t>
            </a:r>
            <a:endParaRPr lang="en-IN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703195" y="1196752"/>
            <a:ext cx="684076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TEL – Tetra ethyl lead </a:t>
            </a:r>
            <a:r>
              <a:rPr lang="en-US" sz="3200" b="1" dirty="0" err="1"/>
              <a:t>Pb</a:t>
            </a:r>
            <a:r>
              <a:rPr lang="en-US" sz="3200" b="1" dirty="0"/>
              <a:t>(C</a:t>
            </a:r>
            <a:r>
              <a:rPr lang="en-US" sz="3200" b="1" baseline="-25000" dirty="0"/>
              <a:t>2</a:t>
            </a:r>
            <a:r>
              <a:rPr lang="en-US" sz="3200" b="1" dirty="0"/>
              <a:t>H</a:t>
            </a:r>
            <a:r>
              <a:rPr lang="en-US" sz="3200" b="1" baseline="-25000" dirty="0"/>
              <a:t>5</a:t>
            </a:r>
            <a:r>
              <a:rPr lang="en-US" sz="3200" b="1" dirty="0"/>
              <a:t>)</a:t>
            </a:r>
            <a:r>
              <a:rPr lang="en-US" sz="3200" b="1" baseline="-25000" dirty="0"/>
              <a:t>4</a:t>
            </a:r>
          </a:p>
          <a:p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sz="2400" b="1" dirty="0"/>
              <a:t>Used in the form of ethyl fluid.</a:t>
            </a:r>
          </a:p>
          <a:p>
            <a:r>
              <a:rPr lang="en-US" sz="2400" b="1" baseline="-25000" dirty="0"/>
              <a:t>    </a:t>
            </a:r>
          </a:p>
          <a:p>
            <a:endParaRPr lang="en-US" sz="2400" b="1" baseline="-25000" dirty="0"/>
          </a:p>
          <a:p>
            <a:r>
              <a:rPr lang="en-US" sz="2400" b="1" dirty="0"/>
              <a:t>Ethyl fluid contains: 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63% TEL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26% </a:t>
            </a:r>
            <a:r>
              <a:rPr lang="en-US" sz="2400" b="1" dirty="0" err="1"/>
              <a:t>dibromoethane</a:t>
            </a:r>
            <a:endParaRPr lang="en-US" sz="24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baseline="-25000" dirty="0"/>
              <a:t> </a:t>
            </a:r>
            <a:r>
              <a:rPr lang="en-US" sz="2400" b="1" dirty="0"/>
              <a:t>9 % </a:t>
            </a:r>
            <a:r>
              <a:rPr lang="en-US" sz="2400" b="1" dirty="0" err="1"/>
              <a:t>dichloro</a:t>
            </a:r>
            <a:r>
              <a:rPr lang="en-US" sz="2400" b="1" dirty="0"/>
              <a:t> ethane</a:t>
            </a:r>
            <a:r>
              <a:rPr lang="en-US" sz="2400" b="1" baseline="-25000" dirty="0"/>
              <a:t>            </a:t>
            </a:r>
          </a:p>
          <a:p>
            <a:endParaRPr lang="en-US" sz="2400" b="1" baseline="-25000" dirty="0"/>
          </a:p>
          <a:p>
            <a:r>
              <a:rPr lang="en-US" sz="2400" b="1" dirty="0"/>
              <a:t>1-2 ml of ethyl fluid added to 1 </a:t>
            </a:r>
            <a:r>
              <a:rPr lang="en-US" sz="2400" b="1" dirty="0" err="1"/>
              <a:t>litre</a:t>
            </a:r>
            <a:r>
              <a:rPr lang="en-US" sz="2400" b="1" dirty="0"/>
              <a:t> of petrol increases octane value by 8-10 units.</a:t>
            </a:r>
          </a:p>
          <a:p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684632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Take away of the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Fuels that are </a:t>
            </a:r>
            <a:r>
              <a:rPr lang="en-US" b="1" dirty="0">
                <a:ea typeface="+mn-lt"/>
                <a:cs typeface="+mn-lt"/>
              </a:rPr>
              <a:t>liquid at room temperature</a:t>
            </a:r>
            <a:r>
              <a:rPr lang="en-US" dirty="0">
                <a:ea typeface="+mn-lt"/>
                <a:cs typeface="+mn-lt"/>
              </a:rPr>
              <a:t> and used primarily in </a:t>
            </a:r>
            <a:r>
              <a:rPr lang="en-US" b="1" dirty="0">
                <a:ea typeface="+mn-lt"/>
                <a:cs typeface="+mn-lt"/>
              </a:rPr>
              <a:t>transportation, heating, and industrial processes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Examples: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Petrol (gasoline), diesel, kerosene, fuel oil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alcohols (ethanol, methanol)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Advantages: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High </a:t>
            </a:r>
            <a:r>
              <a:rPr lang="en-US" b="1" dirty="0">
                <a:ea typeface="+mn-lt"/>
                <a:cs typeface="+mn-lt"/>
              </a:rPr>
              <a:t>calorific value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Easy </a:t>
            </a:r>
            <a:r>
              <a:rPr lang="en-US" b="1" dirty="0">
                <a:ea typeface="+mn-lt"/>
                <a:cs typeface="+mn-lt"/>
              </a:rPr>
              <a:t>transportation and storage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Clean and </a:t>
            </a:r>
            <a:r>
              <a:rPr lang="en-US" b="1" dirty="0">
                <a:ea typeface="+mn-lt"/>
                <a:cs typeface="+mn-lt"/>
              </a:rPr>
              <a:t>smokeless combustion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Easily </a:t>
            </a:r>
            <a:r>
              <a:rPr lang="en-US" b="1" dirty="0">
                <a:ea typeface="+mn-lt"/>
                <a:cs typeface="+mn-lt"/>
              </a:rPr>
              <a:t>regulated supply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Applications:</a:t>
            </a:r>
            <a:r>
              <a:rPr lang="en-US" dirty="0">
                <a:ea typeface="+mn-lt"/>
                <a:cs typeface="+mn-lt"/>
              </a:rPr>
              <a:t> Used in </a:t>
            </a:r>
            <a:r>
              <a:rPr lang="en-US" b="1" dirty="0">
                <a:ea typeface="+mn-lt"/>
                <a:cs typeface="+mn-lt"/>
              </a:rPr>
              <a:t>vehicles, airplanes, power plants, burners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internal combustion engines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>
                <a:ea typeface="+mn-lt"/>
                <a:cs typeface="+mn-lt"/>
              </a:rPr>
              <a:t>Drawbacks: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b="1" dirty="0">
                <a:ea typeface="+mn-lt"/>
                <a:cs typeface="+mn-lt"/>
              </a:rPr>
              <a:t>Costly</a:t>
            </a:r>
            <a:r>
              <a:rPr lang="en-US" dirty="0">
                <a:ea typeface="+mn-lt"/>
                <a:cs typeface="+mn-lt"/>
              </a:rPr>
              <a:t> compared to solid fuels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Risk of </a:t>
            </a:r>
            <a:r>
              <a:rPr lang="en-US" b="1" dirty="0">
                <a:ea typeface="+mn-lt"/>
                <a:cs typeface="+mn-lt"/>
              </a:rPr>
              <a:t>fire and explosions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Environmental pollution</a:t>
            </a:r>
            <a:r>
              <a:rPr lang="en-US" dirty="0">
                <a:ea typeface="+mn-lt"/>
                <a:cs typeface="+mn-lt"/>
              </a:rPr>
              <a:t> (CO₂, NOx emissions)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66" y="58477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1. 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Which of the following is a liquid fuel?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Coal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Wood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Diesel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Biogas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2. One advantage of liquid fuels is: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Low calorific value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Difficult handling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Easy transport and storage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Produces more ash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3. Which of these is </a:t>
            </a:r>
            <a:r>
              <a:rPr lang="en-GB" sz="1400" b="1" i="1" dirty="0">
                <a:solidFill>
                  <a:schemeClr val="accent1"/>
                </a:solidFill>
                <a:ea typeface="+mn-lt"/>
                <a:cs typeface="+mn-lt"/>
              </a:rPr>
              <a:t>not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 liquid fuel?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Petrol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LPG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Kerosene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Fuel oil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B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4. Liquid fuels are commonly used in: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Wood stoves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Blast furnaces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Internal combustion engines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Charcoal kilns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US" sz="1400" dirty="0"/>
          </a:p>
          <a:p>
            <a:pPr>
              <a:spcBef>
                <a:spcPts val="0"/>
              </a:spcBef>
              <a:buNone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5. Which of the following is a disadvantage of liquid fuels?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A. High ash content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B. Cannot be pumped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C. High fire risk</a:t>
            </a:r>
            <a:b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D. Low efficiency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✅ Answer: C</a:t>
            </a: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7AC5-10C1-5B8C-A5EB-96E5C71CA99B}"/>
              </a:ext>
            </a:extLst>
          </p:cNvPr>
          <p:cNvSpPr txBox="1"/>
          <p:nvPr/>
        </p:nvSpPr>
        <p:spPr>
          <a:xfrm>
            <a:off x="4507832" y="0"/>
            <a:ext cx="2103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1164</Words>
  <Application>Microsoft Office PowerPoint</Application>
  <PresentationFormat>Widescreen</PresentationFormat>
  <Paragraphs>131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Verdana</vt:lpstr>
      <vt:lpstr>Office Theme</vt:lpstr>
      <vt:lpstr>PowerPoint Presentation</vt:lpstr>
      <vt:lpstr>Course Overview</vt:lpstr>
      <vt:lpstr>PowerPoint Presentation</vt:lpstr>
      <vt:lpstr>Liquid fuels: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References</vt:lpstr>
      <vt:lpstr>PowerPoint Presentation</vt:lpstr>
      <vt:lpstr>Take away of the session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Dr. Mehak Ahuja</cp:lastModifiedBy>
  <cp:revision>17</cp:revision>
  <dcterms:created xsi:type="dcterms:W3CDTF">2024-10-29T10:07:03Z</dcterms:created>
  <dcterms:modified xsi:type="dcterms:W3CDTF">2025-08-23T06:23:45Z</dcterms:modified>
</cp:coreProperties>
</file>