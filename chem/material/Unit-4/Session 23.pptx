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handoutMasterIdLst>
    <p:handoutMasterId r:id="rId16"/>
  </p:handoutMasterIdLst>
  <p:sldIdLst>
    <p:sldId id="574" r:id="rId2"/>
    <p:sldId id="256" r:id="rId3"/>
    <p:sldId id="595" r:id="rId4"/>
    <p:sldId id="258" r:id="rId5"/>
    <p:sldId id="270" r:id="rId6"/>
    <p:sldId id="271" r:id="rId7"/>
    <p:sldId id="277" r:id="rId8"/>
    <p:sldId id="278" r:id="rId9"/>
    <p:sldId id="279" r:id="rId10"/>
    <p:sldId id="280" r:id="rId11"/>
    <p:sldId id="596" r:id="rId12"/>
    <p:sldId id="597" r:id="rId13"/>
    <p:sldId id="268" r:id="rId14"/>
  </p:sldIdLst>
  <p:sldSz cx="9144000" cy="6858000" type="screen4x3"/>
  <p:notesSz cx="6761163" cy="99425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CB4"/>
    <a:srgbClr val="0033CC"/>
    <a:srgbClr val="0060AA"/>
    <a:srgbClr val="E83030"/>
    <a:srgbClr val="0066B3"/>
    <a:srgbClr val="E31E2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904425B-56E6-A832-113C-7398AB5AFD9B}" v="5" dt="2024-05-22T10:08:13.10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123" autoAdjust="0"/>
    <p:restoredTop sz="94660"/>
  </p:normalViewPr>
  <p:slideViewPr>
    <p:cSldViewPr>
      <p:cViewPr varScale="1">
        <p:scale>
          <a:sx n="83" d="100"/>
          <a:sy n="83" d="100"/>
        </p:scale>
        <p:origin x="1116" y="78"/>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Suman Srivastava" userId="S::suman.srivastava@krmangalam.edu.in::321c702a-c804-4ce8-865a-f4757d581534" providerId="AD" clId="Web-{3904425B-56E6-A832-113C-7398AB5AFD9B}"/>
    <pc:docChg chg="addSld delSld">
      <pc:chgData name="Dr. Suman Srivastava" userId="S::suman.srivastava@krmangalam.edu.in::321c702a-c804-4ce8-865a-f4757d581534" providerId="AD" clId="Web-{3904425B-56E6-A832-113C-7398AB5AFD9B}" dt="2024-05-22T10:08:13.107" v="4"/>
      <pc:docMkLst>
        <pc:docMk/>
      </pc:docMkLst>
      <pc:sldChg chg="add">
        <pc:chgData name="Dr. Suman Srivastava" userId="S::suman.srivastava@krmangalam.edu.in::321c702a-c804-4ce8-865a-f4757d581534" providerId="AD" clId="Web-{3904425B-56E6-A832-113C-7398AB5AFD9B}" dt="2024-05-22T10:08:03.404" v="0"/>
        <pc:sldMkLst>
          <pc:docMk/>
          <pc:sldMk cId="3746827906" sldId="257"/>
        </pc:sldMkLst>
      </pc:sldChg>
      <pc:sldChg chg="add">
        <pc:chgData name="Dr. Suman Srivastava" userId="S::suman.srivastava@krmangalam.edu.in::321c702a-c804-4ce8-865a-f4757d581534" providerId="AD" clId="Web-{3904425B-56E6-A832-113C-7398AB5AFD9B}" dt="2024-05-22T10:08:03.419" v="1"/>
        <pc:sldMkLst>
          <pc:docMk/>
          <pc:sldMk cId="974690139" sldId="274"/>
        </pc:sldMkLst>
      </pc:sldChg>
      <pc:sldChg chg="add">
        <pc:chgData name="Dr. Suman Srivastava" userId="S::suman.srivastava@krmangalam.edu.in::321c702a-c804-4ce8-865a-f4757d581534" providerId="AD" clId="Web-{3904425B-56E6-A832-113C-7398AB5AFD9B}" dt="2024-05-22T10:08:03.435" v="2"/>
        <pc:sldMkLst>
          <pc:docMk/>
          <pc:sldMk cId="94181138" sldId="294"/>
        </pc:sldMkLst>
      </pc:sldChg>
      <pc:sldChg chg="add">
        <pc:chgData name="Dr. Suman Srivastava" userId="S::suman.srivastava@krmangalam.edu.in::321c702a-c804-4ce8-865a-f4757d581534" providerId="AD" clId="Web-{3904425B-56E6-A832-113C-7398AB5AFD9B}" dt="2024-05-22T10:08:03.435" v="3"/>
        <pc:sldMkLst>
          <pc:docMk/>
          <pc:sldMk cId="4180511076" sldId="295"/>
        </pc:sldMkLst>
      </pc:sldChg>
      <pc:sldChg chg="del">
        <pc:chgData name="Dr. Suman Srivastava" userId="S::suman.srivastava@krmangalam.edu.in::321c702a-c804-4ce8-865a-f4757d581534" providerId="AD" clId="Web-{3904425B-56E6-A832-113C-7398AB5AFD9B}" dt="2024-05-22T10:08:13.107" v="4"/>
        <pc:sldMkLst>
          <pc:docMk/>
          <pc:sldMk cId="4142536426" sldId="497"/>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30525" cy="4968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29050" y="0"/>
            <a:ext cx="2930525" cy="496888"/>
          </a:xfrm>
          <a:prstGeom prst="rect">
            <a:avLst/>
          </a:prstGeom>
        </p:spPr>
        <p:txBody>
          <a:bodyPr vert="horz" lIns="91440" tIns="45720" rIns="91440" bIns="45720" rtlCol="0"/>
          <a:lstStyle>
            <a:lvl1pPr algn="r">
              <a:defRPr sz="1200"/>
            </a:lvl1pPr>
          </a:lstStyle>
          <a:p>
            <a:fld id="{561A43C2-FD26-4205-8B58-0D50173C5807}" type="datetimeFigureOut">
              <a:rPr lang="en-IN" smtClean="0"/>
              <a:t>01-10-2025</a:t>
            </a:fld>
            <a:endParaRPr lang="en-IN"/>
          </a:p>
        </p:txBody>
      </p:sp>
      <p:sp>
        <p:nvSpPr>
          <p:cNvPr id="4" name="Footer Placeholder 3"/>
          <p:cNvSpPr>
            <a:spLocks noGrp="1"/>
          </p:cNvSpPr>
          <p:nvPr>
            <p:ph type="ftr" sz="quarter" idx="2"/>
          </p:nvPr>
        </p:nvSpPr>
        <p:spPr>
          <a:xfrm>
            <a:off x="0" y="9444038"/>
            <a:ext cx="2930525" cy="4968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29050" y="9444038"/>
            <a:ext cx="2930525" cy="496887"/>
          </a:xfrm>
          <a:prstGeom prst="rect">
            <a:avLst/>
          </a:prstGeom>
        </p:spPr>
        <p:txBody>
          <a:bodyPr vert="horz" lIns="91440" tIns="45720" rIns="91440" bIns="45720" rtlCol="0" anchor="b"/>
          <a:lstStyle>
            <a:lvl1pPr algn="r">
              <a:defRPr sz="1200"/>
            </a:lvl1pPr>
          </a:lstStyle>
          <a:p>
            <a:fld id="{F7D2EA2D-108B-43F9-812C-D3637D3A16E4}" type="slidenum">
              <a:rPr lang="en-IN" smtClean="0"/>
              <a:t>‹#›</a:t>
            </a:fld>
            <a:endParaRPr lang="en-IN"/>
          </a:p>
        </p:txBody>
      </p:sp>
    </p:spTree>
    <p:extLst>
      <p:ext uri="{BB962C8B-B14F-4D97-AF65-F5344CB8AC3E}">
        <p14:creationId xmlns:p14="http://schemas.microsoft.com/office/powerpoint/2010/main" val="2290292015"/>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9837" cy="498852"/>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29761" y="0"/>
            <a:ext cx="2929837" cy="498852"/>
          </a:xfrm>
          <a:prstGeom prst="rect">
            <a:avLst/>
          </a:prstGeom>
        </p:spPr>
        <p:txBody>
          <a:bodyPr vert="horz" lIns="91440" tIns="45720" rIns="91440" bIns="45720" rtlCol="0"/>
          <a:lstStyle>
            <a:lvl1pPr algn="r">
              <a:defRPr sz="1200"/>
            </a:lvl1pPr>
          </a:lstStyle>
          <a:p>
            <a:fld id="{42668431-CD35-4516-818D-B41B2C4843CF}" type="datetimeFigureOut">
              <a:rPr lang="en-IN" smtClean="0"/>
              <a:t>01-10-2025</a:t>
            </a:fld>
            <a:endParaRPr lang="en-IN" dirty="0"/>
          </a:p>
        </p:txBody>
      </p:sp>
      <p:sp>
        <p:nvSpPr>
          <p:cNvPr id="4" name="Slide Image Placeholder 3"/>
          <p:cNvSpPr>
            <a:spLocks noGrp="1" noRot="1" noChangeAspect="1"/>
          </p:cNvSpPr>
          <p:nvPr>
            <p:ph type="sldImg" idx="2"/>
          </p:nvPr>
        </p:nvSpPr>
        <p:spPr>
          <a:xfrm>
            <a:off x="1144588" y="1243013"/>
            <a:ext cx="4471987" cy="3355975"/>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76117" y="4784835"/>
            <a:ext cx="5408930" cy="391486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443662"/>
            <a:ext cx="2929837" cy="498851"/>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29761" y="9443662"/>
            <a:ext cx="2929837" cy="498851"/>
          </a:xfrm>
          <a:prstGeom prst="rect">
            <a:avLst/>
          </a:prstGeom>
        </p:spPr>
        <p:txBody>
          <a:bodyPr vert="horz" lIns="91440" tIns="45720" rIns="91440" bIns="45720" rtlCol="0" anchor="b"/>
          <a:lstStyle>
            <a:lvl1pPr algn="r">
              <a:defRPr sz="1200"/>
            </a:lvl1pPr>
          </a:lstStyle>
          <a:p>
            <a:fld id="{DAB949B3-C4AB-4FB2-8B24-B07A558BD59F}" type="slidenum">
              <a:rPr lang="en-IN" smtClean="0"/>
              <a:t>‹#›</a:t>
            </a:fld>
            <a:endParaRPr lang="en-IN" dirty="0"/>
          </a:p>
        </p:txBody>
      </p:sp>
    </p:spTree>
    <p:extLst>
      <p:ext uri="{BB962C8B-B14F-4D97-AF65-F5344CB8AC3E}">
        <p14:creationId xmlns:p14="http://schemas.microsoft.com/office/powerpoint/2010/main" val="267653451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9F4C811-DA96-46FA-BC8F-4500A40C51F1}" type="slidenum">
              <a:rPr lang="en-IN" smtClean="0"/>
              <a:t>1</a:t>
            </a:fld>
            <a:endParaRPr lang="en-IN"/>
          </a:p>
        </p:txBody>
      </p:sp>
    </p:spTree>
    <p:extLst>
      <p:ext uri="{BB962C8B-B14F-4D97-AF65-F5344CB8AC3E}">
        <p14:creationId xmlns:p14="http://schemas.microsoft.com/office/powerpoint/2010/main" val="32422342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r>
              <a:rPr lang="en-IN"/>
              <a:t>18-07-2024</a:t>
            </a:r>
            <a:endParaRPr lang="en-IN" dirty="0"/>
          </a:p>
        </p:txBody>
      </p:sp>
      <p:sp>
        <p:nvSpPr>
          <p:cNvPr id="5" name="Footer Placeholder 4"/>
          <p:cNvSpPr>
            <a:spLocks noGrp="1"/>
          </p:cNvSpPr>
          <p:nvPr>
            <p:ph type="ftr" sz="quarter" idx="11"/>
          </p:nvPr>
        </p:nvSpPr>
        <p:spPr/>
        <p:txBody>
          <a:bodyPr/>
          <a:lstStyle/>
          <a:p>
            <a:r>
              <a:rPr lang="en-IN"/>
              <a:t>Intensive teaching workshop</a:t>
            </a:r>
            <a:endParaRPr lang="en-IN" dirty="0"/>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dirty="0"/>
          </a:p>
        </p:txBody>
      </p:sp>
    </p:spTree>
    <p:extLst>
      <p:ext uri="{BB962C8B-B14F-4D97-AF65-F5344CB8AC3E}">
        <p14:creationId xmlns:p14="http://schemas.microsoft.com/office/powerpoint/2010/main" val="16711951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IN"/>
              <a:t>18-07-2024</a:t>
            </a:r>
            <a:endParaRPr lang="en-IN" dirty="0"/>
          </a:p>
        </p:txBody>
      </p:sp>
      <p:sp>
        <p:nvSpPr>
          <p:cNvPr id="3" name="Footer Placeholder 2"/>
          <p:cNvSpPr>
            <a:spLocks noGrp="1"/>
          </p:cNvSpPr>
          <p:nvPr>
            <p:ph type="ftr" sz="quarter" idx="11"/>
          </p:nvPr>
        </p:nvSpPr>
        <p:spPr/>
        <p:txBody>
          <a:bodyPr/>
          <a:lstStyle/>
          <a:p>
            <a:r>
              <a:rPr lang="en-IN"/>
              <a:t>Intensive teaching workshop</a:t>
            </a:r>
            <a:endParaRPr lang="en-IN" dirty="0"/>
          </a:p>
        </p:txBody>
      </p:sp>
      <p:sp>
        <p:nvSpPr>
          <p:cNvPr id="4" name="Slide Number Placeholder 3"/>
          <p:cNvSpPr>
            <a:spLocks noGrp="1"/>
          </p:cNvSpPr>
          <p:nvPr>
            <p:ph type="sldNum" sz="quarter" idx="12"/>
          </p:nvPr>
        </p:nvSpPr>
        <p:spPr/>
        <p:txBody>
          <a:bodyPr/>
          <a:lstStyle/>
          <a:p>
            <a:fld id="{C421C46D-3F04-4F73-BF36-E6D9DA5AE143}" type="slidenum">
              <a:rPr lang="en-IN" smtClean="0"/>
              <a:t>‹#›</a:t>
            </a:fld>
            <a:endParaRPr lang="en-IN" dirty="0"/>
          </a:p>
        </p:txBody>
      </p:sp>
    </p:spTree>
    <p:extLst>
      <p:ext uri="{BB962C8B-B14F-4D97-AF65-F5344CB8AC3E}">
        <p14:creationId xmlns:p14="http://schemas.microsoft.com/office/powerpoint/2010/main" val="27517875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4426796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IN"/>
              <a:t>18-07-2024</a:t>
            </a:r>
            <a:endParaRPr lang="en-IN"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Intensive teaching workshop</a:t>
            </a:r>
            <a:endParaRPr lang="en-IN"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21C46D-3F04-4F73-BF36-E6D9DA5AE143}" type="slidenum">
              <a:rPr lang="en-IN" smtClean="0"/>
              <a:t>‹#›</a:t>
            </a:fld>
            <a:endParaRPr lang="en-IN" dirty="0"/>
          </a:p>
        </p:txBody>
      </p:sp>
      <p:grpSp>
        <p:nvGrpSpPr>
          <p:cNvPr id="7" name="Group 6">
            <a:extLst>
              <a:ext uri="{FF2B5EF4-FFF2-40B4-BE49-F238E27FC236}">
                <a16:creationId xmlns:a16="http://schemas.microsoft.com/office/drawing/2014/main" id="{8F0E9723-CF1C-0850-738D-22FD9A21DACA}"/>
              </a:ext>
            </a:extLst>
          </p:cNvPr>
          <p:cNvGrpSpPr/>
          <p:nvPr userDrawn="1"/>
        </p:nvGrpSpPr>
        <p:grpSpPr>
          <a:xfrm>
            <a:off x="-15214" y="0"/>
            <a:ext cx="9159213" cy="304800"/>
            <a:chOff x="1143000" y="857250"/>
            <a:chExt cx="6858000" cy="162000"/>
          </a:xfrm>
        </p:grpSpPr>
        <p:sp>
          <p:nvSpPr>
            <p:cNvPr id="8" name="Rectangle 7">
              <a:extLst>
                <a:ext uri="{FF2B5EF4-FFF2-40B4-BE49-F238E27FC236}">
                  <a16:creationId xmlns:a16="http://schemas.microsoft.com/office/drawing/2014/main" id="{38226371-350B-FE36-FA8B-F6D3375CBB07}"/>
                </a:ext>
              </a:extLst>
            </p:cNvPr>
            <p:cNvSpPr/>
            <p:nvPr/>
          </p:nvSpPr>
          <p:spPr>
            <a:xfrm>
              <a:off x="4572000" y="857250"/>
              <a:ext cx="3429000" cy="162000"/>
            </a:xfrm>
            <a:prstGeom prst="rect">
              <a:avLst/>
            </a:prstGeom>
            <a:solidFill>
              <a:srgbClr val="341B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defRPr/>
              </a:pPr>
              <a:endParaRPr lang="en-IN" sz="1350">
                <a:solidFill>
                  <a:prstClr val="white"/>
                </a:solidFill>
                <a:latin typeface="Aptos" panose="02110004020202020204"/>
              </a:endParaRPr>
            </a:p>
          </p:txBody>
        </p:sp>
        <p:sp>
          <p:nvSpPr>
            <p:cNvPr id="9" name="Rectangle 8">
              <a:extLst>
                <a:ext uri="{FF2B5EF4-FFF2-40B4-BE49-F238E27FC236}">
                  <a16:creationId xmlns:a16="http://schemas.microsoft.com/office/drawing/2014/main" id="{739619E1-7F05-951B-662F-8EB90A276A81}"/>
                </a:ext>
              </a:extLst>
            </p:cNvPr>
            <p:cNvSpPr/>
            <p:nvPr/>
          </p:nvSpPr>
          <p:spPr>
            <a:xfrm>
              <a:off x="1143000" y="857250"/>
              <a:ext cx="3429000" cy="162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defRPr/>
              </a:pPr>
              <a:endParaRPr lang="en-IN" sz="1350">
                <a:solidFill>
                  <a:prstClr val="white"/>
                </a:solidFill>
                <a:latin typeface="Aptos" panose="02110004020202020204"/>
              </a:endParaRPr>
            </a:p>
          </p:txBody>
        </p:sp>
      </p:grpSp>
      <p:grpSp>
        <p:nvGrpSpPr>
          <p:cNvPr id="10" name="Group 9">
            <a:extLst>
              <a:ext uri="{FF2B5EF4-FFF2-40B4-BE49-F238E27FC236}">
                <a16:creationId xmlns:a16="http://schemas.microsoft.com/office/drawing/2014/main" id="{490E7708-6FC5-3E5C-5D8D-A89F7E7415A0}"/>
              </a:ext>
            </a:extLst>
          </p:cNvPr>
          <p:cNvGrpSpPr/>
          <p:nvPr userDrawn="1"/>
        </p:nvGrpSpPr>
        <p:grpSpPr>
          <a:xfrm>
            <a:off x="0" y="6549143"/>
            <a:ext cx="9159213" cy="304800"/>
            <a:chOff x="1143000" y="857250"/>
            <a:chExt cx="6858000" cy="162000"/>
          </a:xfrm>
        </p:grpSpPr>
        <p:sp>
          <p:nvSpPr>
            <p:cNvPr id="11" name="Rectangle 10">
              <a:extLst>
                <a:ext uri="{FF2B5EF4-FFF2-40B4-BE49-F238E27FC236}">
                  <a16:creationId xmlns:a16="http://schemas.microsoft.com/office/drawing/2014/main" id="{C49D255B-5F69-CB80-B55B-7D569EA897D8}"/>
                </a:ext>
              </a:extLst>
            </p:cNvPr>
            <p:cNvSpPr/>
            <p:nvPr/>
          </p:nvSpPr>
          <p:spPr>
            <a:xfrm>
              <a:off x="4572000" y="857250"/>
              <a:ext cx="3429000" cy="162000"/>
            </a:xfrm>
            <a:prstGeom prst="rect">
              <a:avLst/>
            </a:prstGeom>
            <a:solidFill>
              <a:srgbClr val="341B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defRPr/>
              </a:pPr>
              <a:endParaRPr lang="en-IN" sz="1350">
                <a:solidFill>
                  <a:prstClr val="white"/>
                </a:solidFill>
                <a:latin typeface="Aptos" panose="02110004020202020204"/>
              </a:endParaRPr>
            </a:p>
          </p:txBody>
        </p:sp>
        <p:sp>
          <p:nvSpPr>
            <p:cNvPr id="12" name="Rectangle 11">
              <a:extLst>
                <a:ext uri="{FF2B5EF4-FFF2-40B4-BE49-F238E27FC236}">
                  <a16:creationId xmlns:a16="http://schemas.microsoft.com/office/drawing/2014/main" id="{0EBB55AC-724D-2049-5859-126F851D6A60}"/>
                </a:ext>
              </a:extLst>
            </p:cNvPr>
            <p:cNvSpPr/>
            <p:nvPr/>
          </p:nvSpPr>
          <p:spPr>
            <a:xfrm>
              <a:off x="1143000" y="857250"/>
              <a:ext cx="3429000" cy="162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defRPr/>
              </a:pPr>
              <a:endParaRPr lang="en-IN" sz="1350">
                <a:solidFill>
                  <a:prstClr val="white"/>
                </a:solidFill>
                <a:latin typeface="Aptos" panose="02110004020202020204"/>
              </a:endParaRPr>
            </a:p>
          </p:txBody>
        </p:sp>
      </p:grpSp>
    </p:spTree>
    <p:extLst>
      <p:ext uri="{BB962C8B-B14F-4D97-AF65-F5344CB8AC3E}">
        <p14:creationId xmlns:p14="http://schemas.microsoft.com/office/powerpoint/2010/main" val="4068759949"/>
      </p:ext>
    </p:extLst>
  </p:cSld>
  <p:clrMap bg1="lt1" tx1="dk1" bg2="lt2" tx2="dk2" accent1="accent1" accent2="accent2" accent3="accent3" accent4="accent4" accent5="accent5" accent6="accent6" hlink="hlink" folHlink="folHlink"/>
  <p:sldLayoutIdLst>
    <p:sldLayoutId id="2147483650" r:id="rId1"/>
    <p:sldLayoutId id="2147483655" r:id="rId2"/>
    <p:sldLayoutId id="2147483656" r:id="rId3"/>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CEB6A25-0621-10C8-9539-F4E23EC1891E}"/>
              </a:ext>
            </a:extLst>
          </p:cNvPr>
          <p:cNvSpPr/>
          <p:nvPr/>
        </p:nvSpPr>
        <p:spPr>
          <a:xfrm>
            <a:off x="-15214" y="1251437"/>
            <a:ext cx="9159214" cy="5297705"/>
          </a:xfrm>
          <a:prstGeom prst="rect">
            <a:avLst/>
          </a:prstGeom>
          <a:blipFill dpi="0" rotWithShape="1">
            <a:blip r:embed="rId3">
              <a:alphaModFix amt="50000"/>
            </a:blip>
            <a:srcRect/>
            <a:stretch>
              <a:fillRect t="-38621"/>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defRPr/>
            </a:pPr>
            <a:endParaRPr lang="en-IN" sz="1350" dirty="0">
              <a:solidFill>
                <a:prstClr val="white"/>
              </a:solidFill>
              <a:latin typeface="Aptos" panose="02110004020202020204"/>
            </a:endParaRPr>
          </a:p>
        </p:txBody>
      </p:sp>
      <p:grpSp>
        <p:nvGrpSpPr>
          <p:cNvPr id="2" name="Group 1">
            <a:extLst>
              <a:ext uri="{FF2B5EF4-FFF2-40B4-BE49-F238E27FC236}">
                <a16:creationId xmlns:a16="http://schemas.microsoft.com/office/drawing/2014/main" id="{7910B384-7E13-233A-9F37-02109640C973}"/>
              </a:ext>
            </a:extLst>
          </p:cNvPr>
          <p:cNvGrpSpPr/>
          <p:nvPr/>
        </p:nvGrpSpPr>
        <p:grpSpPr>
          <a:xfrm>
            <a:off x="-15214" y="0"/>
            <a:ext cx="9159213" cy="304800"/>
            <a:chOff x="1143000" y="857250"/>
            <a:chExt cx="6858000" cy="162000"/>
          </a:xfrm>
        </p:grpSpPr>
        <p:sp>
          <p:nvSpPr>
            <p:cNvPr id="5" name="Rectangle 4">
              <a:extLst>
                <a:ext uri="{FF2B5EF4-FFF2-40B4-BE49-F238E27FC236}">
                  <a16:creationId xmlns:a16="http://schemas.microsoft.com/office/drawing/2014/main" id="{DA3C5C49-EEE1-635D-59E5-7808D54395A4}"/>
                </a:ext>
              </a:extLst>
            </p:cNvPr>
            <p:cNvSpPr/>
            <p:nvPr/>
          </p:nvSpPr>
          <p:spPr>
            <a:xfrm>
              <a:off x="4572000" y="857250"/>
              <a:ext cx="3429000" cy="162000"/>
            </a:xfrm>
            <a:prstGeom prst="rect">
              <a:avLst/>
            </a:prstGeom>
            <a:solidFill>
              <a:srgbClr val="341B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defRPr/>
              </a:pPr>
              <a:endParaRPr lang="en-IN" sz="1350">
                <a:solidFill>
                  <a:prstClr val="white"/>
                </a:solidFill>
                <a:latin typeface="Aptos" panose="02110004020202020204"/>
              </a:endParaRPr>
            </a:p>
          </p:txBody>
        </p:sp>
        <p:sp>
          <p:nvSpPr>
            <p:cNvPr id="7" name="Rectangle 6">
              <a:extLst>
                <a:ext uri="{FF2B5EF4-FFF2-40B4-BE49-F238E27FC236}">
                  <a16:creationId xmlns:a16="http://schemas.microsoft.com/office/drawing/2014/main" id="{526EC0BF-23F7-8D74-28AC-EB3330F5685B}"/>
                </a:ext>
              </a:extLst>
            </p:cNvPr>
            <p:cNvSpPr/>
            <p:nvPr/>
          </p:nvSpPr>
          <p:spPr>
            <a:xfrm>
              <a:off x="1143000" y="857250"/>
              <a:ext cx="3429000" cy="162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defRPr/>
              </a:pPr>
              <a:endParaRPr lang="en-IN" sz="1350">
                <a:solidFill>
                  <a:prstClr val="white"/>
                </a:solidFill>
                <a:latin typeface="Aptos" panose="02110004020202020204"/>
              </a:endParaRPr>
            </a:p>
          </p:txBody>
        </p:sp>
      </p:grpSp>
      <p:sp>
        <p:nvSpPr>
          <p:cNvPr id="10" name="TextBox 9">
            <a:extLst>
              <a:ext uri="{FF2B5EF4-FFF2-40B4-BE49-F238E27FC236}">
                <a16:creationId xmlns:a16="http://schemas.microsoft.com/office/drawing/2014/main" id="{54417709-EA2B-EEB2-0124-DBC679B75F59}"/>
              </a:ext>
            </a:extLst>
          </p:cNvPr>
          <p:cNvSpPr txBox="1"/>
          <p:nvPr/>
        </p:nvSpPr>
        <p:spPr>
          <a:xfrm>
            <a:off x="1756081" y="4894133"/>
            <a:ext cx="5616624" cy="1446550"/>
          </a:xfrm>
          <a:prstGeom prst="rect">
            <a:avLst/>
          </a:prstGeom>
          <a:noFill/>
        </p:spPr>
        <p:txBody>
          <a:bodyPr wrap="square">
            <a:spAutoFit/>
          </a:bodyPr>
          <a:lstStyle/>
          <a:p>
            <a:pPr algn="ctr">
              <a:defRPr/>
            </a:pPr>
            <a:r>
              <a:rPr lang="en-GB" sz="2000" b="1" dirty="0">
                <a:solidFill>
                  <a:srgbClr val="0033CC"/>
                </a:solidFill>
                <a:latin typeface="Times New Roman" panose="02020603050405020304" pitchFamily="18" charset="0"/>
                <a:cs typeface="Times New Roman" panose="02020603050405020304" pitchFamily="18" charset="0"/>
              </a:rPr>
              <a:t>Dr Deepak Yadav</a:t>
            </a:r>
          </a:p>
          <a:p>
            <a:pPr algn="ctr">
              <a:defRPr/>
            </a:pPr>
            <a:r>
              <a:rPr lang="en-GB" sz="2000" b="1" dirty="0">
                <a:solidFill>
                  <a:srgbClr val="0033CC"/>
                </a:solidFill>
                <a:latin typeface="Times New Roman" panose="02020603050405020304" pitchFamily="18" charset="0"/>
                <a:cs typeface="Times New Roman" panose="02020603050405020304" pitchFamily="18" charset="0"/>
              </a:rPr>
              <a:t>Assistant Professor, </a:t>
            </a:r>
            <a:r>
              <a:rPr lang="en-US" sz="1600" b="1" dirty="0">
                <a:solidFill>
                  <a:srgbClr val="0033CC"/>
                </a:solidFill>
                <a:latin typeface="Times New Roman" panose="02020603050405020304" pitchFamily="18" charset="0"/>
                <a:cs typeface="Times New Roman" panose="02020603050405020304" pitchFamily="18" charset="0"/>
              </a:rPr>
              <a:t>Department of Chemistry </a:t>
            </a:r>
          </a:p>
          <a:p>
            <a:pPr algn="ctr">
              <a:defRPr/>
            </a:pPr>
            <a:r>
              <a:rPr lang="en-US" sz="1600" b="1" dirty="0">
                <a:solidFill>
                  <a:srgbClr val="0033CC"/>
                </a:solidFill>
                <a:latin typeface="Times New Roman" panose="02020603050405020304" pitchFamily="18" charset="0"/>
                <a:cs typeface="Times New Roman" panose="02020603050405020304" pitchFamily="18" charset="0"/>
              </a:rPr>
              <a:t> School of Basic and Applied Sciences</a:t>
            </a:r>
          </a:p>
          <a:p>
            <a:pPr algn="ctr" defTabSz="342900">
              <a:defRPr/>
            </a:pPr>
            <a:r>
              <a:rPr lang="en-US" sz="1600" b="1" dirty="0">
                <a:solidFill>
                  <a:srgbClr val="0033CC"/>
                </a:solidFill>
                <a:latin typeface="Times New Roman" panose="02020603050405020304" pitchFamily="18" charset="0"/>
                <a:cs typeface="Times New Roman" panose="02020603050405020304" pitchFamily="18" charset="0"/>
              </a:rPr>
              <a:t>K.R. Mangalam University</a:t>
            </a:r>
          </a:p>
          <a:p>
            <a:pPr algn="ctr" defTabSz="342900">
              <a:defRPr/>
            </a:pPr>
            <a:r>
              <a:rPr lang="en-US" sz="1600" b="1" dirty="0">
                <a:solidFill>
                  <a:srgbClr val="0033CC"/>
                </a:solidFill>
                <a:latin typeface="Times New Roman" panose="02020603050405020304" pitchFamily="18" charset="0"/>
                <a:cs typeface="Times New Roman" panose="02020603050405020304" pitchFamily="18" charset="0"/>
              </a:rPr>
              <a:t>Sohna Road, Gurugram</a:t>
            </a:r>
            <a:endParaRPr lang="en-IN" sz="1600" b="1" dirty="0">
              <a:solidFill>
                <a:srgbClr val="0033CC"/>
              </a:solidFill>
              <a:latin typeface="Times New Roman" panose="02020603050405020304" pitchFamily="18" charset="0"/>
              <a:cs typeface="Times New Roman" panose="02020603050405020304" pitchFamily="18" charset="0"/>
            </a:endParaRPr>
          </a:p>
        </p:txBody>
      </p:sp>
      <p:pic>
        <p:nvPicPr>
          <p:cNvPr id="15" name="Picture 14">
            <a:extLst>
              <a:ext uri="{FF2B5EF4-FFF2-40B4-BE49-F238E27FC236}">
                <a16:creationId xmlns:a16="http://schemas.microsoft.com/office/drawing/2014/main" id="{21708C23-8D0C-B7D6-5018-8B0190278737}"/>
              </a:ext>
            </a:extLst>
          </p:cNvPr>
          <p:cNvPicPr>
            <a:picLocks noChangeAspect="1"/>
          </p:cNvPicPr>
          <p:nvPr/>
        </p:nvPicPr>
        <p:blipFill>
          <a:blip r:embed="rId4"/>
          <a:stretch>
            <a:fillRect/>
          </a:stretch>
        </p:blipFill>
        <p:spPr>
          <a:xfrm>
            <a:off x="295274" y="308857"/>
            <a:ext cx="8572501" cy="927678"/>
          </a:xfrm>
          <a:prstGeom prst="rect">
            <a:avLst/>
          </a:prstGeom>
        </p:spPr>
      </p:pic>
      <p:sp>
        <p:nvSpPr>
          <p:cNvPr id="4" name="TextBox 3">
            <a:extLst>
              <a:ext uri="{FF2B5EF4-FFF2-40B4-BE49-F238E27FC236}">
                <a16:creationId xmlns:a16="http://schemas.microsoft.com/office/drawing/2014/main" id="{B644A3F9-E1EE-5DBD-6D95-67CF95DACB77}"/>
              </a:ext>
            </a:extLst>
          </p:cNvPr>
          <p:cNvSpPr txBox="1"/>
          <p:nvPr/>
        </p:nvSpPr>
        <p:spPr>
          <a:xfrm>
            <a:off x="0" y="1960483"/>
            <a:ext cx="9159214" cy="1582484"/>
          </a:xfrm>
          <a:prstGeom prst="rect">
            <a:avLst/>
          </a:prstGeom>
          <a:noFill/>
        </p:spPr>
        <p:txBody>
          <a:bodyPr wrap="square">
            <a:spAutoFit/>
          </a:bodyPr>
          <a:lstStyle/>
          <a:p>
            <a:pPr marR="27623" algn="ctr">
              <a:spcBef>
                <a:spcPts val="75"/>
              </a:spcBef>
            </a:pPr>
            <a:r>
              <a:rPr lang="en-US" sz="3000" b="1" dirty="0">
                <a:latin typeface="Times New Roman"/>
                <a:cs typeface="Times New Roman"/>
              </a:rPr>
              <a:t>Course</a:t>
            </a:r>
            <a:r>
              <a:rPr lang="en-US" sz="3000" b="1" spc="-38" dirty="0">
                <a:latin typeface="Times New Roman"/>
                <a:cs typeface="Times New Roman"/>
              </a:rPr>
              <a:t> </a:t>
            </a:r>
            <a:r>
              <a:rPr lang="en-US" sz="3000" b="1" dirty="0">
                <a:latin typeface="Times New Roman"/>
                <a:cs typeface="Times New Roman"/>
              </a:rPr>
              <a:t>Code:</a:t>
            </a:r>
            <a:r>
              <a:rPr lang="en-US" sz="3000" b="1" spc="-38" dirty="0">
                <a:latin typeface="Times New Roman"/>
                <a:cs typeface="Times New Roman"/>
              </a:rPr>
              <a:t> </a:t>
            </a:r>
            <a:r>
              <a:rPr lang="en-US" sz="3200" dirty="0">
                <a:latin typeface="Times New Roman" panose="02020603050405020304" pitchFamily="18" charset="0"/>
                <a:cs typeface="Times New Roman" panose="02020603050405020304" pitchFamily="18" charset="0"/>
              </a:rPr>
              <a:t>ETCCCH104</a:t>
            </a:r>
            <a:endParaRPr lang="en-US" sz="3000" spc="-8" dirty="0">
              <a:latin typeface="Times New Roman" panose="02020603050405020304" pitchFamily="18" charset="0"/>
              <a:ea typeface="Times New Roman" panose="02020603050405020304" pitchFamily="18" charset="0"/>
            </a:endParaRPr>
          </a:p>
          <a:p>
            <a:pPr marR="27623" algn="ctr">
              <a:spcBef>
                <a:spcPts val="75"/>
              </a:spcBef>
            </a:pPr>
            <a:r>
              <a:rPr lang="en-US" sz="3000" b="1" dirty="0">
                <a:latin typeface="Times New Roman"/>
                <a:cs typeface="Times New Roman"/>
              </a:rPr>
              <a:t>Course</a:t>
            </a:r>
            <a:r>
              <a:rPr lang="en-US" sz="3000" b="1" spc="-4" dirty="0">
                <a:latin typeface="Times New Roman"/>
                <a:cs typeface="Times New Roman"/>
              </a:rPr>
              <a:t> </a:t>
            </a:r>
            <a:r>
              <a:rPr lang="en-US" sz="3000" b="1" dirty="0">
                <a:latin typeface="Times New Roman"/>
                <a:cs typeface="Times New Roman"/>
              </a:rPr>
              <a:t>Name: </a:t>
            </a:r>
            <a:r>
              <a:rPr lang="en-US" sz="3200" dirty="0">
                <a:latin typeface="Times New Roman" panose="02020603050405020304" pitchFamily="18" charset="0"/>
                <a:cs typeface="Times New Roman" panose="02020603050405020304" pitchFamily="18" charset="0"/>
              </a:rPr>
              <a:t>Engineering Chemistry</a:t>
            </a:r>
            <a:endParaRPr lang="en-US" sz="3000" dirty="0">
              <a:latin typeface="Times New Roman"/>
              <a:cs typeface="Times New Roman"/>
            </a:endParaRPr>
          </a:p>
          <a:p>
            <a:pPr marR="27623" algn="ctr"/>
            <a:r>
              <a:rPr lang="en-US" sz="3000" b="1" dirty="0">
                <a:latin typeface="Times New Roman"/>
                <a:cs typeface="Times New Roman"/>
              </a:rPr>
              <a:t>Program:</a:t>
            </a:r>
            <a:r>
              <a:rPr lang="en-US" sz="3000" b="1" spc="-34" dirty="0">
                <a:latin typeface="Times New Roman"/>
                <a:cs typeface="Times New Roman"/>
              </a:rPr>
              <a:t> </a:t>
            </a:r>
            <a:r>
              <a:rPr lang="en-US" sz="3200" dirty="0" err="1">
                <a:latin typeface="Times New Roman" panose="02020603050405020304" pitchFamily="18" charset="0"/>
                <a:cs typeface="Times New Roman" panose="02020603050405020304" pitchFamily="18" charset="0"/>
              </a:rPr>
              <a:t>B.Tech</a:t>
            </a:r>
            <a:endParaRPr lang="en-US" sz="3200" dirty="0">
              <a:latin typeface="Times New Roman" panose="02020603050405020304" pitchFamily="18" charset="0"/>
              <a:cs typeface="Times New Roman" panose="02020603050405020304" pitchFamily="18" charset="0"/>
            </a:endParaRPr>
          </a:p>
        </p:txBody>
      </p:sp>
      <p:grpSp>
        <p:nvGrpSpPr>
          <p:cNvPr id="3" name="Group 2">
            <a:extLst>
              <a:ext uri="{FF2B5EF4-FFF2-40B4-BE49-F238E27FC236}">
                <a16:creationId xmlns:a16="http://schemas.microsoft.com/office/drawing/2014/main" id="{36AFDA2C-02FC-7805-B01D-415947BDEB3A}"/>
              </a:ext>
            </a:extLst>
          </p:cNvPr>
          <p:cNvGrpSpPr/>
          <p:nvPr/>
        </p:nvGrpSpPr>
        <p:grpSpPr>
          <a:xfrm>
            <a:off x="0" y="6549143"/>
            <a:ext cx="9159213" cy="304800"/>
            <a:chOff x="1143000" y="857250"/>
            <a:chExt cx="6858000" cy="162000"/>
          </a:xfrm>
        </p:grpSpPr>
        <p:sp>
          <p:nvSpPr>
            <p:cNvPr id="11" name="Rectangle 10">
              <a:extLst>
                <a:ext uri="{FF2B5EF4-FFF2-40B4-BE49-F238E27FC236}">
                  <a16:creationId xmlns:a16="http://schemas.microsoft.com/office/drawing/2014/main" id="{973F716C-7323-768B-D8E3-06127E29334B}"/>
                </a:ext>
              </a:extLst>
            </p:cNvPr>
            <p:cNvSpPr/>
            <p:nvPr/>
          </p:nvSpPr>
          <p:spPr>
            <a:xfrm>
              <a:off x="4572000" y="857250"/>
              <a:ext cx="3429000" cy="162000"/>
            </a:xfrm>
            <a:prstGeom prst="rect">
              <a:avLst/>
            </a:prstGeom>
            <a:solidFill>
              <a:srgbClr val="341B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defRPr/>
              </a:pPr>
              <a:endParaRPr lang="en-IN" sz="1350">
                <a:solidFill>
                  <a:prstClr val="white"/>
                </a:solidFill>
                <a:latin typeface="Aptos" panose="02110004020202020204"/>
              </a:endParaRPr>
            </a:p>
          </p:txBody>
        </p:sp>
        <p:sp>
          <p:nvSpPr>
            <p:cNvPr id="12" name="Rectangle 11">
              <a:extLst>
                <a:ext uri="{FF2B5EF4-FFF2-40B4-BE49-F238E27FC236}">
                  <a16:creationId xmlns:a16="http://schemas.microsoft.com/office/drawing/2014/main" id="{4426B9DC-430E-BCAA-1219-94197EAAEDFD}"/>
                </a:ext>
              </a:extLst>
            </p:cNvPr>
            <p:cNvSpPr/>
            <p:nvPr/>
          </p:nvSpPr>
          <p:spPr>
            <a:xfrm>
              <a:off x="1143000" y="857250"/>
              <a:ext cx="3429000" cy="162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defRPr/>
              </a:pPr>
              <a:endParaRPr lang="en-IN" sz="1350">
                <a:solidFill>
                  <a:prstClr val="white"/>
                </a:solidFill>
                <a:latin typeface="Aptos" panose="02110004020202020204"/>
              </a:endParaRPr>
            </a:p>
          </p:txBody>
        </p:sp>
      </p:grpSp>
    </p:spTree>
    <p:extLst>
      <p:ext uri="{BB962C8B-B14F-4D97-AF65-F5344CB8AC3E}">
        <p14:creationId xmlns:p14="http://schemas.microsoft.com/office/powerpoint/2010/main" val="12238245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solidFill>
                  <a:srgbClr val="FF0000"/>
                </a:solidFill>
              </a:rPr>
              <a:t>Basic concepts of polymer, Types of polymers</a:t>
            </a:r>
            <a:endParaRPr dirty="0">
              <a:solidFill>
                <a:srgbClr val="FF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solidFill>
                  <a:srgbClr val="FF0000"/>
                </a:solidFill>
              </a:rPr>
              <a:t>Session Outcomes</a:t>
            </a:r>
          </a:p>
        </p:txBody>
      </p:sp>
      <p:sp>
        <p:nvSpPr>
          <p:cNvPr id="6" name="TextBox 5">
            <a:extLst>
              <a:ext uri="{FF2B5EF4-FFF2-40B4-BE49-F238E27FC236}">
                <a16:creationId xmlns:a16="http://schemas.microsoft.com/office/drawing/2014/main" id="{03649D50-996B-66CF-0BA9-ECEC4C762A62}"/>
              </a:ext>
            </a:extLst>
          </p:cNvPr>
          <p:cNvSpPr txBox="1"/>
          <p:nvPr/>
        </p:nvSpPr>
        <p:spPr>
          <a:xfrm>
            <a:off x="755576" y="1409178"/>
            <a:ext cx="7776864" cy="3970318"/>
          </a:xfrm>
          <a:prstGeom prst="rect">
            <a:avLst/>
          </a:prstGeom>
          <a:noFill/>
        </p:spPr>
        <p:txBody>
          <a:bodyPr wrap="square">
            <a:spAutoFit/>
          </a:bodyPr>
          <a:lstStyle/>
          <a:p>
            <a:pPr algn="just">
              <a:buFont typeface="Arial" panose="020B0604020202020204" pitchFamily="34" charset="0"/>
              <a:buChar char="•"/>
            </a:pPr>
            <a:r>
              <a:rPr lang="en-US" sz="2800" dirty="0"/>
              <a:t>Understand the basic concepts of polymers.</a:t>
            </a:r>
          </a:p>
          <a:p>
            <a:pPr algn="just">
              <a:buFont typeface="Arial" panose="020B0604020202020204" pitchFamily="34" charset="0"/>
              <a:buChar char="•"/>
            </a:pPr>
            <a:endParaRPr lang="en-US" sz="2800" dirty="0"/>
          </a:p>
          <a:p>
            <a:pPr algn="just">
              <a:buFont typeface="Arial" panose="020B0604020202020204" pitchFamily="34" charset="0"/>
              <a:buChar char="•"/>
            </a:pPr>
            <a:r>
              <a:rPr lang="en-US" sz="2800" dirty="0"/>
              <a:t>Differentiate between types of polymers based on origin, structure, and polymerization.</a:t>
            </a:r>
          </a:p>
          <a:p>
            <a:pPr algn="just">
              <a:buFont typeface="Arial" panose="020B0604020202020204" pitchFamily="34" charset="0"/>
              <a:buChar char="•"/>
            </a:pPr>
            <a:endParaRPr lang="en-US" sz="2800" dirty="0"/>
          </a:p>
          <a:p>
            <a:pPr algn="just">
              <a:buFont typeface="Arial" panose="020B0604020202020204" pitchFamily="34" charset="0"/>
              <a:buChar char="•"/>
            </a:pPr>
            <a:r>
              <a:rPr lang="en-US" sz="2800" dirty="0"/>
              <a:t>Explain the difference between thermoplastic and thermosetting plastics.</a:t>
            </a:r>
          </a:p>
          <a:p>
            <a:pPr algn="just">
              <a:buFont typeface="Arial" panose="020B0604020202020204" pitchFamily="34" charset="0"/>
              <a:buChar char="•"/>
            </a:pPr>
            <a:endParaRPr lang="en-US" sz="2800" dirty="0"/>
          </a:p>
          <a:p>
            <a:pPr algn="just">
              <a:buFont typeface="Arial" panose="020B0604020202020204" pitchFamily="34" charset="0"/>
              <a:buChar char="•"/>
            </a:pPr>
            <a:r>
              <a:rPr lang="en-US" sz="2800" dirty="0"/>
              <a:t>Apply knowledge through examples and MCQs.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42900" y="196466"/>
            <a:ext cx="8458200" cy="584775"/>
          </a:xfrm>
          <a:prstGeom prst="rect">
            <a:avLst/>
          </a:prstGeom>
          <a:noFill/>
        </p:spPr>
        <p:txBody>
          <a:bodyPr wrap="square" rtlCol="0">
            <a:spAutoFit/>
          </a:bodyPr>
          <a:lstStyle/>
          <a:p>
            <a:r>
              <a:rPr lang="en-US" sz="3200" b="1" dirty="0">
                <a:solidFill>
                  <a:srgbClr val="FF0000"/>
                </a:solidFill>
                <a:latin typeface="Times New Roman" pitchFamily="18" charset="0"/>
                <a:cs typeface="Times New Roman" pitchFamily="18" charset="0"/>
              </a:rPr>
              <a:t>Introduction </a:t>
            </a:r>
            <a:endParaRPr lang="en-IN" sz="3200" b="1" dirty="0">
              <a:solidFill>
                <a:srgbClr val="FF0000"/>
              </a:solidFill>
              <a:latin typeface="Times New Roman" pitchFamily="18" charset="0"/>
              <a:cs typeface="Times New Roman" pitchFamily="18" charset="0"/>
            </a:endParaRPr>
          </a:p>
        </p:txBody>
      </p:sp>
      <p:sp>
        <p:nvSpPr>
          <p:cNvPr id="8" name="Rectangle 7"/>
          <p:cNvSpPr/>
          <p:nvPr/>
        </p:nvSpPr>
        <p:spPr>
          <a:xfrm>
            <a:off x="0" y="4800600"/>
            <a:ext cx="9144000" cy="1600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bg1"/>
              </a:solidFill>
            </a:endParaRPr>
          </a:p>
        </p:txBody>
      </p:sp>
      <p:sp>
        <p:nvSpPr>
          <p:cNvPr id="4" name="TextBox 3">
            <a:extLst>
              <a:ext uri="{FF2B5EF4-FFF2-40B4-BE49-F238E27FC236}">
                <a16:creationId xmlns:a16="http://schemas.microsoft.com/office/drawing/2014/main" id="{4D610B3A-6A03-C16B-73B0-C7FAE4FFD51D}"/>
              </a:ext>
            </a:extLst>
          </p:cNvPr>
          <p:cNvSpPr txBox="1"/>
          <p:nvPr/>
        </p:nvSpPr>
        <p:spPr>
          <a:xfrm>
            <a:off x="231672" y="872844"/>
            <a:ext cx="8680655" cy="4247317"/>
          </a:xfrm>
          <a:prstGeom prst="rect">
            <a:avLst/>
          </a:prstGeom>
          <a:noFill/>
        </p:spPr>
        <p:txBody>
          <a:bodyPr wrap="square" rtlCol="0">
            <a:spAutoFit/>
          </a:bodyPr>
          <a:lstStyle/>
          <a:p>
            <a:pPr marL="457200" indent="-4572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 polymer is a large molecule of high molecular weight obtained by the chemical interaction of many small molecules of low molecular weight i.e. monomers.</a:t>
            </a:r>
          </a:p>
          <a:p>
            <a:pPr algn="just"/>
            <a:endParaRPr lang="en-US" sz="10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process of manufacture of a polymer is called the polymerization.</a:t>
            </a:r>
          </a:p>
          <a:p>
            <a:pPr marL="457200" indent="-457200" algn="just">
              <a:buFont typeface="Arial" panose="020B0604020202020204" pitchFamily="34" charset="0"/>
              <a:buChar char="•"/>
            </a:pPr>
            <a:endParaRPr lang="en-US" sz="10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Polymer</a:t>
            </a:r>
            <a:r>
              <a:rPr lang="en-US" sz="2400" dirty="0">
                <a:latin typeface="Times New Roman" panose="02020603050405020304" pitchFamily="18" charset="0"/>
                <a:cs typeface="Times New Roman" panose="02020603050405020304" pitchFamily="18" charset="0"/>
              </a:rPr>
              <a:t> = </a:t>
            </a:r>
            <a:r>
              <a:rPr lang="en-US" sz="2400" i="1" dirty="0">
                <a:solidFill>
                  <a:srgbClr val="FF0000"/>
                </a:solidFill>
                <a:latin typeface="Times New Roman" panose="02020603050405020304" pitchFamily="18" charset="0"/>
                <a:cs typeface="Times New Roman" panose="02020603050405020304" pitchFamily="18" charset="0"/>
              </a:rPr>
              <a:t>poly</a:t>
            </a:r>
            <a:r>
              <a:rPr lang="en-US" sz="2400" dirty="0">
                <a:latin typeface="Times New Roman" panose="02020603050405020304" pitchFamily="18" charset="0"/>
                <a:cs typeface="Times New Roman" panose="02020603050405020304" pitchFamily="18" charset="0"/>
              </a:rPr>
              <a:t> means ‘many’ + </a:t>
            </a:r>
            <a:r>
              <a:rPr lang="en-US" sz="2400" i="1" dirty="0" err="1">
                <a:solidFill>
                  <a:srgbClr val="FF0000"/>
                </a:solidFill>
                <a:latin typeface="Times New Roman" panose="02020603050405020304" pitchFamily="18" charset="0"/>
                <a:cs typeface="Times New Roman" panose="02020603050405020304" pitchFamily="18" charset="0"/>
              </a:rPr>
              <a:t>mer</a:t>
            </a:r>
            <a:r>
              <a:rPr lang="en-US" sz="2400" dirty="0">
                <a:latin typeface="Times New Roman" panose="02020603050405020304" pitchFamily="18" charset="0"/>
                <a:cs typeface="Times New Roman" panose="02020603050405020304" pitchFamily="18" charset="0"/>
              </a:rPr>
              <a:t> means ‘units’. </a:t>
            </a:r>
          </a:p>
          <a:p>
            <a:pPr marL="457200" indent="-457200" algn="just">
              <a:buFont typeface="Arial" panose="020B0604020202020204" pitchFamily="34" charset="0"/>
              <a:buChar char="•"/>
            </a:pPr>
            <a:endParaRPr lang="en-US" sz="10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400" b="1" dirty="0">
                <a:solidFill>
                  <a:srgbClr val="FF0000"/>
                </a:solidFill>
                <a:latin typeface="Times New Roman" panose="02020603050405020304" pitchFamily="18" charset="0"/>
                <a:cs typeface="Times New Roman" panose="02020603050405020304" pitchFamily="18" charset="0"/>
              </a:rPr>
              <a:t>Monomer</a:t>
            </a:r>
            <a:r>
              <a:rPr lang="en-US" sz="2400" dirty="0">
                <a:latin typeface="Times New Roman" panose="02020603050405020304" pitchFamily="18" charset="0"/>
                <a:cs typeface="Times New Roman" panose="02020603050405020304" pitchFamily="18" charset="0"/>
              </a:rPr>
              <a:t> is the molecule that forms the basic unit for Polymer. e.g., Propene, Styrene, Vinyl chloride etc.</a:t>
            </a:r>
            <a:endParaRPr lang="en-IN" sz="24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DBD2A9FC-81BC-70B5-FB2A-3751165BF8A7}"/>
              </a:ext>
            </a:extLst>
          </p:cNvPr>
          <p:cNvPicPr>
            <a:picLocks noChangeAspect="1"/>
          </p:cNvPicPr>
          <p:nvPr/>
        </p:nvPicPr>
        <p:blipFill>
          <a:blip r:embed="rId2"/>
          <a:stretch>
            <a:fillRect/>
          </a:stretch>
        </p:blipFill>
        <p:spPr>
          <a:xfrm>
            <a:off x="1295400" y="4629557"/>
            <a:ext cx="5436840" cy="1862846"/>
          </a:xfrm>
          <a:prstGeom prst="rect">
            <a:avLst/>
          </a:prstGeom>
        </p:spPr>
      </p:pic>
    </p:spTree>
    <p:extLst>
      <p:ext uri="{BB962C8B-B14F-4D97-AF65-F5344CB8AC3E}">
        <p14:creationId xmlns:p14="http://schemas.microsoft.com/office/powerpoint/2010/main" val="12554112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DF097A6A-1F3F-B9E5-E9C6-2FA9AB726FC1}"/>
              </a:ext>
            </a:extLst>
          </p:cNvPr>
          <p:cNvPicPr>
            <a:picLocks noChangeAspect="1"/>
          </p:cNvPicPr>
          <p:nvPr/>
        </p:nvPicPr>
        <p:blipFill>
          <a:blip r:embed="rId2"/>
          <a:stretch>
            <a:fillRect/>
          </a:stretch>
        </p:blipFill>
        <p:spPr>
          <a:xfrm>
            <a:off x="2344995" y="2580233"/>
            <a:ext cx="2303206" cy="2051297"/>
          </a:xfrm>
          <a:prstGeom prst="rect">
            <a:avLst/>
          </a:prstGeom>
        </p:spPr>
      </p:pic>
      <p:pic>
        <p:nvPicPr>
          <p:cNvPr id="16" name="Picture 15">
            <a:extLst>
              <a:ext uri="{FF2B5EF4-FFF2-40B4-BE49-F238E27FC236}">
                <a16:creationId xmlns:a16="http://schemas.microsoft.com/office/drawing/2014/main" id="{BDC7A6D7-DA84-7301-F0CD-38637DF52098}"/>
              </a:ext>
            </a:extLst>
          </p:cNvPr>
          <p:cNvPicPr>
            <a:picLocks noChangeAspect="1"/>
          </p:cNvPicPr>
          <p:nvPr/>
        </p:nvPicPr>
        <p:blipFill>
          <a:blip r:embed="rId3"/>
          <a:stretch>
            <a:fillRect/>
          </a:stretch>
        </p:blipFill>
        <p:spPr>
          <a:xfrm>
            <a:off x="4707196" y="3563242"/>
            <a:ext cx="2151758" cy="2151758"/>
          </a:xfrm>
          <a:prstGeom prst="rect">
            <a:avLst/>
          </a:prstGeom>
        </p:spPr>
      </p:pic>
      <p:pic>
        <p:nvPicPr>
          <p:cNvPr id="18" name="Picture 17">
            <a:extLst>
              <a:ext uri="{FF2B5EF4-FFF2-40B4-BE49-F238E27FC236}">
                <a16:creationId xmlns:a16="http://schemas.microsoft.com/office/drawing/2014/main" id="{E2A14471-ED2F-5CB5-2163-B127E2E6F253}"/>
              </a:ext>
            </a:extLst>
          </p:cNvPr>
          <p:cNvPicPr>
            <a:picLocks noChangeAspect="1"/>
          </p:cNvPicPr>
          <p:nvPr/>
        </p:nvPicPr>
        <p:blipFill>
          <a:blip r:embed="rId4"/>
          <a:stretch>
            <a:fillRect/>
          </a:stretch>
        </p:blipFill>
        <p:spPr>
          <a:xfrm>
            <a:off x="167967" y="1223718"/>
            <a:ext cx="2118033" cy="2038749"/>
          </a:xfrm>
          <a:prstGeom prst="rect">
            <a:avLst/>
          </a:prstGeom>
        </p:spPr>
      </p:pic>
      <p:pic>
        <p:nvPicPr>
          <p:cNvPr id="20" name="Picture 19">
            <a:extLst>
              <a:ext uri="{FF2B5EF4-FFF2-40B4-BE49-F238E27FC236}">
                <a16:creationId xmlns:a16="http://schemas.microsoft.com/office/drawing/2014/main" id="{CD115409-5ADB-2631-2EFB-FB280B8AB5F4}"/>
              </a:ext>
            </a:extLst>
          </p:cNvPr>
          <p:cNvPicPr>
            <a:picLocks noChangeAspect="1"/>
          </p:cNvPicPr>
          <p:nvPr/>
        </p:nvPicPr>
        <p:blipFill>
          <a:blip r:embed="rId5"/>
          <a:stretch>
            <a:fillRect/>
          </a:stretch>
        </p:blipFill>
        <p:spPr>
          <a:xfrm>
            <a:off x="6878909" y="4800600"/>
            <a:ext cx="2238392" cy="1660264"/>
          </a:xfrm>
          <a:prstGeom prst="rect">
            <a:avLst/>
          </a:prstGeom>
        </p:spPr>
      </p:pic>
      <p:sp>
        <p:nvSpPr>
          <p:cNvPr id="23" name="TextBox 22">
            <a:extLst>
              <a:ext uri="{FF2B5EF4-FFF2-40B4-BE49-F238E27FC236}">
                <a16:creationId xmlns:a16="http://schemas.microsoft.com/office/drawing/2014/main" id="{F0284B25-03D5-F67E-1E68-FF4690B630C5}"/>
              </a:ext>
            </a:extLst>
          </p:cNvPr>
          <p:cNvSpPr txBox="1"/>
          <p:nvPr/>
        </p:nvSpPr>
        <p:spPr>
          <a:xfrm>
            <a:off x="2344995" y="260648"/>
            <a:ext cx="4991100" cy="584775"/>
          </a:xfrm>
          <a:prstGeom prst="rect">
            <a:avLst/>
          </a:prstGeom>
          <a:noFill/>
        </p:spPr>
        <p:txBody>
          <a:bodyPr wrap="square" rtlCol="0">
            <a:spAutoFit/>
          </a:bodyPr>
          <a:lstStyle/>
          <a:p>
            <a:r>
              <a:rPr lang="en-US" sz="3200" b="1" dirty="0">
                <a:solidFill>
                  <a:srgbClr val="FF0000"/>
                </a:solidFill>
                <a:latin typeface="Times New Roman" pitchFamily="18" charset="0"/>
                <a:cs typeface="Times New Roman" pitchFamily="18" charset="0"/>
              </a:rPr>
              <a:t>Classification of polymers</a:t>
            </a:r>
            <a:endParaRPr lang="en-IN" sz="3200" b="1"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32137612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CAF9C7B-8ED8-9F84-4C71-BFD83D435F61}"/>
              </a:ext>
            </a:extLst>
          </p:cNvPr>
          <p:cNvSpPr txBox="1"/>
          <p:nvPr/>
        </p:nvSpPr>
        <p:spPr>
          <a:xfrm>
            <a:off x="1944776" y="370497"/>
            <a:ext cx="5424818" cy="523220"/>
          </a:xfrm>
          <a:prstGeom prst="rect">
            <a:avLst/>
          </a:prstGeom>
          <a:noFill/>
        </p:spPr>
        <p:txBody>
          <a:bodyPr wrap="none" rtlCol="0">
            <a:spAutoFit/>
          </a:bodyPr>
          <a:lstStyle/>
          <a:p>
            <a:r>
              <a:rPr lang="en-IN" sz="2800" b="1" dirty="0">
                <a:solidFill>
                  <a:srgbClr val="FF0000"/>
                </a:solidFill>
                <a:latin typeface="Times New Roman" panose="02020603050405020304" pitchFamily="18" charset="0"/>
                <a:cs typeface="Times New Roman" panose="02020603050405020304" pitchFamily="18" charset="0"/>
              </a:rPr>
              <a:t>Classification Based upon source :</a:t>
            </a:r>
          </a:p>
        </p:txBody>
      </p:sp>
      <p:pic>
        <p:nvPicPr>
          <p:cNvPr id="5" name="Picture 4">
            <a:extLst>
              <a:ext uri="{FF2B5EF4-FFF2-40B4-BE49-F238E27FC236}">
                <a16:creationId xmlns:a16="http://schemas.microsoft.com/office/drawing/2014/main" id="{0F56C392-E412-0C47-E2C9-D5A63639FA38}"/>
              </a:ext>
            </a:extLst>
          </p:cNvPr>
          <p:cNvPicPr>
            <a:picLocks noChangeAspect="1"/>
          </p:cNvPicPr>
          <p:nvPr/>
        </p:nvPicPr>
        <p:blipFill>
          <a:blip r:embed="rId2"/>
          <a:stretch>
            <a:fillRect/>
          </a:stretch>
        </p:blipFill>
        <p:spPr>
          <a:xfrm>
            <a:off x="4512754" y="1320525"/>
            <a:ext cx="1661304" cy="1181202"/>
          </a:xfrm>
          <a:prstGeom prst="rect">
            <a:avLst/>
          </a:prstGeom>
        </p:spPr>
      </p:pic>
      <p:pic>
        <p:nvPicPr>
          <p:cNvPr id="7" name="Picture 6">
            <a:extLst>
              <a:ext uri="{FF2B5EF4-FFF2-40B4-BE49-F238E27FC236}">
                <a16:creationId xmlns:a16="http://schemas.microsoft.com/office/drawing/2014/main" id="{C3B1EB5E-7C08-165E-D124-279C1226DBA2}"/>
              </a:ext>
            </a:extLst>
          </p:cNvPr>
          <p:cNvPicPr>
            <a:picLocks noChangeAspect="1"/>
          </p:cNvPicPr>
          <p:nvPr/>
        </p:nvPicPr>
        <p:blipFill>
          <a:blip r:embed="rId3"/>
          <a:stretch>
            <a:fillRect/>
          </a:stretch>
        </p:blipFill>
        <p:spPr>
          <a:xfrm>
            <a:off x="6200041" y="1338653"/>
            <a:ext cx="1577477" cy="1120237"/>
          </a:xfrm>
          <a:prstGeom prst="rect">
            <a:avLst/>
          </a:prstGeom>
        </p:spPr>
      </p:pic>
      <p:pic>
        <p:nvPicPr>
          <p:cNvPr id="9" name="Picture 8">
            <a:extLst>
              <a:ext uri="{FF2B5EF4-FFF2-40B4-BE49-F238E27FC236}">
                <a16:creationId xmlns:a16="http://schemas.microsoft.com/office/drawing/2014/main" id="{B506ACCA-62E9-7683-E576-93E47C3861DB}"/>
              </a:ext>
            </a:extLst>
          </p:cNvPr>
          <p:cNvPicPr>
            <a:picLocks noChangeAspect="1"/>
          </p:cNvPicPr>
          <p:nvPr/>
        </p:nvPicPr>
        <p:blipFill>
          <a:blip r:embed="rId4"/>
          <a:stretch>
            <a:fillRect/>
          </a:stretch>
        </p:blipFill>
        <p:spPr>
          <a:xfrm>
            <a:off x="7770144" y="1347814"/>
            <a:ext cx="1315317" cy="1133525"/>
          </a:xfrm>
          <a:prstGeom prst="rect">
            <a:avLst/>
          </a:prstGeom>
        </p:spPr>
      </p:pic>
      <p:pic>
        <p:nvPicPr>
          <p:cNvPr id="11" name="Picture 10">
            <a:extLst>
              <a:ext uri="{FF2B5EF4-FFF2-40B4-BE49-F238E27FC236}">
                <a16:creationId xmlns:a16="http://schemas.microsoft.com/office/drawing/2014/main" id="{FD918086-93E1-A74A-41CE-581BE533E1B6}"/>
              </a:ext>
            </a:extLst>
          </p:cNvPr>
          <p:cNvPicPr>
            <a:picLocks noChangeAspect="1"/>
          </p:cNvPicPr>
          <p:nvPr/>
        </p:nvPicPr>
        <p:blipFill>
          <a:blip r:embed="rId5"/>
          <a:stretch>
            <a:fillRect/>
          </a:stretch>
        </p:blipFill>
        <p:spPr>
          <a:xfrm>
            <a:off x="7032523" y="2975652"/>
            <a:ext cx="1920406" cy="1284534"/>
          </a:xfrm>
          <a:prstGeom prst="rect">
            <a:avLst/>
          </a:prstGeom>
        </p:spPr>
      </p:pic>
      <p:sp>
        <p:nvSpPr>
          <p:cNvPr id="12" name="TextBox 11">
            <a:extLst>
              <a:ext uri="{FF2B5EF4-FFF2-40B4-BE49-F238E27FC236}">
                <a16:creationId xmlns:a16="http://schemas.microsoft.com/office/drawing/2014/main" id="{89D5B7B9-AD37-C1A8-E4FA-41D3B2317042}"/>
              </a:ext>
            </a:extLst>
          </p:cNvPr>
          <p:cNvSpPr txBox="1"/>
          <p:nvPr/>
        </p:nvSpPr>
        <p:spPr>
          <a:xfrm>
            <a:off x="42334" y="2848843"/>
            <a:ext cx="6973984" cy="1815882"/>
          </a:xfrm>
          <a:prstGeom prst="rect">
            <a:avLst/>
          </a:prstGeom>
          <a:noFill/>
        </p:spPr>
        <p:txBody>
          <a:bodyPr wrap="square" rtlCol="0">
            <a:spAutoFit/>
          </a:bodyPr>
          <a:lstStyle/>
          <a:p>
            <a:pPr algn="just"/>
            <a:r>
              <a:rPr lang="en-US" sz="2200" b="1" dirty="0">
                <a:solidFill>
                  <a:srgbClr val="0033CC"/>
                </a:solidFill>
                <a:latin typeface="Times New Roman" panose="02020603050405020304" pitchFamily="18" charset="0"/>
                <a:cs typeface="Times New Roman" panose="02020603050405020304" pitchFamily="18" charset="0"/>
              </a:rPr>
              <a:t>2. Semisynthetic polymers:- </a:t>
            </a:r>
            <a:r>
              <a:rPr lang="en-US" sz="2200" dirty="0">
                <a:latin typeface="Times New Roman" panose="02020603050405020304" pitchFamily="18" charset="0"/>
                <a:cs typeface="Times New Roman" panose="02020603050405020304" pitchFamily="18" charset="0"/>
              </a:rPr>
              <a:t>It is obtained from naturally occurring polymers by chemical treatment. Most of the semisynthetic polymers are prepared </a:t>
            </a:r>
            <a:r>
              <a:rPr lang="en-IN" sz="2200" dirty="0">
                <a:latin typeface="Times New Roman" panose="02020603050405020304" pitchFamily="18" charset="0"/>
                <a:cs typeface="Times New Roman" panose="02020603050405020304" pitchFamily="18" charset="0"/>
              </a:rPr>
              <a:t>from cellulose. </a:t>
            </a:r>
          </a:p>
          <a:p>
            <a:pPr algn="just"/>
            <a:r>
              <a:rPr lang="en-IN" sz="2200" dirty="0" err="1">
                <a:latin typeface="Times New Roman" panose="02020603050405020304" pitchFamily="18" charset="0"/>
                <a:cs typeface="Times New Roman" panose="02020603050405020304" pitchFamily="18" charset="0"/>
              </a:rPr>
              <a:t>eg.</a:t>
            </a:r>
            <a:r>
              <a:rPr lang="en-IN" sz="2200" dirty="0">
                <a:latin typeface="Times New Roman" panose="02020603050405020304" pitchFamily="18" charset="0"/>
                <a:cs typeface="Times New Roman" panose="02020603050405020304" pitchFamily="18" charset="0"/>
              </a:rPr>
              <a:t> cellulose acetate, cellulose nitrate, cellulose xanthate and rayon.</a:t>
            </a:r>
            <a:r>
              <a:rPr lang="en-IN" sz="2400" b="1" dirty="0">
                <a:solidFill>
                  <a:srgbClr val="0033CC"/>
                </a:solidFill>
                <a:latin typeface="Times New Roman" panose="02020603050405020304" pitchFamily="18" charset="0"/>
                <a:cs typeface="Times New Roman" panose="02020603050405020304" pitchFamily="18" charset="0"/>
              </a:rPr>
              <a:t> </a:t>
            </a:r>
            <a:endParaRPr lang="en-IN" sz="2200"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80584A0F-E434-360A-ECB3-86A559082109}"/>
              </a:ext>
            </a:extLst>
          </p:cNvPr>
          <p:cNvSpPr txBox="1"/>
          <p:nvPr/>
        </p:nvSpPr>
        <p:spPr>
          <a:xfrm>
            <a:off x="58539" y="1143000"/>
            <a:ext cx="4589661" cy="1446550"/>
          </a:xfrm>
          <a:prstGeom prst="rect">
            <a:avLst/>
          </a:prstGeom>
          <a:noFill/>
        </p:spPr>
        <p:txBody>
          <a:bodyPr wrap="square" rtlCol="0">
            <a:spAutoFit/>
          </a:bodyPr>
          <a:lstStyle/>
          <a:p>
            <a:r>
              <a:rPr lang="en-US" sz="2200" b="1" dirty="0">
                <a:solidFill>
                  <a:srgbClr val="0033CC"/>
                </a:solidFill>
                <a:latin typeface="Times New Roman" panose="02020603050405020304" pitchFamily="18" charset="0"/>
                <a:cs typeface="Times New Roman" panose="02020603050405020304" pitchFamily="18" charset="0"/>
              </a:rPr>
              <a:t>1. Natural polymers:-  </a:t>
            </a:r>
            <a:r>
              <a:rPr lang="en-US" sz="2200" dirty="0">
                <a:latin typeface="Times New Roman" panose="02020603050405020304" pitchFamily="18" charset="0"/>
                <a:cs typeface="Times New Roman" panose="02020603050405020304" pitchFamily="18" charset="0"/>
              </a:rPr>
              <a:t>Polymers which are found in nature. </a:t>
            </a:r>
          </a:p>
          <a:p>
            <a:r>
              <a:rPr lang="en-US" sz="2200" dirty="0" err="1">
                <a:latin typeface="Times New Roman" panose="02020603050405020304" pitchFamily="18" charset="0"/>
                <a:cs typeface="Times New Roman" panose="02020603050405020304" pitchFamily="18" charset="0"/>
              </a:rPr>
              <a:t>eg.</a:t>
            </a:r>
            <a:r>
              <a:rPr lang="en-US" sz="2200" dirty="0">
                <a:latin typeface="Times New Roman" panose="02020603050405020304" pitchFamily="18" charset="0"/>
                <a:cs typeface="Times New Roman" panose="02020603050405020304" pitchFamily="18" charset="0"/>
              </a:rPr>
              <a:t> Starch, cellulose and natural rubber, Silk, Proteins, DNA, RNA</a:t>
            </a:r>
            <a:endParaRPr lang="en-IN" sz="2200" dirty="0"/>
          </a:p>
        </p:txBody>
      </p:sp>
      <p:sp>
        <p:nvSpPr>
          <p:cNvPr id="15" name="TextBox 14">
            <a:extLst>
              <a:ext uri="{FF2B5EF4-FFF2-40B4-BE49-F238E27FC236}">
                <a16:creationId xmlns:a16="http://schemas.microsoft.com/office/drawing/2014/main" id="{21A9ECF4-C633-921B-19E1-F2EAC6B3DBFE}"/>
              </a:ext>
            </a:extLst>
          </p:cNvPr>
          <p:cNvSpPr txBox="1"/>
          <p:nvPr/>
        </p:nvSpPr>
        <p:spPr>
          <a:xfrm>
            <a:off x="1926746" y="4075520"/>
            <a:ext cx="184731" cy="369332"/>
          </a:xfrm>
          <a:prstGeom prst="rect">
            <a:avLst/>
          </a:prstGeom>
          <a:noFill/>
        </p:spPr>
        <p:txBody>
          <a:bodyPr wrap="none" rtlCol="0">
            <a:spAutoFit/>
          </a:bodyPr>
          <a:lstStyle/>
          <a:p>
            <a:endParaRPr lang="en-IN" dirty="0"/>
          </a:p>
        </p:txBody>
      </p:sp>
      <p:sp>
        <p:nvSpPr>
          <p:cNvPr id="16" name="Rectangle 15">
            <a:extLst>
              <a:ext uri="{FF2B5EF4-FFF2-40B4-BE49-F238E27FC236}">
                <a16:creationId xmlns:a16="http://schemas.microsoft.com/office/drawing/2014/main" id="{7B6AF140-4009-8C99-087D-6206A0CD5BC8}"/>
              </a:ext>
            </a:extLst>
          </p:cNvPr>
          <p:cNvSpPr/>
          <p:nvPr/>
        </p:nvSpPr>
        <p:spPr>
          <a:xfrm>
            <a:off x="0" y="4952999"/>
            <a:ext cx="9144000" cy="183848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7" name="TextBox 16">
            <a:extLst>
              <a:ext uri="{FF2B5EF4-FFF2-40B4-BE49-F238E27FC236}">
                <a16:creationId xmlns:a16="http://schemas.microsoft.com/office/drawing/2014/main" id="{90940E4E-E186-B5EB-C0FA-1062F455666D}"/>
              </a:ext>
            </a:extLst>
          </p:cNvPr>
          <p:cNvSpPr txBox="1"/>
          <p:nvPr/>
        </p:nvSpPr>
        <p:spPr>
          <a:xfrm>
            <a:off x="152400" y="4952999"/>
            <a:ext cx="228600" cy="911507"/>
          </a:xfrm>
          <a:prstGeom prst="rect">
            <a:avLst/>
          </a:prstGeom>
          <a:noFill/>
        </p:spPr>
        <p:txBody>
          <a:bodyPr wrap="square" rtlCol="0">
            <a:spAutoFit/>
          </a:bodyPr>
          <a:lstStyle/>
          <a:p>
            <a:endParaRPr lang="en-IN" dirty="0"/>
          </a:p>
        </p:txBody>
      </p:sp>
      <p:sp>
        <p:nvSpPr>
          <p:cNvPr id="18" name="TextBox 17">
            <a:extLst>
              <a:ext uri="{FF2B5EF4-FFF2-40B4-BE49-F238E27FC236}">
                <a16:creationId xmlns:a16="http://schemas.microsoft.com/office/drawing/2014/main" id="{75C6702C-8CD2-25C5-E980-6D1C25840D7E}"/>
              </a:ext>
            </a:extLst>
          </p:cNvPr>
          <p:cNvSpPr txBox="1"/>
          <p:nvPr/>
        </p:nvSpPr>
        <p:spPr>
          <a:xfrm>
            <a:off x="4916" y="4869222"/>
            <a:ext cx="6115519" cy="1477328"/>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IN" sz="2400" b="1" i="0" u="none" strike="noStrike" kern="1200" cap="none" spc="0" normalizeH="0" baseline="0" noProof="0" dirty="0">
                <a:ln>
                  <a:noFill/>
                </a:ln>
                <a:solidFill>
                  <a:srgbClr val="0033CC"/>
                </a:solidFill>
                <a:effectLst/>
                <a:uLnTx/>
                <a:uFillTx/>
                <a:latin typeface="Times New Roman" panose="02020603050405020304" pitchFamily="18" charset="0"/>
                <a:ea typeface="+mn-ea"/>
                <a:cs typeface="Times New Roman" panose="02020603050405020304" pitchFamily="18" charset="0"/>
              </a:rPr>
              <a:t>3</a:t>
            </a:r>
            <a:r>
              <a:rPr kumimoji="0" lang="en-IN" sz="2200" b="1" i="0" u="none" strike="noStrike" kern="1200" cap="none" spc="0" normalizeH="0" baseline="0" noProof="0" dirty="0">
                <a:ln>
                  <a:noFill/>
                </a:ln>
                <a:solidFill>
                  <a:srgbClr val="0033CC"/>
                </a:solidFill>
                <a:effectLst/>
                <a:uLnTx/>
                <a:uFillTx/>
                <a:latin typeface="Times New Roman" panose="02020603050405020304" pitchFamily="18" charset="0"/>
                <a:ea typeface="+mn-ea"/>
                <a:cs typeface="Times New Roman" panose="02020603050405020304" pitchFamily="18" charset="0"/>
              </a:rPr>
              <a:t>. Synthetic polymers:- </a:t>
            </a:r>
            <a:r>
              <a:rPr kumimoji="0" lang="en-IN" sz="2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Man maid polymers are known as synthetic polymer. </a:t>
            </a:r>
            <a:r>
              <a:rPr kumimoji="0" lang="en-IN" sz="2200" b="0" i="0" u="none" strike="noStrike" kern="120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rPr>
              <a:t>eg.</a:t>
            </a:r>
            <a:r>
              <a:rPr kumimoji="0" lang="en-IN" sz="2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PVC, polyethylene, polystyrene, nylon-6, nylon-6,6; nylon-6,10; terylene, synthetic rubbers etc. </a:t>
            </a:r>
          </a:p>
        </p:txBody>
      </p:sp>
      <p:pic>
        <p:nvPicPr>
          <p:cNvPr id="20" name="Picture 19">
            <a:extLst>
              <a:ext uri="{FF2B5EF4-FFF2-40B4-BE49-F238E27FC236}">
                <a16:creationId xmlns:a16="http://schemas.microsoft.com/office/drawing/2014/main" id="{0A4E1D3B-A4AF-ED2F-3CAA-FFFD6E116ECA}"/>
              </a:ext>
            </a:extLst>
          </p:cNvPr>
          <p:cNvPicPr>
            <a:picLocks noChangeAspect="1"/>
          </p:cNvPicPr>
          <p:nvPr/>
        </p:nvPicPr>
        <p:blipFill>
          <a:blip r:embed="rId6"/>
          <a:stretch>
            <a:fillRect/>
          </a:stretch>
        </p:blipFill>
        <p:spPr>
          <a:xfrm>
            <a:off x="6174057" y="5122461"/>
            <a:ext cx="1106749" cy="1350756"/>
          </a:xfrm>
          <a:prstGeom prst="rect">
            <a:avLst/>
          </a:prstGeom>
        </p:spPr>
      </p:pic>
      <p:pic>
        <p:nvPicPr>
          <p:cNvPr id="24" name="Picture 23">
            <a:extLst>
              <a:ext uri="{FF2B5EF4-FFF2-40B4-BE49-F238E27FC236}">
                <a16:creationId xmlns:a16="http://schemas.microsoft.com/office/drawing/2014/main" id="{B22D148A-74E8-C61E-5F20-45BFCCD18E9C}"/>
              </a:ext>
            </a:extLst>
          </p:cNvPr>
          <p:cNvPicPr>
            <a:picLocks noChangeAspect="1"/>
          </p:cNvPicPr>
          <p:nvPr/>
        </p:nvPicPr>
        <p:blipFill>
          <a:blip r:embed="rId7"/>
          <a:stretch>
            <a:fillRect/>
          </a:stretch>
        </p:blipFill>
        <p:spPr>
          <a:xfrm>
            <a:off x="7329449" y="5077780"/>
            <a:ext cx="1756012" cy="1395437"/>
          </a:xfrm>
          <a:prstGeom prst="rect">
            <a:avLst/>
          </a:prstGeom>
        </p:spPr>
      </p:pic>
    </p:spTree>
    <p:extLst>
      <p:ext uri="{BB962C8B-B14F-4D97-AF65-F5344CB8AC3E}">
        <p14:creationId xmlns:p14="http://schemas.microsoft.com/office/powerpoint/2010/main" val="3266120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CAF9C7B-8ED8-9F84-4C71-BFD83D435F61}"/>
              </a:ext>
            </a:extLst>
          </p:cNvPr>
          <p:cNvSpPr txBox="1"/>
          <p:nvPr/>
        </p:nvSpPr>
        <p:spPr>
          <a:xfrm>
            <a:off x="1926746" y="210775"/>
            <a:ext cx="5844805" cy="523220"/>
          </a:xfrm>
          <a:prstGeom prst="rect">
            <a:avLst/>
          </a:prstGeom>
          <a:noFill/>
        </p:spPr>
        <p:txBody>
          <a:bodyPr wrap="none" rtlCol="0">
            <a:spAutoFit/>
          </a:bodyPr>
          <a:lstStyle/>
          <a:p>
            <a:r>
              <a:rPr lang="en-IN" sz="2800" b="1" dirty="0">
                <a:solidFill>
                  <a:srgbClr val="FF0000"/>
                </a:solidFill>
                <a:latin typeface="Times New Roman" panose="02020603050405020304" pitchFamily="18" charset="0"/>
                <a:cs typeface="Times New Roman" panose="02020603050405020304" pitchFamily="18" charset="0"/>
              </a:rPr>
              <a:t>Classification Based upon structure :</a:t>
            </a:r>
          </a:p>
        </p:txBody>
      </p:sp>
      <p:sp>
        <p:nvSpPr>
          <p:cNvPr id="12" name="TextBox 11">
            <a:extLst>
              <a:ext uri="{FF2B5EF4-FFF2-40B4-BE49-F238E27FC236}">
                <a16:creationId xmlns:a16="http://schemas.microsoft.com/office/drawing/2014/main" id="{89D5B7B9-AD37-C1A8-E4FA-41D3B2317042}"/>
              </a:ext>
            </a:extLst>
          </p:cNvPr>
          <p:cNvSpPr txBox="1"/>
          <p:nvPr/>
        </p:nvSpPr>
        <p:spPr>
          <a:xfrm>
            <a:off x="192958" y="2621861"/>
            <a:ext cx="8758084" cy="1477328"/>
          </a:xfrm>
          <a:prstGeom prst="rect">
            <a:avLst/>
          </a:prstGeom>
          <a:noFill/>
        </p:spPr>
        <p:txBody>
          <a:bodyPr wrap="square" rtlCol="0">
            <a:spAutoFit/>
          </a:bodyPr>
          <a:lstStyle/>
          <a:p>
            <a:pPr algn="just"/>
            <a:r>
              <a:rPr lang="en-US" sz="2200" b="1" dirty="0">
                <a:solidFill>
                  <a:srgbClr val="0033CC"/>
                </a:solidFill>
                <a:latin typeface="Times New Roman" panose="02020603050405020304" pitchFamily="18" charset="0"/>
                <a:cs typeface="Times New Roman" panose="02020603050405020304" pitchFamily="18" charset="0"/>
              </a:rPr>
              <a:t>2. Branched chain polymers:- </a:t>
            </a:r>
            <a:r>
              <a:rPr lang="en-US" sz="2200" dirty="0">
                <a:latin typeface="Times New Roman" panose="02020603050405020304" pitchFamily="18" charset="0"/>
                <a:cs typeface="Times New Roman" panose="02020603050405020304" pitchFamily="18" charset="0"/>
              </a:rPr>
              <a:t>Polymers in which the monomeric units</a:t>
            </a:r>
          </a:p>
          <a:p>
            <a:pPr algn="just"/>
            <a:r>
              <a:rPr lang="en-US" sz="2200" dirty="0">
                <a:latin typeface="Times New Roman" panose="02020603050405020304" pitchFamily="18" charset="0"/>
                <a:cs typeface="Times New Roman" panose="02020603050405020304" pitchFamily="18" charset="0"/>
              </a:rPr>
              <a:t>constitute a branched chain. These have lower melting point low densities and tensile strength as compared to linear polymers.</a:t>
            </a:r>
          </a:p>
          <a:p>
            <a:pPr algn="just"/>
            <a:r>
              <a:rPr lang="en-US" sz="2200" dirty="0">
                <a:latin typeface="Times New Roman" panose="02020603050405020304" pitchFamily="18" charset="0"/>
                <a:cs typeface="Times New Roman" panose="02020603050405020304" pitchFamily="18" charset="0"/>
              </a:rPr>
              <a:t> e.g. amylopectin, glycogen, polyethylene.</a:t>
            </a:r>
            <a:endParaRPr lang="en-IN" sz="2200"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80584A0F-E434-360A-ECB3-86A559082109}"/>
              </a:ext>
            </a:extLst>
          </p:cNvPr>
          <p:cNvSpPr txBox="1"/>
          <p:nvPr/>
        </p:nvSpPr>
        <p:spPr>
          <a:xfrm>
            <a:off x="249611" y="617605"/>
            <a:ext cx="8748418" cy="1785104"/>
          </a:xfrm>
          <a:prstGeom prst="rect">
            <a:avLst/>
          </a:prstGeom>
          <a:noFill/>
        </p:spPr>
        <p:txBody>
          <a:bodyPr wrap="square" rtlCol="0">
            <a:spAutoFit/>
          </a:bodyPr>
          <a:lstStyle/>
          <a:p>
            <a:pPr algn="just"/>
            <a:r>
              <a:rPr lang="en-US" sz="2200" b="1" dirty="0">
                <a:solidFill>
                  <a:srgbClr val="0033CC"/>
                </a:solidFill>
                <a:latin typeface="Times New Roman" panose="02020603050405020304" pitchFamily="18" charset="0"/>
                <a:cs typeface="Times New Roman" panose="02020603050405020304" pitchFamily="18" charset="0"/>
              </a:rPr>
              <a:t>1. Linear polymers:-  </a:t>
            </a:r>
            <a:r>
              <a:rPr lang="en-US" sz="2200" dirty="0">
                <a:latin typeface="Times New Roman" panose="02020603050405020304" pitchFamily="18" charset="0"/>
                <a:cs typeface="Times New Roman" panose="02020603050405020304" pitchFamily="18" charset="0"/>
              </a:rPr>
              <a:t>Monomers are joined together to form long straight chains. The various linear polymeric chains are stacked over one another to give a well packed structure close packed in nature, having high densities, high melting point and high tensile (pulling) strength.</a:t>
            </a:r>
          </a:p>
          <a:p>
            <a:pPr algn="just"/>
            <a:r>
              <a:rPr lang="en-US" sz="2200" dirty="0">
                <a:latin typeface="Times New Roman" panose="02020603050405020304" pitchFamily="18" charset="0"/>
                <a:cs typeface="Times New Roman" panose="02020603050405020304" pitchFamily="18" charset="0"/>
              </a:rPr>
              <a:t>e.g. cellulose, silk, nylon, terylene etc.</a:t>
            </a:r>
            <a:endParaRPr lang="en-IN" sz="2200" dirty="0"/>
          </a:p>
        </p:txBody>
      </p:sp>
      <p:sp>
        <p:nvSpPr>
          <p:cNvPr id="15" name="TextBox 14">
            <a:extLst>
              <a:ext uri="{FF2B5EF4-FFF2-40B4-BE49-F238E27FC236}">
                <a16:creationId xmlns:a16="http://schemas.microsoft.com/office/drawing/2014/main" id="{21A9ECF4-C633-921B-19E1-F2EAC6B3DBFE}"/>
              </a:ext>
            </a:extLst>
          </p:cNvPr>
          <p:cNvSpPr txBox="1"/>
          <p:nvPr/>
        </p:nvSpPr>
        <p:spPr>
          <a:xfrm>
            <a:off x="1926746" y="4075520"/>
            <a:ext cx="184731" cy="369332"/>
          </a:xfrm>
          <a:prstGeom prst="rect">
            <a:avLst/>
          </a:prstGeom>
          <a:noFill/>
        </p:spPr>
        <p:txBody>
          <a:bodyPr wrap="none" rtlCol="0">
            <a:spAutoFit/>
          </a:bodyPr>
          <a:lstStyle/>
          <a:p>
            <a:endParaRPr lang="en-IN" dirty="0"/>
          </a:p>
        </p:txBody>
      </p:sp>
      <p:sp>
        <p:nvSpPr>
          <p:cNvPr id="16" name="Rectangle 15">
            <a:extLst>
              <a:ext uri="{FF2B5EF4-FFF2-40B4-BE49-F238E27FC236}">
                <a16:creationId xmlns:a16="http://schemas.microsoft.com/office/drawing/2014/main" id="{7B6AF140-4009-8C99-087D-6206A0CD5BC8}"/>
              </a:ext>
            </a:extLst>
          </p:cNvPr>
          <p:cNvSpPr/>
          <p:nvPr/>
        </p:nvSpPr>
        <p:spPr>
          <a:xfrm>
            <a:off x="0" y="4690195"/>
            <a:ext cx="9144000" cy="201540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7" name="TextBox 16">
            <a:extLst>
              <a:ext uri="{FF2B5EF4-FFF2-40B4-BE49-F238E27FC236}">
                <a16:creationId xmlns:a16="http://schemas.microsoft.com/office/drawing/2014/main" id="{90940E4E-E186-B5EB-C0FA-1062F455666D}"/>
              </a:ext>
            </a:extLst>
          </p:cNvPr>
          <p:cNvSpPr txBox="1"/>
          <p:nvPr/>
        </p:nvSpPr>
        <p:spPr>
          <a:xfrm>
            <a:off x="152400" y="4952999"/>
            <a:ext cx="228600" cy="911507"/>
          </a:xfrm>
          <a:prstGeom prst="rect">
            <a:avLst/>
          </a:prstGeom>
          <a:noFill/>
        </p:spPr>
        <p:txBody>
          <a:bodyPr wrap="square" rtlCol="0">
            <a:spAutoFit/>
          </a:bodyPr>
          <a:lstStyle/>
          <a:p>
            <a:endParaRPr lang="en-IN" dirty="0"/>
          </a:p>
        </p:txBody>
      </p:sp>
      <p:sp>
        <p:nvSpPr>
          <p:cNvPr id="18" name="TextBox 17">
            <a:extLst>
              <a:ext uri="{FF2B5EF4-FFF2-40B4-BE49-F238E27FC236}">
                <a16:creationId xmlns:a16="http://schemas.microsoft.com/office/drawing/2014/main" id="{75C6702C-8CD2-25C5-E980-6D1C25840D7E}"/>
              </a:ext>
            </a:extLst>
          </p:cNvPr>
          <p:cNvSpPr txBox="1"/>
          <p:nvPr/>
        </p:nvSpPr>
        <p:spPr>
          <a:xfrm>
            <a:off x="0" y="4490521"/>
            <a:ext cx="8758084" cy="1477328"/>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IN" sz="2400" b="1" i="0" u="none" strike="noStrike" kern="1200" cap="none" spc="0" normalizeH="0" baseline="0" noProof="0" dirty="0">
                <a:ln>
                  <a:noFill/>
                </a:ln>
                <a:solidFill>
                  <a:srgbClr val="0033CC"/>
                </a:solidFill>
                <a:effectLst/>
                <a:uLnTx/>
                <a:uFillTx/>
                <a:latin typeface="Times New Roman" panose="02020603050405020304" pitchFamily="18" charset="0"/>
                <a:ea typeface="+mn-ea"/>
                <a:cs typeface="Times New Roman" panose="02020603050405020304" pitchFamily="18" charset="0"/>
              </a:rPr>
              <a:t>3</a:t>
            </a:r>
            <a:r>
              <a:rPr kumimoji="0" lang="en-IN" sz="2200" b="1" i="0" u="none" strike="noStrike" kern="1200" cap="none" spc="0" normalizeH="0" baseline="0" noProof="0" dirty="0">
                <a:ln>
                  <a:noFill/>
                </a:ln>
                <a:solidFill>
                  <a:srgbClr val="0033CC"/>
                </a:solidFill>
                <a:effectLst/>
                <a:uLnTx/>
                <a:uFillTx/>
                <a:latin typeface="Times New Roman" panose="02020603050405020304" pitchFamily="18" charset="0"/>
                <a:ea typeface="+mn-ea"/>
                <a:cs typeface="Times New Roman" panose="02020603050405020304" pitchFamily="18" charset="0"/>
              </a:rPr>
              <a:t>. </a:t>
            </a:r>
            <a:r>
              <a:rPr kumimoji="0" lang="en-US" sz="2200" b="1" i="0" u="none" strike="noStrike" kern="1200" cap="none" spc="0" normalizeH="0" baseline="0" noProof="0" dirty="0">
                <a:ln>
                  <a:noFill/>
                </a:ln>
                <a:solidFill>
                  <a:srgbClr val="0033CC"/>
                </a:solidFill>
                <a:effectLst/>
                <a:uLnTx/>
                <a:uFillTx/>
                <a:latin typeface="Times New Roman" panose="02020603050405020304" pitchFamily="18" charset="0"/>
                <a:ea typeface="+mn-ea"/>
                <a:cs typeface="Times New Roman" panose="02020603050405020304" pitchFamily="18" charset="0"/>
              </a:rPr>
              <a:t>Cross linked or Three-Dimensional network polymers</a:t>
            </a:r>
            <a:r>
              <a:rPr kumimoji="0" lang="en-IN" sz="2200" b="1" i="0" u="none" strike="noStrike" kern="1200" cap="none" spc="0" normalizeH="0" baseline="0" noProof="0" dirty="0">
                <a:ln>
                  <a:noFill/>
                </a:ln>
                <a:solidFill>
                  <a:srgbClr val="0033CC"/>
                </a:solidFill>
                <a:effectLst/>
                <a:uLnTx/>
                <a:uFillTx/>
                <a:latin typeface="Times New Roman" panose="02020603050405020304" pitchFamily="18" charset="0"/>
                <a:ea typeface="+mn-ea"/>
                <a:cs typeface="Times New Roman" panose="02020603050405020304" pitchFamily="18" charset="0"/>
              </a:rPr>
              <a:t>:- </a:t>
            </a:r>
            <a:r>
              <a:rPr kumimoji="0" lang="en-US" sz="2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When linear polymeric chains are joined together to form a three dimensional network structure. These polymers are hard, rigid and brittle. Cross linked polymers are always condensation polymers. </a:t>
            </a:r>
            <a:r>
              <a:rPr lang="en-US" sz="2200" dirty="0">
                <a:solidFill>
                  <a:srgbClr val="000000"/>
                </a:solidFill>
                <a:latin typeface="Times New Roman" panose="02020603050405020304" pitchFamily="18" charset="0"/>
                <a:cs typeface="Times New Roman" panose="02020603050405020304" pitchFamily="18" charset="0"/>
              </a:rPr>
              <a:t>e</a:t>
            </a:r>
            <a:r>
              <a:rPr kumimoji="0" lang="en-US" sz="2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.g. Resins.</a:t>
            </a:r>
            <a:endParaRPr kumimoji="0" lang="en-IN" sz="2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pic>
        <p:nvPicPr>
          <p:cNvPr id="4" name="Picture 3">
            <a:extLst>
              <a:ext uri="{FF2B5EF4-FFF2-40B4-BE49-F238E27FC236}">
                <a16:creationId xmlns:a16="http://schemas.microsoft.com/office/drawing/2014/main" id="{CEB02775-2EB5-D3D5-5DFC-0EA4CFDA4965}"/>
              </a:ext>
            </a:extLst>
          </p:cNvPr>
          <p:cNvPicPr>
            <a:picLocks noChangeAspect="1"/>
          </p:cNvPicPr>
          <p:nvPr/>
        </p:nvPicPr>
        <p:blipFill>
          <a:blip r:embed="rId2"/>
          <a:stretch>
            <a:fillRect/>
          </a:stretch>
        </p:blipFill>
        <p:spPr>
          <a:xfrm>
            <a:off x="6616305" y="1701267"/>
            <a:ext cx="2263336" cy="731583"/>
          </a:xfrm>
          <a:prstGeom prst="rect">
            <a:avLst/>
          </a:prstGeom>
        </p:spPr>
      </p:pic>
      <p:pic>
        <p:nvPicPr>
          <p:cNvPr id="8" name="Picture 7">
            <a:extLst>
              <a:ext uri="{FF2B5EF4-FFF2-40B4-BE49-F238E27FC236}">
                <a16:creationId xmlns:a16="http://schemas.microsoft.com/office/drawing/2014/main" id="{E6E8C25C-DA85-6FE8-8967-E7804685457B}"/>
              </a:ext>
            </a:extLst>
          </p:cNvPr>
          <p:cNvPicPr>
            <a:picLocks noChangeAspect="1"/>
          </p:cNvPicPr>
          <p:nvPr/>
        </p:nvPicPr>
        <p:blipFill>
          <a:blip r:embed="rId3"/>
          <a:stretch>
            <a:fillRect/>
          </a:stretch>
        </p:blipFill>
        <p:spPr>
          <a:xfrm>
            <a:off x="6324600" y="3413023"/>
            <a:ext cx="2364233" cy="1002229"/>
          </a:xfrm>
          <a:prstGeom prst="rect">
            <a:avLst/>
          </a:prstGeom>
        </p:spPr>
      </p:pic>
      <p:pic>
        <p:nvPicPr>
          <p:cNvPr id="13" name="Picture 12">
            <a:extLst>
              <a:ext uri="{FF2B5EF4-FFF2-40B4-BE49-F238E27FC236}">
                <a16:creationId xmlns:a16="http://schemas.microsoft.com/office/drawing/2014/main" id="{7F241139-0A63-245D-20FB-C8C43674801D}"/>
              </a:ext>
            </a:extLst>
          </p:cNvPr>
          <p:cNvPicPr>
            <a:picLocks noChangeAspect="1"/>
          </p:cNvPicPr>
          <p:nvPr/>
        </p:nvPicPr>
        <p:blipFill>
          <a:blip r:embed="rId4"/>
          <a:stretch>
            <a:fillRect/>
          </a:stretch>
        </p:blipFill>
        <p:spPr>
          <a:xfrm>
            <a:off x="6324600" y="5713545"/>
            <a:ext cx="2585884" cy="953416"/>
          </a:xfrm>
          <a:prstGeom prst="rect">
            <a:avLst/>
          </a:prstGeom>
        </p:spPr>
      </p:pic>
    </p:spTree>
    <p:extLst>
      <p:ext uri="{BB962C8B-B14F-4D97-AF65-F5344CB8AC3E}">
        <p14:creationId xmlns:p14="http://schemas.microsoft.com/office/powerpoint/2010/main" val="16416326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CAF9C7B-8ED8-9F84-4C71-BFD83D435F61}"/>
              </a:ext>
            </a:extLst>
          </p:cNvPr>
          <p:cNvSpPr txBox="1"/>
          <p:nvPr/>
        </p:nvSpPr>
        <p:spPr>
          <a:xfrm>
            <a:off x="1160713" y="227307"/>
            <a:ext cx="6822573" cy="523220"/>
          </a:xfrm>
          <a:prstGeom prst="rect">
            <a:avLst/>
          </a:prstGeom>
          <a:noFill/>
        </p:spPr>
        <p:txBody>
          <a:bodyPr wrap="none" rtlCol="0">
            <a:spAutoFit/>
          </a:bodyPr>
          <a:lstStyle/>
          <a:p>
            <a:r>
              <a:rPr lang="en-IN" sz="2800" b="1" dirty="0">
                <a:solidFill>
                  <a:srgbClr val="FF0000"/>
                </a:solidFill>
                <a:latin typeface="Times New Roman" panose="02020603050405020304" pitchFamily="18" charset="0"/>
                <a:cs typeface="Times New Roman" panose="02020603050405020304" pitchFamily="18" charset="0"/>
              </a:rPr>
              <a:t>Classification Based upon molecular force :</a:t>
            </a:r>
          </a:p>
        </p:txBody>
      </p:sp>
      <p:sp>
        <p:nvSpPr>
          <p:cNvPr id="12" name="TextBox 11">
            <a:extLst>
              <a:ext uri="{FF2B5EF4-FFF2-40B4-BE49-F238E27FC236}">
                <a16:creationId xmlns:a16="http://schemas.microsoft.com/office/drawing/2014/main" id="{89D5B7B9-AD37-C1A8-E4FA-41D3B2317042}"/>
              </a:ext>
            </a:extLst>
          </p:cNvPr>
          <p:cNvSpPr txBox="1"/>
          <p:nvPr/>
        </p:nvSpPr>
        <p:spPr>
          <a:xfrm>
            <a:off x="244577" y="3097019"/>
            <a:ext cx="8559197" cy="1446550"/>
          </a:xfrm>
          <a:prstGeom prst="rect">
            <a:avLst/>
          </a:prstGeom>
          <a:noFill/>
        </p:spPr>
        <p:txBody>
          <a:bodyPr wrap="square" rtlCol="0">
            <a:spAutoFit/>
          </a:bodyPr>
          <a:lstStyle/>
          <a:p>
            <a:pPr algn="just"/>
            <a:r>
              <a:rPr lang="en-US" sz="2200" b="1" dirty="0">
                <a:solidFill>
                  <a:srgbClr val="0033CC"/>
                </a:solidFill>
                <a:latin typeface="Times New Roman" panose="02020603050405020304" pitchFamily="18" charset="0"/>
                <a:cs typeface="Times New Roman" panose="02020603050405020304" pitchFamily="18" charset="0"/>
              </a:rPr>
              <a:t>2. Fibers:- </a:t>
            </a:r>
            <a:r>
              <a:rPr lang="en-US" sz="2200" dirty="0">
                <a:latin typeface="Times New Roman" panose="02020603050405020304" pitchFamily="18" charset="0"/>
                <a:cs typeface="Times New Roman" panose="02020603050405020304" pitchFamily="18" charset="0"/>
              </a:rPr>
              <a:t>Those polymers in which the intermolecular forces of attraction are the strongest are called fibers. These polymers held together by H-bonding or dipole-dipole interaction. Fibers have high tensile strength, least elasticity having high melting point and low solubility.</a:t>
            </a:r>
            <a:endParaRPr lang="en-IN" sz="2200"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80584A0F-E434-360A-ECB3-86A559082109}"/>
              </a:ext>
            </a:extLst>
          </p:cNvPr>
          <p:cNvSpPr txBox="1"/>
          <p:nvPr/>
        </p:nvSpPr>
        <p:spPr>
          <a:xfrm>
            <a:off x="286366" y="902485"/>
            <a:ext cx="8517408" cy="1785104"/>
          </a:xfrm>
          <a:prstGeom prst="rect">
            <a:avLst/>
          </a:prstGeom>
          <a:noFill/>
        </p:spPr>
        <p:txBody>
          <a:bodyPr wrap="square" rtlCol="0">
            <a:spAutoFit/>
          </a:bodyPr>
          <a:lstStyle/>
          <a:p>
            <a:pPr algn="just"/>
            <a:r>
              <a:rPr lang="en-US" sz="2200" b="1" dirty="0">
                <a:solidFill>
                  <a:srgbClr val="0033CC"/>
                </a:solidFill>
                <a:latin typeface="Times New Roman" panose="02020603050405020304" pitchFamily="18" charset="0"/>
                <a:cs typeface="Times New Roman" panose="02020603050405020304" pitchFamily="18" charset="0"/>
              </a:rPr>
              <a:t>1. Elastomers:-  </a:t>
            </a:r>
            <a:r>
              <a:rPr lang="en-US" sz="2200" dirty="0">
                <a:latin typeface="Times New Roman" panose="02020603050405020304" pitchFamily="18" charset="0"/>
                <a:cs typeface="Times New Roman" panose="02020603050405020304" pitchFamily="18" charset="0"/>
              </a:rPr>
              <a:t>Polymers in which the intermolecular forces of attraction between the polymer chains are the weakest (weak van der Waals forces of attraction) these polymers consist of randomly coiled molecular chains of irregular shape having a few cross links.</a:t>
            </a:r>
          </a:p>
          <a:p>
            <a:pPr algn="just"/>
            <a:r>
              <a:rPr lang="en-US" sz="2200" dirty="0">
                <a:latin typeface="Times New Roman" panose="02020603050405020304" pitchFamily="18" charset="0"/>
                <a:cs typeface="Times New Roman" panose="02020603050405020304" pitchFamily="18" charset="0"/>
              </a:rPr>
              <a:t> e.g. natural rubber, Buna-S, Buna-N etc.</a:t>
            </a:r>
            <a:endParaRPr lang="en-IN" sz="2200" dirty="0"/>
          </a:p>
        </p:txBody>
      </p:sp>
      <p:sp>
        <p:nvSpPr>
          <p:cNvPr id="15" name="TextBox 14">
            <a:extLst>
              <a:ext uri="{FF2B5EF4-FFF2-40B4-BE49-F238E27FC236}">
                <a16:creationId xmlns:a16="http://schemas.microsoft.com/office/drawing/2014/main" id="{21A9ECF4-C633-921B-19E1-F2EAC6B3DBFE}"/>
              </a:ext>
            </a:extLst>
          </p:cNvPr>
          <p:cNvSpPr txBox="1"/>
          <p:nvPr/>
        </p:nvSpPr>
        <p:spPr>
          <a:xfrm>
            <a:off x="1926746" y="4075520"/>
            <a:ext cx="184731" cy="369332"/>
          </a:xfrm>
          <a:prstGeom prst="rect">
            <a:avLst/>
          </a:prstGeom>
          <a:noFill/>
        </p:spPr>
        <p:txBody>
          <a:bodyPr wrap="none" rtlCol="0">
            <a:spAutoFit/>
          </a:bodyPr>
          <a:lstStyle/>
          <a:p>
            <a:endParaRPr lang="en-IN" dirty="0"/>
          </a:p>
        </p:txBody>
      </p:sp>
      <p:sp>
        <p:nvSpPr>
          <p:cNvPr id="16" name="Rectangle 15">
            <a:extLst>
              <a:ext uri="{FF2B5EF4-FFF2-40B4-BE49-F238E27FC236}">
                <a16:creationId xmlns:a16="http://schemas.microsoft.com/office/drawing/2014/main" id="{7B6AF140-4009-8C99-087D-6206A0CD5BC8}"/>
              </a:ext>
            </a:extLst>
          </p:cNvPr>
          <p:cNvSpPr/>
          <p:nvPr/>
        </p:nvSpPr>
        <p:spPr>
          <a:xfrm>
            <a:off x="0" y="4952999"/>
            <a:ext cx="9144000" cy="183848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7" name="TextBox 16">
            <a:extLst>
              <a:ext uri="{FF2B5EF4-FFF2-40B4-BE49-F238E27FC236}">
                <a16:creationId xmlns:a16="http://schemas.microsoft.com/office/drawing/2014/main" id="{90940E4E-E186-B5EB-C0FA-1062F455666D}"/>
              </a:ext>
            </a:extLst>
          </p:cNvPr>
          <p:cNvSpPr txBox="1"/>
          <p:nvPr/>
        </p:nvSpPr>
        <p:spPr>
          <a:xfrm>
            <a:off x="152400" y="4952999"/>
            <a:ext cx="228600" cy="911507"/>
          </a:xfrm>
          <a:prstGeom prst="rect">
            <a:avLst/>
          </a:prstGeom>
          <a:noFill/>
        </p:spPr>
        <p:txBody>
          <a:bodyPr wrap="square" rtlCol="0">
            <a:spAutoFit/>
          </a:bodyPr>
          <a:lstStyle/>
          <a:p>
            <a:endParaRPr lang="en-IN" dirty="0"/>
          </a:p>
        </p:txBody>
      </p:sp>
      <p:sp>
        <p:nvSpPr>
          <p:cNvPr id="18" name="TextBox 17">
            <a:extLst>
              <a:ext uri="{FF2B5EF4-FFF2-40B4-BE49-F238E27FC236}">
                <a16:creationId xmlns:a16="http://schemas.microsoft.com/office/drawing/2014/main" id="{75C6702C-8CD2-25C5-E980-6D1C25840D7E}"/>
              </a:ext>
            </a:extLst>
          </p:cNvPr>
          <p:cNvSpPr txBox="1"/>
          <p:nvPr/>
        </p:nvSpPr>
        <p:spPr>
          <a:xfrm>
            <a:off x="152400" y="4900590"/>
            <a:ext cx="8651374" cy="1477328"/>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IN" sz="2400" b="1" i="0" u="none" strike="noStrike" kern="1200" cap="none" spc="0" normalizeH="0" baseline="0" noProof="0" dirty="0">
                <a:ln>
                  <a:noFill/>
                </a:ln>
                <a:solidFill>
                  <a:srgbClr val="0033CC"/>
                </a:solidFill>
                <a:effectLst/>
                <a:uLnTx/>
                <a:uFillTx/>
                <a:latin typeface="Times New Roman" panose="02020603050405020304" pitchFamily="18" charset="0"/>
                <a:ea typeface="+mn-ea"/>
                <a:cs typeface="Times New Roman" panose="02020603050405020304" pitchFamily="18" charset="0"/>
              </a:rPr>
              <a:t>3</a:t>
            </a:r>
            <a:r>
              <a:rPr kumimoji="0" lang="en-IN" sz="2200" b="1" i="0" u="none" strike="noStrike" kern="1200" cap="none" spc="0" normalizeH="0" baseline="0" noProof="0" dirty="0">
                <a:ln>
                  <a:noFill/>
                </a:ln>
                <a:solidFill>
                  <a:srgbClr val="0033CC"/>
                </a:solidFill>
                <a:effectLst/>
                <a:uLnTx/>
                <a:uFillTx/>
                <a:latin typeface="Times New Roman" panose="02020603050405020304" pitchFamily="18" charset="0"/>
                <a:ea typeface="+mn-ea"/>
                <a:cs typeface="Times New Roman" panose="02020603050405020304" pitchFamily="18" charset="0"/>
              </a:rPr>
              <a:t>. Thermoplastics:- </a:t>
            </a:r>
            <a:r>
              <a:rPr kumimoji="0" lang="en-US" sz="2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In thermoplastics, intermolecular forces of attraction are in between those of elastomers and fibers. Thermoplastics become soft and viscous on heating and rigid on cooling.</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Examples are polythene, nylon-6, nylon-6,6</a:t>
            </a:r>
            <a:r>
              <a:rPr kumimoji="0" lang="en-IN" sz="2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a:t>
            </a:r>
          </a:p>
        </p:txBody>
      </p:sp>
    </p:spTree>
    <p:extLst>
      <p:ext uri="{BB962C8B-B14F-4D97-AF65-F5344CB8AC3E}">
        <p14:creationId xmlns:p14="http://schemas.microsoft.com/office/powerpoint/2010/main" val="4333138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CAF9C7B-8ED8-9F84-4C71-BFD83D435F61}"/>
              </a:ext>
            </a:extLst>
          </p:cNvPr>
          <p:cNvSpPr txBox="1"/>
          <p:nvPr/>
        </p:nvSpPr>
        <p:spPr>
          <a:xfrm>
            <a:off x="288823" y="2069524"/>
            <a:ext cx="6822573" cy="523220"/>
          </a:xfrm>
          <a:prstGeom prst="rect">
            <a:avLst/>
          </a:prstGeom>
          <a:noFill/>
        </p:spPr>
        <p:txBody>
          <a:bodyPr wrap="none" rtlCol="0">
            <a:spAutoFit/>
          </a:bodyPr>
          <a:lstStyle/>
          <a:p>
            <a:r>
              <a:rPr lang="en-IN" sz="2800" b="1" dirty="0">
                <a:solidFill>
                  <a:srgbClr val="FF0000"/>
                </a:solidFill>
                <a:latin typeface="Times New Roman" panose="02020603050405020304" pitchFamily="18" charset="0"/>
                <a:cs typeface="Times New Roman" panose="02020603050405020304" pitchFamily="18" charset="0"/>
              </a:rPr>
              <a:t>Classification Based upon polymerisation:</a:t>
            </a:r>
          </a:p>
        </p:txBody>
      </p:sp>
      <p:sp>
        <p:nvSpPr>
          <p:cNvPr id="14" name="TextBox 13">
            <a:extLst>
              <a:ext uri="{FF2B5EF4-FFF2-40B4-BE49-F238E27FC236}">
                <a16:creationId xmlns:a16="http://schemas.microsoft.com/office/drawing/2014/main" id="{80584A0F-E434-360A-ECB3-86A559082109}"/>
              </a:ext>
            </a:extLst>
          </p:cNvPr>
          <p:cNvSpPr txBox="1"/>
          <p:nvPr/>
        </p:nvSpPr>
        <p:spPr>
          <a:xfrm>
            <a:off x="266700" y="2763544"/>
            <a:ext cx="8324235" cy="1785104"/>
          </a:xfrm>
          <a:prstGeom prst="rect">
            <a:avLst/>
          </a:prstGeom>
          <a:noFill/>
        </p:spPr>
        <p:txBody>
          <a:bodyPr wrap="square" rtlCol="0">
            <a:spAutoFit/>
          </a:bodyPr>
          <a:lstStyle/>
          <a:p>
            <a:pPr algn="just"/>
            <a:r>
              <a:rPr lang="en-US" sz="2200" b="1" dirty="0">
                <a:solidFill>
                  <a:srgbClr val="0033CC"/>
                </a:solidFill>
                <a:latin typeface="Times New Roman" panose="02020603050405020304" pitchFamily="18" charset="0"/>
                <a:cs typeface="Times New Roman" panose="02020603050405020304" pitchFamily="18" charset="0"/>
              </a:rPr>
              <a:t>1. Addition polymerization:-  </a:t>
            </a:r>
            <a:r>
              <a:rPr lang="en-US" sz="2200" dirty="0">
                <a:latin typeface="Times New Roman" panose="02020603050405020304" pitchFamily="18" charset="0"/>
                <a:cs typeface="Times New Roman" panose="02020603050405020304" pitchFamily="18" charset="0"/>
              </a:rPr>
              <a:t>A polymerization reaction in which</a:t>
            </a:r>
          </a:p>
          <a:p>
            <a:pPr algn="just"/>
            <a:r>
              <a:rPr lang="en-US" sz="2200" dirty="0">
                <a:latin typeface="Times New Roman" panose="02020603050405020304" pitchFamily="18" charset="0"/>
                <a:cs typeface="Times New Roman" panose="02020603050405020304" pitchFamily="18" charset="0"/>
              </a:rPr>
              <a:t>monomers containing one or more double bonds are linked to each other without the elimination of any by products, usually in the presence of initiators is called addition polymerization.</a:t>
            </a:r>
          </a:p>
          <a:p>
            <a:pPr algn="just"/>
            <a:r>
              <a:rPr lang="en-US" sz="2200" dirty="0">
                <a:latin typeface="Times New Roman" panose="02020603050405020304" pitchFamily="18" charset="0"/>
                <a:cs typeface="Times New Roman" panose="02020603050405020304" pitchFamily="18" charset="0"/>
              </a:rPr>
              <a:t>e.g. Formation of polythene.</a:t>
            </a:r>
          </a:p>
        </p:txBody>
      </p:sp>
      <p:sp>
        <p:nvSpPr>
          <p:cNvPr id="15" name="TextBox 14">
            <a:extLst>
              <a:ext uri="{FF2B5EF4-FFF2-40B4-BE49-F238E27FC236}">
                <a16:creationId xmlns:a16="http://schemas.microsoft.com/office/drawing/2014/main" id="{21A9ECF4-C633-921B-19E1-F2EAC6B3DBFE}"/>
              </a:ext>
            </a:extLst>
          </p:cNvPr>
          <p:cNvSpPr txBox="1"/>
          <p:nvPr/>
        </p:nvSpPr>
        <p:spPr>
          <a:xfrm>
            <a:off x="1926746" y="4075520"/>
            <a:ext cx="184731" cy="369332"/>
          </a:xfrm>
          <a:prstGeom prst="rect">
            <a:avLst/>
          </a:prstGeom>
          <a:noFill/>
        </p:spPr>
        <p:txBody>
          <a:bodyPr wrap="none" rtlCol="0">
            <a:spAutoFit/>
          </a:bodyPr>
          <a:lstStyle/>
          <a:p>
            <a:endParaRPr lang="en-IN" dirty="0"/>
          </a:p>
        </p:txBody>
      </p:sp>
      <p:sp>
        <p:nvSpPr>
          <p:cNvPr id="16" name="Rectangle 15">
            <a:extLst>
              <a:ext uri="{FF2B5EF4-FFF2-40B4-BE49-F238E27FC236}">
                <a16:creationId xmlns:a16="http://schemas.microsoft.com/office/drawing/2014/main" id="{7B6AF140-4009-8C99-087D-6206A0CD5BC8}"/>
              </a:ext>
            </a:extLst>
          </p:cNvPr>
          <p:cNvSpPr/>
          <p:nvPr/>
        </p:nvSpPr>
        <p:spPr>
          <a:xfrm>
            <a:off x="4916" y="4928295"/>
            <a:ext cx="9144000" cy="183848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7" name="TextBox 16">
            <a:extLst>
              <a:ext uri="{FF2B5EF4-FFF2-40B4-BE49-F238E27FC236}">
                <a16:creationId xmlns:a16="http://schemas.microsoft.com/office/drawing/2014/main" id="{90940E4E-E186-B5EB-C0FA-1062F455666D}"/>
              </a:ext>
            </a:extLst>
          </p:cNvPr>
          <p:cNvSpPr txBox="1"/>
          <p:nvPr/>
        </p:nvSpPr>
        <p:spPr>
          <a:xfrm>
            <a:off x="152400" y="4952999"/>
            <a:ext cx="228600" cy="911507"/>
          </a:xfrm>
          <a:prstGeom prst="rect">
            <a:avLst/>
          </a:prstGeom>
          <a:noFill/>
        </p:spPr>
        <p:txBody>
          <a:bodyPr wrap="square" rtlCol="0">
            <a:spAutoFit/>
          </a:bodyPr>
          <a:lstStyle/>
          <a:p>
            <a:endParaRPr lang="en-IN" dirty="0"/>
          </a:p>
        </p:txBody>
      </p:sp>
      <p:sp>
        <p:nvSpPr>
          <p:cNvPr id="3" name="TextBox 2">
            <a:extLst>
              <a:ext uri="{FF2B5EF4-FFF2-40B4-BE49-F238E27FC236}">
                <a16:creationId xmlns:a16="http://schemas.microsoft.com/office/drawing/2014/main" id="{2CE8CE3E-E55A-9D6E-4021-956B92C4E277}"/>
              </a:ext>
            </a:extLst>
          </p:cNvPr>
          <p:cNvSpPr txBox="1"/>
          <p:nvPr/>
        </p:nvSpPr>
        <p:spPr>
          <a:xfrm>
            <a:off x="218152" y="4824499"/>
            <a:ext cx="8421329" cy="1446550"/>
          </a:xfrm>
          <a:prstGeom prst="rect">
            <a:avLst/>
          </a:prstGeom>
          <a:noFill/>
        </p:spPr>
        <p:txBody>
          <a:bodyPr wrap="square" rtlCol="0">
            <a:spAutoFit/>
          </a:bodyPr>
          <a:lstStyle/>
          <a:p>
            <a:pPr algn="just"/>
            <a:r>
              <a:rPr lang="en-US" sz="2200" b="1" dirty="0">
                <a:solidFill>
                  <a:srgbClr val="0033CC"/>
                </a:solidFill>
                <a:latin typeface="Times New Roman" panose="02020603050405020304" pitchFamily="18" charset="0"/>
                <a:cs typeface="Times New Roman" panose="02020603050405020304" pitchFamily="18" charset="0"/>
              </a:rPr>
              <a:t>2. Condensation polymerization:- </a:t>
            </a:r>
            <a:r>
              <a:rPr lang="en-US" sz="2200" dirty="0">
                <a:latin typeface="Times New Roman" panose="02020603050405020304" pitchFamily="18" charset="0"/>
                <a:cs typeface="Times New Roman" panose="02020603050405020304" pitchFamily="18" charset="0"/>
              </a:rPr>
              <a:t>That polymerization process in which linking together different monomers accompanied by the elimination of small molecules like H</a:t>
            </a:r>
            <a:r>
              <a:rPr lang="en-US" sz="2200" baseline="-25000" dirty="0">
                <a:latin typeface="Times New Roman" panose="02020603050405020304" pitchFamily="18" charset="0"/>
                <a:cs typeface="Times New Roman" panose="02020603050405020304" pitchFamily="18" charset="0"/>
              </a:rPr>
              <a:t>2</a:t>
            </a:r>
            <a:r>
              <a:rPr lang="en-US" sz="2200" dirty="0">
                <a:latin typeface="Times New Roman" panose="02020603050405020304" pitchFamily="18" charset="0"/>
                <a:cs typeface="Times New Roman" panose="02020603050405020304" pitchFamily="18" charset="0"/>
              </a:rPr>
              <a:t>O, HCl, and NH</a:t>
            </a:r>
            <a:r>
              <a:rPr lang="en-US" sz="2200" baseline="-25000" dirty="0">
                <a:latin typeface="Times New Roman" panose="02020603050405020304" pitchFamily="18" charset="0"/>
                <a:cs typeface="Times New Roman" panose="02020603050405020304" pitchFamily="18" charset="0"/>
              </a:rPr>
              <a:t>3.</a:t>
            </a:r>
          </a:p>
          <a:p>
            <a:pPr algn="just"/>
            <a:r>
              <a:rPr lang="en-US" sz="2200" dirty="0">
                <a:latin typeface="Times New Roman" panose="02020603050405020304" pitchFamily="18" charset="0"/>
                <a:cs typeface="Times New Roman" panose="02020603050405020304" pitchFamily="18" charset="0"/>
              </a:rPr>
              <a:t>e.g. Formation of Nylon6,6.</a:t>
            </a:r>
            <a:endParaRPr lang="en-IN" sz="22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40BD1A78-A81C-0950-E4B5-A745DF43500B}"/>
              </a:ext>
            </a:extLst>
          </p:cNvPr>
          <p:cNvSpPr txBox="1"/>
          <p:nvPr/>
        </p:nvSpPr>
        <p:spPr>
          <a:xfrm>
            <a:off x="216310" y="483155"/>
            <a:ext cx="8610600" cy="1107996"/>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IN" sz="2200" b="1" dirty="0">
                <a:solidFill>
                  <a:srgbClr val="0033CC"/>
                </a:solidFill>
                <a:latin typeface="Times New Roman" panose="02020603050405020304" pitchFamily="18" charset="0"/>
                <a:cs typeface="Times New Roman" panose="02020603050405020304" pitchFamily="18" charset="0"/>
              </a:rPr>
              <a:t>4</a:t>
            </a:r>
            <a:r>
              <a:rPr kumimoji="0" lang="en-IN" sz="2200" b="1" i="0" u="none" strike="noStrike" kern="1200" cap="none" spc="0" normalizeH="0" baseline="0" noProof="0" dirty="0">
                <a:ln>
                  <a:noFill/>
                </a:ln>
                <a:solidFill>
                  <a:srgbClr val="0033CC"/>
                </a:solidFill>
                <a:effectLst/>
                <a:uLnTx/>
                <a:uFillTx/>
                <a:latin typeface="Times New Roman" panose="02020603050405020304" pitchFamily="18" charset="0"/>
                <a:ea typeface="+mn-ea"/>
                <a:cs typeface="Times New Roman" panose="02020603050405020304" pitchFamily="18" charset="0"/>
              </a:rPr>
              <a:t>. Thermosetting polymers:- </a:t>
            </a:r>
            <a:r>
              <a:rPr kumimoji="0" lang="en-US" sz="2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These polymers have low molecular masses and are semi-fluid substances. These polymers are hard and infusible. </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Examples are melamine-formaldehyde, Bakelite (phenol-formaldehyde). </a:t>
            </a:r>
            <a:endParaRPr kumimoji="0" lang="en-IN" sz="22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7815513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16E9349-AB5E-8365-43DB-4BC67AC0F624}"/>
              </a:ext>
            </a:extLst>
          </p:cNvPr>
          <p:cNvSpPr txBox="1"/>
          <p:nvPr/>
        </p:nvSpPr>
        <p:spPr>
          <a:xfrm>
            <a:off x="323528" y="295990"/>
            <a:ext cx="8242256" cy="461665"/>
          </a:xfrm>
          <a:prstGeom prst="rect">
            <a:avLst/>
          </a:prstGeom>
          <a:noFill/>
        </p:spPr>
        <p:txBody>
          <a:bodyPr wrap="none" rtlCol="0">
            <a:spAutoFit/>
          </a:bodyPr>
          <a:lstStyle/>
          <a:p>
            <a:r>
              <a:rPr lang="en-US" sz="2400" b="1" i="0" dirty="0">
                <a:solidFill>
                  <a:srgbClr val="FF0000"/>
                </a:solidFill>
                <a:effectLst/>
                <a:latin typeface="Times New Roman" panose="02020603050405020304" pitchFamily="18" charset="0"/>
                <a:cs typeface="Times New Roman" panose="02020603050405020304" pitchFamily="18" charset="0"/>
              </a:rPr>
              <a:t>Difference Between Thermoplastic and Thermosetting Plastic</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FA85F44F-F07E-5072-4F0C-99755CDD2915}"/>
              </a:ext>
            </a:extLst>
          </p:cNvPr>
          <p:cNvSpPr/>
          <p:nvPr/>
        </p:nvSpPr>
        <p:spPr>
          <a:xfrm>
            <a:off x="0" y="4953000"/>
            <a:ext cx="9144000" cy="1905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 name="Picture 4">
            <a:extLst>
              <a:ext uri="{FF2B5EF4-FFF2-40B4-BE49-F238E27FC236}">
                <a16:creationId xmlns:a16="http://schemas.microsoft.com/office/drawing/2014/main" id="{5932EEDF-691A-3E2D-8F54-31BCBEA1475E}"/>
              </a:ext>
            </a:extLst>
          </p:cNvPr>
          <p:cNvPicPr>
            <a:picLocks noChangeAspect="1"/>
          </p:cNvPicPr>
          <p:nvPr/>
        </p:nvPicPr>
        <p:blipFill>
          <a:blip r:embed="rId2"/>
          <a:stretch>
            <a:fillRect/>
          </a:stretch>
        </p:blipFill>
        <p:spPr>
          <a:xfrm>
            <a:off x="114300" y="762000"/>
            <a:ext cx="8915400" cy="5715000"/>
          </a:xfrm>
          <a:prstGeom prst="rect">
            <a:avLst/>
          </a:prstGeom>
        </p:spPr>
      </p:pic>
    </p:spTree>
    <p:extLst>
      <p:ext uri="{BB962C8B-B14F-4D97-AF65-F5344CB8AC3E}">
        <p14:creationId xmlns:p14="http://schemas.microsoft.com/office/powerpoint/2010/main" val="35655856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56C97B6-6BCD-45D8-DA9F-01FBDA0499DC}"/>
              </a:ext>
            </a:extLst>
          </p:cNvPr>
          <p:cNvSpPr>
            <a:spLocks noGrp="1"/>
          </p:cNvSpPr>
          <p:nvPr>
            <p:ph type="sldNum" sz="quarter" idx="12"/>
          </p:nvPr>
        </p:nvSpPr>
        <p:spPr/>
        <p:txBody>
          <a:bodyPr/>
          <a:lstStyle/>
          <a:p>
            <a:fld id="{C421C46D-3F04-4F73-BF36-E6D9DA5AE143}" type="slidenum">
              <a:rPr lang="en-IN" smtClean="0"/>
              <a:t>11</a:t>
            </a:fld>
            <a:endParaRPr lang="en-IN" dirty="0"/>
          </a:p>
        </p:txBody>
      </p:sp>
      <p:sp>
        <p:nvSpPr>
          <p:cNvPr id="6" name="TextBox 5">
            <a:extLst>
              <a:ext uri="{FF2B5EF4-FFF2-40B4-BE49-F238E27FC236}">
                <a16:creationId xmlns:a16="http://schemas.microsoft.com/office/drawing/2014/main" id="{50228718-EB30-62AE-1D07-091D2ADFCA3E}"/>
              </a:ext>
            </a:extLst>
          </p:cNvPr>
          <p:cNvSpPr txBox="1"/>
          <p:nvPr/>
        </p:nvSpPr>
        <p:spPr>
          <a:xfrm>
            <a:off x="832412" y="1120676"/>
            <a:ext cx="7484004" cy="4832092"/>
          </a:xfrm>
          <a:prstGeom prst="rect">
            <a:avLst/>
          </a:prstGeom>
          <a:noFill/>
        </p:spPr>
        <p:txBody>
          <a:bodyPr wrap="square">
            <a:spAutoFit/>
          </a:bodyPr>
          <a:lstStyle/>
          <a:p>
            <a:pPr algn="ctr">
              <a:buNone/>
            </a:pPr>
            <a:r>
              <a:rPr lang="en-US" sz="2800" b="1" dirty="0">
                <a:solidFill>
                  <a:srgbClr val="FF0000"/>
                </a:solidFill>
              </a:rPr>
              <a:t>Takeaway of the Session</a:t>
            </a:r>
          </a:p>
          <a:p>
            <a:pPr algn="ctr">
              <a:buNone/>
            </a:pPr>
            <a:endParaRPr lang="en-US" sz="2800" b="1" dirty="0">
              <a:solidFill>
                <a:srgbClr val="FF0000"/>
              </a:solidFill>
            </a:endParaRPr>
          </a:p>
          <a:p>
            <a:pPr>
              <a:buFont typeface="Arial" panose="020B0604020202020204" pitchFamily="34" charset="0"/>
              <a:buChar char="•"/>
            </a:pPr>
            <a:r>
              <a:rPr lang="en-US" sz="2800" dirty="0"/>
              <a:t>Polymers are macromolecules formed by monomers.</a:t>
            </a:r>
          </a:p>
          <a:p>
            <a:pPr>
              <a:buFont typeface="Arial" panose="020B0604020202020204" pitchFamily="34" charset="0"/>
              <a:buChar char="•"/>
            </a:pPr>
            <a:endParaRPr lang="en-US" sz="2800" dirty="0"/>
          </a:p>
          <a:p>
            <a:pPr>
              <a:buFont typeface="Arial" panose="020B0604020202020204" pitchFamily="34" charset="0"/>
              <a:buChar char="•"/>
            </a:pPr>
            <a:r>
              <a:rPr lang="en-US" sz="2800" dirty="0"/>
              <a:t>Classified based on origin, structure, and polymerization.</a:t>
            </a:r>
          </a:p>
          <a:p>
            <a:pPr>
              <a:buFont typeface="Arial" panose="020B0604020202020204" pitchFamily="34" charset="0"/>
              <a:buChar char="•"/>
            </a:pPr>
            <a:r>
              <a:rPr lang="en-US" sz="2800" dirty="0"/>
              <a:t>Thermoplastics: reusable, soften on heating.</a:t>
            </a:r>
          </a:p>
          <a:p>
            <a:pPr>
              <a:buFont typeface="Arial" panose="020B0604020202020204" pitchFamily="34" charset="0"/>
              <a:buChar char="•"/>
            </a:pPr>
            <a:endParaRPr lang="en-US" sz="2800" dirty="0"/>
          </a:p>
          <a:p>
            <a:pPr>
              <a:buFont typeface="Arial" panose="020B0604020202020204" pitchFamily="34" charset="0"/>
              <a:buChar char="•"/>
            </a:pPr>
            <a:r>
              <a:rPr lang="en-US" sz="2800" dirty="0"/>
              <a:t>Thermosetting plastics: rigid, heat-resistant, non-recyclable</a:t>
            </a:r>
            <a:r>
              <a:rPr lang="en-US" sz="2000" dirty="0"/>
              <a:t>.</a:t>
            </a:r>
          </a:p>
        </p:txBody>
      </p:sp>
    </p:spTree>
    <p:extLst>
      <p:ext uri="{BB962C8B-B14F-4D97-AF65-F5344CB8AC3E}">
        <p14:creationId xmlns:p14="http://schemas.microsoft.com/office/powerpoint/2010/main" val="1598176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07989E0-BF4E-7410-9AD8-94B566CCBDD2}"/>
              </a:ext>
            </a:extLst>
          </p:cNvPr>
          <p:cNvSpPr>
            <a:spLocks noGrp="1"/>
          </p:cNvSpPr>
          <p:nvPr>
            <p:ph type="sldNum" sz="quarter" idx="12"/>
          </p:nvPr>
        </p:nvSpPr>
        <p:spPr/>
        <p:txBody>
          <a:bodyPr/>
          <a:lstStyle/>
          <a:p>
            <a:fld id="{C421C46D-3F04-4F73-BF36-E6D9DA5AE143}" type="slidenum">
              <a:rPr lang="en-IN" smtClean="0"/>
              <a:t>12</a:t>
            </a:fld>
            <a:endParaRPr lang="en-IN" dirty="0"/>
          </a:p>
        </p:txBody>
      </p:sp>
      <p:sp>
        <p:nvSpPr>
          <p:cNvPr id="6" name="TextBox 5">
            <a:extLst>
              <a:ext uri="{FF2B5EF4-FFF2-40B4-BE49-F238E27FC236}">
                <a16:creationId xmlns:a16="http://schemas.microsoft.com/office/drawing/2014/main" id="{3444914C-9A24-8ACB-1612-26522FE814EE}"/>
              </a:ext>
            </a:extLst>
          </p:cNvPr>
          <p:cNvSpPr txBox="1"/>
          <p:nvPr/>
        </p:nvSpPr>
        <p:spPr>
          <a:xfrm>
            <a:off x="611560" y="620688"/>
            <a:ext cx="4176464" cy="1169551"/>
          </a:xfrm>
          <a:prstGeom prst="rect">
            <a:avLst/>
          </a:prstGeom>
          <a:noFill/>
        </p:spPr>
        <p:txBody>
          <a:bodyPr wrap="square">
            <a:spAutoFit/>
          </a:bodyPr>
          <a:lstStyle/>
          <a:p>
            <a:r>
              <a:rPr lang="en-US" sz="1400" b="1" dirty="0"/>
              <a:t>Q1.</a:t>
            </a:r>
            <a:r>
              <a:rPr lang="en-US" sz="1400" dirty="0"/>
              <a:t> Polymers are made up of repeating units called:</a:t>
            </a:r>
            <a:br>
              <a:rPr lang="en-US" sz="1400" dirty="0"/>
            </a:br>
            <a:r>
              <a:rPr lang="en-US" sz="1400" dirty="0"/>
              <a:t>a) Crystals</a:t>
            </a:r>
            <a:br>
              <a:rPr lang="en-US" sz="1400" dirty="0"/>
            </a:br>
            <a:r>
              <a:rPr lang="en-US" sz="1400" dirty="0"/>
              <a:t>b) Monomers </a:t>
            </a:r>
            <a:br>
              <a:rPr lang="en-US" sz="1400" dirty="0"/>
            </a:br>
            <a:r>
              <a:rPr lang="en-US" sz="1400" dirty="0"/>
              <a:t>c) Fibers</a:t>
            </a:r>
            <a:br>
              <a:rPr lang="en-US" sz="1400" dirty="0"/>
            </a:br>
            <a:r>
              <a:rPr lang="en-US" sz="1400" dirty="0"/>
              <a:t>d) Atoms</a:t>
            </a:r>
            <a:endParaRPr lang="en-IN" sz="1400" dirty="0"/>
          </a:p>
        </p:txBody>
      </p:sp>
      <p:sp>
        <p:nvSpPr>
          <p:cNvPr id="8" name="TextBox 7">
            <a:extLst>
              <a:ext uri="{FF2B5EF4-FFF2-40B4-BE49-F238E27FC236}">
                <a16:creationId xmlns:a16="http://schemas.microsoft.com/office/drawing/2014/main" id="{71D4E3CD-7F4A-6CB9-3C37-3ADC0F687A20}"/>
              </a:ext>
            </a:extLst>
          </p:cNvPr>
          <p:cNvSpPr txBox="1"/>
          <p:nvPr/>
        </p:nvSpPr>
        <p:spPr>
          <a:xfrm>
            <a:off x="631366" y="1918829"/>
            <a:ext cx="4583574" cy="1169551"/>
          </a:xfrm>
          <a:prstGeom prst="rect">
            <a:avLst/>
          </a:prstGeom>
          <a:noFill/>
        </p:spPr>
        <p:txBody>
          <a:bodyPr wrap="square">
            <a:spAutoFit/>
          </a:bodyPr>
          <a:lstStyle/>
          <a:p>
            <a:r>
              <a:rPr lang="en-US" sz="1400" b="1" dirty="0"/>
              <a:t>Q2.</a:t>
            </a:r>
            <a:r>
              <a:rPr lang="en-US" sz="1400" dirty="0"/>
              <a:t> Which of the following is a thermoplastic?</a:t>
            </a:r>
            <a:br>
              <a:rPr lang="en-US" sz="1400" dirty="0"/>
            </a:br>
            <a:r>
              <a:rPr lang="en-US" sz="1400" dirty="0"/>
              <a:t>a) Bakelite</a:t>
            </a:r>
            <a:br>
              <a:rPr lang="en-US" sz="1400" dirty="0"/>
            </a:br>
            <a:r>
              <a:rPr lang="en-US" sz="1400" dirty="0"/>
              <a:t>b) Melamine</a:t>
            </a:r>
            <a:br>
              <a:rPr lang="en-US" sz="1400" dirty="0"/>
            </a:br>
            <a:r>
              <a:rPr lang="en-US" sz="1400" dirty="0"/>
              <a:t>c) PVC </a:t>
            </a:r>
            <a:br>
              <a:rPr lang="en-US" sz="1400" dirty="0"/>
            </a:br>
            <a:r>
              <a:rPr lang="en-US" sz="1400" dirty="0"/>
              <a:t>d) Epoxy resin</a:t>
            </a:r>
            <a:endParaRPr lang="en-IN" sz="1400" dirty="0"/>
          </a:p>
        </p:txBody>
      </p:sp>
      <p:sp>
        <p:nvSpPr>
          <p:cNvPr id="10" name="TextBox 9">
            <a:extLst>
              <a:ext uri="{FF2B5EF4-FFF2-40B4-BE49-F238E27FC236}">
                <a16:creationId xmlns:a16="http://schemas.microsoft.com/office/drawing/2014/main" id="{79729DF5-7560-F9DC-37C2-7953535EE7CC}"/>
              </a:ext>
            </a:extLst>
          </p:cNvPr>
          <p:cNvSpPr txBox="1"/>
          <p:nvPr/>
        </p:nvSpPr>
        <p:spPr>
          <a:xfrm>
            <a:off x="631366" y="3088380"/>
            <a:ext cx="7056784" cy="1169551"/>
          </a:xfrm>
          <a:prstGeom prst="rect">
            <a:avLst/>
          </a:prstGeom>
          <a:noFill/>
        </p:spPr>
        <p:txBody>
          <a:bodyPr wrap="square">
            <a:spAutoFit/>
          </a:bodyPr>
          <a:lstStyle/>
          <a:p>
            <a:r>
              <a:rPr lang="en-US" sz="1400" b="1" dirty="0"/>
              <a:t>Q3.</a:t>
            </a:r>
            <a:r>
              <a:rPr lang="en-US" sz="1400" dirty="0"/>
              <a:t> Which type of polymerization involves the elimination of a small molecule like water?</a:t>
            </a:r>
            <a:br>
              <a:rPr lang="en-US" sz="1400" dirty="0"/>
            </a:br>
            <a:r>
              <a:rPr lang="en-US" sz="1400" dirty="0"/>
              <a:t>a) Addition</a:t>
            </a:r>
            <a:br>
              <a:rPr lang="en-US" sz="1400" dirty="0"/>
            </a:br>
            <a:r>
              <a:rPr lang="en-US" sz="1400" dirty="0"/>
              <a:t>b) Condensation </a:t>
            </a:r>
            <a:br>
              <a:rPr lang="en-US" sz="1400" dirty="0"/>
            </a:br>
            <a:r>
              <a:rPr lang="en-US" sz="1400" dirty="0"/>
              <a:t>c) Substitution</a:t>
            </a:r>
            <a:br>
              <a:rPr lang="en-US" sz="1400" dirty="0"/>
            </a:br>
            <a:r>
              <a:rPr lang="en-US" sz="1400" dirty="0"/>
              <a:t>d) Chain-growth</a:t>
            </a:r>
            <a:endParaRPr lang="en-IN" sz="1400" dirty="0"/>
          </a:p>
        </p:txBody>
      </p:sp>
      <p:sp>
        <p:nvSpPr>
          <p:cNvPr id="12" name="TextBox 11">
            <a:extLst>
              <a:ext uri="{FF2B5EF4-FFF2-40B4-BE49-F238E27FC236}">
                <a16:creationId xmlns:a16="http://schemas.microsoft.com/office/drawing/2014/main" id="{0578FD56-B34D-83E5-8080-4AD1622D7C4D}"/>
              </a:ext>
            </a:extLst>
          </p:cNvPr>
          <p:cNvSpPr txBox="1"/>
          <p:nvPr/>
        </p:nvSpPr>
        <p:spPr>
          <a:xfrm>
            <a:off x="631366" y="4473433"/>
            <a:ext cx="4583574" cy="1169551"/>
          </a:xfrm>
          <a:prstGeom prst="rect">
            <a:avLst/>
          </a:prstGeom>
          <a:noFill/>
        </p:spPr>
        <p:txBody>
          <a:bodyPr wrap="square">
            <a:spAutoFit/>
          </a:bodyPr>
          <a:lstStyle/>
          <a:p>
            <a:pPr>
              <a:buNone/>
            </a:pPr>
            <a:r>
              <a:rPr lang="en-US" sz="1400" b="1" dirty="0"/>
              <a:t>Q4.</a:t>
            </a:r>
            <a:r>
              <a:rPr lang="en-US" sz="1400" dirty="0"/>
              <a:t> Bakelite is an example of:</a:t>
            </a:r>
            <a:br>
              <a:rPr lang="en-US" sz="1400" dirty="0"/>
            </a:br>
            <a:r>
              <a:rPr lang="en-US" sz="1400" dirty="0"/>
              <a:t>a) Linear polymer</a:t>
            </a:r>
            <a:br>
              <a:rPr lang="en-US" sz="1400" dirty="0"/>
            </a:br>
            <a:r>
              <a:rPr lang="en-US" sz="1400" dirty="0"/>
              <a:t>b) Thermoplastic</a:t>
            </a:r>
            <a:br>
              <a:rPr lang="en-US" sz="1400" dirty="0"/>
            </a:br>
            <a:r>
              <a:rPr lang="en-US" sz="1400" dirty="0"/>
              <a:t>c) Thermosetting polymer </a:t>
            </a:r>
            <a:br>
              <a:rPr lang="en-US" sz="1400" dirty="0"/>
            </a:br>
            <a:r>
              <a:rPr lang="en-US" sz="1400" dirty="0"/>
              <a:t>d) Semi-synthetic polymer</a:t>
            </a:r>
          </a:p>
        </p:txBody>
      </p:sp>
    </p:spTree>
    <p:extLst>
      <p:ext uri="{BB962C8B-B14F-4D97-AF65-F5344CB8AC3E}">
        <p14:creationId xmlns:p14="http://schemas.microsoft.com/office/powerpoint/2010/main" val="25714420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492896"/>
            <a:ext cx="8229600" cy="1143000"/>
          </a:xfrm>
        </p:spPr>
        <p:txBody>
          <a:bodyPr/>
          <a:lstStyle/>
          <a:p>
            <a:r>
              <a:rPr dirty="0">
                <a:solidFill>
                  <a:srgbClr val="FF0000"/>
                </a:solidFill>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8728</TotalTime>
  <Words>870</Words>
  <Application>Microsoft Office PowerPoint</Application>
  <PresentationFormat>On-screen Show (4:3)</PresentationFormat>
  <Paragraphs>70</Paragraphs>
  <Slides>13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Arial</vt:lpstr>
      <vt:lpstr>Calibri</vt:lpstr>
      <vt:lpstr>Times New Roman</vt:lpstr>
      <vt:lpstr>Office Theme</vt:lpstr>
      <vt:lpstr>PowerPoint Presentation</vt:lpstr>
      <vt:lpstr>Basic concepts of polymer, Types of polymers</vt:lpstr>
      <vt:lpstr>Session Outcomes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WEBDEV</dc:creator>
  <cp:lastModifiedBy>deepak.y</cp:lastModifiedBy>
  <cp:revision>586</cp:revision>
  <cp:lastPrinted>2022-09-05T08:43:44Z</cp:lastPrinted>
  <dcterms:created xsi:type="dcterms:W3CDTF">2020-01-16T09:05:56Z</dcterms:created>
  <dcterms:modified xsi:type="dcterms:W3CDTF">2025-10-01T04:37:49Z</dcterms:modified>
</cp:coreProperties>
</file>