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74" r:id="rId2"/>
    <p:sldId id="256" r:id="rId3"/>
    <p:sldId id="595" r:id="rId4"/>
    <p:sldId id="596" r:id="rId5"/>
    <p:sldId id="597" r:id="rId6"/>
    <p:sldId id="598" r:id="rId7"/>
    <p:sldId id="599" r:id="rId8"/>
    <p:sldId id="600" r:id="rId9"/>
    <p:sldId id="601" r:id="rId10"/>
    <p:sldId id="602" r:id="rId11"/>
    <p:sldId id="603" r:id="rId12"/>
    <p:sldId id="604" r:id="rId13"/>
    <p:sldId id="268" r:id="rId14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6CB4"/>
    <a:srgbClr val="0060AA"/>
    <a:srgbClr val="E83030"/>
    <a:srgbClr val="0066B3"/>
    <a:srgbClr val="E3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4425B-56E6-A832-113C-7398AB5AFD9B}" v="5" dt="2024-05-22T10:08:13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 autoAdjust="0"/>
    <p:restoredTop sz="94660"/>
  </p:normalViewPr>
  <p:slideViewPr>
    <p:cSldViewPr>
      <p:cViewPr varScale="1">
        <p:scale>
          <a:sx n="83" d="100"/>
          <a:sy n="83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man Srivastava" userId="S::suman.srivastava@krmangalam.edu.in::321c702a-c804-4ce8-865a-f4757d581534" providerId="AD" clId="Web-{3904425B-56E6-A832-113C-7398AB5AFD9B}"/>
    <pc:docChg chg="addSld delSld">
      <pc:chgData name="Dr. Suman Srivastava" userId="S::suman.srivastava@krmangalam.edu.in::321c702a-c804-4ce8-865a-f4757d581534" providerId="AD" clId="Web-{3904425B-56E6-A832-113C-7398AB5AFD9B}" dt="2024-05-22T10:08:13.107" v="4"/>
      <pc:docMkLst>
        <pc:docMk/>
      </pc:docMkLst>
      <pc:sldChg chg="add">
        <pc:chgData name="Dr. Suman Srivastava" userId="S::suman.srivastava@krmangalam.edu.in::321c702a-c804-4ce8-865a-f4757d581534" providerId="AD" clId="Web-{3904425B-56E6-A832-113C-7398AB5AFD9B}" dt="2024-05-22T10:08:03.404" v="0"/>
        <pc:sldMkLst>
          <pc:docMk/>
          <pc:sldMk cId="3746827906" sldId="257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19" v="1"/>
        <pc:sldMkLst>
          <pc:docMk/>
          <pc:sldMk cId="974690139" sldId="27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2"/>
        <pc:sldMkLst>
          <pc:docMk/>
          <pc:sldMk cId="94181138" sldId="29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3"/>
        <pc:sldMkLst>
          <pc:docMk/>
          <pc:sldMk cId="4180511076" sldId="295"/>
        </pc:sldMkLst>
      </pc:sldChg>
      <pc:sldChg chg="del">
        <pc:chgData name="Dr. Suman Srivastava" userId="S::suman.srivastava@krmangalam.edu.in::321c702a-c804-4ce8-865a-f4757d581534" providerId="AD" clId="Web-{3904425B-56E6-A832-113C-7398AB5AFD9B}" dt="2024-05-22T10:08:13.107" v="4"/>
        <pc:sldMkLst>
          <pc:docMk/>
          <pc:sldMk cId="4142536426" sldId="4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3C2-FD26-4205-8B58-0D50173C5807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2EA2D-108B-43F9-812C-D3637D3A1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920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0E9723-CF1C-0850-738D-22FD9A21DACA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226371-350B-FE36-FA8B-F6D3375CBB0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9619E1-7F05-951B-662F-8EB90A276A8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0E7708-6FC5-3E5C-5D8D-A89F7E7415A0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9D255B-5F69-CB80-B55B-7D569EA897D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BB55AC-724D-2049-5859-126F851D6A6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Deepak Yadav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158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ETCCCH104</a:t>
            </a:r>
            <a:endParaRPr lang="en-US" sz="3000" spc="-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4864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Conducting and Biodegradable polymers 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Session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E1CB9-4E12-6ED8-32E1-8DE0981A9794}"/>
              </a:ext>
            </a:extLst>
          </p:cNvPr>
          <p:cNvSpPr txBox="1"/>
          <p:nvPr/>
        </p:nvSpPr>
        <p:spPr>
          <a:xfrm>
            <a:off x="491140" y="1228397"/>
            <a:ext cx="83884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Explain the concept of conducting polymers and their mechanism of conduction.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Differentiate between intrinsic and extrinsic conducting polymers.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 the concept of biodegradable polymers and their importance.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Identify real-world applications of both types.</a:t>
            </a:r>
            <a:br>
              <a:rPr lang="en-US" sz="2800" dirty="0"/>
            </a:b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C2B3-B42F-2344-543F-21F73DC9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AAACC-AF17-2DFF-6045-87BE2686A3E5}"/>
              </a:ext>
            </a:extLst>
          </p:cNvPr>
          <p:cNvSpPr txBox="1"/>
          <p:nvPr/>
        </p:nvSpPr>
        <p:spPr>
          <a:xfrm>
            <a:off x="611560" y="692696"/>
            <a:ext cx="6336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Introduction to Conducting Polymers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Polymers generally act as insulators.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polymers can conduct electricity due to </a:t>
            </a:r>
            <a:r>
              <a:rPr lang="en-US" b="1" dirty="0"/>
              <a:t>conjugated double bonds</a:t>
            </a:r>
            <a:r>
              <a:rPr lang="en-US" dirty="0"/>
              <a:t> or </a:t>
            </a:r>
            <a:r>
              <a:rPr lang="en-US" b="1" dirty="0"/>
              <a:t>doping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are called </a:t>
            </a:r>
            <a:r>
              <a:rPr lang="en-US" b="1" dirty="0"/>
              <a:t>Conducting Polymers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5A4C0-7855-6787-03D5-AEA0DD067C11}"/>
              </a:ext>
            </a:extLst>
          </p:cNvPr>
          <p:cNvSpPr txBox="1"/>
          <p:nvPr/>
        </p:nvSpPr>
        <p:spPr>
          <a:xfrm>
            <a:off x="611560" y="2924944"/>
            <a:ext cx="7200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Types of Conducting Polymers</a:t>
            </a:r>
          </a:p>
          <a:p>
            <a:pPr>
              <a:buNone/>
            </a:pPr>
            <a:endParaRPr lang="en-IN" b="1" dirty="0">
              <a:solidFill>
                <a:srgbClr val="C0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IN" b="1" dirty="0"/>
              <a:t>Intrinsically Conducting Polymers (ICPs):</a:t>
            </a:r>
          </a:p>
          <a:p>
            <a:pPr>
              <a:buFont typeface="+mj-lt"/>
              <a:buAutoNum type="arabicPeriod"/>
            </a:pP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Have conjugated </a:t>
            </a:r>
            <a:r>
              <a:rPr lang="el-GR" dirty="0"/>
              <a:t>π-</a:t>
            </a:r>
            <a:r>
              <a:rPr lang="en-IN" dirty="0"/>
              <a:t>electron systems.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e.g., Polyacetylene, Polyaniline, Polypyrrole.</a:t>
            </a:r>
          </a:p>
          <a:p>
            <a:pPr marL="742950" lvl="1" indent="-285750"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Extrinsically Conducting Polymers: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Conductivity due to blending with conductive fillers (graphite, carbon black, metal particles).</a:t>
            </a:r>
          </a:p>
        </p:txBody>
      </p:sp>
    </p:spTree>
    <p:extLst>
      <p:ext uri="{BB962C8B-B14F-4D97-AF65-F5344CB8AC3E}">
        <p14:creationId xmlns:p14="http://schemas.microsoft.com/office/powerpoint/2010/main" val="3590362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4B0E-0C25-2432-6CA1-7B0ACFDE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F51FB-E9E7-3C26-F78B-E97017306E41}"/>
              </a:ext>
            </a:extLst>
          </p:cNvPr>
          <p:cNvSpPr txBox="1"/>
          <p:nvPr/>
        </p:nvSpPr>
        <p:spPr>
          <a:xfrm>
            <a:off x="832412" y="692696"/>
            <a:ext cx="77720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Mechanism of Conduction</a:t>
            </a:r>
          </a:p>
          <a:p>
            <a:pPr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Alternating single and double bonds (conjugation) allow delocalization of electrons.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Doping with electron donors/acceptors increases conductivity.</a:t>
            </a:r>
          </a:p>
        </p:txBody>
      </p:sp>
      <p:pic>
        <p:nvPicPr>
          <p:cNvPr id="1026" name="Picture 2" descr="The structure of polyacetylene: The ...">
            <a:extLst>
              <a:ext uri="{FF2B5EF4-FFF2-40B4-BE49-F238E27FC236}">
                <a16:creationId xmlns:a16="http://schemas.microsoft.com/office/drawing/2014/main" id="{B08538E5-1A5F-0E05-7CF6-2F3B8EAE2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688" y="3433626"/>
            <a:ext cx="5778624" cy="199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1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DA099-D15A-8CF9-A468-FD95BDED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3A5BA-A7DE-749B-8AC7-1D261C3B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7F360-5414-BD2E-DC05-9046FC6F0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824A1-7373-9271-D3B2-02432E15270E}"/>
              </a:ext>
            </a:extLst>
          </p:cNvPr>
          <p:cNvSpPr txBox="1"/>
          <p:nvPr/>
        </p:nvSpPr>
        <p:spPr>
          <a:xfrm>
            <a:off x="1524000" y="995829"/>
            <a:ext cx="716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</a:rPr>
              <a:t>Examples of Conducting Polymers</a:t>
            </a:r>
          </a:p>
          <a:p>
            <a:pPr>
              <a:buNone/>
            </a:pPr>
            <a:endParaRPr lang="en-IN" sz="2400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Polyacetylene</a:t>
            </a:r>
            <a:r>
              <a:rPr lang="en-IN" sz="2400" dirty="0"/>
              <a:t> – first discovered conducting polymer.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Polyaniline</a:t>
            </a:r>
            <a:r>
              <a:rPr lang="en-IN" sz="2400" dirty="0"/>
              <a:t> – stable, cheap, widely studied.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Polypyrrole</a:t>
            </a:r>
            <a:r>
              <a:rPr lang="en-IN" sz="2400" dirty="0"/>
              <a:t> – good environmental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Polythiophene</a:t>
            </a:r>
            <a:r>
              <a:rPr lang="en-IN" sz="2400" dirty="0"/>
              <a:t> – used in sensors and electronics.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BD36B-109D-0A57-7D5C-FAA5F213B01A}"/>
              </a:ext>
            </a:extLst>
          </p:cNvPr>
          <p:cNvSpPr txBox="1"/>
          <p:nvPr/>
        </p:nvSpPr>
        <p:spPr>
          <a:xfrm>
            <a:off x="1619672" y="3429000"/>
            <a:ext cx="6552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Applications of Conducting Polymers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Rechargeable batteries.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Solar cells, light-emitting diodes (LEDs).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Antistatic coatings.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Sensors &amp; actuators.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Flexible electronic devices.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89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18DA0-B07C-819C-C080-B7AAEE3F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0771F-98FD-2A12-ED3A-4A98408BE2B8}"/>
              </a:ext>
            </a:extLst>
          </p:cNvPr>
          <p:cNvSpPr txBox="1"/>
          <p:nvPr/>
        </p:nvSpPr>
        <p:spPr>
          <a:xfrm>
            <a:off x="971600" y="764704"/>
            <a:ext cx="71287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solidFill>
                  <a:srgbClr val="C00000"/>
                </a:solidFill>
              </a:rPr>
              <a:t>Biodegradable Polymers</a:t>
            </a:r>
          </a:p>
          <a:p>
            <a:pPr algn="ctr">
              <a:buNone/>
            </a:pPr>
            <a:endParaRPr lang="en-IN" sz="20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IN" sz="2000" dirty="0"/>
              <a:t>Polymers that </a:t>
            </a:r>
            <a:r>
              <a:rPr lang="en-IN" sz="2000" b="1" dirty="0"/>
              <a:t>decompose by microorganisms</a:t>
            </a:r>
            <a:r>
              <a:rPr lang="en-IN" sz="2000" dirty="0"/>
              <a:t> into CO₂, H₂O, and biomass</a:t>
            </a:r>
          </a:p>
          <a:p>
            <a:pPr>
              <a:buNone/>
            </a:pPr>
            <a:endParaRPr lang="en-IN" sz="2000" dirty="0"/>
          </a:p>
          <a:p>
            <a:r>
              <a:rPr lang="en-IN" sz="2000" dirty="0"/>
              <a:t>Environmentally friendly → reduce plastic pollution.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D6CD4-90FD-7DCB-07B3-0B42CAB02215}"/>
              </a:ext>
            </a:extLst>
          </p:cNvPr>
          <p:cNvSpPr txBox="1"/>
          <p:nvPr/>
        </p:nvSpPr>
        <p:spPr>
          <a:xfrm>
            <a:off x="1007604" y="3212976"/>
            <a:ext cx="71287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Classification of Biodegradable Polymers</a:t>
            </a:r>
          </a:p>
          <a:p>
            <a:pPr>
              <a:buNone/>
            </a:pPr>
            <a:endParaRPr lang="en-IN" b="1" dirty="0">
              <a:solidFill>
                <a:srgbClr val="7030A0"/>
              </a:solidFill>
            </a:endParaRPr>
          </a:p>
          <a:p>
            <a:pPr>
              <a:buFont typeface="+mj-lt"/>
              <a:buAutoNum type="arabicPeriod"/>
            </a:pPr>
            <a:r>
              <a:rPr lang="en-IN" b="1" dirty="0">
                <a:solidFill>
                  <a:srgbClr val="7030A0"/>
                </a:solidFill>
              </a:rPr>
              <a:t>Natural Biodegradable Polymers:</a:t>
            </a:r>
            <a:endParaRPr lang="en-IN" dirty="0">
              <a:solidFill>
                <a:srgbClr val="7030A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Starch, Cellulose, Proteins, Polyhydroxybutyrate (PHB).</a:t>
            </a:r>
          </a:p>
          <a:p>
            <a:pPr marL="742950" lvl="1" indent="-285750">
              <a:buFont typeface="+mj-lt"/>
              <a:buAutoNum type="arabicPeriod"/>
            </a:pP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>
                <a:solidFill>
                  <a:srgbClr val="7030A0"/>
                </a:solidFill>
              </a:rPr>
              <a:t>Synthetic Biodegradable Polymers:</a:t>
            </a:r>
            <a:endParaRPr lang="en-IN" dirty="0">
              <a:solidFill>
                <a:srgbClr val="7030A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Polylactic acid (PLA), Polyglycolic acid (PGA), Polycaprolactone (PCL).</a:t>
            </a:r>
          </a:p>
        </p:txBody>
      </p:sp>
    </p:spTree>
    <p:extLst>
      <p:ext uri="{BB962C8B-B14F-4D97-AF65-F5344CB8AC3E}">
        <p14:creationId xmlns:p14="http://schemas.microsoft.com/office/powerpoint/2010/main" val="140583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8FEB9-48B3-04F2-4BE7-B5A5C732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58FA4-D4D6-27E5-DB95-21097E91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27197-15A9-A2F9-6CB6-637A7983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8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1AEA3-2662-01DD-2C7D-C9FF8492AAD7}"/>
              </a:ext>
            </a:extLst>
          </p:cNvPr>
          <p:cNvSpPr txBox="1"/>
          <p:nvPr/>
        </p:nvSpPr>
        <p:spPr>
          <a:xfrm>
            <a:off x="971600" y="836712"/>
            <a:ext cx="756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solidFill>
                  <a:srgbClr val="C00000"/>
                </a:solidFill>
              </a:rPr>
              <a:t>Preparation of Biodegradable Polymers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Polylactic acid (PLA):</a:t>
            </a:r>
            <a:r>
              <a:rPr lang="en-IN" dirty="0"/>
              <a:t> Polymerization of lactic acid.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Polyglycolic acid (PGA):</a:t>
            </a:r>
            <a:r>
              <a:rPr lang="en-IN" dirty="0"/>
              <a:t> Polymerization of glycolic acid.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PHBV (Polyhydroxybutyrate-co-valerate):</a:t>
            </a:r>
            <a:r>
              <a:rPr lang="en-IN" dirty="0"/>
              <a:t> Produced by bacterial fermentation of sugars.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9064A26-0438-13EC-E511-E8F74D4F8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263" y="2314040"/>
            <a:ext cx="5328592" cy="372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58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FCCF6-E0AD-A9AC-DDCA-7BD2EFDE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9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7F2793-4B3C-73A5-49F0-9E7C44A4813B}"/>
              </a:ext>
            </a:extLst>
          </p:cNvPr>
          <p:cNvSpPr txBox="1"/>
          <p:nvPr/>
        </p:nvSpPr>
        <p:spPr>
          <a:xfrm>
            <a:off x="832412" y="836712"/>
            <a:ext cx="83115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Properties of Biodegradable Polymers</a:t>
            </a:r>
          </a:p>
          <a:p>
            <a:pPr>
              <a:buNone/>
            </a:pPr>
            <a:endParaRPr lang="en-IN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Non-toxic, eco-friendly.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Biocompatible (safe inside body).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Moderate mechanical strength.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Decompose under natural conditions (sunlight, moisture, microbes).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16F52-428D-741B-384A-5D275D7E6DAC}"/>
              </a:ext>
            </a:extLst>
          </p:cNvPr>
          <p:cNvSpPr txBox="1"/>
          <p:nvPr/>
        </p:nvSpPr>
        <p:spPr>
          <a:xfrm>
            <a:off x="832412" y="2974301"/>
            <a:ext cx="62598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00000"/>
                </a:solidFill>
              </a:rPr>
              <a:t>Applications of Biodegradable Polymers</a:t>
            </a:r>
          </a:p>
          <a:p>
            <a:pPr>
              <a:buNone/>
            </a:pPr>
            <a:endParaRPr lang="en-IN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Medical field: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Surgical sutures, drug delivery systems, tissue engineering.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Packaging industry: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Biodegradable bags, films, bottles.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Agriculture: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Mulch films, controlled release fertilizers.</a:t>
            </a:r>
          </a:p>
        </p:txBody>
      </p:sp>
    </p:spTree>
    <p:extLst>
      <p:ext uri="{BB962C8B-B14F-4D97-AF65-F5344CB8AC3E}">
        <p14:creationId xmlns:p14="http://schemas.microsoft.com/office/powerpoint/2010/main" val="1504232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8A98E7-4E93-4B30-03F4-8C837EB8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6741D-95B6-CC96-5FF9-2C6D6B87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D96F5-02F6-7DCE-AC14-9718D2A9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10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5EB6E9-FE3E-776A-730D-5F84BFD79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283075"/>
              </p:ext>
            </p:extLst>
          </p:nvPr>
        </p:nvGraphicFramePr>
        <p:xfrm>
          <a:off x="354360" y="2132856"/>
          <a:ext cx="8435280" cy="3176966"/>
        </p:xfrm>
        <a:graphic>
          <a:graphicData uri="http://schemas.openxmlformats.org/drawingml/2006/table">
            <a:tbl>
              <a:tblPr/>
              <a:tblGrid>
                <a:gridCol w="2811760">
                  <a:extLst>
                    <a:ext uri="{9D8B030D-6E8A-4147-A177-3AD203B41FA5}">
                      <a16:colId xmlns:a16="http://schemas.microsoft.com/office/drawing/2014/main" val="457730181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3129249305"/>
                    </a:ext>
                  </a:extLst>
                </a:gridCol>
                <a:gridCol w="2811760">
                  <a:extLst>
                    <a:ext uri="{9D8B030D-6E8A-4147-A177-3AD203B41FA5}">
                      <a16:colId xmlns:a16="http://schemas.microsoft.com/office/drawing/2014/main" val="3331563807"/>
                    </a:ext>
                  </a:extLst>
                </a:gridCol>
              </a:tblGrid>
              <a:tr h="48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Conducting Polymers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Biodegradable Polymers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405511"/>
                  </a:ext>
                </a:extLst>
              </a:tr>
              <a:tr h="48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33CC"/>
                          </a:solidFill>
                        </a:rPr>
                        <a:t>Nature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Conduct electricity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Break down naturally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635375"/>
                  </a:ext>
                </a:extLst>
              </a:tr>
              <a:tr h="85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33CC"/>
                          </a:solidFill>
                        </a:rPr>
                        <a:t>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Conjugated bonds &amp; doping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Microbial/chemical degradation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4790"/>
                  </a:ext>
                </a:extLst>
              </a:tr>
              <a:tr h="488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33CC"/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Polyacetylene, Polyaniline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PLA, PGA, PHB, PHBV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1827"/>
                  </a:ext>
                </a:extLst>
              </a:tr>
              <a:tr h="855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33CC"/>
                          </a:solidFill>
                        </a:rPr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Electronics,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Packaging, medical implants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44532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57DD9B1-7F79-6638-DB2F-378237E07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2702" y="1006575"/>
            <a:ext cx="295232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Comparison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9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D1A54-DFC7-9D12-889B-A1549C8B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11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F5458-2396-E3BE-5433-B7F9EDEC44BC}"/>
              </a:ext>
            </a:extLst>
          </p:cNvPr>
          <p:cNvSpPr txBox="1"/>
          <p:nvPr/>
        </p:nvSpPr>
        <p:spPr>
          <a:xfrm>
            <a:off x="832412" y="908720"/>
            <a:ext cx="78543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C00000"/>
                </a:solidFill>
              </a:rPr>
              <a:t>Takeaway of Session</a:t>
            </a:r>
          </a:p>
          <a:p>
            <a:pPr algn="ctr">
              <a:buNone/>
            </a:pPr>
            <a:endParaRPr lang="en-IN" sz="2400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Conducting polymers</a:t>
            </a:r>
            <a:r>
              <a:rPr lang="en-IN" sz="2400" dirty="0"/>
              <a:t>: conjugated systems, useful in electronics &amp; energy storage.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Biodegradable polymers</a:t>
            </a:r>
            <a:r>
              <a:rPr lang="en-IN" sz="2400" dirty="0"/>
              <a:t>: eco-friendly, essential in medicine &amp; packaging.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Both represent </a:t>
            </a:r>
            <a:r>
              <a:rPr lang="en-IN" sz="2400" b="1" dirty="0"/>
              <a:t>future directions</a:t>
            </a:r>
            <a:r>
              <a:rPr lang="en-IN" sz="2400" dirty="0"/>
              <a:t> in material science: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Sustainable materials.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Green technology.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Advanced electronics.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39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35A51-381D-93B4-D38B-25F92558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D7E08-8030-4638-FA24-82D27C0E214D}"/>
              </a:ext>
            </a:extLst>
          </p:cNvPr>
          <p:cNvSpPr txBox="1"/>
          <p:nvPr/>
        </p:nvSpPr>
        <p:spPr>
          <a:xfrm>
            <a:off x="457200" y="404664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Q1.</a:t>
            </a:r>
            <a:r>
              <a:rPr lang="en-US" dirty="0"/>
              <a:t> Polyacetylene conducts electricity due to:</a:t>
            </a:r>
            <a:br>
              <a:rPr lang="en-US" dirty="0"/>
            </a:br>
            <a:r>
              <a:rPr lang="en-US" dirty="0"/>
              <a:t>a) Ionic bonds</a:t>
            </a:r>
            <a:br>
              <a:rPr lang="en-US" dirty="0"/>
            </a:br>
            <a:r>
              <a:rPr lang="en-US" dirty="0"/>
              <a:t>b) Conjugated double bonds </a:t>
            </a:r>
            <a:br>
              <a:rPr lang="en-US" dirty="0"/>
            </a:br>
            <a:r>
              <a:rPr lang="en-US" dirty="0"/>
              <a:t>c) Cross-linking</a:t>
            </a:r>
            <a:br>
              <a:rPr lang="en-US" dirty="0"/>
            </a:br>
            <a:r>
              <a:rPr lang="en-US" dirty="0"/>
              <a:t>d) Hydrogen bonding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3ECB9F-B925-4108-6BD5-D9D36625ECA2}"/>
              </a:ext>
            </a:extLst>
          </p:cNvPr>
          <p:cNvSpPr txBox="1"/>
          <p:nvPr/>
        </p:nvSpPr>
        <p:spPr>
          <a:xfrm>
            <a:off x="457200" y="1905585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Q2.</a:t>
            </a:r>
            <a:r>
              <a:rPr lang="en-IN" dirty="0"/>
              <a:t> Which is a biodegradable polymer?</a:t>
            </a:r>
            <a:br>
              <a:rPr lang="en-IN" dirty="0"/>
            </a:br>
            <a:r>
              <a:rPr lang="en-IN" dirty="0"/>
              <a:t>a) Polyvinyl chloride (PVC)</a:t>
            </a:r>
            <a:br>
              <a:rPr lang="en-IN" dirty="0"/>
            </a:br>
            <a:r>
              <a:rPr lang="en-IN" dirty="0"/>
              <a:t>b) Polylactic acid (PLA) </a:t>
            </a:r>
            <a:br>
              <a:rPr lang="en-IN" dirty="0"/>
            </a:br>
            <a:r>
              <a:rPr lang="en-IN" dirty="0"/>
              <a:t>c) Polystyrene</a:t>
            </a:r>
            <a:br>
              <a:rPr lang="en-IN" dirty="0"/>
            </a:br>
            <a:r>
              <a:rPr lang="en-IN" dirty="0"/>
              <a:t>d) Polyethylene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896AC-BD41-3F6C-ED8B-41191F34E49B}"/>
              </a:ext>
            </a:extLst>
          </p:cNvPr>
          <p:cNvSpPr txBox="1"/>
          <p:nvPr/>
        </p:nvSpPr>
        <p:spPr>
          <a:xfrm>
            <a:off x="457200" y="3212976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Q3.</a:t>
            </a:r>
            <a:r>
              <a:rPr lang="en-US" dirty="0"/>
              <a:t> Polyaniline is an example of:</a:t>
            </a:r>
            <a:br>
              <a:rPr lang="en-US" dirty="0"/>
            </a:br>
            <a:r>
              <a:rPr lang="en-US" dirty="0"/>
              <a:t>a) Biodegradable polymer</a:t>
            </a:r>
            <a:br>
              <a:rPr lang="en-US" dirty="0"/>
            </a:br>
            <a:r>
              <a:rPr lang="en-US" dirty="0"/>
              <a:t>b) Conducting polymer </a:t>
            </a:r>
            <a:br>
              <a:rPr lang="en-US" dirty="0"/>
            </a:br>
            <a:r>
              <a:rPr lang="en-US" dirty="0"/>
              <a:t>c) Thermosetting plastic</a:t>
            </a:r>
            <a:br>
              <a:rPr lang="en-US" dirty="0"/>
            </a:br>
            <a:r>
              <a:rPr lang="en-US" dirty="0"/>
              <a:t>d) Elastomer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D7CA5-70C0-11BB-E078-2AA5DD1684E2}"/>
              </a:ext>
            </a:extLst>
          </p:cNvPr>
          <p:cNvSpPr txBox="1"/>
          <p:nvPr/>
        </p:nvSpPr>
        <p:spPr>
          <a:xfrm>
            <a:off x="471555" y="4690304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Q4.</a:t>
            </a:r>
            <a:r>
              <a:rPr lang="en-US" dirty="0"/>
              <a:t> PHBV is obtained by:</a:t>
            </a:r>
            <a:br>
              <a:rPr lang="en-US" dirty="0"/>
            </a:br>
            <a:r>
              <a:rPr lang="en-US" dirty="0"/>
              <a:t>a) Free radical polymerization</a:t>
            </a:r>
            <a:br>
              <a:rPr lang="en-US" dirty="0"/>
            </a:br>
            <a:r>
              <a:rPr lang="en-US" dirty="0"/>
              <a:t>b) Bacterial fermentation </a:t>
            </a:r>
            <a:br>
              <a:rPr lang="en-US" dirty="0"/>
            </a:br>
            <a:r>
              <a:rPr lang="en-US" dirty="0"/>
              <a:t>c) Condensation reaction</a:t>
            </a:r>
            <a:br>
              <a:rPr lang="en-US" dirty="0"/>
            </a:br>
            <a:r>
              <a:rPr lang="en-US" dirty="0"/>
              <a:t>d) Addition reaction</a:t>
            </a:r>
          </a:p>
        </p:txBody>
      </p:sp>
    </p:spTree>
    <p:extLst>
      <p:ext uri="{BB962C8B-B14F-4D97-AF65-F5344CB8AC3E}">
        <p14:creationId xmlns:p14="http://schemas.microsoft.com/office/powerpoint/2010/main" val="280238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8775</TotalTime>
  <Words>630</Words>
  <Application>Microsoft Office PowerPoint</Application>
  <PresentationFormat>On-screen Show (4:3)</PresentationFormat>
  <Paragraphs>125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PowerPoint Presentation</vt:lpstr>
      <vt:lpstr>Conducting and Biodegradable polymers </vt:lpstr>
      <vt:lpstr>Session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deepak.y</cp:lastModifiedBy>
  <cp:revision>591</cp:revision>
  <cp:lastPrinted>2022-09-05T08:43:44Z</cp:lastPrinted>
  <dcterms:created xsi:type="dcterms:W3CDTF">2020-01-16T09:05:56Z</dcterms:created>
  <dcterms:modified xsi:type="dcterms:W3CDTF">2025-10-01T05:30:56Z</dcterms:modified>
</cp:coreProperties>
</file>