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574" r:id="rId2"/>
    <p:sldId id="565" r:id="rId3"/>
    <p:sldId id="575" r:id="rId4"/>
    <p:sldId id="256" r:id="rId5"/>
    <p:sldId id="603" r:id="rId6"/>
    <p:sldId id="604" r:id="rId7"/>
    <p:sldId id="605" r:id="rId8"/>
    <p:sldId id="428" r:id="rId9"/>
    <p:sldId id="429" r:id="rId10"/>
    <p:sldId id="601" r:id="rId11"/>
    <p:sldId id="606" r:id="rId12"/>
    <p:sldId id="508" r:id="rId13"/>
    <p:sldId id="607" r:id="rId14"/>
    <p:sldId id="510" r:id="rId15"/>
    <p:sldId id="608" r:id="rId16"/>
    <p:sldId id="572" r:id="rId17"/>
    <p:sldId id="599" r:id="rId18"/>
    <p:sldId id="58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14528-B3F8-1C13-3F56-11D8D4F38055}" v="38" dt="2025-08-26T08:58:24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0B414528-B3F8-1C13-3F56-11D8D4F38055}"/>
    <pc:docChg chg="addSld modSld">
      <pc:chgData name="pratibha.s" userId="S::pratibha.s@krmangalam.edu.in::c81b94cf-77d6-4481-93e7-f045f6238cd8" providerId="AD" clId="Web-{0B414528-B3F8-1C13-3F56-11D8D4F38055}" dt="2025-08-26T08:58:26.630" v="36"/>
      <pc:docMkLst>
        <pc:docMk/>
      </pc:docMkLst>
      <pc:sldChg chg="addSp modSp new mod modClrScheme chgLayout">
        <pc:chgData name="pratibha.s" userId="S::pratibha.s@krmangalam.edu.in::c81b94cf-77d6-4481-93e7-f045f6238cd8" providerId="AD" clId="Web-{0B414528-B3F8-1C13-3F56-11D8D4F38055}" dt="2025-08-26T08:56:04.547" v="2"/>
        <pc:sldMkLst>
          <pc:docMk/>
          <pc:sldMk cId="3987766446" sldId="604"/>
        </pc:sldMkLst>
        <pc:picChg chg="add mod">
          <ac:chgData name="pratibha.s" userId="S::pratibha.s@krmangalam.edu.in::c81b94cf-77d6-4481-93e7-f045f6238cd8" providerId="AD" clId="Web-{0B414528-B3F8-1C13-3F56-11D8D4F38055}" dt="2025-08-26T08:56:04.547" v="2"/>
          <ac:picMkLst>
            <pc:docMk/>
            <pc:sldMk cId="3987766446" sldId="604"/>
            <ac:picMk id="2" creationId="{AFB0CC18-C13A-3A2C-DF14-6B73DC461CF7}"/>
          </ac:picMkLst>
        </pc:picChg>
      </pc:sldChg>
      <pc:sldChg chg="addSp delSp modSp new">
        <pc:chgData name="pratibha.s" userId="S::pratibha.s@krmangalam.edu.in::c81b94cf-77d6-4481-93e7-f045f6238cd8" providerId="AD" clId="Web-{0B414528-B3F8-1C13-3F56-11D8D4F38055}" dt="2025-08-26T08:56:31.329" v="5"/>
        <pc:sldMkLst>
          <pc:docMk/>
          <pc:sldMk cId="3049389950" sldId="605"/>
        </pc:sldMkLst>
        <pc:spChg chg="del">
          <ac:chgData name="pratibha.s" userId="S::pratibha.s@krmangalam.edu.in::c81b94cf-77d6-4481-93e7-f045f6238cd8" providerId="AD" clId="Web-{0B414528-B3F8-1C13-3F56-11D8D4F38055}" dt="2025-08-26T08:56:31.329" v="5"/>
          <ac:spMkLst>
            <pc:docMk/>
            <pc:sldMk cId="3049389950" sldId="605"/>
            <ac:spMk id="2" creationId="{2BC4CD43-30EA-CEAF-7D87-452A7605E2F4}"/>
          </ac:spMkLst>
        </pc:spChg>
        <pc:spChg chg="del">
          <ac:chgData name="pratibha.s" userId="S::pratibha.s@krmangalam.edu.in::c81b94cf-77d6-4481-93e7-f045f6238cd8" providerId="AD" clId="Web-{0B414528-B3F8-1C13-3F56-11D8D4F38055}" dt="2025-08-26T08:56:29.486" v="4"/>
          <ac:spMkLst>
            <pc:docMk/>
            <pc:sldMk cId="3049389950" sldId="605"/>
            <ac:spMk id="3" creationId="{6E61ED9D-B851-1047-1665-270824E2864D}"/>
          </ac:spMkLst>
        </pc:spChg>
        <pc:picChg chg="add mod ord">
          <ac:chgData name="pratibha.s" userId="S::pratibha.s@krmangalam.edu.in::c81b94cf-77d6-4481-93e7-f045f6238cd8" providerId="AD" clId="Web-{0B414528-B3F8-1C13-3F56-11D8D4F38055}" dt="2025-08-26T08:56:31.329" v="5"/>
          <ac:picMkLst>
            <pc:docMk/>
            <pc:sldMk cId="3049389950" sldId="605"/>
            <ac:picMk id="4" creationId="{047D9C18-828C-5754-9E6A-16C88395F103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0B414528-B3F8-1C13-3F56-11D8D4F38055}" dt="2025-08-26T08:57:05.221" v="8"/>
        <pc:sldMkLst>
          <pc:docMk/>
          <pc:sldMk cId="1918414661" sldId="606"/>
        </pc:sldMkLst>
        <pc:picChg chg="add mod">
          <ac:chgData name="pratibha.s" userId="S::pratibha.s@krmangalam.edu.in::c81b94cf-77d6-4481-93e7-f045f6238cd8" providerId="AD" clId="Web-{0B414528-B3F8-1C13-3F56-11D8D4F38055}" dt="2025-08-26T08:57:05.221" v="8"/>
          <ac:picMkLst>
            <pc:docMk/>
            <pc:sldMk cId="1918414661" sldId="606"/>
            <ac:picMk id="2" creationId="{3640FB37-B383-60C8-E03F-B7387EA01D50}"/>
          </ac:picMkLst>
        </pc:picChg>
      </pc:sldChg>
      <pc:sldChg chg="addSp delSp modSp new mod modClrScheme chgLayout">
        <pc:chgData name="pratibha.s" userId="S::pratibha.s@krmangalam.edu.in::c81b94cf-77d6-4481-93e7-f045f6238cd8" providerId="AD" clId="Web-{0B414528-B3F8-1C13-3F56-11D8D4F38055}" dt="2025-08-26T08:57:51.816" v="33"/>
        <pc:sldMkLst>
          <pc:docMk/>
          <pc:sldMk cId="2497357485" sldId="607"/>
        </pc:sldMkLst>
        <pc:spChg chg="add mod">
          <ac:chgData name="pratibha.s" userId="S::pratibha.s@krmangalam.edu.in::c81b94cf-77d6-4481-93e7-f045f6238cd8" providerId="AD" clId="Web-{0B414528-B3F8-1C13-3F56-11D8D4F38055}" dt="2025-08-26T08:57:51.816" v="33"/>
          <ac:spMkLst>
            <pc:docMk/>
            <pc:sldMk cId="2497357485" sldId="607"/>
            <ac:spMk id="6" creationId="{3BC6EA31-43EE-CD86-3B62-28F06AF5B760}"/>
          </ac:spMkLst>
        </pc:spChg>
        <pc:spChg chg="add del mod">
          <ac:chgData name="pratibha.s" userId="S::pratibha.s@krmangalam.edu.in::c81b94cf-77d6-4481-93e7-f045f6238cd8" providerId="AD" clId="Web-{0B414528-B3F8-1C13-3F56-11D8D4F38055}" dt="2025-08-26T08:57:37.300" v="11"/>
          <ac:spMkLst>
            <pc:docMk/>
            <pc:sldMk cId="2497357485" sldId="607"/>
            <ac:spMk id="8" creationId="{2740C76A-9616-8603-5EDF-6A7754EF8340}"/>
          </ac:spMkLst>
        </pc:spChg>
        <pc:picChg chg="add mod ord">
          <ac:chgData name="pratibha.s" userId="S::pratibha.s@krmangalam.edu.in::c81b94cf-77d6-4481-93e7-f045f6238cd8" providerId="AD" clId="Web-{0B414528-B3F8-1C13-3F56-11D8D4F38055}" dt="2025-08-26T08:57:51.816" v="33"/>
          <ac:picMkLst>
            <pc:docMk/>
            <pc:sldMk cId="2497357485" sldId="607"/>
            <ac:picMk id="2" creationId="{D890454F-2B5B-4C15-2D3A-59095E91CCE4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0B414528-B3F8-1C13-3F56-11D8D4F38055}" dt="2025-08-26T08:58:26.630" v="36"/>
        <pc:sldMkLst>
          <pc:docMk/>
          <pc:sldMk cId="3874781089" sldId="608"/>
        </pc:sldMkLst>
        <pc:picChg chg="add mod">
          <ac:chgData name="pratibha.s" userId="S::pratibha.s@krmangalam.edu.in::c81b94cf-77d6-4481-93e7-f045f6238cd8" providerId="AD" clId="Web-{0B414528-B3F8-1C13-3F56-11D8D4F38055}" dt="2025-08-26T08:58:26.630" v="36"/>
          <ac:picMkLst>
            <pc:docMk/>
            <pc:sldMk cId="3874781089" sldId="608"/>
            <ac:picMk id="2" creationId="{EF9A4CB3-DCE7-EA2A-3104-38B05E9D6641}"/>
          </ac:picMkLst>
        </pc:picChg>
      </pc:sldChg>
    </pc:docChg>
  </pc:docChgLst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  <pc:spChg chg="mod">
          <ac:chgData name="pratibha.s" userId="S::pratibha.s@krmangalam.edu.in::c81b94cf-77d6-4481-93e7-f045f6238cd8" providerId="AD" clId="Web-{C216BD33-0853-9E6E-1DCD-D8752C3D2466}" dt="2025-04-07T08:41:37.148" v="8" actId="20577"/>
          <ac:spMkLst>
            <pc:docMk/>
            <pc:sldMk cId="2992620617" sldId="572"/>
            <ac:spMk id="3" creationId="{BA7AAC60-6C94-BE21-A17A-6CC0CDE963C5}"/>
          </ac:spMkLst>
        </pc:spChg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  <pc:spChg chg="mod">
          <ac:chgData name="pratibha.s" userId="S::pratibha.s@krmangalam.edu.in::c81b94cf-77d6-4481-93e7-f045f6238cd8" providerId="AD" clId="Web-{C216BD33-0853-9E6E-1DCD-D8752C3D2466}" dt="2025-04-07T08:41:45.946" v="10" actId="20577"/>
          <ac:spMkLst>
            <pc:docMk/>
            <pc:sldMk cId="2430529132" sldId="573"/>
            <ac:spMk id="3" creationId="{CECA9C9F-C3B2-55F7-8FC7-29D69603438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CO1: </a:t>
          </a:r>
          <a:r>
            <a:rPr lang="en-US" b="1"/>
            <a:t>Understand</a:t>
          </a:r>
          <a:r>
            <a:rPr lang="en-US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CO2: </a:t>
          </a:r>
          <a:r>
            <a:rPr lang="en-US" b="1"/>
            <a:t>Explain</a:t>
          </a:r>
          <a:r>
            <a:rPr lang="en-US"/>
            <a:t> the characteristics and working principles of different battery types and types of fuels. </a:t>
          </a:r>
          <a:endParaRPr lang="en-IN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CO3: </a:t>
          </a:r>
          <a:r>
            <a:rPr lang="en-US" b="1"/>
            <a:t>Determine</a:t>
          </a:r>
          <a:r>
            <a:rPr lang="en-US"/>
            <a:t> the differences between batteries and fuel cells and classify fuel cell types based on their components.</a:t>
          </a:r>
          <a:r>
            <a:rPr lang="en-IN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CO4: </a:t>
          </a:r>
          <a:r>
            <a:rPr lang="en-US" b="1"/>
            <a:t>Identify</a:t>
          </a:r>
          <a:r>
            <a:rPr lang="en-US"/>
            <a:t> between hard and soft water, solve the related numerical problems on water purification and emf and its significance in industry and daily life.</a:t>
          </a:r>
          <a:endParaRPr lang="en-IN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CO1: </a:t>
          </a:r>
          <a:r>
            <a:rPr lang="en-US" sz="1400" b="1" kern="1200"/>
            <a:t>Understand</a:t>
          </a:r>
          <a:r>
            <a:rPr lang="en-US" sz="1400" kern="120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CO2: </a:t>
          </a:r>
          <a:r>
            <a:rPr lang="en-US" sz="1400" b="1" kern="1200"/>
            <a:t>Explain</a:t>
          </a:r>
          <a:r>
            <a:rPr lang="en-US" sz="1400" kern="1200"/>
            <a:t> the characteristics and working principles of different battery types and types of fuels. </a:t>
          </a:r>
          <a:endParaRPr lang="en-IN" sz="1400" kern="120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CO3: </a:t>
          </a:r>
          <a:r>
            <a:rPr lang="en-US" sz="1400" b="1" kern="1200"/>
            <a:t>Determine</a:t>
          </a:r>
          <a:r>
            <a:rPr lang="en-US" sz="1400" kern="1200"/>
            <a:t> the differences between batteries and fuel cells and classify fuel cell types based on their components.</a:t>
          </a:r>
          <a:r>
            <a:rPr lang="en-IN" sz="1400" kern="120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CO4: </a:t>
          </a:r>
          <a:r>
            <a:rPr lang="en-US" sz="1400" b="1" kern="1200"/>
            <a:t>Identify</a:t>
          </a:r>
          <a:r>
            <a:rPr lang="en-US" sz="1400" kern="1200"/>
            <a:t> between hard and soft water, solve the related numerical problems on water purification and emf and its significance in industry and daily life.</a:t>
          </a:r>
          <a:endParaRPr lang="en-IN" sz="1400" kern="120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>
                <a:latin typeface="Times New Roman"/>
                <a:cs typeface="Times New Roman"/>
              </a:rPr>
              <a:t>Course</a:t>
            </a:r>
            <a:r>
              <a:rPr lang="en-US" sz="3000" b="1" spc="-38">
                <a:latin typeface="Times New Roman"/>
                <a:cs typeface="Times New Roman"/>
              </a:rPr>
              <a:t> </a:t>
            </a:r>
            <a:r>
              <a:rPr lang="en-US" sz="3000" b="1">
                <a:latin typeface="Times New Roman"/>
                <a:cs typeface="Times New Roman"/>
              </a:rPr>
              <a:t>Code:</a:t>
            </a:r>
            <a:r>
              <a:rPr lang="en-US" sz="3000" b="1" spc="-38">
                <a:latin typeface="Times New Roman"/>
                <a:cs typeface="Times New Roman"/>
              </a:rPr>
              <a:t> </a:t>
            </a:r>
            <a:r>
              <a:rPr lang="en-US" sz="3000" spc="-8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>
                <a:latin typeface="Times New Roman"/>
                <a:cs typeface="Times New Roman"/>
              </a:rPr>
              <a:t>Course</a:t>
            </a:r>
            <a:r>
              <a:rPr lang="en-US" sz="3000" b="1" spc="-4">
                <a:latin typeface="Times New Roman"/>
                <a:cs typeface="Times New Roman"/>
              </a:rPr>
              <a:t> </a:t>
            </a:r>
            <a:r>
              <a:rPr lang="en-US" sz="3000" b="1">
                <a:latin typeface="Times New Roman"/>
                <a:cs typeface="Times New Roman"/>
              </a:rPr>
              <a:t>Name: </a:t>
            </a:r>
            <a:r>
              <a:rPr lang="en-GB" sz="3000" spc="-8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>
              <a:latin typeface="Times New Roman"/>
              <a:cs typeface="Times New Roman"/>
            </a:endParaRPr>
          </a:p>
          <a:p>
            <a:pPr marR="27623" algn="ctr"/>
            <a:r>
              <a:rPr lang="en-US" sz="3000" b="1">
                <a:latin typeface="Times New Roman"/>
                <a:cs typeface="Times New Roman"/>
              </a:rPr>
              <a:t>Program:</a:t>
            </a:r>
            <a:r>
              <a:rPr lang="en-US" sz="3000" b="1" spc="-34">
                <a:latin typeface="Times New Roman"/>
                <a:cs typeface="Times New Roman"/>
              </a:rPr>
              <a:t> </a:t>
            </a:r>
            <a:r>
              <a:rPr lang="en-US" sz="3000">
                <a:latin typeface="Times New Roman"/>
                <a:cs typeface="Times New Roman"/>
              </a:rPr>
              <a:t>B.Tech. (AI/ML)</a:t>
            </a:r>
            <a:endParaRPr lang="en-US" sz="3000" b="1">
              <a:latin typeface="Times New Roman"/>
              <a:cs typeface="Times New Roman"/>
            </a:endParaRPr>
          </a:p>
          <a:p>
            <a:pPr algn="ctr"/>
            <a:r>
              <a:rPr lang="en-GB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/>
              <a:t>Course Overview</a:t>
            </a:r>
            <a:endParaRPr lang="en-IN" sz="3850" b="1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D23DAF-67AA-3B5A-9814-045955DF8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577107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Unit Number: 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Title:   Water technology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No. of hours:  6  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Gaseous fuels: LPG, CNG and their applications.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err="1">
                          <a:effectLst/>
                        </a:rPr>
                        <a:t>Decron</a:t>
                      </a:r>
                      <a:r>
                        <a:rPr lang="en-US" sz="1200">
                          <a:effectLst/>
                        </a:rPr>
                        <a:t> and Terylene). Conducting and biodegradable polymers.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slice of lemon with soda water">
            <a:extLst>
              <a:ext uri="{FF2B5EF4-FFF2-40B4-BE49-F238E27FC236}">
                <a16:creationId xmlns:a16="http://schemas.microsoft.com/office/drawing/2014/main" id="{41A55627-D1B5-1EE6-1F53-8D320E158E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414"/>
          <a:stretch/>
        </p:blipFill>
        <p:spPr>
          <a:xfrm>
            <a:off x="15" y="857251"/>
            <a:ext cx="9143985" cy="5143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3D3657-865F-35A0-5EBA-212789A0E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99021"/>
            <a:ext cx="6858000" cy="2175389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accent1"/>
                </a:solidFill>
              </a:rPr>
              <a:t>External Treatment Method</a:t>
            </a:r>
            <a:endParaRPr lang="en-IN" b="1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D21A0-43A6-06DE-1A46-EE3D069E7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76804"/>
            <a:ext cx="6858000" cy="823796"/>
          </a:xfrm>
        </p:spPr>
        <p:txBody>
          <a:bodyPr>
            <a:normAutofit/>
          </a:bodyPr>
          <a:lstStyle/>
          <a:p>
            <a:r>
              <a:rPr lang="en-IN" sz="2800" b="1">
                <a:solidFill>
                  <a:schemeClr val="accent1"/>
                </a:solidFill>
              </a:rPr>
              <a:t>Lime-soda Process</a:t>
            </a:r>
            <a:endParaRPr lang="en-IN" sz="2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3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4B40-7F96-0A0E-DA54-DD62CABE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1E666DF-4040-3B35-F4ED-842D631FCEF0}"/>
              </a:ext>
            </a:extLst>
          </p:cNvPr>
          <p:cNvGrpSpPr/>
          <p:nvPr/>
        </p:nvGrpSpPr>
        <p:grpSpPr>
          <a:xfrm>
            <a:off x="0" y="445770"/>
            <a:ext cx="9090212" cy="6012181"/>
            <a:chOff x="0" y="970945"/>
            <a:chExt cx="9090212" cy="4823296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C7C10AB6-2B04-9521-4EFB-683DBEE99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697357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354A6E9-0974-BA2C-C040-894A51292C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6D7875-EC03-99A6-5551-368F9EC7B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546" y="5534223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C0191A-C9B4-531D-94C2-62742A31F4FB}"/>
                </a:ext>
              </a:extLst>
            </p:cNvPr>
            <p:cNvSpPr txBox="1"/>
            <p:nvPr/>
          </p:nvSpPr>
          <p:spPr>
            <a:xfrm>
              <a:off x="134634" y="1840647"/>
              <a:ext cx="8955578" cy="3117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lnSpc>
                  <a:spcPct val="200000"/>
                </a:lnSpc>
                <a:buFont typeface="+mj-lt"/>
                <a:buAutoNum type="arabicPeriod"/>
              </a:pPr>
              <a:r>
                <a:rPr lang="en-IN" b="1">
                  <a:solidFill>
                    <a:srgbClr val="0070C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Lime-soda process</a:t>
              </a:r>
            </a:p>
            <a:p>
              <a:pPr marL="742950" lvl="1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Hot-Lime Soda process</a:t>
              </a:r>
            </a:p>
            <a:p>
              <a:pPr marL="742950" lvl="1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Cold-Lime Soda process</a:t>
              </a:r>
            </a:p>
            <a:p>
              <a:pPr marL="342900" indent="-342900" algn="l">
                <a:lnSpc>
                  <a:spcPct val="200000"/>
                </a:lnSpc>
                <a:buFont typeface="+mj-lt"/>
                <a:buAutoNum type="arabicPeriod"/>
              </a:pPr>
              <a:r>
                <a:rPr lang="en-IN" b="1">
                  <a:solidFill>
                    <a:srgbClr val="0070C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Zeolite Process</a:t>
              </a:r>
            </a:p>
            <a:p>
              <a:pPr marL="342900" indent="-342900" algn="l">
                <a:lnSpc>
                  <a:spcPct val="200000"/>
                </a:lnSpc>
                <a:buFont typeface="+mj-lt"/>
                <a:buAutoNum type="arabicPeriod"/>
              </a:pPr>
              <a:r>
                <a:rPr lang="en-IN" b="1">
                  <a:solidFill>
                    <a:srgbClr val="0070C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Ion-Exchange Method </a:t>
              </a:r>
            </a:p>
            <a:p>
              <a:pPr marL="800100" lvl="1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Cation-exchange</a:t>
              </a:r>
            </a:p>
            <a:p>
              <a:pPr marL="800100" lvl="1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Anion-exchange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845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AFB0CC18-C13A-3A2C-DF14-6B73DC46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2" y="373063"/>
            <a:ext cx="869339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776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7D9C18-828C-5754-9E6A-16C88395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20" y="373063"/>
            <a:ext cx="8631961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38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86466C7-4986-BFBC-490F-212742C7F5DE}"/>
              </a:ext>
            </a:extLst>
          </p:cNvPr>
          <p:cNvGrpSpPr/>
          <p:nvPr/>
        </p:nvGrpSpPr>
        <p:grpSpPr>
          <a:xfrm>
            <a:off x="0" y="445770"/>
            <a:ext cx="9090212" cy="6177748"/>
            <a:chOff x="0" y="970945"/>
            <a:chExt cx="9090212" cy="4956123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697357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546" y="5534223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429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IN" b="1">
                  <a:solidFill>
                    <a:srgbClr val="0070C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Lime-soda process: </a:t>
              </a:r>
            </a:p>
            <a:p>
              <a:pPr algn="l"/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this process, hydrated lime &amp; </a:t>
              </a:r>
              <a:r>
                <a:rPr lang="en-US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sada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ash use to remove hardness from water.</a:t>
              </a:r>
            </a:p>
            <a:p>
              <a:pPr algn="l"/>
              <a:endParaRPr lang="en-IN" b="1">
                <a:solidFill>
                  <a:srgbClr val="C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IN" b="1" err="1">
                  <a:solidFill>
                    <a:srgbClr val="C1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IN" b="1">
                  <a:solidFill>
                    <a:srgbClr val="C1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Hydrated lime:</a:t>
              </a:r>
            </a:p>
            <a:p>
              <a:pPr algn="l"/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Hydrated lime is used to remove temporary hardness of water. It react with Ca(HCO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Mg(CO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to form insoluble precipitate of calcium carbonate and magnesium hydroxide </a:t>
              </a:r>
              <a:r>
                <a:rPr lang="en-I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respectively.</a:t>
              </a:r>
            </a:p>
            <a:p>
              <a:pPr algn="l"/>
              <a:endParaRPr lang="en-I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Ca(HCO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Ca(OH)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2CaCO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 + 2H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  <a:p>
              <a:pPr algn="l"/>
              <a:endParaRPr lang="pt-BR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Mg(HCO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+ 2Ca(OH)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Mg(OH)</a:t>
              </a:r>
              <a:r>
                <a:rPr lang="pt-BR" b="1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 + 2CaCO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 + 2H</a:t>
              </a:r>
              <a:r>
                <a:rPr lang="pt-BR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  <a:p>
              <a:pPr algn="l"/>
              <a:endParaRPr lang="pt-BR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Hydrated lime is also used to remove permanent hardness (magnesium salt impurities only) from water. It reacts with MgSO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MgCl</a:t>
              </a:r>
              <a:r>
                <a:rPr 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to form insoluble precipitate of </a:t>
              </a:r>
              <a:r>
                <a:rPr lang="en-I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magnesium hydroxide.</a:t>
              </a:r>
            </a:p>
            <a:p>
              <a:pPr algn="l"/>
              <a:endParaRPr lang="en-I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MgCl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Ca(OH)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Mg(OH)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 + CaCl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algn="l"/>
              <a:endParaRPr lang="en-I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MgSO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Ca(OH)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Mg(OH)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 + CaSO</a:t>
              </a:r>
              <a:r>
                <a:rPr lang="en-IN" baseline="-25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B82E41-8878-EE28-DEFC-55FA606BC749}"/>
                </a:ext>
              </a:extLst>
            </p:cNvPr>
            <p:cNvCxnSpPr/>
            <p:nvPr/>
          </p:nvCxnSpPr>
          <p:spPr>
            <a:xfrm>
              <a:off x="2824291" y="3993220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22EC0D5-2460-2F2C-7BA4-CCD9B9D28956}"/>
                </a:ext>
              </a:extLst>
            </p:cNvPr>
            <p:cNvCxnSpPr/>
            <p:nvPr/>
          </p:nvCxnSpPr>
          <p:spPr>
            <a:xfrm>
              <a:off x="2824291" y="3556489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932B15-0052-AA55-4334-468620511E65}"/>
                </a:ext>
              </a:extLst>
            </p:cNvPr>
            <p:cNvCxnSpPr/>
            <p:nvPr/>
          </p:nvCxnSpPr>
          <p:spPr>
            <a:xfrm>
              <a:off x="2104873" y="5294566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329E97-0AF8-7635-8ECA-9006699C9AB1}"/>
                </a:ext>
              </a:extLst>
            </p:cNvPr>
            <p:cNvCxnSpPr/>
            <p:nvPr/>
          </p:nvCxnSpPr>
          <p:spPr>
            <a:xfrm>
              <a:off x="2258169" y="5664231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165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03D8F97-7C95-3529-A446-2AF17537824E}"/>
              </a:ext>
            </a:extLst>
          </p:cNvPr>
          <p:cNvGrpSpPr/>
          <p:nvPr/>
        </p:nvGrpSpPr>
        <p:grpSpPr>
          <a:xfrm>
            <a:off x="0" y="354331"/>
            <a:ext cx="9399030" cy="6149340"/>
            <a:chOff x="0" y="970945"/>
            <a:chExt cx="9399030" cy="552982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926439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392" y="624075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32566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>
                  <a:latin typeface="TimesNewRomanPSMT"/>
                </a:rPr>
                <a:t>In above reaction calcium based impurities like CaCl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>
                  <a:latin typeface="TimesNewRomanPSMT"/>
                </a:rPr>
                <a:t> &amp; CaSO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600">
                  <a:latin typeface="TimesNewRomanPSMT"/>
                </a:rPr>
                <a:t> also form, which are soluble in water. Therefore, calcium based impurities (CaCl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>
                  <a:latin typeface="TimesNewRomanPSMT"/>
                </a:rPr>
                <a:t> &amp; CaSO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600">
                  <a:latin typeface="TimesNewRomanPSMT"/>
                </a:rPr>
                <a:t>) are not removed </a:t>
              </a:r>
              <a:r>
                <a:rPr lang="en-IN" sz="1600">
                  <a:latin typeface="TimesNewRomanPSMT"/>
                </a:rPr>
                <a:t>by lime treatment.</a:t>
              </a:r>
            </a:p>
            <a:p>
              <a:pPr algn="l"/>
              <a:endParaRPr lang="en-IN" sz="1600">
                <a:latin typeface="TimesNewRomanPSMT"/>
                <a:cs typeface="Times New Roman" panose="02020603050405020304" pitchFamily="18" charset="0"/>
              </a:endParaRPr>
            </a:p>
            <a:p>
              <a:pPr algn="l"/>
              <a:r>
                <a:rPr lang="en-IN" sz="1600" b="1">
                  <a:solidFill>
                    <a:srgbClr val="000000"/>
                  </a:solidFill>
                  <a:latin typeface="TimesNewRomanPS-BoldMT"/>
                </a:rPr>
                <a:t>ii) Soda ash:</a:t>
              </a:r>
            </a:p>
            <a:p>
              <a:pPr algn="l"/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Sodium carbonate (Na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CO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) is used to remove permanent hardness of water which caused by MgSO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 &amp; MgCl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 or CaCl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 &amp; CaSO</a:t>
              </a:r>
              <a:r>
                <a:rPr lang="en-US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600">
                  <a:solidFill>
                    <a:srgbClr val="000000"/>
                  </a:solidFill>
                  <a:latin typeface="TimesNewRomanPSMT"/>
                </a:rPr>
                <a:t>.</a:t>
              </a:r>
            </a:p>
            <a:p>
              <a:pPr algn="l"/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CaCl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                   CaCO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↓ + 2NaCl</a:t>
              </a:r>
            </a:p>
            <a:p>
              <a:pPr algn="l"/>
              <a:endParaRPr lang="en-IN" sz="1600">
                <a:solidFill>
                  <a:srgbClr val="FF0000"/>
                </a:solidFill>
                <a:latin typeface="TimesNewRomanPSMT"/>
              </a:endParaRPr>
            </a:p>
            <a:p>
              <a:pPr algn="l"/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CaSO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                  CaCO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↓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SO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 algn="l"/>
              <a:endParaRPr lang="en-IN" sz="1600">
                <a:solidFill>
                  <a:srgbClr val="FF0000"/>
                </a:solidFill>
                <a:latin typeface="TimesNewRomanPSMT"/>
              </a:endParaRPr>
            </a:p>
            <a:p>
              <a:pPr algn="l"/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MgCl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                     MgCO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↓ + 2NaCl</a:t>
              </a:r>
            </a:p>
            <a:p>
              <a:pPr algn="l"/>
              <a:endParaRPr lang="en-IN" sz="1600">
                <a:solidFill>
                  <a:srgbClr val="FF0000"/>
                </a:solidFill>
                <a:latin typeface="TimesNewRomanPSMT"/>
              </a:endParaRPr>
            </a:p>
            <a:p>
              <a:pPr algn="l"/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MgSO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                     MgCO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↓ + Na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1600">
                  <a:solidFill>
                    <a:srgbClr val="FF0000"/>
                  </a:solidFill>
                  <a:latin typeface="TimesNewRomanPSMT"/>
                </a:rPr>
                <a:t>SO</a:t>
              </a:r>
              <a:r>
                <a:rPr lang="en-IN" sz="16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 algn="l"/>
              <a:endParaRPr lang="en-IN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sz="16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B82E41-8878-EE28-DEFC-55FA606BC749}"/>
                </a:ext>
              </a:extLst>
            </p:cNvPr>
            <p:cNvCxnSpPr/>
            <p:nvPr/>
          </p:nvCxnSpPr>
          <p:spPr>
            <a:xfrm>
              <a:off x="1814824" y="3538895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22EC0D5-2460-2F2C-7BA4-CCD9B9D28956}"/>
                </a:ext>
              </a:extLst>
            </p:cNvPr>
            <p:cNvCxnSpPr/>
            <p:nvPr/>
          </p:nvCxnSpPr>
          <p:spPr>
            <a:xfrm>
              <a:off x="1814824" y="3156232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932B15-0052-AA55-4334-468620511E65}"/>
                </a:ext>
              </a:extLst>
            </p:cNvPr>
            <p:cNvCxnSpPr/>
            <p:nvPr/>
          </p:nvCxnSpPr>
          <p:spPr>
            <a:xfrm>
              <a:off x="1814824" y="4003978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329E97-0AF8-7635-8ECA-9006699C9AB1}"/>
                </a:ext>
              </a:extLst>
            </p:cNvPr>
            <p:cNvCxnSpPr/>
            <p:nvPr/>
          </p:nvCxnSpPr>
          <p:spPr>
            <a:xfrm>
              <a:off x="1814824" y="4407003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306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B26D-88D5-4E03-BBF7-8B6D96E8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2395847-8BE8-EA59-F645-C4725E6F6EA9}"/>
              </a:ext>
            </a:extLst>
          </p:cNvPr>
          <p:cNvGrpSpPr/>
          <p:nvPr/>
        </p:nvGrpSpPr>
        <p:grpSpPr>
          <a:xfrm>
            <a:off x="0" y="411483"/>
            <a:ext cx="9264396" cy="6092188"/>
            <a:chOff x="0" y="1022339"/>
            <a:chExt cx="9264396" cy="5478430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20BB799A-ACD1-5B4E-601C-D33811C3C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22339"/>
              <a:ext cx="926439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96868D7-02D1-B5A2-CF12-9FFC74F45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42153A-E4B5-1910-DA7A-A05DE38E8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392" y="6240751"/>
              <a:ext cx="1808820" cy="26001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FBB2F0-F0CD-B8BD-2250-5EA570A779B5}"/>
                    </a:ext>
                  </a:extLst>
                </p:cNvPr>
                <p:cNvSpPr txBox="1"/>
                <p:nvPr/>
              </p:nvSpPr>
              <p:spPr>
                <a:xfrm>
                  <a:off x="94211" y="2512985"/>
                  <a:ext cx="8955578" cy="20622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>
                      <a:latin typeface="TimesNewRomanPSMT"/>
                    </a:rPr>
                    <a:t>The amount of lime-soda required for the softening of hard water can be calculated </a:t>
                  </a:r>
                  <a:r>
                    <a:rPr lang="en-IN" sz="1600">
                      <a:latin typeface="TimesNewRomanPSMT"/>
                    </a:rPr>
                    <a:t>by following formula-</a:t>
                  </a:r>
                </a:p>
                <a:p>
                  <a:endParaRPr lang="en-US" sz="1600" i="1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𝐿𝑖𝑚𝑒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𝑟𝑒𝑞𝑢𝑖𝑟𝑒𝑚𝑒𝑛𝑡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74 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[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temporary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hardness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Ca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+ 2 </m:t>
                      </m:r>
                      <m:r>
                        <m:rPr>
                          <m:nor/>
                        </m:rPr>
                        <a:rPr lang="en-US" sz="1600" dirty="0">
                          <a:latin typeface="CambriaMath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1600" dirty="0">
                          <a:latin typeface="Cambria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temporary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hardness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of</m:t>
                      </m:r>
                    </m:oMath>
                  </a14:m>
                  <a:r>
                    <a:rPr lang="en-US" sz="1600">
                      <a:latin typeface="TimesNewRomanPSM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Mg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+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permanent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hardness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Mg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in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terms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CaCO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3 </m:t>
                      </m:r>
                      <m:r>
                        <m:rPr>
                          <m:nor/>
                        </m:rPr>
                        <a:rPr lang="en-US" sz="1600" dirty="0">
                          <a:latin typeface="TimesNewRomanPSMT"/>
                        </a:rPr>
                        <m:t>equivalents</m:t>
                      </m:r>
                    </m:oMath>
                  </a14:m>
                  <a:endParaRPr lang="en-US" sz="1600">
                    <a:latin typeface="TimesNewRomanPSMT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𝑆𝑜𝑑𝑎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𝑟𝑒𝑞𝑢𝑖𝑟𝑒𝑚𝑒𝑛𝑡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106 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[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permanent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hardness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CaCl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2 +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CaSO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4 +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MgCl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2 +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MgSO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4 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in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terms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CaCO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3 </m:t>
                        </m:r>
                        <m:r>
                          <m:rPr>
                            <m:nor/>
                          </m:rPr>
                          <a:rPr lang="en-US" sz="1600" i="1" dirty="0">
                            <a:latin typeface="TimesNewRomanPSMT"/>
                          </a:rPr>
                          <m:t>equivalents</m:t>
                        </m:r>
                      </m:oMath>
                    </m:oMathPara>
                  </a14:m>
                  <a:endParaRPr lang="en-IN" sz="1600">
                    <a:latin typeface="TimesNewRomanPSMT"/>
                    <a:cs typeface="Times New Roman" panose="02020603050405020304" pitchFamily="18" charset="0"/>
                  </a:endParaRPr>
                </a:p>
                <a:p>
                  <a:endParaRPr lang="en-IN" sz="1600"/>
                </a:p>
                <a:p>
                  <a:pPr algn="l"/>
                  <a:endParaRPr lang="en-US" sz="1600" baseline="-25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FBB2F0-F0CD-B8BD-2250-5EA570A77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11" y="2512985"/>
                  <a:ext cx="8955578" cy="2062222"/>
                </a:xfrm>
                <a:prstGeom prst="rect">
                  <a:avLst/>
                </a:prstGeom>
                <a:blipFill>
                  <a:blip r:embed="rId3"/>
                  <a:stretch>
                    <a:fillRect l="-340" t="-7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1960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3640FB37-B383-60C8-E03F-B7387EA0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524840"/>
            <a:ext cx="8963025" cy="58035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841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4976B8-2F12-C096-CC7F-2CAD41AFAB25}"/>
              </a:ext>
            </a:extLst>
          </p:cNvPr>
          <p:cNvGrpSpPr/>
          <p:nvPr/>
        </p:nvGrpSpPr>
        <p:grpSpPr>
          <a:xfrm>
            <a:off x="0" y="388620"/>
            <a:ext cx="9399030" cy="6115050"/>
            <a:chOff x="0" y="970945"/>
            <a:chExt cx="9399030" cy="48783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926439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6" y="5589241"/>
              <a:ext cx="1808820" cy="26001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43C06E5-B4B3-CE6B-3A0D-3BC668AA6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7420" y="1709832"/>
              <a:ext cx="4766310" cy="4139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165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C6EA31-43EE-CD86-3B62-28F06AF5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/>
              <a:t>Hot Lime Soda Process</a:t>
            </a:r>
          </a:p>
        </p:txBody>
      </p:sp>
      <p:pic>
        <p:nvPicPr>
          <p:cNvPr id="2" name="Content Placeholder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D890454F-2B5B-4C15-2D3A-59095E91C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581689"/>
            <a:ext cx="7886700" cy="2839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735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CA82DC-C275-F2CA-BFEC-D71B08DB2949}"/>
              </a:ext>
            </a:extLst>
          </p:cNvPr>
          <p:cNvGrpSpPr/>
          <p:nvPr/>
        </p:nvGrpSpPr>
        <p:grpSpPr>
          <a:xfrm>
            <a:off x="0" y="354330"/>
            <a:ext cx="9399030" cy="6149340"/>
            <a:chOff x="0" y="970945"/>
            <a:chExt cx="9399030" cy="48783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926439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>
                  <a:solidFill>
                    <a:srgbClr val="E31E2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06" y="5589241"/>
              <a:ext cx="1808820" cy="26001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CEE326-1051-2634-1A5B-75C2FB2B7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8821" y="1750750"/>
              <a:ext cx="5406390" cy="3972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167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F9A4CB3-DCE7-EA2A-3104-38B05E9D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32" y="373063"/>
            <a:ext cx="770613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4781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chemeClr val="accent1"/>
                </a:solidFill>
              </a:rPr>
              <a:t>Take away of the session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 Removes hardness from water using chemical precipitation.</a:t>
            </a:r>
          </a:p>
          <a:p>
            <a:r>
              <a:rPr lang="en-US" b="1">
                <a:ea typeface="+mn-lt"/>
                <a:cs typeface="+mn-lt"/>
              </a:rPr>
              <a:t>Chemicals Used:</a:t>
            </a:r>
            <a:r>
              <a:rPr lang="en-US">
                <a:ea typeface="+mn-lt"/>
                <a:cs typeface="+mn-lt"/>
              </a:rPr>
              <a:t> Lime (Ca(OH)₂) removes temporary hardness; soda ash (</a:t>
            </a:r>
            <a:r>
              <a:rPr lang="en-US" err="1">
                <a:ea typeface="+mn-lt"/>
                <a:cs typeface="+mn-lt"/>
              </a:rPr>
              <a:t>Na₂CO</a:t>
            </a:r>
            <a:r>
              <a:rPr lang="en-US">
                <a:ea typeface="+mn-lt"/>
                <a:cs typeface="+mn-lt"/>
              </a:rPr>
              <a:t>₃) removes permanent hardness.</a:t>
            </a:r>
          </a:p>
          <a:p>
            <a:r>
              <a:rPr lang="en-US" b="1">
                <a:ea typeface="+mn-lt"/>
                <a:cs typeface="+mn-lt"/>
              </a:rPr>
              <a:t>Process:</a:t>
            </a:r>
            <a:r>
              <a:rPr lang="en-US">
                <a:ea typeface="+mn-lt"/>
                <a:cs typeface="+mn-lt"/>
              </a:rPr>
              <a:t> Hardness-causing ions form insoluble precipitates (e.g., </a:t>
            </a:r>
            <a:r>
              <a:rPr lang="en-US" err="1">
                <a:ea typeface="+mn-lt"/>
                <a:cs typeface="+mn-lt"/>
              </a:rPr>
              <a:t>CaCO</a:t>
            </a:r>
            <a:r>
              <a:rPr lang="en-US">
                <a:ea typeface="+mn-lt"/>
                <a:cs typeface="+mn-lt"/>
              </a:rPr>
              <a:t>₃, Mg(OH)₂) which are then removed.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Types:</a:t>
            </a:r>
            <a:r>
              <a:rPr lang="en-US">
                <a:ea typeface="+mn-lt"/>
                <a:cs typeface="+mn-lt"/>
              </a:rPr>
              <a:t> Cold lime-soda (room temp) and hot lime-soda (better efficiency due to higher temp).</a:t>
            </a:r>
          </a:p>
          <a:p>
            <a:r>
              <a:rPr lang="en-US" b="1">
                <a:ea typeface="+mn-lt"/>
                <a:cs typeface="+mn-lt"/>
              </a:rPr>
              <a:t>Applications:</a:t>
            </a:r>
            <a:r>
              <a:rPr lang="en-US">
                <a:ea typeface="+mn-lt"/>
                <a:cs typeface="+mn-lt"/>
              </a:rPr>
              <a:t> Commonly used for municipal and industrial water softening.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7391-DBBB-1E77-4701-C0DAEBB4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GB" b="1">
                <a:solidFill>
                  <a:schemeClr val="accent1"/>
                </a:solidFill>
              </a:rPr>
              <a:t>Questions</a:t>
            </a:r>
            <a:endParaRPr lang="en-IN" b="1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1570"/>
            <a:ext cx="7886700" cy="5726430"/>
          </a:xfrm>
        </p:spPr>
        <p:txBody>
          <a:bodyPr vert="horz" lIns="68580" tIns="34290" rIns="68580" bIns="3429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What is the main purpose of the lime-soda process?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A. Disinfection of water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B. Removal of turbidity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C. Softening of hard water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D. pH adjustment</a:t>
            </a:r>
          </a:p>
          <a:p>
            <a:pPr marL="514350" indent="-514350">
              <a:buAutoNum type="arabicPeriod"/>
            </a:pP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Which chemical is used in the lime-soda process to remove temporary hardness?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A. </a:t>
            </a:r>
            <a:r>
              <a:rPr lang="en-GB" sz="1600" err="1">
                <a:solidFill>
                  <a:schemeClr val="accent1"/>
                </a:solidFill>
                <a:ea typeface="+mn-lt"/>
                <a:cs typeface="+mn-lt"/>
              </a:rPr>
              <a:t>Na₂CO</a:t>
            </a: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₃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B. Ca(OH)₂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C. HCl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D. K₂SO₄</a:t>
            </a:r>
          </a:p>
          <a:p>
            <a:pPr marL="514350" indent="-514350">
              <a:buAutoNum type="arabicPeriod"/>
            </a:pP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What is the role of soda ash (</a:t>
            </a:r>
            <a:r>
              <a:rPr lang="en-GB" sz="1600" b="1" err="1">
                <a:solidFill>
                  <a:schemeClr val="accent1"/>
                </a:solidFill>
                <a:ea typeface="+mn-lt"/>
                <a:cs typeface="+mn-lt"/>
              </a:rPr>
              <a:t>Na₂CO</a:t>
            </a: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₃) in the process?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A. Removes magnesium hardness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B. Acts as a coagulant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C. Removes permanent calcium hardness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D. Increases water pH</a:t>
            </a:r>
          </a:p>
          <a:p>
            <a:pPr marL="514350" indent="-514350">
              <a:buAutoNum type="arabicPeriod"/>
            </a:pP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Which of the following is an advantage of the hot lime-soda process over the cold one?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A. Lower efficiency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B. Slower reaction rate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C. Better removal of hardness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D. Lower cost of operation</a:t>
            </a:r>
          </a:p>
          <a:p>
            <a:pPr marL="514350" indent="-514350">
              <a:buAutoNum type="arabicPeriod"/>
            </a:pPr>
            <a:r>
              <a:rPr lang="en-GB" sz="1600" b="1">
                <a:solidFill>
                  <a:schemeClr val="accent1"/>
                </a:solidFill>
                <a:ea typeface="+mn-lt"/>
                <a:cs typeface="+mn-lt"/>
              </a:rPr>
              <a:t>What is formed as a precipitate when lime reacts with temporary hardness?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A. NaCl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B. </a:t>
            </a:r>
            <a:r>
              <a:rPr lang="en-GB" sz="1600" err="1">
                <a:solidFill>
                  <a:schemeClr val="accent1"/>
                </a:solidFill>
                <a:ea typeface="+mn-lt"/>
                <a:cs typeface="+mn-lt"/>
              </a:rPr>
              <a:t>CaSO</a:t>
            </a: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₄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C. </a:t>
            </a:r>
            <a:r>
              <a:rPr lang="en-GB" sz="1600" err="1">
                <a:solidFill>
                  <a:schemeClr val="accent1"/>
                </a:solidFill>
                <a:ea typeface="+mn-lt"/>
                <a:cs typeface="+mn-lt"/>
              </a:rPr>
              <a:t>MgCl</a:t>
            </a: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₂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D. </a:t>
            </a:r>
            <a:r>
              <a:rPr lang="en-GB" sz="1600" err="1">
                <a:solidFill>
                  <a:schemeClr val="accent1"/>
                </a:solidFill>
                <a:ea typeface="+mn-lt"/>
                <a:cs typeface="+mn-lt"/>
              </a:rPr>
              <a:t>CaCO</a:t>
            </a: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₃</a:t>
            </a:r>
            <a:br>
              <a:rPr lang="en-GB" sz="160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</a:p>
          <a:p>
            <a:pPr>
              <a:buNone/>
            </a:pPr>
            <a:endParaRPr lang="en-GB" sz="1600">
              <a:solidFill>
                <a:schemeClr val="accent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GB" sz="1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96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chemeClr val="accent5"/>
                </a:solidFill>
              </a:rPr>
              <a:t>References</a:t>
            </a:r>
            <a:endParaRPr lang="en-IN" b="1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Engineering Chemistry by Jain and Jain.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Course Overview</vt:lpstr>
      <vt:lpstr>PowerPoint Presentation</vt:lpstr>
      <vt:lpstr>External Treatment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Hot Lime Soda Process</vt:lpstr>
      <vt:lpstr>PowerPoint Presentation</vt:lpstr>
      <vt:lpstr>PowerPoint Presentation</vt:lpstr>
      <vt:lpstr>Take away of the session</vt:lpstr>
      <vt:lpstr>Questions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revision>1</cp:revision>
  <dcterms:created xsi:type="dcterms:W3CDTF">2024-10-29T09:41:06Z</dcterms:created>
  <dcterms:modified xsi:type="dcterms:W3CDTF">2025-08-26T08:58:48Z</dcterms:modified>
</cp:coreProperties>
</file>